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41"/>
  </p:notesMasterIdLst>
  <p:sldIdLst>
    <p:sldId id="256" r:id="rId2"/>
    <p:sldId id="257" r:id="rId3"/>
    <p:sldId id="289" r:id="rId4"/>
    <p:sldId id="259" r:id="rId5"/>
    <p:sldId id="313" r:id="rId6"/>
    <p:sldId id="310" r:id="rId7"/>
    <p:sldId id="263" r:id="rId8"/>
    <p:sldId id="282" r:id="rId9"/>
    <p:sldId id="276" r:id="rId10"/>
    <p:sldId id="277" r:id="rId11"/>
    <p:sldId id="284" r:id="rId12"/>
    <p:sldId id="315" r:id="rId13"/>
    <p:sldId id="291" r:id="rId14"/>
    <p:sldId id="302" r:id="rId15"/>
    <p:sldId id="281" r:id="rId16"/>
    <p:sldId id="272" r:id="rId17"/>
    <p:sldId id="279" r:id="rId18"/>
    <p:sldId id="294" r:id="rId19"/>
    <p:sldId id="270" r:id="rId20"/>
    <p:sldId id="278" r:id="rId21"/>
    <p:sldId id="301" r:id="rId22"/>
    <p:sldId id="283" r:id="rId23"/>
    <p:sldId id="300" r:id="rId24"/>
    <p:sldId id="261" r:id="rId25"/>
    <p:sldId id="316" r:id="rId26"/>
    <p:sldId id="305" r:id="rId27"/>
    <p:sldId id="298" r:id="rId28"/>
    <p:sldId id="262" r:id="rId29"/>
    <p:sldId id="306" r:id="rId30"/>
    <p:sldId id="307" r:id="rId31"/>
    <p:sldId id="308" r:id="rId32"/>
    <p:sldId id="309" r:id="rId33"/>
    <p:sldId id="314" r:id="rId34"/>
    <p:sldId id="264" r:id="rId35"/>
    <p:sldId id="311" r:id="rId36"/>
    <p:sldId id="292" r:id="rId37"/>
    <p:sldId id="265" r:id="rId38"/>
    <p:sldId id="266" r:id="rId39"/>
    <p:sldId id="31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B9A919-7796-3DF3-DA1E-3ABEBCEADF1C}" name="Athina Bampzeli" initials="AB" userId="S::athinamn@office365.auth.gr::e4d35ae8-c5da-4975-ade8-f2775be00f3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472C4"/>
    <a:srgbClr val="DAE3F3"/>
    <a:srgbClr val="ECECEC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78C81-DCE5-2055-B443-EB299F3E4F3C}" v="90" dt="2025-12-02T10:58:17.785"/>
    <p1510:client id="{521D5805-24D5-A25C-D3E9-B118334C51CD}" v="97" dt="2025-12-04T06:37:10.271"/>
    <p1510:client id="{9AAF744C-06C5-E803-1BC8-11D026B6339D}" v="137" dt="2025-12-03T18:15:08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930" autoAdjust="0"/>
  </p:normalViewPr>
  <p:slideViewPr>
    <p:cSldViewPr snapToGrid="0">
      <p:cViewPr varScale="1">
        <p:scale>
          <a:sx n="92" d="100"/>
          <a:sy n="92" d="100"/>
        </p:scale>
        <p:origin x="12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aristotleuniversity-my.sharepoint.com/personal/athinamn_office365_auth_gr/Documents/Diploma%20Thesis%20Publication%20Athina%20Bampzeli/Diploma%20Thesis%20Presentation_ColumnStacked10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aristotleuniversity-my.sharepoint.com/personal/athinamn_office365_auth_gr/Documents/Diploma%20Thesis%20Publication%20Athina%20Bampzeli/Diploma%20Thesis%20Presentation_ColumnStacked100%20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aristotleuniversity-my.sharepoint.com/personal/athinamn_office365_auth_gr/Documents/Diploma%20Thesis%20Publication%20Athina%20Bampzeli/Diploma%20Thesis%20Presentation_ColumnStacked100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l-G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Συμπύκνωμα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υδατάνθρακες</c:v>
                </c:pt>
                <c:pt idx="1">
                  <c:v>λίπος</c:v>
                </c:pt>
                <c:pt idx="2">
                  <c:v>άλατα</c:v>
                </c:pt>
                <c:pt idx="3">
                  <c:v>καζεΐνη</c:v>
                </c:pt>
                <c:pt idx="4">
                  <c:v>α-LA</c:v>
                </c:pt>
                <c:pt idx="5">
                  <c:v>β-LG</c:v>
                </c:pt>
                <c:pt idx="6">
                  <c:v>BSA</c:v>
                </c:pt>
                <c:pt idx="7">
                  <c:v>Ig</c:v>
                </c:pt>
                <c:pt idx="8">
                  <c:v>μετουσιωμένη α-LA</c:v>
                </c:pt>
                <c:pt idx="9">
                  <c:v>μετουσιωμένη β-LG</c:v>
                </c:pt>
                <c:pt idx="10">
                  <c:v>μετουσιωμένη Ig</c:v>
                </c:pt>
                <c:pt idx="11">
                  <c:v>συσσωματωμένη β-LG</c:v>
                </c:pt>
                <c:pt idx="12">
                  <c:v>συνολικές πρωτεΐνες</c:v>
                </c:pt>
                <c:pt idx="13">
                  <c:v>στερεά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2.8000000000000001E-2</c:v>
                </c:pt>
                <c:pt idx="1">
                  <c:v>3.0000000000000001E-3</c:v>
                </c:pt>
                <c:pt idx="2">
                  <c:v>0.02</c:v>
                </c:pt>
                <c:pt idx="3">
                  <c:v>0.128</c:v>
                </c:pt>
                <c:pt idx="4">
                  <c:v>3.0000000000000001E-3</c:v>
                </c:pt>
                <c:pt idx="5">
                  <c:v>6.0000000000000001E-3</c:v>
                </c:pt>
                <c:pt idx="6">
                  <c:v>2E-3</c:v>
                </c:pt>
                <c:pt idx="7">
                  <c:v>3.0000000000000001E-3</c:v>
                </c:pt>
                <c:pt idx="8">
                  <c:v>3.0000000000000004E-5</c:v>
                </c:pt>
                <c:pt idx="9">
                  <c:v>5.0000000000000001E-3</c:v>
                </c:pt>
                <c:pt idx="10">
                  <c:v>6.0000000000000008E-5</c:v>
                </c:pt>
                <c:pt idx="11">
                  <c:v>7.9999999999999996E-6</c:v>
                </c:pt>
                <c:pt idx="12">
                  <c:v>0.14799999999999999</c:v>
                </c:pt>
                <c:pt idx="1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83-4FFE-9E00-15E9D40489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Διήθημα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υδατάνθρακες</c:v>
                </c:pt>
                <c:pt idx="1">
                  <c:v>λίπος</c:v>
                </c:pt>
                <c:pt idx="2">
                  <c:v>άλατα</c:v>
                </c:pt>
                <c:pt idx="3">
                  <c:v>καζεΐνη</c:v>
                </c:pt>
                <c:pt idx="4">
                  <c:v>α-LA</c:v>
                </c:pt>
                <c:pt idx="5">
                  <c:v>β-LG</c:v>
                </c:pt>
                <c:pt idx="6">
                  <c:v>BSA</c:v>
                </c:pt>
                <c:pt idx="7">
                  <c:v>Ig</c:v>
                </c:pt>
                <c:pt idx="8">
                  <c:v>μετουσιωμένη α-LA</c:v>
                </c:pt>
                <c:pt idx="9">
                  <c:v>μετουσιωμένη β-LG</c:v>
                </c:pt>
                <c:pt idx="10">
                  <c:v>μετουσιωμένη Ig</c:v>
                </c:pt>
                <c:pt idx="11">
                  <c:v>συσσωματωμένη β-LG</c:v>
                </c:pt>
                <c:pt idx="12">
                  <c:v>συνολικές πρωτεΐνες</c:v>
                </c:pt>
                <c:pt idx="13">
                  <c:v>στερεά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4.2000000000000003E-2</c:v>
                </c:pt>
                <c:pt idx="1">
                  <c:v>4.0000000000000002E-4</c:v>
                </c:pt>
                <c:pt idx="2">
                  <c:v>3.0000000000000001E-3</c:v>
                </c:pt>
                <c:pt idx="3">
                  <c:v>0</c:v>
                </c:pt>
                <c:pt idx="4">
                  <c:v>5.0000000000000001E-4</c:v>
                </c:pt>
                <c:pt idx="5">
                  <c:v>8.9999999999999998E-4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1.0000000000000001E-5</c:v>
                </c:pt>
                <c:pt idx="12">
                  <c:v>1E-3</c:v>
                </c:pt>
                <c:pt idx="13">
                  <c:v>4.7E-2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83-4FFE-9E00-15E9D40489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81480847"/>
        <c:axId val="1781481807"/>
      </c:barChart>
      <c:catAx>
        <c:axId val="1781480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81481807"/>
        <c:crosses val="autoZero"/>
        <c:auto val="1"/>
        <c:lblAlgn val="ctr"/>
        <c:lblOffset val="100"/>
        <c:noMultiLvlLbl val="0"/>
      </c:catAx>
      <c:valAx>
        <c:axId val="1781481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l-GR"/>
                  <a:t>Κλάσμα μάζας (</a:t>
                </a:r>
                <a:r>
                  <a:rPr lang="en-US"/>
                  <a:t>kg/kg)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81480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l-G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Συμπύκνωμα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υδατάνθρακες</c:v>
                </c:pt>
                <c:pt idx="1">
                  <c:v>λίπος</c:v>
                </c:pt>
                <c:pt idx="2">
                  <c:v>άλατα</c:v>
                </c:pt>
                <c:pt idx="3">
                  <c:v>καζεΐνη</c:v>
                </c:pt>
                <c:pt idx="4">
                  <c:v>α-LA</c:v>
                </c:pt>
                <c:pt idx="5">
                  <c:v>β-LG</c:v>
                </c:pt>
                <c:pt idx="6">
                  <c:v>BSA</c:v>
                </c:pt>
                <c:pt idx="7">
                  <c:v>Ig</c:v>
                </c:pt>
                <c:pt idx="8">
                  <c:v>μετουσιωμένη α-LA</c:v>
                </c:pt>
                <c:pt idx="9">
                  <c:v>μετουσιωμένη β-LG</c:v>
                </c:pt>
                <c:pt idx="10">
                  <c:v>μετουσιωμένη Ig</c:v>
                </c:pt>
                <c:pt idx="11">
                  <c:v>συσσωματωμένη β-LG</c:v>
                </c:pt>
                <c:pt idx="12">
                  <c:v>συνολικές πρωτεΐνες</c:v>
                </c:pt>
                <c:pt idx="13">
                  <c:v>στερεά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2.8000000000000001E-2</c:v>
                </c:pt>
                <c:pt idx="1">
                  <c:v>3.0000000000000001E-3</c:v>
                </c:pt>
                <c:pt idx="2">
                  <c:v>0.02</c:v>
                </c:pt>
                <c:pt idx="3">
                  <c:v>0.13200000000000001</c:v>
                </c:pt>
                <c:pt idx="4">
                  <c:v>3.0000000000000001E-3</c:v>
                </c:pt>
                <c:pt idx="5">
                  <c:v>8.0000000000000002E-3</c:v>
                </c:pt>
                <c:pt idx="6">
                  <c:v>2E-3</c:v>
                </c:pt>
                <c:pt idx="7">
                  <c:v>3.0000000000000001E-3</c:v>
                </c:pt>
                <c:pt idx="8">
                  <c:v>1.5000000000000002E-5</c:v>
                </c:pt>
                <c:pt idx="9">
                  <c:v>3.0000000000000001E-3</c:v>
                </c:pt>
                <c:pt idx="10">
                  <c:v>2.0000000000000002E-5</c:v>
                </c:pt>
                <c:pt idx="11">
                  <c:v>6.9999999999999999E-6</c:v>
                </c:pt>
                <c:pt idx="12">
                  <c:v>0.151</c:v>
                </c:pt>
                <c:pt idx="13">
                  <c:v>0.20200000000000001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CB-445B-B92E-A8BA800449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Διήθημα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υδατάνθρακες</c:v>
                </c:pt>
                <c:pt idx="1">
                  <c:v>λίπος</c:v>
                </c:pt>
                <c:pt idx="2">
                  <c:v>άλατα</c:v>
                </c:pt>
                <c:pt idx="3">
                  <c:v>καζεΐνη</c:v>
                </c:pt>
                <c:pt idx="4">
                  <c:v>α-LA</c:v>
                </c:pt>
                <c:pt idx="5">
                  <c:v>β-LG</c:v>
                </c:pt>
                <c:pt idx="6">
                  <c:v>BSA</c:v>
                </c:pt>
                <c:pt idx="7">
                  <c:v>Ig</c:v>
                </c:pt>
                <c:pt idx="8">
                  <c:v>μετουσιωμένη α-LA</c:v>
                </c:pt>
                <c:pt idx="9">
                  <c:v>μετουσιωμένη β-LG</c:v>
                </c:pt>
                <c:pt idx="10">
                  <c:v>μετουσιωμένη Ig</c:v>
                </c:pt>
                <c:pt idx="11">
                  <c:v>συσσωματωμένη β-LG</c:v>
                </c:pt>
                <c:pt idx="12">
                  <c:v>συνολικές πρωτεΐνες</c:v>
                </c:pt>
                <c:pt idx="13">
                  <c:v>στερεά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4.7E-2</c:v>
                </c:pt>
                <c:pt idx="1">
                  <c:v>4.0000000000000002E-4</c:v>
                </c:pt>
                <c:pt idx="2">
                  <c:v>3.0000000000000001E-3</c:v>
                </c:pt>
                <c:pt idx="3">
                  <c:v>0</c:v>
                </c:pt>
                <c:pt idx="4">
                  <c:v>5.0000000000000001E-4</c:v>
                </c:pt>
                <c:pt idx="5">
                  <c:v>1E-3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6.0000000000000002E-6</c:v>
                </c:pt>
                <c:pt idx="12">
                  <c:v>1.5E-3</c:v>
                </c:pt>
                <c:pt idx="13">
                  <c:v>5.1900000000000002E-2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9CB-445B-B92E-A8BA800449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67977824"/>
        <c:axId val="1767982144"/>
      </c:barChart>
      <c:catAx>
        <c:axId val="1767977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67982144"/>
        <c:crosses val="autoZero"/>
        <c:auto val="1"/>
        <c:lblAlgn val="ctr"/>
        <c:lblOffset val="100"/>
        <c:noMultiLvlLbl val="0"/>
      </c:catAx>
      <c:valAx>
        <c:axId val="1767982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l-GR"/>
                  <a:t>Κλάσμα μάζας (</a:t>
                </a:r>
                <a:r>
                  <a:rPr lang="en-US"/>
                  <a:t>kg/kg)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67977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l-G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Συμπύκνωμα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υδατάνθρακες</c:v>
                </c:pt>
                <c:pt idx="1">
                  <c:v>λίπος</c:v>
                </c:pt>
                <c:pt idx="2">
                  <c:v>άλατα</c:v>
                </c:pt>
                <c:pt idx="3">
                  <c:v>καζεΐνη</c:v>
                </c:pt>
                <c:pt idx="4">
                  <c:v>α-LA</c:v>
                </c:pt>
                <c:pt idx="5">
                  <c:v>β-LG</c:v>
                </c:pt>
                <c:pt idx="6">
                  <c:v>BSA</c:v>
                </c:pt>
                <c:pt idx="7">
                  <c:v>Ig</c:v>
                </c:pt>
                <c:pt idx="8">
                  <c:v>μετουσιωμένη α-LA</c:v>
                </c:pt>
                <c:pt idx="9">
                  <c:v>μετουσιωμένη β-LG</c:v>
                </c:pt>
                <c:pt idx="10">
                  <c:v>μετουσιωμένη Ig</c:v>
                </c:pt>
                <c:pt idx="11">
                  <c:v>συσσωματωμένη β-LG</c:v>
                </c:pt>
                <c:pt idx="12">
                  <c:v>συνολικές πρωτεΐνες</c:v>
                </c:pt>
                <c:pt idx="13">
                  <c:v>στερεά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2.8000000000000001E-2</c:v>
                </c:pt>
                <c:pt idx="1">
                  <c:v>3.0000000000000001E-3</c:v>
                </c:pt>
                <c:pt idx="2">
                  <c:v>0.02</c:v>
                </c:pt>
                <c:pt idx="3">
                  <c:v>0.128</c:v>
                </c:pt>
                <c:pt idx="4">
                  <c:v>3.0000000000000001E-3</c:v>
                </c:pt>
                <c:pt idx="5">
                  <c:v>6.0000000000000001E-3</c:v>
                </c:pt>
                <c:pt idx="6">
                  <c:v>2E-3</c:v>
                </c:pt>
                <c:pt idx="7">
                  <c:v>3.0000000000000001E-3</c:v>
                </c:pt>
                <c:pt idx="8">
                  <c:v>3.0000000000000004E-5</c:v>
                </c:pt>
                <c:pt idx="9">
                  <c:v>5.0000000000000001E-3</c:v>
                </c:pt>
                <c:pt idx="10">
                  <c:v>6.0000000000000008E-5</c:v>
                </c:pt>
                <c:pt idx="11">
                  <c:v>7.9999999999999996E-6</c:v>
                </c:pt>
                <c:pt idx="12">
                  <c:v>0.14799999999999999</c:v>
                </c:pt>
                <c:pt idx="1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5F-43B8-9DBB-7C56E62E65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Διήθημα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υδατάνθρακες</c:v>
                </c:pt>
                <c:pt idx="1">
                  <c:v>λίπος</c:v>
                </c:pt>
                <c:pt idx="2">
                  <c:v>άλατα</c:v>
                </c:pt>
                <c:pt idx="3">
                  <c:v>καζεΐνη</c:v>
                </c:pt>
                <c:pt idx="4">
                  <c:v>α-LA</c:v>
                </c:pt>
                <c:pt idx="5">
                  <c:v>β-LG</c:v>
                </c:pt>
                <c:pt idx="6">
                  <c:v>BSA</c:v>
                </c:pt>
                <c:pt idx="7">
                  <c:v>Ig</c:v>
                </c:pt>
                <c:pt idx="8">
                  <c:v>μετουσιωμένη α-LA</c:v>
                </c:pt>
                <c:pt idx="9">
                  <c:v>μετουσιωμένη β-LG</c:v>
                </c:pt>
                <c:pt idx="10">
                  <c:v>μετουσιωμένη Ig</c:v>
                </c:pt>
                <c:pt idx="11">
                  <c:v>συσσωματωμένη β-LG</c:v>
                </c:pt>
                <c:pt idx="12">
                  <c:v>συνολικές πρωτεΐνες</c:v>
                </c:pt>
                <c:pt idx="13">
                  <c:v>στερεά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4.2000000000000003E-2</c:v>
                </c:pt>
                <c:pt idx="1">
                  <c:v>4.0000000000000002E-4</c:v>
                </c:pt>
                <c:pt idx="2">
                  <c:v>3.0000000000000001E-3</c:v>
                </c:pt>
                <c:pt idx="3">
                  <c:v>0</c:v>
                </c:pt>
                <c:pt idx="4">
                  <c:v>5.0000000000000001E-4</c:v>
                </c:pt>
                <c:pt idx="5">
                  <c:v>8.9999999999999998E-4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1.0000000000000001E-5</c:v>
                </c:pt>
                <c:pt idx="12">
                  <c:v>1E-3</c:v>
                </c:pt>
                <c:pt idx="13">
                  <c:v>4.7E-2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5F-43B8-9DBB-7C56E62E65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81480847"/>
        <c:axId val="1781481807"/>
      </c:barChart>
      <c:catAx>
        <c:axId val="1781480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81481807"/>
        <c:crosses val="autoZero"/>
        <c:auto val="1"/>
        <c:lblAlgn val="ctr"/>
        <c:lblOffset val="100"/>
        <c:noMultiLvlLbl val="0"/>
      </c:catAx>
      <c:valAx>
        <c:axId val="1781481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l-GR"/>
                  <a:t>Κλάσμα μάζας (</a:t>
                </a:r>
                <a:r>
                  <a:rPr lang="en-US"/>
                  <a:t>kg/kg)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81480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5A151-385C-4C4A-BFBF-3389BE979C31}" type="datetimeFigureOut">
              <a:rPr lang="el-GR" smtClean="0"/>
              <a:t>10/7/2026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8658D-FB3D-4577-8316-000AD9998CB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05375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8658D-FB3D-4577-8316-000AD9998CB2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95135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8658D-FB3D-4577-8316-000AD9998CB2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07092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8658D-FB3D-4577-8316-000AD9998CB2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81685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745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840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2427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9775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dds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426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2184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0257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8951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681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95005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2364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5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quest.com/dissertations-theses/redesign-milk-powder-production-chain-assessment/docview/2518745891/se-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528" y="1588394"/>
            <a:ext cx="11861320" cy="230133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dirty="0" err="1">
                <a:ea typeface="Calibri Light"/>
                <a:cs typeface="Calibri Light"/>
              </a:rPr>
              <a:t>Μοντελο</a:t>
            </a:r>
            <a:r>
              <a:rPr lang="en-US" sz="4800" dirty="0">
                <a:ea typeface="Calibri Light"/>
                <a:cs typeface="Calibri Light"/>
              </a:rPr>
              <a:t>π</a:t>
            </a:r>
            <a:r>
              <a:rPr lang="en-US" sz="4800" dirty="0" err="1">
                <a:ea typeface="Calibri Light"/>
                <a:cs typeface="Calibri Light"/>
              </a:rPr>
              <a:t>οίηση</a:t>
            </a:r>
            <a:r>
              <a:rPr lang="en-US" sz="4800" dirty="0">
                <a:ea typeface="Calibri Light"/>
                <a:cs typeface="Calibri Light"/>
              </a:rPr>
              <a:t>, </a:t>
            </a:r>
            <a:r>
              <a:rPr lang="en-US" sz="4800" dirty="0" err="1">
                <a:ea typeface="Calibri Light"/>
                <a:cs typeface="Calibri Light"/>
              </a:rPr>
              <a:t>Προσομοίωση</a:t>
            </a:r>
            <a:r>
              <a:rPr lang="en-US" sz="4800" dirty="0">
                <a:ea typeface="Calibri Light"/>
                <a:cs typeface="Calibri Light"/>
              </a:rPr>
              <a:t> και </a:t>
            </a:r>
            <a:r>
              <a:rPr lang="en-US" sz="4800" dirty="0" err="1">
                <a:ea typeface="Calibri Light"/>
                <a:cs typeface="Calibri Light"/>
              </a:rPr>
              <a:t>Βελτιστο</a:t>
            </a:r>
            <a:r>
              <a:rPr lang="en-US" sz="4800" dirty="0">
                <a:ea typeface="Calibri Light"/>
                <a:cs typeface="Calibri Light"/>
              </a:rPr>
              <a:t>π</a:t>
            </a:r>
            <a:r>
              <a:rPr lang="en-US" sz="4800" dirty="0" err="1">
                <a:ea typeface="Calibri Light"/>
                <a:cs typeface="Calibri Light"/>
              </a:rPr>
              <a:t>οίηση</a:t>
            </a:r>
            <a:r>
              <a:rPr lang="en-US" sz="4800" dirty="0">
                <a:ea typeface="Calibri Light"/>
                <a:cs typeface="Calibri Light"/>
              </a:rPr>
              <a:t> </a:t>
            </a:r>
            <a:r>
              <a:rPr lang="en-US" sz="4800" dirty="0" err="1">
                <a:ea typeface="Calibri Light"/>
                <a:cs typeface="Calibri Light"/>
              </a:rPr>
              <a:t>Ολοκληρωμένων</a:t>
            </a:r>
            <a:r>
              <a:rPr lang="en-US" sz="4800" dirty="0">
                <a:ea typeface="Calibri Light"/>
                <a:cs typeface="Calibri Light"/>
              </a:rPr>
              <a:t> </a:t>
            </a:r>
            <a:r>
              <a:rPr lang="en-US" sz="4800" dirty="0" err="1">
                <a:ea typeface="Calibri Light"/>
                <a:cs typeface="Calibri Light"/>
              </a:rPr>
              <a:t>Διεργ</a:t>
            </a:r>
            <a:r>
              <a:rPr lang="en-US" sz="4800" dirty="0">
                <a:ea typeface="Calibri Light"/>
                <a:cs typeface="Calibri Light"/>
              </a:rPr>
              <a:t>α</a:t>
            </a:r>
            <a:r>
              <a:rPr lang="en-US" sz="4800" dirty="0" err="1">
                <a:ea typeface="Calibri Light"/>
                <a:cs typeface="Calibri Light"/>
              </a:rPr>
              <a:t>σιών</a:t>
            </a:r>
            <a:r>
              <a:rPr lang="en-US" sz="4800" dirty="0">
                <a:ea typeface="Calibri Light"/>
                <a:cs typeface="Calibri Light"/>
              </a:rPr>
              <a:t> Πα</a:t>
            </a:r>
            <a:r>
              <a:rPr lang="en-US" sz="4800" dirty="0" err="1">
                <a:ea typeface="Calibri Light"/>
                <a:cs typeface="Calibri Light"/>
              </a:rPr>
              <a:t>στερίωσης</a:t>
            </a:r>
            <a:r>
              <a:rPr lang="en-US" sz="4800" dirty="0">
                <a:ea typeface="Calibri Light"/>
                <a:cs typeface="Calibri Light"/>
              </a:rPr>
              <a:t> </a:t>
            </a:r>
            <a:r>
              <a:rPr lang="en-US" sz="4800" dirty="0" err="1">
                <a:ea typeface="Calibri Light"/>
                <a:cs typeface="Calibri Light"/>
              </a:rPr>
              <a:t>Γάλ</a:t>
            </a:r>
            <a:r>
              <a:rPr lang="en-US" sz="4800" dirty="0">
                <a:ea typeface="Calibri Light"/>
                <a:cs typeface="Calibri Light"/>
              </a:rPr>
              <a:t>α</a:t>
            </a:r>
            <a:r>
              <a:rPr lang="en-US" sz="4800" dirty="0" err="1">
                <a:ea typeface="Calibri Light"/>
                <a:cs typeface="Calibri Light"/>
              </a:rPr>
              <a:t>κτος</a:t>
            </a:r>
            <a:r>
              <a:rPr lang="en-US" sz="4800" dirty="0">
                <a:ea typeface="Calibri Light"/>
                <a:cs typeface="Calibri Light"/>
              </a:rPr>
              <a:t> και </a:t>
            </a:r>
            <a:r>
              <a:rPr lang="en-US" sz="4800" dirty="0" err="1">
                <a:ea typeface="Calibri Light"/>
                <a:cs typeface="Calibri Light"/>
              </a:rPr>
              <a:t>Διήθησης</a:t>
            </a:r>
            <a:r>
              <a:rPr lang="en-US" sz="4800" dirty="0">
                <a:ea typeface="Calibri Light"/>
                <a:cs typeface="Calibri Light"/>
              </a:rPr>
              <a:t> </a:t>
            </a:r>
            <a:r>
              <a:rPr lang="en-US" sz="4800" dirty="0" err="1">
                <a:ea typeface="Calibri Light"/>
                <a:cs typeface="Calibri Light"/>
              </a:rPr>
              <a:t>με</a:t>
            </a:r>
            <a:r>
              <a:rPr lang="en-US" sz="4800" dirty="0">
                <a:ea typeface="Calibri Light"/>
                <a:cs typeface="Calibri Light"/>
              </a:rPr>
              <a:t> </a:t>
            </a:r>
            <a:r>
              <a:rPr lang="en-US" sz="4800">
                <a:ea typeface="Calibri Light"/>
                <a:cs typeface="Calibri Light"/>
              </a:rPr>
              <a:t>Μεμβράνη</a:t>
            </a:r>
            <a:endParaRPr lang="en-US" sz="4800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86065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err="1">
                <a:ea typeface="Calibri"/>
                <a:cs typeface="Calibri"/>
              </a:rPr>
              <a:t>Αθηνά</a:t>
            </a:r>
            <a:r>
              <a:rPr lang="en-US" sz="2800">
                <a:ea typeface="Calibri"/>
                <a:cs typeface="Calibri"/>
              </a:rPr>
              <a:t> Μπαμπ</a:t>
            </a:r>
            <a:r>
              <a:rPr lang="en-US" sz="2800" err="1">
                <a:ea typeface="Calibri"/>
                <a:cs typeface="Calibri"/>
              </a:rPr>
              <a:t>ζέλη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>
                <a:ea typeface="Calibri"/>
                <a:cs typeface="Calibri"/>
              </a:rPr>
              <a:t>Επιβ</a:t>
            </a:r>
            <a:r>
              <a:rPr lang="en-US" sz="2800" err="1">
                <a:ea typeface="Calibri"/>
                <a:cs typeface="Calibri"/>
              </a:rPr>
              <a:t>λέ</a:t>
            </a:r>
            <a:r>
              <a:rPr lang="en-US" sz="2800">
                <a:ea typeface="Calibri"/>
                <a:cs typeface="Calibri"/>
              </a:rPr>
              <a:t>π</a:t>
            </a:r>
            <a:r>
              <a:rPr lang="en-US" sz="2800" err="1">
                <a:ea typeface="Calibri"/>
                <a:cs typeface="Calibri"/>
              </a:rPr>
              <a:t>ων</a:t>
            </a:r>
            <a:r>
              <a:rPr lang="en-US" sz="2800">
                <a:ea typeface="Calibri"/>
                <a:cs typeface="Calibri"/>
              </a:rPr>
              <a:t> κα</a:t>
            </a:r>
            <a:r>
              <a:rPr lang="en-US" sz="2800" err="1">
                <a:ea typeface="Calibri"/>
                <a:cs typeface="Calibri"/>
              </a:rPr>
              <a:t>θηγητής</a:t>
            </a:r>
            <a:r>
              <a:rPr lang="en-US" sz="2800">
                <a:ea typeface="Calibri"/>
                <a:cs typeface="Calibri"/>
              </a:rPr>
              <a:t>: </a:t>
            </a:r>
            <a:r>
              <a:rPr lang="en-US" sz="2800" err="1">
                <a:ea typeface="Calibri"/>
                <a:cs typeface="Calibri"/>
              </a:rPr>
              <a:t>Μιχ</a:t>
            </a:r>
            <a:r>
              <a:rPr lang="en-US" sz="2800">
                <a:ea typeface="Calibri"/>
                <a:cs typeface="Calibri"/>
              </a:rPr>
              <a:t>α</a:t>
            </a:r>
            <a:r>
              <a:rPr lang="en-US" sz="2800" err="1">
                <a:ea typeface="Calibri"/>
                <a:cs typeface="Calibri"/>
              </a:rPr>
              <a:t>ήλ</a:t>
            </a:r>
            <a:r>
              <a:rPr lang="en-US" sz="2800">
                <a:ea typeface="Calibri"/>
                <a:cs typeface="Calibri"/>
              </a:rPr>
              <a:t> </a:t>
            </a:r>
            <a:r>
              <a:rPr lang="en-US" sz="2800" err="1">
                <a:ea typeface="Calibri"/>
                <a:cs typeface="Calibri"/>
              </a:rPr>
              <a:t>Γεωργιάδης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>
                <a:ea typeface="Calibri"/>
                <a:cs typeface="Calibri"/>
              </a:rPr>
              <a:t>Πα</a:t>
            </a:r>
            <a:r>
              <a:rPr lang="en-US" sz="2800" err="1">
                <a:ea typeface="Calibri"/>
                <a:cs typeface="Calibri"/>
              </a:rPr>
              <a:t>ρουσί</a:t>
            </a:r>
            <a:r>
              <a:rPr lang="en-US" sz="2800">
                <a:ea typeface="Calibri"/>
                <a:cs typeface="Calibri"/>
              </a:rPr>
              <a:t>α</a:t>
            </a:r>
            <a:r>
              <a:rPr lang="en-US" sz="2800" err="1">
                <a:ea typeface="Calibri"/>
                <a:cs typeface="Calibri"/>
              </a:rPr>
              <a:t>ση</a:t>
            </a:r>
            <a:r>
              <a:rPr lang="en-US" sz="2800">
                <a:ea typeface="Calibri"/>
                <a:cs typeface="Calibri"/>
              </a:rPr>
              <a:t> </a:t>
            </a:r>
            <a:r>
              <a:rPr lang="en-US" sz="2800" err="1">
                <a:ea typeface="Calibri"/>
                <a:cs typeface="Calibri"/>
              </a:rPr>
              <a:t>δι</a:t>
            </a:r>
            <a:r>
              <a:rPr lang="en-US" sz="2800">
                <a:ea typeface="Calibri"/>
                <a:cs typeface="Calibri"/>
              </a:rPr>
              <a:t>π</a:t>
            </a:r>
            <a:r>
              <a:rPr lang="en-US" sz="2800" err="1">
                <a:ea typeface="Calibri"/>
                <a:cs typeface="Calibri"/>
              </a:rPr>
              <a:t>λωμ</a:t>
            </a:r>
            <a:r>
              <a:rPr lang="en-US" sz="2800">
                <a:ea typeface="Calibri"/>
                <a:cs typeface="Calibri"/>
              </a:rPr>
              <a:t>α</a:t>
            </a:r>
            <a:r>
              <a:rPr lang="en-US" sz="2800" err="1">
                <a:ea typeface="Calibri"/>
                <a:cs typeface="Calibri"/>
              </a:rPr>
              <a:t>τικής</a:t>
            </a:r>
            <a:r>
              <a:rPr lang="en-US" sz="2800">
                <a:ea typeface="Calibri"/>
                <a:cs typeface="Calibri"/>
              </a:rPr>
              <a:t> </a:t>
            </a:r>
            <a:r>
              <a:rPr lang="en-US" sz="2800" err="1">
                <a:ea typeface="Calibri"/>
                <a:cs typeface="Calibri"/>
              </a:rPr>
              <a:t>εργ</a:t>
            </a:r>
            <a:r>
              <a:rPr lang="en-US" sz="2800">
                <a:ea typeface="Calibri"/>
                <a:cs typeface="Calibri"/>
              </a:rPr>
              <a:t>α</a:t>
            </a:r>
            <a:r>
              <a:rPr lang="en-US" sz="2800" err="1">
                <a:ea typeface="Calibri"/>
                <a:cs typeface="Calibri"/>
              </a:rPr>
              <a:t>σί</a:t>
            </a:r>
            <a:r>
              <a:rPr lang="en-US" sz="2800">
                <a:ea typeface="Calibri"/>
                <a:cs typeface="Calibri"/>
              </a:rPr>
              <a:t>ας 8/12/25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52ABD3-3480-9FA3-9E6A-7AE207D9F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176" y="4809894"/>
            <a:ext cx="1209675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532E7-4CE0-796F-4B2F-0C853914A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138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err="1">
                <a:ea typeface="Calibri"/>
                <a:cs typeface="Calibri"/>
              </a:rPr>
              <a:t>Εισ</a:t>
            </a:r>
            <a:r>
              <a:rPr lang="en-US">
                <a:ea typeface="Calibri"/>
                <a:cs typeface="Calibri"/>
              </a:rPr>
              <a:t>α</a:t>
            </a:r>
            <a:r>
              <a:rPr lang="en-US" err="1">
                <a:ea typeface="Calibri"/>
                <a:cs typeface="Calibri"/>
              </a:rPr>
              <a:t>γωγή</a:t>
            </a:r>
            <a:endParaRPr lang="en-US" err="1"/>
          </a:p>
          <a:p>
            <a:pPr marL="514350" indent="-514350">
              <a:buAutoNum type="arabicPeriod"/>
            </a:pPr>
            <a:r>
              <a:rPr lang="en-US" err="1">
                <a:ea typeface="Calibri"/>
                <a:cs typeface="Calibri"/>
              </a:rPr>
              <a:t>Στόχοι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μελέτης-Μεθοδολογί</a:t>
            </a:r>
            <a:r>
              <a:rPr lang="en-US">
                <a:ea typeface="Calibri"/>
                <a:cs typeface="Calibri"/>
              </a:rPr>
              <a:t>α</a:t>
            </a:r>
            <a:endParaRPr lang="en-US" err="1"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en-US" err="1">
                <a:ea typeface="Calibri"/>
                <a:cs typeface="Calibri"/>
              </a:rPr>
              <a:t>Θεωρητικό</a:t>
            </a:r>
            <a:r>
              <a:rPr lang="en-US">
                <a:ea typeface="Calibri"/>
                <a:cs typeface="Calibri"/>
              </a:rPr>
              <a:t> υπόβα</a:t>
            </a:r>
            <a:r>
              <a:rPr lang="en-US" err="1">
                <a:ea typeface="Calibri"/>
                <a:cs typeface="Calibri"/>
              </a:rPr>
              <a:t>θρο</a:t>
            </a:r>
            <a:endParaRPr lang="en-US"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en-US" err="1">
                <a:ea typeface="Calibri"/>
                <a:cs typeface="Calibri"/>
              </a:rPr>
              <a:t>Δυν</a:t>
            </a:r>
            <a:r>
              <a:rPr lang="en-US">
                <a:ea typeface="Calibri"/>
                <a:cs typeface="Calibri"/>
              </a:rPr>
              <a:t>α</a:t>
            </a:r>
            <a:r>
              <a:rPr lang="en-US" err="1">
                <a:ea typeface="Calibri"/>
                <a:cs typeface="Calibri"/>
              </a:rPr>
              <a:t>μική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Μοντελο</a:t>
            </a:r>
            <a:r>
              <a:rPr lang="en-US">
                <a:ea typeface="Calibri"/>
                <a:cs typeface="Calibri"/>
              </a:rPr>
              <a:t>π</a:t>
            </a:r>
            <a:r>
              <a:rPr lang="en-US" err="1">
                <a:ea typeface="Calibri"/>
                <a:cs typeface="Calibri"/>
              </a:rPr>
              <a:t>οίηση</a:t>
            </a:r>
            <a:r>
              <a:rPr lang="en-US">
                <a:ea typeface="Calibri"/>
                <a:cs typeface="Calibri"/>
              </a:rPr>
              <a:t> και </a:t>
            </a:r>
            <a:r>
              <a:rPr lang="en-US" err="1">
                <a:ea typeface="Calibri"/>
                <a:cs typeface="Calibri"/>
              </a:rPr>
              <a:t>Προσομοίωση</a:t>
            </a:r>
          </a:p>
          <a:p>
            <a:pPr marL="514350" indent="-514350">
              <a:buAutoNum type="arabicPeriod"/>
            </a:pPr>
            <a:r>
              <a:rPr lang="en-US" err="1">
                <a:ea typeface="Calibri"/>
                <a:cs typeface="Calibri"/>
              </a:rPr>
              <a:t>Ανάλυση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Συστήμ</a:t>
            </a:r>
            <a:r>
              <a:rPr lang="en-US">
                <a:ea typeface="Calibri"/>
                <a:cs typeface="Calibri"/>
              </a:rPr>
              <a:t>α</a:t>
            </a:r>
            <a:r>
              <a:rPr lang="en-US" err="1">
                <a:ea typeface="Calibri"/>
                <a:cs typeface="Calibri"/>
              </a:rPr>
              <a:t>τος</a:t>
            </a:r>
            <a:endParaRPr lang="en-US"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en-US" err="1">
                <a:ea typeface="Calibri"/>
                <a:cs typeface="Calibri"/>
              </a:rPr>
              <a:t>Βελτιστο</a:t>
            </a:r>
            <a:r>
              <a:rPr lang="en-US">
                <a:ea typeface="Calibri"/>
                <a:cs typeface="Calibri"/>
              </a:rPr>
              <a:t>π</a:t>
            </a:r>
            <a:r>
              <a:rPr lang="en-US" err="1">
                <a:ea typeface="Calibri"/>
                <a:cs typeface="Calibri"/>
              </a:rPr>
              <a:t>οίηση</a:t>
            </a:r>
            <a:endParaRPr lang="en-US"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r>
              <a:rPr lang="en-US" err="1">
                <a:ea typeface="Calibri"/>
                <a:cs typeface="Calibri"/>
              </a:rPr>
              <a:t>Συμ</a:t>
            </a:r>
            <a:r>
              <a:rPr lang="en-US">
                <a:ea typeface="Calibri"/>
                <a:cs typeface="Calibri"/>
              </a:rPr>
              <a:t>π</a:t>
            </a:r>
            <a:r>
              <a:rPr lang="en-US" err="1">
                <a:ea typeface="Calibri"/>
                <a:cs typeface="Calibri"/>
              </a:rPr>
              <a:t>εράσμ</a:t>
            </a:r>
            <a:r>
              <a:rPr lang="en-US">
                <a:ea typeface="Calibri"/>
                <a:cs typeface="Calibri"/>
              </a:rPr>
              <a:t>ατα-</a:t>
            </a:r>
            <a:r>
              <a:rPr lang="en-US" err="1">
                <a:ea typeface="Calibri"/>
                <a:cs typeface="Calibri"/>
              </a:rPr>
              <a:t>Προτάσεις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γι</a:t>
            </a:r>
            <a:r>
              <a:rPr lang="en-US">
                <a:ea typeface="Calibri"/>
                <a:cs typeface="Calibri"/>
              </a:rPr>
              <a:t>α </a:t>
            </a:r>
            <a:r>
              <a:rPr lang="en-US" err="1">
                <a:ea typeface="Calibri"/>
                <a:cs typeface="Calibri"/>
              </a:rPr>
              <a:t>μελλοντική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έρευν</a:t>
            </a:r>
            <a:r>
              <a:rPr lang="en-US">
                <a:ea typeface="Calibri"/>
                <a:cs typeface="Calibri"/>
              </a:rPr>
              <a:t>α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16C85-8CF8-B83E-6CC1-97C00E590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2/39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B42318E-3915-980A-159A-A4C249F57F4B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1992238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>
                <a:ea typeface="Calibri Light"/>
                <a:cs typeface="Calibri Light"/>
              </a:rPr>
              <a:t>Περιεχόμενα </a:t>
            </a:r>
          </a:p>
        </p:txBody>
      </p:sp>
    </p:spTree>
    <p:extLst>
      <p:ext uri="{BB962C8B-B14F-4D97-AF65-F5344CB8AC3E}">
        <p14:creationId xmlns:p14="http://schemas.microsoft.com/office/powerpoint/2010/main" val="3139192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635F58-59D5-915C-3860-D87EC9738195}"/>
              </a:ext>
            </a:extLst>
          </p:cNvPr>
          <p:cNvSpPr txBox="1"/>
          <p:nvPr/>
        </p:nvSpPr>
        <p:spPr>
          <a:xfrm>
            <a:off x="75659" y="5817054"/>
            <a:ext cx="1199071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 baseline="0" err="1">
                <a:latin typeface="Calibri"/>
              </a:rPr>
              <a:t>Moejes</a:t>
            </a:r>
            <a:r>
              <a:rPr lang="en-US" sz="1600" baseline="0" dirty="0">
                <a:latin typeface="Calibri"/>
              </a:rPr>
              <a:t>, S. N. (2019). Redesign of the milk powder production chain: Assessment of innovative technologies [Doctoral dissertation, ProQuest Dissertations &amp; Theses Global] </a:t>
            </a:r>
            <a:r>
              <a:rPr lang="en-US" sz="1600" u="sng" strike="noStrike" baseline="0" dirty="0">
                <a:solidFill>
                  <a:srgbClr val="0563C1"/>
                </a:solidFill>
                <a:latin typeface="Calibri"/>
                <a:ea typeface="Segoe UI"/>
                <a:cs typeface="Segoe UI"/>
                <a:hlinkClick r:id="rId3"/>
              </a:rPr>
              <a:t>https://www.proquest.com/dissertations-theses/redesign-milk-powder-production-chain-assessment/docview/2518745891/se-2</a:t>
            </a:r>
            <a:r>
              <a:rPr sz="1600" dirty="0">
                <a:latin typeface="Calibri"/>
                <a:ea typeface="Calibri"/>
                <a:cs typeface="Calibri"/>
              </a:rPr>
              <a:t>​</a:t>
            </a:r>
            <a:endParaRPr lang="en-US" sz="1600" dirty="0">
              <a:ea typeface="Calibri"/>
              <a:cs typeface="Calibri"/>
            </a:endParaRPr>
          </a:p>
          <a:p>
            <a:pPr algn="ctr"/>
            <a:endParaRPr lang="en-US" sz="1600" dirty="0">
              <a:ea typeface="Calibri"/>
              <a:cs typeface="Calibri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229B80E-7697-81DD-C95A-A179AA16D577}"/>
              </a:ext>
            </a:extLst>
          </p:cNvPr>
          <p:cNvSpPr txBox="1"/>
          <p:nvPr/>
        </p:nvSpPr>
        <p:spPr>
          <a:xfrm>
            <a:off x="494955" y="2994218"/>
            <a:ext cx="11154977" cy="22490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de-DE" sz="200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616CF7-A35D-0957-9A8A-84BB2008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3</a:t>
            </a:fld>
            <a:r>
              <a:rPr lang="en-US"/>
              <a:t>/39</a:t>
            </a:r>
          </a:p>
        </p:txBody>
      </p:sp>
      <p:sp>
        <p:nvSpPr>
          <p:cNvPr id="6" name="Pfeil: Fünfeck 5">
            <a:extLst>
              <a:ext uri="{FF2B5EF4-FFF2-40B4-BE49-F238E27FC236}">
                <a16:creationId xmlns:a16="http://schemas.microsoft.com/office/drawing/2014/main" id="{F7D20BDA-4053-6F3C-D2F0-2831C1A478E2}"/>
              </a:ext>
            </a:extLst>
          </p:cNvPr>
          <p:cNvSpPr/>
          <p:nvPr/>
        </p:nvSpPr>
        <p:spPr>
          <a:xfrm>
            <a:off x="1720821" y="1947130"/>
            <a:ext cx="2991555" cy="656947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Content Placeholder 4" descr="A diagram of evaporation&#10;&#10;AI-generated content may be incorrect.">
            <a:extLst>
              <a:ext uri="{FF2B5EF4-FFF2-40B4-BE49-F238E27FC236}">
                <a16:creationId xmlns:a16="http://schemas.microsoft.com/office/drawing/2014/main" id="{F5937733-EB3D-0887-3CE7-5ACBB3CDE8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71316" t="56906" r="5990" b="17335"/>
          <a:stretch>
            <a:fillRect/>
          </a:stretch>
        </p:blipFill>
        <p:spPr>
          <a:xfrm>
            <a:off x="8355169" y="4033568"/>
            <a:ext cx="2443691" cy="484721"/>
          </a:xfrm>
          <a:prstGeom prst="rect">
            <a:avLst/>
          </a:prstGeom>
        </p:spPr>
      </p:pic>
      <p:sp>
        <p:nvSpPr>
          <p:cNvPr id="16" name="TextBox 5">
            <a:extLst>
              <a:ext uri="{FF2B5EF4-FFF2-40B4-BE49-F238E27FC236}">
                <a16:creationId xmlns:a16="http://schemas.microsoft.com/office/drawing/2014/main" id="{ED15BF12-E588-30D1-0AF8-7E2453154A0C}"/>
              </a:ext>
            </a:extLst>
          </p:cNvPr>
          <p:cNvSpPr txBox="1"/>
          <p:nvPr/>
        </p:nvSpPr>
        <p:spPr>
          <a:xfrm>
            <a:off x="711861" y="5317770"/>
            <a:ext cx="1060106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err="1">
                <a:ea typeface="Calibri"/>
                <a:cs typeface="Calibri"/>
              </a:rPr>
              <a:t>Εικόν</a:t>
            </a:r>
            <a:r>
              <a:rPr lang="en-US" sz="2000">
                <a:ea typeface="Calibri"/>
                <a:cs typeface="Calibri"/>
              </a:rPr>
              <a:t>α 1: </a:t>
            </a:r>
            <a:r>
              <a:rPr lang="en-US" sz="2000" err="1">
                <a:ea typeface="Calibri"/>
                <a:cs typeface="Calibri"/>
              </a:rPr>
              <a:t>Κύριες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διεργ</a:t>
            </a:r>
            <a:r>
              <a:rPr lang="en-US" sz="2000">
                <a:ea typeface="Calibri"/>
                <a:cs typeface="Calibri"/>
              </a:rPr>
              <a:t>α</a:t>
            </a:r>
            <a:r>
              <a:rPr lang="en-US" sz="2000" err="1">
                <a:ea typeface="Calibri"/>
                <a:cs typeface="Calibri"/>
              </a:rPr>
              <a:t>σίες</a:t>
            </a:r>
            <a:r>
              <a:rPr lang="en-US" sz="2000">
                <a:ea typeface="Calibri"/>
                <a:cs typeface="Calibri"/>
              </a:rPr>
              <a:t> κα</a:t>
            </a:r>
            <a:r>
              <a:rPr lang="en-US" sz="2000" err="1">
                <a:ea typeface="Calibri"/>
                <a:cs typeface="Calibri"/>
              </a:rPr>
              <a:t>τά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την</a:t>
            </a:r>
            <a:r>
              <a:rPr lang="en-US" sz="2000">
                <a:ea typeface="Calibri"/>
                <a:cs typeface="Calibri"/>
              </a:rPr>
              <a:t> παρα</a:t>
            </a:r>
            <a:r>
              <a:rPr lang="en-US" sz="2000" err="1">
                <a:ea typeface="Calibri"/>
                <a:cs typeface="Calibri"/>
              </a:rPr>
              <a:t>σκευή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σκόνης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γάλ</a:t>
            </a:r>
            <a:r>
              <a:rPr lang="en-US" sz="2000">
                <a:ea typeface="Calibri"/>
                <a:cs typeface="Calibri"/>
              </a:rPr>
              <a:t>α</a:t>
            </a:r>
            <a:r>
              <a:rPr lang="en-US" sz="2000" err="1">
                <a:ea typeface="Calibri"/>
                <a:cs typeface="Calibri"/>
              </a:rPr>
              <a:t>κτος</a:t>
            </a:r>
            <a:r>
              <a:rPr lang="en-US" sz="2000">
                <a:ea typeface="Calibri"/>
                <a:cs typeface="Calibri"/>
              </a:rPr>
              <a:t> (</a:t>
            </a:r>
            <a:r>
              <a:rPr lang="en-US" sz="2000" err="1">
                <a:ea typeface="Calibri"/>
                <a:cs typeface="Calibri"/>
              </a:rPr>
              <a:t>Moejes</a:t>
            </a:r>
            <a:r>
              <a:rPr lang="en-US" sz="2000">
                <a:ea typeface="Calibri"/>
                <a:cs typeface="Calibri"/>
              </a:rPr>
              <a:t>, 2019)</a:t>
            </a:r>
          </a:p>
        </p:txBody>
      </p:sp>
      <p:sp>
        <p:nvSpPr>
          <p:cNvPr id="8" name="Pfeil: Fünfeck 7">
            <a:extLst>
              <a:ext uri="{FF2B5EF4-FFF2-40B4-BE49-F238E27FC236}">
                <a16:creationId xmlns:a16="http://schemas.microsoft.com/office/drawing/2014/main" id="{BD470582-E164-D906-085F-3DD3FFAA997F}"/>
              </a:ext>
            </a:extLst>
          </p:cNvPr>
          <p:cNvSpPr/>
          <p:nvPr/>
        </p:nvSpPr>
        <p:spPr>
          <a:xfrm>
            <a:off x="3211205" y="1073072"/>
            <a:ext cx="1478761" cy="67935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Pfeil: Fünfeck 17">
            <a:extLst>
              <a:ext uri="{FF2B5EF4-FFF2-40B4-BE49-F238E27FC236}">
                <a16:creationId xmlns:a16="http://schemas.microsoft.com/office/drawing/2014/main" id="{FCB0362D-374B-0897-64F9-33197FD8D03D}"/>
              </a:ext>
            </a:extLst>
          </p:cNvPr>
          <p:cNvSpPr/>
          <p:nvPr/>
        </p:nvSpPr>
        <p:spPr>
          <a:xfrm>
            <a:off x="1720823" y="1073073"/>
            <a:ext cx="1859760" cy="679357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D3A3601-7C8E-D01B-01EC-FF862B285181}"/>
              </a:ext>
            </a:extLst>
          </p:cNvPr>
          <p:cNvSpPr txBox="1"/>
          <p:nvPr/>
        </p:nvSpPr>
        <p:spPr>
          <a:xfrm>
            <a:off x="1715263" y="1211134"/>
            <a:ext cx="294905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Ενέργει</a:t>
            </a:r>
            <a:r>
              <a:rPr lang="de-DE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α, </a:t>
            </a:r>
            <a:r>
              <a:rPr lang="de-DE" sz="20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Νερό</a:t>
            </a:r>
            <a:endParaRPr lang="de-DE" sz="2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D4B92F0-4FE0-4CAE-E3CE-A1B222546BBC}"/>
              </a:ext>
            </a:extLst>
          </p:cNvPr>
          <p:cNvSpPr txBox="1"/>
          <p:nvPr/>
        </p:nvSpPr>
        <p:spPr>
          <a:xfrm>
            <a:off x="3553025" y="1211134"/>
            <a:ext cx="10888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Κόστος</a:t>
            </a:r>
            <a:endParaRPr lang="de-DE" sz="2000">
              <a:solidFill>
                <a:schemeClr val="bg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3B7D2C6-7389-4168-F2BB-CD1348660A0B}"/>
              </a:ext>
            </a:extLst>
          </p:cNvPr>
          <p:cNvSpPr txBox="1"/>
          <p:nvPr/>
        </p:nvSpPr>
        <p:spPr>
          <a:xfrm>
            <a:off x="1715264" y="2073985"/>
            <a:ext cx="264649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Χα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μηλή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τιμή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γάλ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α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κτος</a:t>
            </a:r>
            <a:endParaRPr lang="de-DE" sz="20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6" name="Pfeil: Fünfeck 25">
            <a:extLst>
              <a:ext uri="{FF2B5EF4-FFF2-40B4-BE49-F238E27FC236}">
                <a16:creationId xmlns:a16="http://schemas.microsoft.com/office/drawing/2014/main" id="{34F7ABCA-DCA3-D795-531E-F43BEB6B3BB0}"/>
              </a:ext>
            </a:extLst>
          </p:cNvPr>
          <p:cNvSpPr/>
          <p:nvPr/>
        </p:nvSpPr>
        <p:spPr>
          <a:xfrm>
            <a:off x="5015351" y="1487689"/>
            <a:ext cx="3574260" cy="63453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174EC5E-C460-ED86-C350-468A99380140}"/>
              </a:ext>
            </a:extLst>
          </p:cNvPr>
          <p:cNvSpPr txBox="1"/>
          <p:nvPr/>
        </p:nvSpPr>
        <p:spPr>
          <a:xfrm>
            <a:off x="4852910" y="1614545"/>
            <a:ext cx="37446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Προϊόντ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α π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ροστιθέμενης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 α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ξί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ας</a:t>
            </a:r>
          </a:p>
        </p:txBody>
      </p:sp>
      <p:sp>
        <p:nvSpPr>
          <p:cNvPr id="30" name="Pfeil: Fünfeck 29">
            <a:extLst>
              <a:ext uri="{FF2B5EF4-FFF2-40B4-BE49-F238E27FC236}">
                <a16:creationId xmlns:a16="http://schemas.microsoft.com/office/drawing/2014/main" id="{352546A4-A576-8489-D039-3766A8E38DB9}"/>
              </a:ext>
            </a:extLst>
          </p:cNvPr>
          <p:cNvSpPr/>
          <p:nvPr/>
        </p:nvSpPr>
        <p:spPr>
          <a:xfrm>
            <a:off x="8903791" y="1487691"/>
            <a:ext cx="2027851" cy="63453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C2E0E327-B943-1FE6-F890-54547205A067}"/>
              </a:ext>
            </a:extLst>
          </p:cNvPr>
          <p:cNvSpPr txBox="1"/>
          <p:nvPr/>
        </p:nvSpPr>
        <p:spPr>
          <a:xfrm>
            <a:off x="8898233" y="1614545"/>
            <a:ext cx="1895700" cy="411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Σκόνη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γάλ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α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κτος</a:t>
            </a:r>
            <a:endParaRPr lang="de-DE" sz="20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CAB0FD9-5088-9868-8E29-E9172F1E3D85}"/>
              </a:ext>
            </a:extLst>
          </p:cNvPr>
          <p:cNvSpPr/>
          <p:nvPr/>
        </p:nvSpPr>
        <p:spPr>
          <a:xfrm>
            <a:off x="4907730" y="4162745"/>
            <a:ext cx="1586770" cy="809252"/>
          </a:xfrm>
          <a:prstGeom prst="rect">
            <a:avLst/>
          </a:prstGeom>
          <a:solidFill>
            <a:srgbClr val="ECEC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839E8088-DFF5-8A11-41EE-A035F6DA0404}"/>
              </a:ext>
            </a:extLst>
          </p:cNvPr>
          <p:cNvSpPr txBox="1"/>
          <p:nvPr/>
        </p:nvSpPr>
        <p:spPr>
          <a:xfrm>
            <a:off x="4985630" y="4214833"/>
            <a:ext cx="143870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000" err="1">
                <a:ea typeface="Calibri"/>
                <a:cs typeface="Calibri"/>
              </a:rPr>
              <a:t>Διήθηση</a:t>
            </a:r>
            <a:r>
              <a:rPr lang="de-DE" sz="2000">
                <a:ea typeface="Calibri"/>
                <a:cs typeface="Calibri"/>
              </a:rPr>
              <a:t> </a:t>
            </a:r>
            <a:r>
              <a:rPr lang="de-DE" sz="2000" err="1">
                <a:ea typeface="Calibri"/>
                <a:cs typeface="Calibri"/>
              </a:rPr>
              <a:t>με</a:t>
            </a:r>
            <a:r>
              <a:rPr lang="de-DE" sz="2000">
                <a:ea typeface="Calibri"/>
                <a:cs typeface="Calibri"/>
              </a:rPr>
              <a:t> </a:t>
            </a:r>
            <a:r>
              <a:rPr lang="de-DE" sz="2000" err="1">
                <a:ea typeface="Calibri"/>
                <a:cs typeface="Calibri"/>
              </a:rPr>
              <a:t>Μεμ</a:t>
            </a:r>
            <a:r>
              <a:rPr lang="de-DE" sz="2000">
                <a:ea typeface="Calibri"/>
                <a:cs typeface="Calibri"/>
              </a:rPr>
              <a:t>β</a:t>
            </a:r>
            <a:r>
              <a:rPr lang="de-DE" sz="2000" err="1">
                <a:ea typeface="Calibri"/>
                <a:cs typeface="Calibri"/>
              </a:rPr>
              <a:t>ράνη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261F99-4810-81C5-2058-642C5ADE182B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1992238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1. </a:t>
            </a:r>
            <a:r>
              <a:rPr lang="en-US" sz="3100" dirty="0" err="1">
                <a:ea typeface="Calibri Light"/>
                <a:cs typeface="Calibri Light"/>
              </a:rPr>
              <a:t>Εισ</a:t>
            </a:r>
            <a:r>
              <a:rPr lang="en-US" sz="3100" dirty="0">
                <a:ea typeface="Calibri Light"/>
                <a:cs typeface="Calibri Light"/>
              </a:rPr>
              <a:t>α</a:t>
            </a:r>
            <a:r>
              <a:rPr lang="en-US" sz="3100" dirty="0" err="1">
                <a:ea typeface="Calibri Light"/>
                <a:cs typeface="Calibri Light"/>
              </a:rPr>
              <a:t>γωγή</a:t>
            </a:r>
            <a:r>
              <a:rPr lang="en-US" sz="3100" dirty="0">
                <a:ea typeface="Calibri Light"/>
                <a:cs typeface="Calibri Light"/>
              </a:rPr>
              <a:t> </a:t>
            </a:r>
            <a:r>
              <a:rPr lang="en-US" sz="3100" dirty="0" err="1">
                <a:ea typeface="Calibri Light"/>
                <a:cs typeface="Calibri Light"/>
              </a:rPr>
              <a:t>στη</a:t>
            </a:r>
            <a:r>
              <a:rPr lang="en-US" sz="3100" dirty="0">
                <a:ea typeface="Calibri Light"/>
                <a:cs typeface="Calibri Light"/>
              </a:rPr>
              <a:t> Γαλα</a:t>
            </a:r>
            <a:r>
              <a:rPr lang="en-US" sz="3100" dirty="0" err="1">
                <a:ea typeface="Calibri Light"/>
                <a:cs typeface="Calibri Light"/>
              </a:rPr>
              <a:t>κτ</a:t>
            </a:r>
            <a:r>
              <a:rPr lang="en-US" sz="3100" dirty="0" err="1">
                <a:latin typeface="Calibri Light"/>
                <a:ea typeface="Calibri Light"/>
                <a:cs typeface="Calibri Light"/>
              </a:rPr>
              <a:t>ο</a:t>
            </a:r>
            <a:r>
              <a:rPr lang="en-US" sz="3100" dirty="0">
                <a:latin typeface="Calibri Light"/>
                <a:ea typeface="Calibri Light"/>
                <a:cs typeface="Calibri Light"/>
              </a:rPr>
              <a:t>β</a:t>
            </a:r>
            <a:r>
              <a:rPr lang="en-US" sz="3100" dirty="0" err="1">
                <a:latin typeface="Calibri Light"/>
                <a:ea typeface="Calibri Light"/>
                <a:cs typeface="Calibri Light"/>
              </a:rPr>
              <a:t>ιομηχ</a:t>
            </a:r>
            <a:r>
              <a:rPr lang="en-US" sz="3100" dirty="0">
                <a:latin typeface="Calibri Light"/>
                <a:ea typeface="Calibri Light"/>
                <a:cs typeface="Calibri Light"/>
              </a:rPr>
              <a:t>α</a:t>
            </a:r>
            <a:r>
              <a:rPr lang="en-US" sz="3100" dirty="0" err="1">
                <a:latin typeface="Calibri Light"/>
                <a:ea typeface="Calibri Light"/>
                <a:cs typeface="Calibri Light"/>
              </a:rPr>
              <a:t>νική</a:t>
            </a:r>
            <a:r>
              <a:rPr lang="en-US" sz="3100" dirty="0">
                <a:latin typeface="Calibri Light"/>
                <a:ea typeface="Calibri Light"/>
                <a:cs typeface="Calibri Light"/>
              </a:rPr>
              <a:t> Παρα</a:t>
            </a:r>
            <a:r>
              <a:rPr lang="en-US" sz="3100" dirty="0" err="1">
                <a:latin typeface="Calibri Light"/>
                <a:ea typeface="Calibri Light"/>
                <a:cs typeface="Calibri Light"/>
              </a:rPr>
              <a:t>γωγή</a:t>
            </a:r>
            <a:endParaRPr lang="de-DE" sz="3100" dirty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BF4EF63-BF8B-1C77-3ADE-8722F695B1F4}"/>
              </a:ext>
            </a:extLst>
          </p:cNvPr>
          <p:cNvSpPr txBox="1"/>
          <p:nvPr/>
        </p:nvSpPr>
        <p:spPr>
          <a:xfrm>
            <a:off x="2266106" y="4531305"/>
            <a:ext cx="900352" cy="4001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err="1">
                <a:ea typeface="Calibri"/>
                <a:cs typeface="Calibri"/>
              </a:rPr>
              <a:t>Κρέμ</a:t>
            </a:r>
            <a:r>
              <a:rPr lang="de-DE" sz="2000">
                <a:ea typeface="Calibri"/>
                <a:cs typeface="Calibri"/>
              </a:rPr>
              <a:t>α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AF192C5-EAA4-D045-01E0-AE204C5882CE}"/>
              </a:ext>
            </a:extLst>
          </p:cNvPr>
          <p:cNvSpPr txBox="1"/>
          <p:nvPr/>
        </p:nvSpPr>
        <p:spPr>
          <a:xfrm>
            <a:off x="8966601" y="4536268"/>
            <a:ext cx="1842890" cy="4001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err="1">
                <a:ea typeface="Calibri"/>
                <a:cs typeface="Calibri"/>
              </a:rPr>
              <a:t>Σκόνη</a:t>
            </a:r>
            <a:r>
              <a:rPr lang="de-DE" sz="2000">
                <a:ea typeface="Calibri"/>
                <a:cs typeface="Calibri"/>
              </a:rPr>
              <a:t> </a:t>
            </a:r>
            <a:r>
              <a:rPr lang="de-DE" sz="2000" err="1">
                <a:ea typeface="Calibri"/>
                <a:cs typeface="Calibri"/>
              </a:rPr>
              <a:t>γάλ</a:t>
            </a:r>
            <a:r>
              <a:rPr lang="de-DE" sz="2000">
                <a:ea typeface="Calibri"/>
                <a:cs typeface="Calibri"/>
              </a:rPr>
              <a:t>α</a:t>
            </a:r>
            <a:r>
              <a:rPr lang="de-DE" sz="2000" err="1">
                <a:ea typeface="Calibri"/>
                <a:cs typeface="Calibri"/>
              </a:rPr>
              <a:t>κτος</a:t>
            </a:r>
          </a:p>
        </p:txBody>
      </p:sp>
      <p:pic>
        <p:nvPicPr>
          <p:cNvPr id="38" name="Content Placeholder 4" descr="A diagram of evaporation&#10;&#10;AI-generated content may be incorrect.">
            <a:extLst>
              <a:ext uri="{FF2B5EF4-FFF2-40B4-BE49-F238E27FC236}">
                <a16:creationId xmlns:a16="http://schemas.microsoft.com/office/drawing/2014/main" id="{ADA99352-0060-C2DB-FB81-D34D14EFD9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85" t="15812" r="70256" b="51176"/>
          <a:stretch>
            <a:fillRect/>
          </a:stretch>
        </p:blipFill>
        <p:spPr>
          <a:xfrm>
            <a:off x="5486439" y="3297823"/>
            <a:ext cx="372402" cy="621198"/>
          </a:xfrm>
          <a:prstGeom prst="rect">
            <a:avLst/>
          </a:prstGeom>
        </p:spPr>
      </p:pic>
      <p:pic>
        <p:nvPicPr>
          <p:cNvPr id="35" name="Content Placeholder 4" descr="A diagram of evaporation&#10;&#10;AI-generated content may be incorrect.">
            <a:extLst>
              <a:ext uri="{FF2B5EF4-FFF2-40B4-BE49-F238E27FC236}">
                <a16:creationId xmlns:a16="http://schemas.microsoft.com/office/drawing/2014/main" id="{0067601E-57EC-F42C-7C78-55BBF3E101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773" t="55601" r="79570" b="16611"/>
          <a:stretch>
            <a:fillRect/>
          </a:stretch>
        </p:blipFill>
        <p:spPr>
          <a:xfrm>
            <a:off x="2434009" y="4005345"/>
            <a:ext cx="393713" cy="522910"/>
          </a:xfrm>
          <a:prstGeom prst="rect">
            <a:avLst/>
          </a:prstGeom>
        </p:spPr>
      </p:pic>
      <p:pic>
        <p:nvPicPr>
          <p:cNvPr id="44" name="Content Placeholder 4" descr="A diagram of evaporation&#10;&#10;AI-generated content may be incorrect.">
            <a:extLst>
              <a:ext uri="{FF2B5EF4-FFF2-40B4-BE49-F238E27FC236}">
                <a16:creationId xmlns:a16="http://schemas.microsoft.com/office/drawing/2014/main" id="{F3F2AE07-A1FF-2803-BFF0-0D38C6BA36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85" t="15812" r="70256" b="51176"/>
          <a:stretch>
            <a:fillRect/>
          </a:stretch>
        </p:blipFill>
        <p:spPr>
          <a:xfrm>
            <a:off x="7419048" y="3297823"/>
            <a:ext cx="372402" cy="621198"/>
          </a:xfrm>
          <a:prstGeom prst="rect">
            <a:avLst/>
          </a:prstGeom>
        </p:spPr>
      </p:pic>
      <p:pic>
        <p:nvPicPr>
          <p:cNvPr id="45" name="Content Placeholder 4" descr="A diagram of evaporation&#10;&#10;AI-generated content may be incorrect.">
            <a:extLst>
              <a:ext uri="{FF2B5EF4-FFF2-40B4-BE49-F238E27FC236}">
                <a16:creationId xmlns:a16="http://schemas.microsoft.com/office/drawing/2014/main" id="{ECFBE8C7-B03F-8F5B-E13D-A03C0147AB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85" t="15812" r="70256" b="51176"/>
          <a:stretch>
            <a:fillRect/>
          </a:stretch>
        </p:blipFill>
        <p:spPr>
          <a:xfrm>
            <a:off x="9373743" y="3297823"/>
            <a:ext cx="372402" cy="621198"/>
          </a:xfrm>
          <a:prstGeom prst="rect">
            <a:avLst/>
          </a:prstGeom>
        </p:spPr>
      </p:pic>
      <p:pic>
        <p:nvPicPr>
          <p:cNvPr id="46" name="Content Placeholder 4" descr="A diagram of evaporation&#10;&#10;AI-generated content may be incorrect.">
            <a:extLst>
              <a:ext uri="{FF2B5EF4-FFF2-40B4-BE49-F238E27FC236}">
                <a16:creationId xmlns:a16="http://schemas.microsoft.com/office/drawing/2014/main" id="{C193DCF2-D5ED-59BD-06ED-0A0A2CB11B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85" t="15812" r="70256" b="51176"/>
          <a:stretch>
            <a:fillRect/>
          </a:stretch>
        </p:blipFill>
        <p:spPr>
          <a:xfrm>
            <a:off x="3531743" y="3319909"/>
            <a:ext cx="372402" cy="621198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8B3D6416-F03F-51D8-5F93-65F9C6715891}"/>
              </a:ext>
            </a:extLst>
          </p:cNvPr>
          <p:cNvSpPr/>
          <p:nvPr/>
        </p:nvSpPr>
        <p:spPr>
          <a:xfrm>
            <a:off x="3897332" y="3237636"/>
            <a:ext cx="1586770" cy="809252"/>
          </a:xfrm>
          <a:prstGeom prst="rect">
            <a:avLst/>
          </a:prstGeom>
          <a:solidFill>
            <a:srgbClr val="ECEC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4142998-064B-C7EA-E6E0-7CCBA935B52E}"/>
              </a:ext>
            </a:extLst>
          </p:cNvPr>
          <p:cNvSpPr txBox="1"/>
          <p:nvPr/>
        </p:nvSpPr>
        <p:spPr>
          <a:xfrm>
            <a:off x="3894924" y="3434154"/>
            <a:ext cx="158873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000">
                <a:ea typeface="Calibri"/>
                <a:cs typeface="Calibri"/>
              </a:rPr>
              <a:t>Πα</a:t>
            </a:r>
            <a:r>
              <a:rPr lang="de-DE" sz="2000" err="1">
                <a:ea typeface="Calibri"/>
                <a:cs typeface="Calibri"/>
              </a:rPr>
              <a:t>στερίωση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A90D78B5-DE38-8EB0-0ABF-38CE30D78D07}"/>
              </a:ext>
            </a:extLst>
          </p:cNvPr>
          <p:cNvSpPr/>
          <p:nvPr/>
        </p:nvSpPr>
        <p:spPr>
          <a:xfrm>
            <a:off x="5858362" y="3226431"/>
            <a:ext cx="1586770" cy="809252"/>
          </a:xfrm>
          <a:prstGeom prst="rect">
            <a:avLst/>
          </a:prstGeom>
          <a:solidFill>
            <a:srgbClr val="ECEC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A04BD3D4-48DB-383D-E79F-658A8256BE01}"/>
              </a:ext>
            </a:extLst>
          </p:cNvPr>
          <p:cNvSpPr txBox="1"/>
          <p:nvPr/>
        </p:nvSpPr>
        <p:spPr>
          <a:xfrm>
            <a:off x="5968013" y="3411744"/>
            <a:ext cx="136462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000" err="1">
                <a:ea typeface="Calibri"/>
                <a:cs typeface="Calibri"/>
              </a:rPr>
              <a:t>Εξάτμιση</a:t>
            </a:r>
          </a:p>
        </p:txBody>
      </p:sp>
      <p:pic>
        <p:nvPicPr>
          <p:cNvPr id="47" name="Content Placeholder 4" descr="A diagram of evaporation&#10;&#10;AI-generated content may be incorrect.">
            <a:extLst>
              <a:ext uri="{FF2B5EF4-FFF2-40B4-BE49-F238E27FC236}">
                <a16:creationId xmlns:a16="http://schemas.microsoft.com/office/drawing/2014/main" id="{E7EC0C51-A91D-3C8B-A8B3-5B063DCCBB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285" t="15812" r="70256" b="51176"/>
          <a:stretch>
            <a:fillRect/>
          </a:stretch>
        </p:blipFill>
        <p:spPr>
          <a:xfrm>
            <a:off x="1594992" y="3341075"/>
            <a:ext cx="372402" cy="621198"/>
          </a:xfrm>
          <a:prstGeom prst="rect">
            <a:avLst/>
          </a:prstGeom>
        </p:spPr>
      </p:pic>
      <p:sp>
        <p:nvSpPr>
          <p:cNvPr id="29" name="Rechteck 28">
            <a:extLst>
              <a:ext uri="{FF2B5EF4-FFF2-40B4-BE49-F238E27FC236}">
                <a16:creationId xmlns:a16="http://schemas.microsoft.com/office/drawing/2014/main" id="{FF7B42EC-E611-5B06-DBCE-AEECCA167650}"/>
              </a:ext>
            </a:extLst>
          </p:cNvPr>
          <p:cNvSpPr/>
          <p:nvPr/>
        </p:nvSpPr>
        <p:spPr>
          <a:xfrm>
            <a:off x="1958715" y="3237149"/>
            <a:ext cx="1586770" cy="809252"/>
          </a:xfrm>
          <a:prstGeom prst="rect">
            <a:avLst/>
          </a:prstGeom>
          <a:solidFill>
            <a:srgbClr val="ECEC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79A1689-12D7-3020-6292-92CB6A6D3C4D}"/>
              </a:ext>
            </a:extLst>
          </p:cNvPr>
          <p:cNvSpPr txBox="1"/>
          <p:nvPr/>
        </p:nvSpPr>
        <p:spPr>
          <a:xfrm>
            <a:off x="1967514" y="3425089"/>
            <a:ext cx="158873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000" err="1">
                <a:ea typeface="Calibri"/>
                <a:cs typeface="Calibri"/>
              </a:rPr>
              <a:t>Τυ</a:t>
            </a:r>
            <a:r>
              <a:rPr lang="de-DE" sz="2000">
                <a:ea typeface="Calibri"/>
                <a:cs typeface="Calibri"/>
              </a:rPr>
              <a:t>ποπ</a:t>
            </a:r>
            <a:r>
              <a:rPr lang="de-DE" sz="2000" err="1">
                <a:ea typeface="Calibri"/>
                <a:cs typeface="Calibri"/>
              </a:rPr>
              <a:t>οίηση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0E65A50-96A5-2885-166D-6A96CC0A6837}"/>
              </a:ext>
            </a:extLst>
          </p:cNvPr>
          <p:cNvSpPr txBox="1"/>
          <p:nvPr/>
        </p:nvSpPr>
        <p:spPr>
          <a:xfrm>
            <a:off x="536239" y="3139892"/>
            <a:ext cx="1240133" cy="4001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err="1">
                <a:ea typeface="Calibri"/>
                <a:cs typeface="Calibri"/>
              </a:rPr>
              <a:t>Ωμό</a:t>
            </a:r>
            <a:r>
              <a:rPr lang="de-DE" sz="2000">
                <a:ea typeface="Calibri"/>
                <a:cs typeface="Calibri"/>
              </a:rPr>
              <a:t> </a:t>
            </a:r>
            <a:r>
              <a:rPr lang="de-DE" sz="2000" err="1">
                <a:ea typeface="Calibri"/>
                <a:cs typeface="Calibri"/>
              </a:rPr>
              <a:t>γάλ</a:t>
            </a:r>
            <a:r>
              <a:rPr lang="de-DE" sz="2000">
                <a:ea typeface="Calibri"/>
                <a:cs typeface="Calibri"/>
              </a:rPr>
              <a:t>α</a:t>
            </a:r>
            <a:endParaRPr lang="de-DE" sz="200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BB89886-2E1F-3705-8E08-0AC882A1CD94}"/>
              </a:ext>
            </a:extLst>
          </p:cNvPr>
          <p:cNvSpPr/>
          <p:nvPr/>
        </p:nvSpPr>
        <p:spPr>
          <a:xfrm>
            <a:off x="7785773" y="3215224"/>
            <a:ext cx="1586770" cy="809252"/>
          </a:xfrm>
          <a:prstGeom prst="rect">
            <a:avLst/>
          </a:prstGeom>
          <a:solidFill>
            <a:srgbClr val="ECEC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4C0A79F-59B2-F93D-5DDC-AA1DB3460F13}"/>
              </a:ext>
            </a:extLst>
          </p:cNvPr>
          <p:cNvSpPr txBox="1"/>
          <p:nvPr/>
        </p:nvSpPr>
        <p:spPr>
          <a:xfrm>
            <a:off x="7906630" y="3411744"/>
            <a:ext cx="136462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000" err="1">
                <a:ea typeface="Calibri"/>
                <a:cs typeface="Calibri"/>
              </a:rPr>
              <a:t>Ξήρ</a:t>
            </a:r>
            <a:r>
              <a:rPr lang="de-DE" sz="2000">
                <a:ea typeface="Calibri"/>
                <a:cs typeface="Calibri"/>
              </a:rPr>
              <a:t>α</a:t>
            </a:r>
            <a:r>
              <a:rPr lang="de-DE" sz="2000" err="1">
                <a:ea typeface="Calibri"/>
                <a:cs typeface="Calibri"/>
              </a:rPr>
              <a:t>νση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C22C68D-7779-C44D-10EE-A8A21CE1ECC4}"/>
              </a:ext>
            </a:extLst>
          </p:cNvPr>
          <p:cNvSpPr/>
          <p:nvPr/>
        </p:nvSpPr>
        <p:spPr>
          <a:xfrm>
            <a:off x="9735597" y="3237636"/>
            <a:ext cx="1586770" cy="809252"/>
          </a:xfrm>
          <a:prstGeom prst="rect">
            <a:avLst/>
          </a:prstGeom>
          <a:solidFill>
            <a:srgbClr val="ECEC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31C708C8-9D34-9438-DF1F-C31B5C3F5914}"/>
              </a:ext>
            </a:extLst>
          </p:cNvPr>
          <p:cNvSpPr txBox="1"/>
          <p:nvPr/>
        </p:nvSpPr>
        <p:spPr>
          <a:xfrm>
            <a:off x="9733189" y="3311053"/>
            <a:ext cx="15887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000" err="1">
                <a:ea typeface="Calibri"/>
                <a:cs typeface="Calibri"/>
              </a:rPr>
              <a:t>Φιλτράρισμ</a:t>
            </a:r>
            <a:r>
              <a:rPr lang="de-DE" sz="2000">
                <a:ea typeface="Calibri"/>
                <a:cs typeface="Calibri"/>
              </a:rPr>
              <a:t>α α</a:t>
            </a:r>
            <a:r>
              <a:rPr lang="de-DE" sz="2000" err="1">
                <a:ea typeface="Calibri"/>
                <a:cs typeface="Calibri"/>
              </a:rPr>
              <a:t>έρ</a:t>
            </a:r>
            <a:r>
              <a:rPr lang="de-DE" sz="2000">
                <a:ea typeface="Calibri"/>
                <a:cs typeface="Calibri"/>
              </a:rPr>
              <a:t>α</a:t>
            </a:r>
          </a:p>
        </p:txBody>
      </p:sp>
    </p:spTree>
    <p:extLst>
      <p:ext uri="{BB962C8B-B14F-4D97-AF65-F5344CB8AC3E}">
        <p14:creationId xmlns:p14="http://schemas.microsoft.com/office/powerpoint/2010/main" val="44280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16" grpId="0"/>
      <p:bldP spid="34" grpId="0" animBg="1"/>
      <p:bldP spid="36" grpId="0"/>
      <p:bldP spid="10" grpId="0" animBg="1"/>
      <p:bldP spid="11" grpId="0" animBg="1"/>
      <p:bldP spid="17" grpId="0" animBg="1"/>
      <p:bldP spid="19" grpId="0"/>
      <p:bldP spid="21" grpId="0" animBg="1"/>
      <p:bldP spid="23" grpId="0"/>
      <p:bldP spid="29" grpId="0" animBg="1"/>
      <p:bldP spid="31" grpId="0"/>
      <p:bldP spid="7" grpId="0" animBg="1"/>
      <p:bldP spid="14" grpId="0" animBg="1"/>
      <p:bldP spid="15" grpId="0"/>
      <p:bldP spid="25" grpId="0" animBg="1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BD66B-C6A0-05A1-CDD6-040D92C47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719"/>
            <a:ext cx="10944224" cy="52800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 err="1">
                <a:ea typeface="Calibri"/>
                <a:cs typeface="Calibri"/>
              </a:rPr>
              <a:t>Μοντελο</a:t>
            </a:r>
            <a:r>
              <a:rPr lang="en-US" dirty="0">
                <a:ea typeface="Calibri"/>
                <a:cs typeface="Calibri"/>
              </a:rPr>
              <a:t>π</a:t>
            </a:r>
            <a:r>
              <a:rPr lang="en-US" dirty="0" err="1">
                <a:ea typeface="Calibri"/>
                <a:cs typeface="Calibri"/>
              </a:rPr>
              <a:t>οίηση</a:t>
            </a:r>
            <a:r>
              <a:rPr lang="en-US" dirty="0">
                <a:ea typeface="Calibri"/>
                <a:cs typeface="Calibri"/>
              </a:rPr>
              <a:t>, π</a:t>
            </a:r>
            <a:r>
              <a:rPr lang="en-US" dirty="0" err="1">
                <a:ea typeface="Calibri"/>
                <a:cs typeface="Calibri"/>
              </a:rPr>
              <a:t>ροσομοίωση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ολοκληρωμένης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διεργ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σί</a:t>
            </a:r>
            <a:r>
              <a:rPr lang="en-US" dirty="0">
                <a:ea typeface="Calibri"/>
                <a:cs typeface="Calibri"/>
              </a:rPr>
              <a:t>ας</a:t>
            </a:r>
            <a:endParaRPr lang="de-DE" dirty="0"/>
          </a:p>
          <a:p>
            <a:pPr algn="just"/>
            <a:r>
              <a:rPr lang="en-US" dirty="0" err="1">
                <a:ea typeface="Calibri"/>
                <a:cs typeface="Calibri"/>
              </a:rPr>
              <a:t>Συμ</a:t>
            </a:r>
            <a:r>
              <a:rPr lang="en-US" dirty="0">
                <a:ea typeface="Calibri"/>
                <a:cs typeface="Calibri"/>
              </a:rPr>
              <a:t>π</a:t>
            </a:r>
            <a:r>
              <a:rPr lang="en-US" dirty="0" err="1">
                <a:ea typeface="Calibri"/>
                <a:cs typeface="Calibri"/>
              </a:rPr>
              <a:t>υκνωμένο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γάλ</a:t>
            </a:r>
            <a:r>
              <a:rPr lang="en-US" dirty="0">
                <a:ea typeface="Calibri"/>
                <a:cs typeface="Calibri"/>
              </a:rPr>
              <a:t>α </a:t>
            </a:r>
            <a:r>
              <a:rPr lang="en-US" dirty="0" err="1">
                <a:ea typeface="Calibri"/>
                <a:cs typeface="Calibri"/>
              </a:rPr>
              <a:t>με</a:t>
            </a:r>
            <a:r>
              <a:rPr lang="en-US" dirty="0">
                <a:ea typeface="Calibri"/>
                <a:cs typeface="Calibri"/>
              </a:rPr>
              <a:t> 20% </a:t>
            </a:r>
            <a:r>
              <a:rPr lang="en-US" dirty="0" err="1">
                <a:ea typeface="Calibri"/>
                <a:cs typeface="Calibri"/>
              </a:rPr>
              <a:t>στερεά</a:t>
            </a:r>
            <a:endParaRPr lang="en-US" dirty="0">
              <a:ea typeface="Calibri"/>
              <a:cs typeface="Calibri"/>
            </a:endParaRPr>
          </a:p>
          <a:p>
            <a:pPr algn="just"/>
            <a:r>
              <a:rPr lang="en-US" dirty="0" err="1">
                <a:ea typeface="Calibri"/>
                <a:cs typeface="Calibri"/>
              </a:rPr>
              <a:t>Φυσικοχημικά</a:t>
            </a:r>
            <a:r>
              <a:rPr lang="en-US" dirty="0">
                <a:ea typeface="Calibri"/>
                <a:cs typeface="Calibri"/>
              </a:rPr>
              <a:t>, β</a:t>
            </a:r>
            <a:r>
              <a:rPr lang="en-US" dirty="0" err="1">
                <a:ea typeface="Calibri"/>
                <a:cs typeface="Calibri"/>
              </a:rPr>
              <a:t>ιολογικά</a:t>
            </a:r>
            <a:r>
              <a:rPr lang="en-US" dirty="0">
                <a:ea typeface="Calibri"/>
                <a:cs typeface="Calibri"/>
              </a:rPr>
              <a:t> φα</a:t>
            </a:r>
            <a:r>
              <a:rPr lang="en-US" dirty="0" err="1">
                <a:ea typeface="Calibri"/>
                <a:cs typeface="Calibri"/>
              </a:rPr>
              <a:t>ινόμεν</a:t>
            </a:r>
            <a:r>
              <a:rPr lang="en-US" dirty="0">
                <a:ea typeface="Calibri"/>
                <a:cs typeface="Calibri"/>
              </a:rPr>
              <a:t>α</a:t>
            </a:r>
          </a:p>
          <a:p>
            <a:pPr algn="just"/>
            <a:r>
              <a:rPr lang="en-US" dirty="0" err="1">
                <a:ea typeface="Calibri"/>
                <a:cs typeface="Calibri"/>
              </a:rPr>
              <a:t>Συνθήκες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λειτουργί</a:t>
            </a:r>
            <a:r>
              <a:rPr lang="en-US" dirty="0">
                <a:ea typeface="Calibri"/>
                <a:cs typeface="Calibri"/>
              </a:rPr>
              <a:t>ας, πα</a:t>
            </a:r>
            <a:r>
              <a:rPr lang="en-US" dirty="0" err="1">
                <a:ea typeface="Calibri"/>
                <a:cs typeface="Calibri"/>
              </a:rPr>
              <a:t>ράμετροι</a:t>
            </a:r>
            <a:endParaRPr lang="en-US">
              <a:ea typeface="Calibri"/>
              <a:cs typeface="Calibri"/>
            </a:endParaRPr>
          </a:p>
          <a:p>
            <a:pPr algn="just"/>
            <a:r>
              <a:rPr lang="en-US" dirty="0" err="1">
                <a:ea typeface="Calibri"/>
                <a:cs typeface="Calibri"/>
              </a:rPr>
              <a:t>Μείωση</a:t>
            </a:r>
            <a:r>
              <a:rPr lang="en-US" dirty="0">
                <a:ea typeface="Calibri"/>
                <a:cs typeface="Calibri"/>
              </a:rPr>
              <a:t> αβεβα</a:t>
            </a:r>
            <a:r>
              <a:rPr lang="en-US" dirty="0" err="1">
                <a:ea typeface="Calibri"/>
                <a:cs typeface="Calibri"/>
              </a:rPr>
              <a:t>ιότητ</a:t>
            </a:r>
            <a:r>
              <a:rPr lang="en-US" dirty="0">
                <a:ea typeface="Calibri"/>
                <a:cs typeface="Calibri"/>
              </a:rPr>
              <a:t>ας, </a:t>
            </a:r>
            <a:r>
              <a:rPr lang="en-US" dirty="0" err="1">
                <a:ea typeface="Calibri"/>
                <a:cs typeface="Calibri"/>
              </a:rPr>
              <a:t>έλεγχος</a:t>
            </a:r>
            <a:r>
              <a:rPr lang="en-US" dirty="0">
                <a:ea typeface="Calibri"/>
                <a:cs typeface="Calibri"/>
              </a:rPr>
              <a:t>, β</a:t>
            </a:r>
            <a:r>
              <a:rPr lang="en-US" dirty="0" err="1">
                <a:ea typeface="Calibri"/>
                <a:cs typeface="Calibri"/>
              </a:rPr>
              <a:t>έλτιστες</a:t>
            </a:r>
            <a:r>
              <a:rPr lang="en-US" dirty="0">
                <a:ea typeface="Calibri"/>
                <a:cs typeface="Calibri"/>
              </a:rPr>
              <a:t> απ</a:t>
            </a:r>
            <a:r>
              <a:rPr lang="en-US" dirty="0" err="1">
                <a:ea typeface="Calibri"/>
                <a:cs typeface="Calibri"/>
              </a:rPr>
              <a:t>οφάσεις</a:t>
            </a:r>
            <a:endParaRPr lang="en-US" dirty="0">
              <a:ea typeface="Calibri"/>
              <a:cs typeface="Calibri"/>
            </a:endParaRPr>
          </a:p>
          <a:p>
            <a:pPr algn="just"/>
            <a:r>
              <a:rPr lang="en-US" dirty="0" err="1">
                <a:ea typeface="Calibri"/>
                <a:cs typeface="Calibri"/>
              </a:rPr>
              <a:t>Βελτιστο</a:t>
            </a:r>
            <a:r>
              <a:rPr lang="en-US" dirty="0">
                <a:ea typeface="Calibri"/>
                <a:cs typeface="Calibri"/>
              </a:rPr>
              <a:t>π</a:t>
            </a:r>
            <a:r>
              <a:rPr lang="en-US" dirty="0" err="1">
                <a:ea typeface="Calibri"/>
                <a:cs typeface="Calibri"/>
              </a:rPr>
              <a:t>οίηση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ολοκληρωμένης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διεργ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σί</a:t>
            </a:r>
            <a:r>
              <a:rPr lang="en-US" dirty="0">
                <a:ea typeface="Calibri"/>
                <a:cs typeface="Calibri"/>
              </a:rPr>
              <a:t>ας</a:t>
            </a:r>
          </a:p>
          <a:p>
            <a:pPr algn="just"/>
            <a:endParaRPr lang="en-US" dirty="0">
              <a:ea typeface="Calibri"/>
              <a:cs typeface="Calibri"/>
            </a:endParaRPr>
          </a:p>
          <a:p>
            <a:pPr marL="0" indent="0" algn="just">
              <a:buNone/>
            </a:pPr>
            <a:r>
              <a:rPr lang="en-US" dirty="0" err="1">
                <a:ea typeface="Calibri"/>
                <a:cs typeface="Calibri"/>
              </a:rPr>
              <a:t>Δεν</a:t>
            </a:r>
            <a:r>
              <a:rPr lang="en-US" dirty="0">
                <a:ea typeface="Calibri"/>
                <a:cs typeface="Calibri"/>
              </a:rPr>
              <a:t> υπ</a:t>
            </a:r>
            <a:r>
              <a:rPr lang="en-US" dirty="0" err="1">
                <a:ea typeface="Calibri"/>
                <a:cs typeface="Calibri"/>
              </a:rPr>
              <a:t>άρχει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στη</a:t>
            </a:r>
            <a:r>
              <a:rPr lang="en-US" dirty="0">
                <a:ea typeface="Calibri"/>
                <a:cs typeface="Calibri"/>
              </a:rPr>
              <a:t> βιβ</a:t>
            </a:r>
            <a:r>
              <a:rPr lang="en-US" dirty="0" err="1">
                <a:ea typeface="Calibri"/>
                <a:cs typeface="Calibri"/>
              </a:rPr>
              <a:t>λιογρ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φί</a:t>
            </a:r>
            <a:r>
              <a:rPr lang="en-US" dirty="0">
                <a:ea typeface="Calibri"/>
                <a:cs typeface="Calibri"/>
              </a:rPr>
              <a:t>α π</a:t>
            </a:r>
            <a:r>
              <a:rPr lang="en-US" dirty="0" err="1">
                <a:ea typeface="Calibri"/>
                <a:cs typeface="Calibri"/>
              </a:rPr>
              <a:t>ροηγούμενη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εργ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σί</a:t>
            </a:r>
            <a:r>
              <a:rPr lang="en-US" dirty="0">
                <a:ea typeface="Calibri"/>
                <a:cs typeface="Calibri"/>
              </a:rPr>
              <a:t>α ή </a:t>
            </a:r>
            <a:r>
              <a:rPr lang="en-US" dirty="0" err="1">
                <a:ea typeface="Calibri"/>
                <a:cs typeface="Calibri"/>
              </a:rPr>
              <a:t>μελέτη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στη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μοντελο</a:t>
            </a:r>
            <a:r>
              <a:rPr lang="en-US" dirty="0">
                <a:ea typeface="Calibri"/>
                <a:cs typeface="Calibri"/>
              </a:rPr>
              <a:t>π</a:t>
            </a:r>
            <a:r>
              <a:rPr lang="en-US" dirty="0" err="1">
                <a:ea typeface="Calibri"/>
                <a:cs typeface="Calibri"/>
              </a:rPr>
              <a:t>οίηση</a:t>
            </a:r>
            <a:r>
              <a:rPr lang="en-US" dirty="0">
                <a:ea typeface="Calibri"/>
                <a:cs typeface="Calibri"/>
              </a:rPr>
              <a:t>, π</a:t>
            </a:r>
            <a:r>
              <a:rPr lang="en-US" dirty="0" err="1">
                <a:ea typeface="Calibri"/>
                <a:cs typeface="Calibri"/>
              </a:rPr>
              <a:t>ροσομοίωση</a:t>
            </a:r>
            <a:r>
              <a:rPr lang="en-US" dirty="0">
                <a:ea typeface="Calibri"/>
                <a:cs typeface="Calibri"/>
              </a:rPr>
              <a:t>, β</a:t>
            </a:r>
            <a:r>
              <a:rPr lang="en-US" dirty="0" err="1">
                <a:ea typeface="Calibri"/>
                <a:cs typeface="Calibri"/>
              </a:rPr>
              <a:t>ελτιστο</a:t>
            </a:r>
            <a:r>
              <a:rPr lang="en-US" dirty="0">
                <a:ea typeface="Calibri"/>
                <a:cs typeface="Calibri"/>
              </a:rPr>
              <a:t>π</a:t>
            </a:r>
            <a:r>
              <a:rPr lang="en-US" dirty="0" err="1">
                <a:ea typeface="Calibri"/>
                <a:cs typeface="Calibri"/>
              </a:rPr>
              <a:t>οίηση</a:t>
            </a:r>
            <a:r>
              <a:rPr lang="en-US" dirty="0">
                <a:ea typeface="Calibri"/>
                <a:cs typeface="Calibri"/>
              </a:rPr>
              <a:t> και α</a:t>
            </a:r>
            <a:r>
              <a:rPr lang="en-US" dirty="0" err="1">
                <a:ea typeface="Calibri"/>
                <a:cs typeface="Calibri"/>
              </a:rPr>
              <a:t>νάλυση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ευ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ισθησί</a:t>
            </a:r>
            <a:r>
              <a:rPr lang="en-US" dirty="0">
                <a:ea typeface="Calibri"/>
                <a:cs typeface="Calibri"/>
              </a:rPr>
              <a:t>ας/αβεβα</a:t>
            </a:r>
            <a:r>
              <a:rPr lang="en-US" dirty="0" err="1">
                <a:ea typeface="Calibri"/>
                <a:cs typeface="Calibri"/>
              </a:rPr>
              <a:t>ιότητ</a:t>
            </a:r>
            <a:r>
              <a:rPr lang="en-US" dirty="0">
                <a:ea typeface="Calibri"/>
                <a:cs typeface="Calibri"/>
              </a:rPr>
              <a:t>ας </a:t>
            </a:r>
            <a:r>
              <a:rPr lang="en-US" dirty="0" err="1">
                <a:ea typeface="Calibri"/>
                <a:cs typeface="Calibri"/>
              </a:rPr>
              <a:t>της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ολοκληρωμένης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διεργ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σί</a:t>
            </a:r>
            <a:r>
              <a:rPr lang="en-US" dirty="0">
                <a:ea typeface="Calibri"/>
                <a:cs typeface="Calibri"/>
              </a:rPr>
              <a:t>ας πα</a:t>
            </a:r>
            <a:r>
              <a:rPr lang="en-US" dirty="0" err="1">
                <a:ea typeface="Calibri"/>
                <a:cs typeface="Calibri"/>
              </a:rPr>
              <a:t>στερίωσης</a:t>
            </a:r>
            <a:r>
              <a:rPr lang="en-US" dirty="0">
                <a:ea typeface="Calibri"/>
                <a:cs typeface="Calibri"/>
              </a:rPr>
              <a:t> και </a:t>
            </a:r>
            <a:r>
              <a:rPr lang="en-US" dirty="0" err="1">
                <a:ea typeface="Calibri"/>
                <a:cs typeface="Calibri"/>
              </a:rPr>
              <a:t>διήθησης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με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μεμ</a:t>
            </a:r>
            <a:r>
              <a:rPr lang="en-US" dirty="0">
                <a:ea typeface="Calibri"/>
                <a:cs typeface="Calibri"/>
              </a:rPr>
              <a:t>β</a:t>
            </a:r>
            <a:r>
              <a:rPr lang="en-US" dirty="0" err="1">
                <a:ea typeface="Calibri"/>
                <a:cs typeface="Calibri"/>
              </a:rPr>
              <a:t>ράνη</a:t>
            </a:r>
            <a:r>
              <a:rPr lang="en-US" dirty="0">
                <a:ea typeface="Calibri"/>
                <a:cs typeface="Calibri"/>
              </a:rPr>
              <a:t>.</a:t>
            </a:r>
          </a:p>
          <a:p>
            <a:pPr algn="just"/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94501-4878-48AE-9211-C773128D6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4</a:t>
            </a:fld>
            <a:r>
              <a:rPr lang="en-US"/>
              <a:t>/39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04DCD3-1A88-C909-2B6C-EC35DC1B635C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1992238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>
                <a:ea typeface="Calibri Light"/>
                <a:cs typeface="Calibri Light"/>
              </a:rPr>
              <a:t>2.1 </a:t>
            </a:r>
            <a:r>
              <a:rPr lang="en-US" sz="3100" err="1">
                <a:ea typeface="Calibri Light"/>
                <a:cs typeface="Calibri Light"/>
              </a:rPr>
              <a:t>Στόχοι</a:t>
            </a:r>
            <a:r>
              <a:rPr lang="en-US" sz="3100">
                <a:ea typeface="Calibri Light"/>
                <a:cs typeface="Calibri Light"/>
              </a:rPr>
              <a:t> Πα</a:t>
            </a:r>
            <a:r>
              <a:rPr lang="en-US" sz="3100" err="1">
                <a:ea typeface="Calibri Light"/>
                <a:cs typeface="Calibri Light"/>
              </a:rPr>
              <a:t>ρούσ</a:t>
            </a:r>
            <a:r>
              <a:rPr lang="en-US" sz="3100">
                <a:ea typeface="Calibri Light"/>
                <a:cs typeface="Calibri Light"/>
              </a:rPr>
              <a:t>ας </a:t>
            </a:r>
            <a:r>
              <a:rPr lang="en-US" sz="3100" err="1">
                <a:ea typeface="Calibri Light"/>
                <a:cs typeface="Calibri Light"/>
              </a:rPr>
              <a:t>Μελέτης</a:t>
            </a:r>
            <a:endParaRPr lang="en-US" sz="310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35423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27F53-178F-C23C-8EB5-DD83D7413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13B80-9062-A39C-8CC4-744A9626F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1" y="1549142"/>
            <a:ext cx="2004205" cy="7045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 err="1">
                <a:ea typeface="Calibri" panose="020F0502020204030204"/>
                <a:cs typeface="Calibri" panose="020F0502020204030204"/>
              </a:rPr>
              <a:t>Μοντέλο</a:t>
            </a:r>
            <a:r>
              <a:rPr lang="en-US" sz="2000">
                <a:ea typeface="Calibri" panose="020F0502020204030204"/>
                <a:cs typeface="Calibri" panose="020F0502020204030204"/>
              </a:rPr>
              <a:t> Πα</a:t>
            </a:r>
            <a:r>
              <a:rPr lang="en-US" sz="2000" err="1">
                <a:ea typeface="Calibri" panose="020F0502020204030204"/>
                <a:cs typeface="Calibri" panose="020F0502020204030204"/>
              </a:rPr>
              <a:t>στερίωσης</a:t>
            </a:r>
            <a:endParaRPr lang="en-US" sz="20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2AFFC-2056-352B-6A73-374AB834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5</a:t>
            </a:fld>
            <a:r>
              <a:rPr lang="en-US"/>
              <a:t>/39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FAF75D-E003-9208-624F-EA9F4546CBC1}"/>
              </a:ext>
            </a:extLst>
          </p:cNvPr>
          <p:cNvSpPr/>
          <p:nvPr/>
        </p:nvSpPr>
        <p:spPr>
          <a:xfrm>
            <a:off x="2086352" y="1509164"/>
            <a:ext cx="2013417" cy="7023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err="1">
                <a:ea typeface="Calibri"/>
                <a:cs typeface="Calibri"/>
              </a:rPr>
              <a:t>Προσομοίωση</a:t>
            </a:r>
            <a:endParaRPr lang="en-US" sz="2000" err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681F84-0118-A741-05FC-038947413EA5}"/>
              </a:ext>
            </a:extLst>
          </p:cNvPr>
          <p:cNvSpPr/>
          <p:nvPr/>
        </p:nvSpPr>
        <p:spPr>
          <a:xfrm>
            <a:off x="9044993" y="1509165"/>
            <a:ext cx="2013417" cy="7023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err="1">
                <a:ea typeface="Calibri"/>
                <a:cs typeface="Calibri"/>
              </a:rPr>
              <a:t>Βελτιστο</a:t>
            </a:r>
            <a:r>
              <a:rPr lang="en-US" sz="2000">
                <a:ea typeface="Calibri"/>
                <a:cs typeface="Calibri"/>
              </a:rPr>
              <a:t>π</a:t>
            </a:r>
            <a:r>
              <a:rPr lang="en-US" sz="2000" err="1">
                <a:ea typeface="Calibri"/>
                <a:cs typeface="Calibri"/>
              </a:rPr>
              <a:t>οίηση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2F0457C-BB42-EDD0-6818-F5731B65DBCD}"/>
              </a:ext>
            </a:extLst>
          </p:cNvPr>
          <p:cNvSpPr/>
          <p:nvPr/>
        </p:nvSpPr>
        <p:spPr>
          <a:xfrm>
            <a:off x="4458616" y="1509165"/>
            <a:ext cx="2013417" cy="7023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err="1">
                <a:ea typeface="Calibri"/>
                <a:cs typeface="Calibri"/>
              </a:rPr>
              <a:t>Ανάλυση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Ευ</a:t>
            </a:r>
            <a:r>
              <a:rPr lang="en-US" sz="2000">
                <a:ea typeface="Calibri"/>
                <a:cs typeface="Calibri"/>
              </a:rPr>
              <a:t>α</a:t>
            </a:r>
            <a:r>
              <a:rPr lang="en-US" sz="2000" err="1">
                <a:ea typeface="Calibri"/>
                <a:cs typeface="Calibri"/>
              </a:rPr>
              <a:t>ισθησί</a:t>
            </a:r>
            <a:r>
              <a:rPr lang="en-US" sz="2000">
                <a:ea typeface="Calibri"/>
                <a:cs typeface="Calibri"/>
              </a:rPr>
              <a:t>ας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C6898D-DA1C-E8B8-9DF1-017F64C65810}"/>
              </a:ext>
            </a:extLst>
          </p:cNvPr>
          <p:cNvSpPr/>
          <p:nvPr/>
        </p:nvSpPr>
        <p:spPr>
          <a:xfrm>
            <a:off x="6787747" y="1509164"/>
            <a:ext cx="2013417" cy="7023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err="1">
                <a:ea typeface="Calibri"/>
                <a:cs typeface="Calibri"/>
              </a:rPr>
              <a:t>Ανάλυση</a:t>
            </a:r>
            <a:r>
              <a:rPr lang="en-US" sz="2000">
                <a:ea typeface="Calibri"/>
                <a:cs typeface="Calibri"/>
              </a:rPr>
              <a:t> Αβεβα</a:t>
            </a:r>
            <a:r>
              <a:rPr lang="en-US" sz="2000" err="1">
                <a:ea typeface="Calibri"/>
                <a:cs typeface="Calibri"/>
              </a:rPr>
              <a:t>ιότητ</a:t>
            </a:r>
            <a:r>
              <a:rPr lang="en-US" sz="2000">
                <a:ea typeface="Calibri"/>
                <a:cs typeface="Calibri"/>
              </a:rPr>
              <a:t>ας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ADF838C-1A7C-64FD-4FEA-9F06FF3285E7}"/>
              </a:ext>
            </a:extLst>
          </p:cNvPr>
          <p:cNvSpPr txBox="1">
            <a:spLocks/>
          </p:cNvSpPr>
          <p:nvPr/>
        </p:nvSpPr>
        <p:spPr>
          <a:xfrm>
            <a:off x="65796" y="2817408"/>
            <a:ext cx="2018582" cy="11151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err="1">
                <a:ea typeface="Calibri" panose="020F0502020204030204"/>
                <a:cs typeface="Calibri" panose="020F0502020204030204"/>
              </a:rPr>
              <a:t>Μοντέλο</a:t>
            </a:r>
            <a:r>
              <a:rPr lang="en-US" sz="200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ea typeface="Calibri" panose="020F0502020204030204"/>
                <a:cs typeface="Calibri" panose="020F0502020204030204"/>
              </a:rPr>
              <a:t>Διήθησης</a:t>
            </a:r>
            <a:r>
              <a:rPr lang="en-US" sz="200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ea typeface="Calibri" panose="020F0502020204030204"/>
                <a:cs typeface="Calibri" panose="020F0502020204030204"/>
              </a:rPr>
              <a:t>με</a:t>
            </a:r>
            <a:r>
              <a:rPr lang="en-US" sz="200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ea typeface="Calibri" panose="020F0502020204030204"/>
                <a:cs typeface="Calibri" panose="020F0502020204030204"/>
              </a:rPr>
              <a:t>Μεμ</a:t>
            </a:r>
            <a:r>
              <a:rPr lang="en-US" sz="2000">
                <a:ea typeface="Calibri" panose="020F0502020204030204"/>
                <a:cs typeface="Calibri" panose="020F0502020204030204"/>
              </a:rPr>
              <a:t>β</a:t>
            </a:r>
            <a:r>
              <a:rPr lang="en-US" sz="2000" err="1">
                <a:ea typeface="Calibri" panose="020F0502020204030204"/>
                <a:cs typeface="Calibri" panose="020F0502020204030204"/>
              </a:rPr>
              <a:t>ράνη</a:t>
            </a:r>
            <a:endParaRPr lang="en-US" sz="20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28058C7-0B08-7786-98A8-5ED0D56DED1A}"/>
              </a:ext>
            </a:extLst>
          </p:cNvPr>
          <p:cNvSpPr/>
          <p:nvPr/>
        </p:nvSpPr>
        <p:spPr>
          <a:xfrm>
            <a:off x="2086351" y="2831880"/>
            <a:ext cx="2013417" cy="7023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err="1">
                <a:ea typeface="Calibri"/>
                <a:cs typeface="Calibri"/>
              </a:rPr>
              <a:t>Προσομοίωση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B16974C-4D6E-4B07-4D85-A415AA8AAD03}"/>
              </a:ext>
            </a:extLst>
          </p:cNvPr>
          <p:cNvSpPr/>
          <p:nvPr/>
        </p:nvSpPr>
        <p:spPr>
          <a:xfrm>
            <a:off x="9044992" y="2831881"/>
            <a:ext cx="2013417" cy="7023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err="1">
                <a:ea typeface="Calibri"/>
                <a:cs typeface="Calibri"/>
              </a:rPr>
              <a:t>Βελτιστο</a:t>
            </a:r>
            <a:r>
              <a:rPr lang="en-US" sz="2000">
                <a:ea typeface="Calibri"/>
                <a:cs typeface="Calibri"/>
              </a:rPr>
              <a:t>π</a:t>
            </a:r>
            <a:r>
              <a:rPr lang="en-US" sz="2000" err="1">
                <a:ea typeface="Calibri"/>
                <a:cs typeface="Calibri"/>
              </a:rPr>
              <a:t>οίηση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C4E5FF-E115-78DC-DF4A-5C4AD5A54AC6}"/>
              </a:ext>
            </a:extLst>
          </p:cNvPr>
          <p:cNvSpPr/>
          <p:nvPr/>
        </p:nvSpPr>
        <p:spPr>
          <a:xfrm>
            <a:off x="4458615" y="2831881"/>
            <a:ext cx="2013417" cy="7023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err="1">
                <a:ea typeface="Calibri"/>
                <a:cs typeface="Calibri"/>
              </a:rPr>
              <a:t>Ανάλυση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Ευ</a:t>
            </a:r>
            <a:r>
              <a:rPr lang="en-US" sz="2000">
                <a:ea typeface="Calibri"/>
                <a:cs typeface="Calibri"/>
              </a:rPr>
              <a:t>α</a:t>
            </a:r>
            <a:r>
              <a:rPr lang="en-US" sz="2000" err="1">
                <a:ea typeface="Calibri"/>
                <a:cs typeface="Calibri"/>
              </a:rPr>
              <a:t>ισθησί</a:t>
            </a:r>
            <a:r>
              <a:rPr lang="en-US" sz="2000">
                <a:ea typeface="Calibri"/>
                <a:cs typeface="Calibri"/>
              </a:rPr>
              <a:t>ας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9A2896F-2783-EC5A-8A7E-BF4333160C9D}"/>
              </a:ext>
            </a:extLst>
          </p:cNvPr>
          <p:cNvSpPr/>
          <p:nvPr/>
        </p:nvSpPr>
        <p:spPr>
          <a:xfrm>
            <a:off x="6787746" y="2831880"/>
            <a:ext cx="2013417" cy="7023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err="1">
                <a:ea typeface="Calibri"/>
                <a:cs typeface="Calibri"/>
              </a:rPr>
              <a:t>Ανάλυση</a:t>
            </a:r>
            <a:r>
              <a:rPr lang="en-US" sz="2000">
                <a:ea typeface="Calibri"/>
                <a:cs typeface="Calibri"/>
              </a:rPr>
              <a:t> Αβεβα</a:t>
            </a:r>
            <a:r>
              <a:rPr lang="en-US" sz="2000" err="1">
                <a:ea typeface="Calibri"/>
                <a:cs typeface="Calibri"/>
              </a:rPr>
              <a:t>ιότητ</a:t>
            </a:r>
            <a:r>
              <a:rPr lang="en-US" sz="2000">
                <a:ea typeface="Calibri"/>
                <a:cs typeface="Calibri"/>
              </a:rPr>
              <a:t>ας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A294DAC-EBBC-AF17-1AE8-5910CF76BA0F}"/>
              </a:ext>
            </a:extLst>
          </p:cNvPr>
          <p:cNvSpPr txBox="1">
            <a:spLocks/>
          </p:cNvSpPr>
          <p:nvPr/>
        </p:nvSpPr>
        <p:spPr>
          <a:xfrm>
            <a:off x="57761" y="4323437"/>
            <a:ext cx="2015410" cy="9622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err="1">
                <a:ea typeface="Calibri" panose="020F0502020204030204"/>
                <a:cs typeface="Calibri" panose="020F0502020204030204"/>
              </a:rPr>
              <a:t>Ολοκληρωμένο</a:t>
            </a:r>
            <a:r>
              <a:rPr lang="en-US" sz="200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err="1">
                <a:ea typeface="Calibri" panose="020F0502020204030204"/>
                <a:cs typeface="Calibri" panose="020F0502020204030204"/>
              </a:rPr>
              <a:t>Μοντέλ</a:t>
            </a:r>
            <a:r>
              <a:rPr lang="en-US" sz="20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ο</a:t>
            </a:r>
            <a:endParaRPr lang="en-US" sz="200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6" name="Minus Sign 25">
            <a:extLst>
              <a:ext uri="{FF2B5EF4-FFF2-40B4-BE49-F238E27FC236}">
                <a16:creationId xmlns:a16="http://schemas.microsoft.com/office/drawing/2014/main" id="{CE05DB12-59FB-0181-20C7-9C53F4229C5F}"/>
              </a:ext>
            </a:extLst>
          </p:cNvPr>
          <p:cNvSpPr/>
          <p:nvPr/>
        </p:nvSpPr>
        <p:spPr>
          <a:xfrm>
            <a:off x="11163998" y="2921802"/>
            <a:ext cx="585558" cy="325463"/>
          </a:xfrm>
          <a:prstGeom prst="mathMinus">
            <a:avLst/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B35F03B-07A2-ED70-AE6B-DC90FD6C0BDB}"/>
              </a:ext>
            </a:extLst>
          </p:cNvPr>
          <p:cNvSpPr txBox="1"/>
          <p:nvPr/>
        </p:nvSpPr>
        <p:spPr>
          <a:xfrm>
            <a:off x="3092824" y="5625353"/>
            <a:ext cx="6264088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gPROMS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™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FormulatedProducts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v2015.1.0 (Siemens Digital Industries Software)</a:t>
            </a:r>
            <a:endParaRPr lang="de-DE">
              <a:ea typeface="Calibri" panose="020F0502020204030204"/>
              <a:cs typeface="Calibri" panose="020F0502020204030204"/>
            </a:endParaRPr>
          </a:p>
          <a:p>
            <a:pPr algn="ctr"/>
            <a:endParaRPr lang="de-DE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E9E80EF-0F53-1492-2D09-78E10B833277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1992238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>
                <a:ea typeface="Calibri Light"/>
                <a:cs typeface="Calibri Light"/>
              </a:rPr>
              <a:t>2.2 </a:t>
            </a:r>
            <a:r>
              <a:rPr lang="en-US" sz="3100" err="1">
                <a:ea typeface="Calibri Light"/>
                <a:cs typeface="Calibri Light"/>
              </a:rPr>
              <a:t>Μεθοδολογί</a:t>
            </a:r>
            <a:r>
              <a:rPr lang="en-US" sz="3100">
                <a:ea typeface="Calibri Light"/>
                <a:cs typeface="Calibri Light"/>
              </a:rPr>
              <a:t>α Πα</a:t>
            </a:r>
            <a:r>
              <a:rPr lang="en-US" sz="3100" err="1">
                <a:ea typeface="Calibri Light"/>
                <a:cs typeface="Calibri Light"/>
              </a:rPr>
              <a:t>ρούσ</a:t>
            </a:r>
            <a:r>
              <a:rPr lang="en-US" sz="3100">
                <a:ea typeface="Calibri Light"/>
                <a:cs typeface="Calibri Light"/>
              </a:rPr>
              <a:t>ας </a:t>
            </a:r>
            <a:r>
              <a:rPr lang="en-US" sz="3100" err="1">
                <a:ea typeface="Calibri Light"/>
                <a:cs typeface="Calibri Light"/>
              </a:rPr>
              <a:t>Μελέτης</a:t>
            </a:r>
            <a:endParaRPr lang="en-US" sz="3100">
              <a:ea typeface="Calibri Light"/>
              <a:cs typeface="Calibri Light"/>
            </a:endParaRPr>
          </a:p>
        </p:txBody>
      </p:sp>
      <p:sp>
        <p:nvSpPr>
          <p:cNvPr id="2" name="Rectangle: Rounded Corners 11">
            <a:extLst>
              <a:ext uri="{FF2B5EF4-FFF2-40B4-BE49-F238E27FC236}">
                <a16:creationId xmlns:a16="http://schemas.microsoft.com/office/drawing/2014/main" id="{D11E188D-CFCA-76E0-4476-C4A7A6CFE55D}"/>
              </a:ext>
            </a:extLst>
          </p:cNvPr>
          <p:cNvSpPr/>
          <p:nvPr/>
        </p:nvSpPr>
        <p:spPr>
          <a:xfrm>
            <a:off x="2062538" y="4284443"/>
            <a:ext cx="2013417" cy="7023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err="1">
                <a:ea typeface="Calibri"/>
                <a:cs typeface="Calibri"/>
              </a:rPr>
              <a:t>Προσομοίωση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0" name="Rectangle: Rounded Corners 12">
            <a:extLst>
              <a:ext uri="{FF2B5EF4-FFF2-40B4-BE49-F238E27FC236}">
                <a16:creationId xmlns:a16="http://schemas.microsoft.com/office/drawing/2014/main" id="{48982667-3DE9-1398-9D53-610A520009C3}"/>
              </a:ext>
            </a:extLst>
          </p:cNvPr>
          <p:cNvSpPr/>
          <p:nvPr/>
        </p:nvSpPr>
        <p:spPr>
          <a:xfrm>
            <a:off x="9021180" y="4284443"/>
            <a:ext cx="2013417" cy="7023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err="1">
                <a:ea typeface="Calibri"/>
                <a:cs typeface="Calibri"/>
              </a:rPr>
              <a:t>Βελτιστο</a:t>
            </a:r>
            <a:r>
              <a:rPr lang="en-US" sz="2000">
                <a:ea typeface="Calibri"/>
                <a:cs typeface="Calibri"/>
              </a:rPr>
              <a:t>π</a:t>
            </a:r>
            <a:r>
              <a:rPr lang="en-US" sz="2000" err="1">
                <a:ea typeface="Calibri"/>
                <a:cs typeface="Calibri"/>
              </a:rPr>
              <a:t>οίηση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7" name="Rectangle: Rounded Corners 13">
            <a:extLst>
              <a:ext uri="{FF2B5EF4-FFF2-40B4-BE49-F238E27FC236}">
                <a16:creationId xmlns:a16="http://schemas.microsoft.com/office/drawing/2014/main" id="{558B2F68-334C-F144-566D-26618D4004E2}"/>
              </a:ext>
            </a:extLst>
          </p:cNvPr>
          <p:cNvSpPr/>
          <p:nvPr/>
        </p:nvSpPr>
        <p:spPr>
          <a:xfrm>
            <a:off x="4434802" y="4284443"/>
            <a:ext cx="2013417" cy="7023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err="1">
                <a:ea typeface="Calibri"/>
                <a:cs typeface="Calibri"/>
              </a:rPr>
              <a:t>Ανάλυση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Ευ</a:t>
            </a:r>
            <a:r>
              <a:rPr lang="en-US" sz="2000">
                <a:ea typeface="Calibri"/>
                <a:cs typeface="Calibri"/>
              </a:rPr>
              <a:t>α</a:t>
            </a:r>
            <a:r>
              <a:rPr lang="en-US" sz="2000" err="1">
                <a:ea typeface="Calibri"/>
                <a:cs typeface="Calibri"/>
              </a:rPr>
              <a:t>ισθησί</a:t>
            </a:r>
            <a:r>
              <a:rPr lang="en-US" sz="2000">
                <a:ea typeface="Calibri"/>
                <a:cs typeface="Calibri"/>
              </a:rPr>
              <a:t>ας</a:t>
            </a:r>
          </a:p>
        </p:txBody>
      </p:sp>
      <p:sp>
        <p:nvSpPr>
          <p:cNvPr id="18" name="Rectangle: Rounded Corners 14">
            <a:extLst>
              <a:ext uri="{FF2B5EF4-FFF2-40B4-BE49-F238E27FC236}">
                <a16:creationId xmlns:a16="http://schemas.microsoft.com/office/drawing/2014/main" id="{B35EB886-2011-8B45-F130-5E536689E44A}"/>
              </a:ext>
            </a:extLst>
          </p:cNvPr>
          <p:cNvSpPr/>
          <p:nvPr/>
        </p:nvSpPr>
        <p:spPr>
          <a:xfrm>
            <a:off x="6763933" y="4284443"/>
            <a:ext cx="2013417" cy="7023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err="1">
                <a:ea typeface="Calibri"/>
                <a:cs typeface="Calibri"/>
              </a:rPr>
              <a:t>Ανάλυση</a:t>
            </a:r>
            <a:r>
              <a:rPr lang="en-US" sz="2000">
                <a:ea typeface="Calibri"/>
                <a:cs typeface="Calibri"/>
              </a:rPr>
              <a:t> Αβεβα</a:t>
            </a:r>
            <a:r>
              <a:rPr lang="en-US" sz="2000" err="1">
                <a:ea typeface="Calibri"/>
                <a:cs typeface="Calibri"/>
              </a:rPr>
              <a:t>ιότητ</a:t>
            </a:r>
            <a:r>
              <a:rPr lang="en-US" sz="2000">
                <a:ea typeface="Calibri"/>
                <a:cs typeface="Calibri"/>
              </a:rPr>
              <a:t>ας</a:t>
            </a:r>
          </a:p>
        </p:txBody>
      </p:sp>
      <p:sp>
        <p:nvSpPr>
          <p:cNvPr id="27" name="Pfeil: nach oben gebogen 26">
            <a:extLst>
              <a:ext uri="{FF2B5EF4-FFF2-40B4-BE49-F238E27FC236}">
                <a16:creationId xmlns:a16="http://schemas.microsoft.com/office/drawing/2014/main" id="{07E85420-9DF4-B838-416C-90DCA82C480A}"/>
              </a:ext>
            </a:extLst>
          </p:cNvPr>
          <p:cNvSpPr/>
          <p:nvPr/>
        </p:nvSpPr>
        <p:spPr>
          <a:xfrm rot="10800000">
            <a:off x="3034327" y="3829272"/>
            <a:ext cx="8673399" cy="378130"/>
          </a:xfrm>
          <a:prstGeom prst="bent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DE857B3D-8DDC-BE6A-DE52-A3B623B30E19}"/>
              </a:ext>
            </a:extLst>
          </p:cNvPr>
          <p:cNvSpPr/>
          <p:nvPr/>
        </p:nvSpPr>
        <p:spPr>
          <a:xfrm>
            <a:off x="11603921" y="1768677"/>
            <a:ext cx="98262" cy="21320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Minus Sign 25">
            <a:extLst>
              <a:ext uri="{FF2B5EF4-FFF2-40B4-BE49-F238E27FC236}">
                <a16:creationId xmlns:a16="http://schemas.microsoft.com/office/drawing/2014/main" id="{DC8FD5E2-68C4-614D-DC41-07A73C9782A8}"/>
              </a:ext>
            </a:extLst>
          </p:cNvPr>
          <p:cNvSpPr/>
          <p:nvPr/>
        </p:nvSpPr>
        <p:spPr>
          <a:xfrm>
            <a:off x="11163997" y="1671645"/>
            <a:ext cx="585558" cy="325463"/>
          </a:xfrm>
          <a:prstGeom prst="mathMinus">
            <a:avLst/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inus Sign 24">
            <a:extLst>
              <a:ext uri="{FF2B5EF4-FFF2-40B4-BE49-F238E27FC236}">
                <a16:creationId xmlns:a16="http://schemas.microsoft.com/office/drawing/2014/main" id="{DBE8E486-7153-E08B-520A-F2C22CB67A1D}"/>
              </a:ext>
            </a:extLst>
          </p:cNvPr>
          <p:cNvSpPr/>
          <p:nvPr/>
        </p:nvSpPr>
        <p:spPr>
          <a:xfrm>
            <a:off x="11080656" y="1675014"/>
            <a:ext cx="1049901" cy="230215"/>
          </a:xfrm>
          <a:prstGeom prst="mathMinus">
            <a:avLst/>
          </a:prstGeom>
          <a:solidFill>
            <a:srgbClr val="DAE3F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46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6" grpId="0" animBg="1"/>
      <p:bldP spid="5" grpId="0"/>
      <p:bldP spid="2" grpId="0" animBg="1"/>
      <p:bldP spid="10" grpId="0" animBg="1"/>
      <p:bldP spid="17" grpId="0" animBg="1"/>
      <p:bldP spid="18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32336-E3A2-BAFB-482B-1305C5F6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73D0F-A85E-6516-E302-89D185C8A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73" y="1710803"/>
            <a:ext cx="5588696" cy="46436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u="sng" dirty="0" err="1">
                <a:ea typeface="Calibri"/>
                <a:cs typeface="Calibri"/>
              </a:rPr>
              <a:t>Εν</a:t>
            </a:r>
            <a:r>
              <a:rPr lang="en-US" u="sng" dirty="0">
                <a:ea typeface="Calibri"/>
                <a:cs typeface="Calibri"/>
              </a:rPr>
              <a:t>α</a:t>
            </a:r>
            <a:r>
              <a:rPr lang="en-US" u="sng" dirty="0" err="1">
                <a:ea typeface="Calibri"/>
                <a:cs typeface="Calibri"/>
              </a:rPr>
              <a:t>λλάκτες</a:t>
            </a:r>
            <a:r>
              <a:rPr lang="en-US" u="sng" dirty="0">
                <a:ea typeface="Calibri"/>
                <a:cs typeface="Calibri"/>
              </a:rPr>
              <a:t> </a:t>
            </a:r>
            <a:r>
              <a:rPr lang="en-US" u="sng" dirty="0" err="1">
                <a:ea typeface="Calibri"/>
                <a:cs typeface="Calibri"/>
              </a:rPr>
              <a:t>θερμότητ</a:t>
            </a:r>
            <a:r>
              <a:rPr lang="en-US" u="sng" dirty="0">
                <a:ea typeface="Calibri"/>
                <a:cs typeface="Calibri"/>
              </a:rPr>
              <a:t>ας</a:t>
            </a:r>
            <a:endParaRPr lang="en-US" u="sng" dirty="0" err="1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dirty="0" err="1">
                <a:ea typeface="Calibri"/>
                <a:cs typeface="Calibri"/>
              </a:rPr>
              <a:t>Πλ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κοειδής</a:t>
            </a:r>
            <a:r>
              <a:rPr lang="en-US" dirty="0">
                <a:ea typeface="Calibri"/>
                <a:cs typeface="Calibri"/>
              </a:rPr>
              <a:t>, α</a:t>
            </a:r>
            <a:r>
              <a:rPr lang="en-US" dirty="0" err="1">
                <a:ea typeface="Calibri"/>
                <a:cs typeface="Calibri"/>
              </a:rPr>
              <a:t>υλών-κελύφους</a:t>
            </a:r>
            <a:endParaRPr lang="en-US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dirty="0" err="1">
                <a:ea typeface="Calibri"/>
                <a:cs typeface="Calibri"/>
              </a:rPr>
              <a:t>Κυμ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τισμός</a:t>
            </a:r>
            <a:r>
              <a:rPr lang="en-US" dirty="0">
                <a:ea typeface="Calibri"/>
                <a:cs typeface="Calibri"/>
              </a:rPr>
              <a:t> πλα</a:t>
            </a:r>
            <a:r>
              <a:rPr lang="en-US" dirty="0" err="1">
                <a:ea typeface="Calibri"/>
                <a:cs typeface="Calibri"/>
              </a:rPr>
              <a:t>κών</a:t>
            </a:r>
            <a:endParaRPr lang="en-US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dirty="0" err="1">
                <a:ea typeface="Calibri"/>
                <a:cs typeface="Calibri"/>
              </a:rPr>
              <a:t>Στενά</a:t>
            </a:r>
            <a:r>
              <a:rPr lang="en-US" dirty="0">
                <a:ea typeface="Calibri"/>
                <a:cs typeface="Calibri"/>
              </a:rPr>
              <a:t> κα</a:t>
            </a:r>
            <a:r>
              <a:rPr lang="en-US" dirty="0" err="1">
                <a:ea typeface="Calibri"/>
                <a:cs typeface="Calibri"/>
              </a:rPr>
              <a:t>νάλι</a:t>
            </a:r>
            <a:r>
              <a:rPr lang="en-US" dirty="0">
                <a:ea typeface="Calibri"/>
                <a:cs typeface="Calibri"/>
              </a:rPr>
              <a:t>α</a:t>
            </a:r>
            <a:endParaRPr lang="en-US" dirty="0"/>
          </a:p>
          <a:p>
            <a:pPr marL="0" indent="0" algn="ctr">
              <a:buNone/>
            </a:pPr>
            <a:r>
              <a:rPr lang="en-US" dirty="0" err="1">
                <a:ea typeface="Calibri"/>
                <a:cs typeface="Calibri"/>
              </a:rPr>
              <a:t>Μετ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φορά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θερμότητ</a:t>
            </a:r>
            <a:r>
              <a:rPr lang="en-US" dirty="0">
                <a:ea typeface="Calibri"/>
                <a:cs typeface="Calibri"/>
              </a:rPr>
              <a:t>ας, π</a:t>
            </a:r>
            <a:r>
              <a:rPr lang="en-US" dirty="0" err="1">
                <a:ea typeface="Calibri"/>
                <a:cs typeface="Calibri"/>
              </a:rPr>
              <a:t>τώση</a:t>
            </a:r>
            <a:r>
              <a:rPr lang="en-US" dirty="0">
                <a:ea typeface="Calibri"/>
                <a:cs typeface="Calibri"/>
              </a:rPr>
              <a:t> π</a:t>
            </a:r>
            <a:r>
              <a:rPr lang="en-US" dirty="0" err="1">
                <a:ea typeface="Calibri"/>
                <a:cs typeface="Calibri"/>
              </a:rPr>
              <a:t>ίεσης</a:t>
            </a:r>
            <a:r>
              <a:rPr lang="en-US" dirty="0">
                <a:ea typeface="Calibri"/>
                <a:cs typeface="Calibri"/>
              </a:rPr>
              <a:t>, επ</a:t>
            </a:r>
            <a:r>
              <a:rPr lang="en-US" dirty="0" err="1">
                <a:ea typeface="Calibri"/>
                <a:cs typeface="Calibri"/>
              </a:rPr>
              <a:t>ικ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θήσεις</a:t>
            </a:r>
            <a:endParaRPr lang="en-US" dirty="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dirty="0" err="1">
                <a:ea typeface="Calibri"/>
                <a:cs typeface="Calibri"/>
              </a:rPr>
              <a:t>Αρθρωτός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σχεδι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σμός</a:t>
            </a:r>
            <a:endParaRPr lang="en-US" dirty="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dirty="0" err="1">
                <a:ea typeface="Calibri"/>
                <a:cs typeface="Calibri"/>
              </a:rPr>
              <a:t>Μέγεθος</a:t>
            </a:r>
          </a:p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Καθα</a:t>
            </a:r>
            <a:r>
              <a:rPr lang="en-US" dirty="0" err="1">
                <a:ea typeface="Calibri"/>
                <a:cs typeface="Calibri"/>
              </a:rPr>
              <a:t>ρισμός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χρόνος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λειτουργί</a:t>
            </a:r>
            <a:r>
              <a:rPr lang="en-US" dirty="0">
                <a:ea typeface="Calibri"/>
                <a:cs typeface="Calibri"/>
              </a:rPr>
              <a:t>ας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5BA71-A571-57E3-C09B-678945C45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6</a:t>
            </a:fld>
            <a:r>
              <a:rPr lang="en-US"/>
              <a:t>/39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D4175D1-8AE8-420A-A5AB-D81BB4DCD420}"/>
              </a:ext>
            </a:extLst>
          </p:cNvPr>
          <p:cNvSpPr txBox="1">
            <a:spLocks/>
          </p:cNvSpPr>
          <p:nvPr/>
        </p:nvSpPr>
        <p:spPr>
          <a:xfrm>
            <a:off x="6094957" y="1998902"/>
            <a:ext cx="558869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u="sng" dirty="0" err="1">
                <a:ea typeface="Calibri"/>
                <a:cs typeface="Calibri"/>
              </a:rPr>
              <a:t>Μεμ</a:t>
            </a:r>
            <a:r>
              <a:rPr lang="en-US" u="sng" dirty="0">
                <a:ea typeface="Calibri"/>
                <a:cs typeface="Calibri"/>
              </a:rPr>
              <a:t>β</a:t>
            </a:r>
            <a:r>
              <a:rPr lang="en-US" u="sng" dirty="0" err="1">
                <a:ea typeface="Calibri"/>
                <a:cs typeface="Calibri"/>
              </a:rPr>
              <a:t>ράνη</a:t>
            </a:r>
            <a:r>
              <a:rPr lang="en-US" u="sng" dirty="0">
                <a:ea typeface="Calibri"/>
                <a:cs typeface="Calibri"/>
              </a:rPr>
              <a:t> υπ</a:t>
            </a:r>
            <a:r>
              <a:rPr lang="en-US" u="sng" dirty="0" err="1">
                <a:ea typeface="Calibri"/>
                <a:cs typeface="Calibri"/>
              </a:rPr>
              <a:t>ερδιήθησης</a:t>
            </a:r>
            <a:endParaRPr lang="de-DE" dirty="0" err="1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dirty="0" err="1">
                <a:ea typeface="Calibri"/>
                <a:cs typeface="Calibri"/>
              </a:rPr>
              <a:t>Συμ</a:t>
            </a:r>
            <a:r>
              <a:rPr lang="en-US" dirty="0">
                <a:ea typeface="Calibri"/>
                <a:cs typeface="Calibri"/>
              </a:rPr>
              <a:t>π</a:t>
            </a:r>
            <a:r>
              <a:rPr lang="en-US" dirty="0" err="1">
                <a:ea typeface="Calibri"/>
                <a:cs typeface="Calibri"/>
              </a:rPr>
              <a:t>ύκνωμ</a:t>
            </a:r>
            <a:r>
              <a:rPr lang="en-US" dirty="0">
                <a:ea typeface="Calibri"/>
                <a:cs typeface="Calibri"/>
              </a:rPr>
              <a:t>α, </a:t>
            </a:r>
            <a:r>
              <a:rPr lang="en-US" dirty="0" err="1">
                <a:ea typeface="Calibri"/>
                <a:cs typeface="Calibri"/>
              </a:rPr>
              <a:t>Διήθημ</a:t>
            </a:r>
            <a:r>
              <a:rPr lang="en-US" dirty="0">
                <a:ea typeface="Calibri"/>
                <a:cs typeface="Calibri"/>
              </a:rPr>
              <a:t>α</a:t>
            </a:r>
          </a:p>
          <a:p>
            <a:pPr marL="0" indent="0" algn="ctr">
              <a:buNone/>
            </a:pPr>
            <a:r>
              <a:rPr lang="de-DE" dirty="0">
                <a:ea typeface="Calibri"/>
                <a:cs typeface="Calibri"/>
              </a:rPr>
              <a:t>1-800 </a:t>
            </a:r>
            <a:r>
              <a:rPr lang="de-DE" dirty="0" err="1">
                <a:ea typeface="Calibri"/>
                <a:cs typeface="Calibri"/>
              </a:rPr>
              <a:t>kDa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όριο</a:t>
            </a:r>
            <a:r>
              <a:rPr lang="de-DE" dirty="0">
                <a:ea typeface="Calibri"/>
                <a:cs typeface="Calibri"/>
              </a:rPr>
              <a:t> απ</a:t>
            </a:r>
            <a:r>
              <a:rPr lang="de-DE" dirty="0" err="1">
                <a:ea typeface="Calibri"/>
                <a:cs typeface="Calibri"/>
              </a:rPr>
              <a:t>οκο</a:t>
            </a:r>
            <a:r>
              <a:rPr lang="de-DE" dirty="0">
                <a:ea typeface="Calibri"/>
                <a:cs typeface="Calibri"/>
              </a:rPr>
              <a:t>π</a:t>
            </a:r>
            <a:r>
              <a:rPr lang="de-DE" dirty="0" err="1">
                <a:ea typeface="Calibri"/>
                <a:cs typeface="Calibri"/>
              </a:rPr>
              <a:t>ής</a:t>
            </a:r>
            <a:r>
              <a:rPr lang="de-DE" dirty="0">
                <a:ea typeface="Calibri"/>
                <a:cs typeface="Calibri"/>
              </a:rPr>
              <a:t> </a:t>
            </a:r>
          </a:p>
          <a:p>
            <a:pPr marL="0" indent="0" algn="ctr">
              <a:buNone/>
            </a:pPr>
            <a:r>
              <a:rPr lang="de-DE" dirty="0" err="1">
                <a:ea typeface="Calibri"/>
                <a:cs typeface="Calibri"/>
              </a:rPr>
              <a:t>Συμ</a:t>
            </a:r>
            <a:r>
              <a:rPr lang="de-DE" dirty="0">
                <a:ea typeface="Calibri"/>
                <a:cs typeface="Calibri"/>
              </a:rPr>
              <a:t>π</a:t>
            </a:r>
            <a:r>
              <a:rPr lang="de-DE" dirty="0" err="1">
                <a:ea typeface="Calibri"/>
                <a:cs typeface="Calibri"/>
              </a:rPr>
              <a:t>ύκνωση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γάλ</a:t>
            </a:r>
            <a:r>
              <a:rPr lang="de-DE" dirty="0">
                <a:ea typeface="Calibri"/>
                <a:cs typeface="Calibri"/>
              </a:rPr>
              <a:t>α</a:t>
            </a:r>
            <a:r>
              <a:rPr lang="de-DE" dirty="0" err="1">
                <a:ea typeface="Calibri"/>
                <a:cs typeface="Calibri"/>
              </a:rPr>
              <a:t>κτος</a:t>
            </a:r>
            <a:endParaRPr lang="de-DE" dirty="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de-DE" dirty="0" err="1">
                <a:ea typeface="Calibri"/>
                <a:cs typeface="Calibri"/>
              </a:rPr>
              <a:t>Θερμοκρ</a:t>
            </a:r>
            <a:r>
              <a:rPr lang="de-DE" dirty="0">
                <a:ea typeface="Calibri"/>
                <a:cs typeface="Calibri"/>
              </a:rPr>
              <a:t>α</a:t>
            </a:r>
            <a:r>
              <a:rPr lang="de-DE" dirty="0" err="1">
                <a:ea typeface="Calibri"/>
                <a:cs typeface="Calibri"/>
              </a:rPr>
              <a:t>σί</a:t>
            </a:r>
            <a:r>
              <a:rPr lang="de-DE" dirty="0">
                <a:ea typeface="Calibri"/>
                <a:cs typeface="Calibri"/>
              </a:rPr>
              <a:t>α, </a:t>
            </a:r>
            <a:r>
              <a:rPr lang="de-DE" dirty="0" err="1">
                <a:ea typeface="Calibri"/>
                <a:cs typeface="Calibri"/>
              </a:rPr>
              <a:t>Πίεση</a:t>
            </a:r>
            <a:endParaRPr lang="de-DE" dirty="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de-DE" dirty="0" err="1">
                <a:ea typeface="Calibri"/>
                <a:cs typeface="Calibri"/>
              </a:rPr>
              <a:t>Υλικό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μεμ</a:t>
            </a:r>
            <a:r>
              <a:rPr lang="de-DE" dirty="0">
                <a:ea typeface="Calibri"/>
                <a:cs typeface="Calibri"/>
              </a:rPr>
              <a:t>β</a:t>
            </a:r>
            <a:r>
              <a:rPr lang="de-DE" dirty="0" err="1">
                <a:ea typeface="Calibri"/>
                <a:cs typeface="Calibri"/>
              </a:rPr>
              <a:t>ράνης</a:t>
            </a:r>
            <a:endParaRPr lang="de-DE" dirty="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de-DE" dirty="0" err="1">
                <a:ea typeface="Calibri"/>
                <a:cs typeface="Calibri"/>
              </a:rPr>
              <a:t>Προσθήκη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στ</a:t>
            </a:r>
            <a:r>
              <a:rPr lang="de-DE" dirty="0">
                <a:ea typeface="Calibri"/>
                <a:cs typeface="Calibri"/>
              </a:rPr>
              <a:t>α</a:t>
            </a:r>
            <a:r>
              <a:rPr lang="de-DE" dirty="0" err="1">
                <a:ea typeface="Calibri"/>
                <a:cs typeface="Calibri"/>
              </a:rPr>
              <a:t>δίων</a:t>
            </a:r>
            <a:endParaRPr lang="de-DE" dirty="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de-DE" dirty="0" err="1">
                <a:ea typeface="Calibri"/>
                <a:cs typeface="Calibri"/>
              </a:rPr>
              <a:t>Συνδυ</a:t>
            </a:r>
            <a:r>
              <a:rPr lang="de-DE" dirty="0">
                <a:ea typeface="Calibri"/>
                <a:cs typeface="Calibri"/>
              </a:rPr>
              <a:t>α</a:t>
            </a:r>
            <a:r>
              <a:rPr lang="de-DE" dirty="0" err="1">
                <a:ea typeface="Calibri"/>
                <a:cs typeface="Calibri"/>
              </a:rPr>
              <a:t>σμός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τύ</a:t>
            </a:r>
            <a:r>
              <a:rPr lang="de-DE" dirty="0">
                <a:ea typeface="Calibri"/>
                <a:cs typeface="Calibri"/>
              </a:rPr>
              <a:t>π</a:t>
            </a:r>
            <a:r>
              <a:rPr lang="de-DE" dirty="0" err="1">
                <a:ea typeface="Calibri"/>
                <a:cs typeface="Calibri"/>
              </a:rPr>
              <a:t>ων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μεμ</a:t>
            </a:r>
            <a:r>
              <a:rPr lang="de-DE" dirty="0">
                <a:ea typeface="Calibri"/>
                <a:cs typeface="Calibri"/>
              </a:rPr>
              <a:t>βρα</a:t>
            </a:r>
            <a:r>
              <a:rPr lang="de-DE" dirty="0" err="1">
                <a:ea typeface="Calibri"/>
                <a:cs typeface="Calibri"/>
              </a:rPr>
              <a:t>νών</a:t>
            </a:r>
            <a:endParaRPr lang="de-DE" dirty="0">
              <a:ea typeface="Calibri"/>
              <a:cs typeface="Calibri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5B61C8-2431-E300-65E1-17E1C2198A8F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1992238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3.1 </a:t>
            </a:r>
            <a:r>
              <a:rPr lang="en-US" sz="3100" dirty="0" err="1">
                <a:ea typeface="Calibri Light"/>
                <a:cs typeface="Calibri Light"/>
              </a:rPr>
              <a:t>Τεχνική</a:t>
            </a:r>
            <a:r>
              <a:rPr lang="en-US" sz="3100" dirty="0">
                <a:ea typeface="Calibri Light"/>
                <a:cs typeface="Calibri Light"/>
              </a:rPr>
              <a:t> π</a:t>
            </a:r>
            <a:r>
              <a:rPr lang="en-US" sz="3100" dirty="0" err="1">
                <a:ea typeface="Calibri Light"/>
                <a:cs typeface="Calibri Light"/>
              </a:rPr>
              <a:t>εριγρ</a:t>
            </a:r>
            <a:r>
              <a:rPr lang="en-US" sz="3100" dirty="0">
                <a:ea typeface="Calibri Light"/>
                <a:cs typeface="Calibri Light"/>
              </a:rPr>
              <a:t>α</a:t>
            </a:r>
            <a:r>
              <a:rPr lang="en-US" sz="3100" dirty="0" err="1">
                <a:ea typeface="Calibri Light"/>
                <a:cs typeface="Calibri Light"/>
              </a:rPr>
              <a:t>φή</a:t>
            </a:r>
            <a:r>
              <a:rPr lang="en-US" sz="3100" dirty="0">
                <a:ea typeface="Calibri Light"/>
                <a:cs typeface="Calibri Light"/>
              </a:rPr>
              <a:t> βα</a:t>
            </a:r>
            <a:r>
              <a:rPr lang="en-US" sz="3100" dirty="0" err="1">
                <a:ea typeface="Calibri Light"/>
                <a:cs typeface="Calibri Light"/>
              </a:rPr>
              <a:t>σικών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συσκευών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της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διεργ</a:t>
            </a:r>
            <a:r>
              <a:rPr lang="en-US" sz="3100" dirty="0">
                <a:ea typeface="Calibri Light"/>
                <a:cs typeface="Calibri Light"/>
              </a:rPr>
              <a:t>α</a:t>
            </a:r>
            <a:r>
              <a:rPr lang="en-US" sz="3100" dirty="0" err="1">
                <a:ea typeface="Calibri Light"/>
                <a:cs typeface="Calibri Light"/>
              </a:rPr>
              <a:t>σί</a:t>
            </a:r>
            <a:r>
              <a:rPr lang="en-US" sz="3100" dirty="0">
                <a:ea typeface="Calibri Light"/>
                <a:cs typeface="Calibri Light"/>
              </a:rPr>
              <a:t>ας</a:t>
            </a:r>
          </a:p>
        </p:txBody>
      </p:sp>
    </p:spTree>
    <p:extLst>
      <p:ext uri="{BB962C8B-B14F-4D97-AF65-F5344CB8AC3E}">
        <p14:creationId xmlns:p14="http://schemas.microsoft.com/office/powerpoint/2010/main" val="2325821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17E5D-6EB6-0CB5-8BA7-D5371F768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945" y="1818020"/>
            <a:ext cx="9605970" cy="25987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u="sng" dirty="0">
                <a:ea typeface="Calibri"/>
                <a:cs typeface="Calibri"/>
              </a:rPr>
              <a:t>Πα</a:t>
            </a:r>
            <a:r>
              <a:rPr lang="en-US" u="sng" dirty="0" err="1">
                <a:ea typeface="Calibri"/>
                <a:cs typeface="Calibri"/>
              </a:rPr>
              <a:t>στερίωση</a:t>
            </a:r>
            <a:endParaRPr lang="en-US" u="sng" dirty="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dirty="0">
                <a:ea typeface="Calibri"/>
                <a:cs typeface="Calibri"/>
              </a:rPr>
              <a:t>Κατα</a:t>
            </a:r>
            <a:r>
              <a:rPr lang="en-US" dirty="0" err="1">
                <a:ea typeface="Calibri"/>
                <a:cs typeface="Calibri"/>
              </a:rPr>
              <a:t>στροφή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ενζύμων</a:t>
            </a:r>
            <a:r>
              <a:rPr lang="en-US" dirty="0">
                <a:ea typeface="Calibri"/>
                <a:cs typeface="Calibri"/>
              </a:rPr>
              <a:t> (</a:t>
            </a:r>
            <a:r>
              <a:rPr lang="en-US" dirty="0" err="1">
                <a:ea typeface="Calibri"/>
                <a:cs typeface="Calibri"/>
              </a:rPr>
              <a:t>φωσφ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τάση</a:t>
            </a:r>
            <a:r>
              <a:rPr lang="en-US" dirty="0">
                <a:ea typeface="Calibri"/>
                <a:cs typeface="Calibri"/>
              </a:rPr>
              <a:t>)</a:t>
            </a:r>
          </a:p>
          <a:p>
            <a:pPr marL="0" indent="0" algn="ctr">
              <a:buNone/>
            </a:pPr>
            <a:r>
              <a:rPr lang="en-US" dirty="0" err="1">
                <a:ea typeface="Calibri"/>
                <a:cs typeface="Calibri"/>
              </a:rPr>
              <a:t>Μετουσίωση</a:t>
            </a:r>
            <a:r>
              <a:rPr lang="en-US" dirty="0">
                <a:ea typeface="Calibri"/>
                <a:cs typeface="Calibri"/>
              </a:rPr>
              <a:t> π</a:t>
            </a:r>
            <a:r>
              <a:rPr lang="en-US" dirty="0" err="1">
                <a:ea typeface="Calibri"/>
                <a:cs typeface="Calibri"/>
              </a:rPr>
              <a:t>ρωτεϊνών</a:t>
            </a:r>
            <a:r>
              <a:rPr lang="en-US" dirty="0">
                <a:ea typeface="Calibri"/>
                <a:cs typeface="Calibri"/>
              </a:rPr>
              <a:t> (β-LG, α-LA, Ig)</a:t>
            </a:r>
          </a:p>
          <a:p>
            <a:pPr marL="0" indent="0" algn="ctr">
              <a:buNone/>
            </a:pPr>
            <a:r>
              <a:rPr lang="en-US" dirty="0" err="1">
                <a:ea typeface="Calibri"/>
                <a:cs typeface="Calibri"/>
              </a:rPr>
              <a:t>Δημιουργί</a:t>
            </a:r>
            <a:r>
              <a:rPr lang="en-US" dirty="0">
                <a:ea typeface="Calibri"/>
                <a:cs typeface="Calibri"/>
              </a:rPr>
              <a:t>α επικαθήσεων</a:t>
            </a:r>
          </a:p>
          <a:p>
            <a:pPr marL="0" indent="0" algn="ctr">
              <a:buNone/>
            </a:pPr>
            <a:r>
              <a:rPr lang="en-US" sz="2600" dirty="0" err="1">
                <a:ea typeface="Calibri"/>
                <a:cs typeface="Calibri"/>
              </a:rPr>
              <a:t>Ανά</a:t>
            </a:r>
            <a:r>
              <a:rPr lang="en-US" sz="2600" dirty="0">
                <a:ea typeface="Calibri"/>
                <a:cs typeface="Calibri"/>
              </a:rPr>
              <a:t>π</a:t>
            </a:r>
            <a:r>
              <a:rPr lang="en-US" sz="2600" dirty="0" err="1">
                <a:ea typeface="Calibri"/>
                <a:cs typeface="Calibri"/>
              </a:rPr>
              <a:t>τυξη</a:t>
            </a:r>
            <a:r>
              <a:rPr lang="en-US" sz="2600" dirty="0">
                <a:ea typeface="Calibri"/>
                <a:cs typeface="Calibri"/>
              </a:rPr>
              <a:t> </a:t>
            </a:r>
            <a:r>
              <a:rPr lang="en-US" sz="2600" dirty="0" err="1">
                <a:ea typeface="Calibri"/>
                <a:cs typeface="Calibri"/>
              </a:rPr>
              <a:t>μικροοργ</a:t>
            </a:r>
            <a:r>
              <a:rPr lang="en-US" sz="2600" dirty="0">
                <a:ea typeface="Calibri"/>
                <a:cs typeface="Calibri"/>
              </a:rPr>
              <a:t>α</a:t>
            </a:r>
            <a:r>
              <a:rPr lang="en-US" sz="2600" dirty="0" err="1">
                <a:ea typeface="Calibri"/>
                <a:cs typeface="Calibri"/>
              </a:rPr>
              <a:t>νισμών</a:t>
            </a:r>
            <a:r>
              <a:rPr lang="en-US" sz="2600" dirty="0">
                <a:ea typeface="Calibri"/>
                <a:cs typeface="Calibri"/>
              </a:rPr>
              <a:t> (</a:t>
            </a:r>
            <a:r>
              <a:rPr lang="en-US" sz="2600" i="1" dirty="0">
                <a:ea typeface="Calibri"/>
                <a:cs typeface="Calibri"/>
              </a:rPr>
              <a:t>Streptococcus thermophilus</a:t>
            </a:r>
            <a:r>
              <a:rPr lang="en-US" sz="2600" dirty="0">
                <a:ea typeface="Calibri"/>
                <a:cs typeface="Calibri"/>
              </a:rPr>
              <a:t>)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D77C2-722A-1AF4-B670-10B79F91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7</a:t>
            </a:fld>
            <a:r>
              <a:rPr lang="en-US"/>
              <a:t>/39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110F219-DC26-D6C6-21E2-1BBBA92F51B0}"/>
              </a:ext>
            </a:extLst>
          </p:cNvPr>
          <p:cNvSpPr txBox="1">
            <a:spLocks/>
          </p:cNvSpPr>
          <p:nvPr/>
        </p:nvSpPr>
        <p:spPr>
          <a:xfrm>
            <a:off x="3308215" y="5068674"/>
            <a:ext cx="5588696" cy="1292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u="sng" err="1">
                <a:ea typeface="Calibri"/>
                <a:cs typeface="Calibri"/>
              </a:rPr>
              <a:t>Διήθηση</a:t>
            </a:r>
            <a:r>
              <a:rPr lang="en-US" u="sng">
                <a:ea typeface="Calibri"/>
                <a:cs typeface="Calibri"/>
              </a:rPr>
              <a:t> </a:t>
            </a:r>
            <a:r>
              <a:rPr lang="en-US" u="sng" err="1">
                <a:ea typeface="Calibri"/>
                <a:cs typeface="Calibri"/>
              </a:rPr>
              <a:t>με</a:t>
            </a:r>
            <a:r>
              <a:rPr lang="en-US" u="sng">
                <a:ea typeface="Calibri"/>
                <a:cs typeface="Calibri"/>
              </a:rPr>
              <a:t> </a:t>
            </a:r>
            <a:r>
              <a:rPr lang="en-US" u="sng" err="1">
                <a:ea typeface="Calibri"/>
                <a:cs typeface="Calibri"/>
              </a:rPr>
              <a:t>μεμ</a:t>
            </a:r>
            <a:r>
              <a:rPr lang="en-US" u="sng">
                <a:ea typeface="Calibri"/>
                <a:cs typeface="Calibri"/>
              </a:rPr>
              <a:t>β</a:t>
            </a:r>
            <a:r>
              <a:rPr lang="en-US" u="sng" err="1">
                <a:ea typeface="Calibri"/>
                <a:cs typeface="Calibri"/>
              </a:rPr>
              <a:t>ράνη</a:t>
            </a:r>
            <a:endParaRPr lang="en-US" u="sng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err="1">
                <a:ea typeface="Calibri"/>
                <a:cs typeface="Calibri"/>
              </a:rPr>
              <a:t>Δημιουργί</a:t>
            </a:r>
            <a:r>
              <a:rPr lang="en-US">
                <a:ea typeface="Calibri"/>
                <a:cs typeface="Calibri"/>
              </a:rPr>
              <a:t>α επ</a:t>
            </a:r>
            <a:r>
              <a:rPr lang="en-US" err="1">
                <a:ea typeface="Calibri"/>
                <a:cs typeface="Calibri"/>
              </a:rPr>
              <a:t>ικ</a:t>
            </a:r>
            <a:r>
              <a:rPr lang="en-US">
                <a:ea typeface="Calibri"/>
                <a:cs typeface="Calibri"/>
              </a:rPr>
              <a:t>α</a:t>
            </a:r>
            <a:r>
              <a:rPr lang="en-US" err="1">
                <a:ea typeface="Calibri"/>
                <a:cs typeface="Calibri"/>
              </a:rPr>
              <a:t>θήσεων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95BE654-6327-C0FC-4213-80BA265A6889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1992238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3.2 </a:t>
            </a:r>
            <a:r>
              <a:rPr lang="en-US" sz="3100" dirty="0" err="1">
                <a:ea typeface="Calibri Light"/>
                <a:cs typeface="Calibri Light"/>
              </a:rPr>
              <a:t>Θεωρητικό</a:t>
            </a:r>
            <a:r>
              <a:rPr lang="en-US" sz="3100" dirty="0">
                <a:ea typeface="Calibri Light"/>
                <a:cs typeface="Calibri Light"/>
              </a:rPr>
              <a:t> υπόβα</a:t>
            </a:r>
            <a:r>
              <a:rPr lang="en-US" sz="3100" dirty="0" err="1">
                <a:ea typeface="Calibri Light"/>
                <a:cs typeface="Calibri Light"/>
              </a:rPr>
              <a:t>θρο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διεργ</a:t>
            </a:r>
            <a:r>
              <a:rPr lang="en-US" sz="3100" dirty="0">
                <a:ea typeface="Calibri Light"/>
                <a:cs typeface="Calibri Light"/>
              </a:rPr>
              <a:t>α</a:t>
            </a:r>
            <a:r>
              <a:rPr lang="en-US" sz="3100" dirty="0" err="1">
                <a:ea typeface="Calibri Light"/>
                <a:cs typeface="Calibri Light"/>
              </a:rPr>
              <a:t>σιών</a:t>
            </a:r>
            <a:r>
              <a:rPr lang="en-US" sz="3100" dirty="0">
                <a:ea typeface="Calibri Light"/>
                <a:cs typeface="Calibri Light"/>
              </a:rPr>
              <a:t>-Φα</a:t>
            </a:r>
            <a:r>
              <a:rPr lang="en-US" sz="3100" dirty="0" err="1">
                <a:ea typeface="Calibri Light"/>
                <a:cs typeface="Calibri Light"/>
              </a:rPr>
              <a:t>ινόμεν</a:t>
            </a:r>
            <a:r>
              <a:rPr lang="en-US" sz="3100" dirty="0">
                <a:ea typeface="Calibri Light"/>
                <a:cs typeface="Calibri Light"/>
              </a:rPr>
              <a:t>α π</a:t>
            </a:r>
            <a:r>
              <a:rPr lang="en-US" sz="3100" dirty="0" err="1">
                <a:ea typeface="Calibri Light"/>
                <a:cs typeface="Calibri Light"/>
              </a:rPr>
              <a:t>ου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μελετώντ</a:t>
            </a:r>
            <a:r>
              <a:rPr lang="en-US" sz="3100" dirty="0">
                <a:ea typeface="Calibri Light"/>
                <a:cs typeface="Calibri Light"/>
              </a:rPr>
              <a:t>αι</a:t>
            </a:r>
          </a:p>
        </p:txBody>
      </p:sp>
    </p:spTree>
    <p:extLst>
      <p:ext uri="{BB962C8B-B14F-4D97-AF65-F5344CB8AC3E}">
        <p14:creationId xmlns:p14="http://schemas.microsoft.com/office/powerpoint/2010/main" val="88387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7A34D-692A-0631-24DE-6B6828FA1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8FA08EDF-4226-6D02-1BA7-84944DED775E}"/>
              </a:ext>
            </a:extLst>
          </p:cNvPr>
          <p:cNvGrpSpPr/>
          <p:nvPr/>
        </p:nvGrpSpPr>
        <p:grpSpPr>
          <a:xfrm>
            <a:off x="390073" y="1595648"/>
            <a:ext cx="4321927" cy="4616005"/>
            <a:chOff x="296127" y="1595648"/>
            <a:chExt cx="4321927" cy="4616005"/>
          </a:xfrm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A68C94F0-6ECD-A1F9-CC24-B64989C615EE}"/>
                </a:ext>
              </a:extLst>
            </p:cNvPr>
            <p:cNvSpPr/>
            <p:nvPr/>
          </p:nvSpPr>
          <p:spPr>
            <a:xfrm>
              <a:off x="296127" y="1595648"/>
              <a:ext cx="4321927" cy="46160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" name="Grafik 11" descr="Ein Bild, das Text, Schrift, Screenshot, Diagramm enthält.&#10;&#10;KI-generierte Inhalte können fehlerhaft sein.">
              <a:extLst>
                <a:ext uri="{FF2B5EF4-FFF2-40B4-BE49-F238E27FC236}">
                  <a16:creationId xmlns:a16="http://schemas.microsoft.com/office/drawing/2014/main" id="{6C549D0C-BFE1-6E6A-AE8A-CE1570626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505" t="130" r="29901" b="4082"/>
            <a:stretch>
              <a:fillRect/>
            </a:stretch>
          </p:blipFill>
          <p:spPr>
            <a:xfrm>
              <a:off x="480331" y="2834959"/>
              <a:ext cx="3129029" cy="2627655"/>
            </a:xfrm>
            <a:prstGeom prst="rect">
              <a:avLst/>
            </a:prstGeom>
          </p:spPr>
        </p:pic>
        <p:pic>
          <p:nvPicPr>
            <p:cNvPr id="13" name="Grafik 12" descr="Ein Bild, das Text, Schrift, Handschrift, weiß enthält.&#10;&#10;KI-generierte Inhalte können fehlerhaft sein.">
              <a:extLst>
                <a:ext uri="{FF2B5EF4-FFF2-40B4-BE49-F238E27FC236}">
                  <a16:creationId xmlns:a16="http://schemas.microsoft.com/office/drawing/2014/main" id="{77330F0A-88D5-5C89-AD35-CFFF453DB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824" t="9734" r="14332" b="-4845"/>
            <a:stretch>
              <a:fillRect/>
            </a:stretch>
          </p:blipFill>
          <p:spPr>
            <a:xfrm>
              <a:off x="477865" y="1718921"/>
              <a:ext cx="2745438" cy="1204876"/>
            </a:xfrm>
            <a:prstGeom prst="rect">
              <a:avLst/>
            </a:prstGeom>
          </p:spPr>
        </p:pic>
        <p:pic>
          <p:nvPicPr>
            <p:cNvPr id="3" name="Grafik 2" descr="Ein Bild, das Text, Schrift, weiß, Typografie enthält.&#10;&#10;KI-generierte Inhalte können fehlerhaft sein.">
              <a:extLst>
                <a:ext uri="{FF2B5EF4-FFF2-40B4-BE49-F238E27FC236}">
                  <a16:creationId xmlns:a16="http://schemas.microsoft.com/office/drawing/2014/main" id="{FC71C879-8951-535E-8695-1E9DE66C8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199" t="3772" r="51079" b="22727"/>
            <a:stretch>
              <a:fillRect/>
            </a:stretch>
          </p:blipFill>
          <p:spPr>
            <a:xfrm>
              <a:off x="484420" y="5647578"/>
              <a:ext cx="2231845" cy="546076"/>
            </a:xfrm>
            <a:prstGeom prst="rect">
              <a:avLst/>
            </a:prstGeom>
          </p:spPr>
        </p:pic>
        <p:pic>
          <p:nvPicPr>
            <p:cNvPr id="4" name="Grafik 3" descr="Ein Bild, das Text, Schrift, Handschrift, weiß enthält.&#10;&#10;KI-generierte Inhalte können fehlerhaft sein.">
              <a:extLst>
                <a:ext uri="{FF2B5EF4-FFF2-40B4-BE49-F238E27FC236}">
                  <a16:creationId xmlns:a16="http://schemas.microsoft.com/office/drawing/2014/main" id="{BAA36A61-4FAF-575C-E5AE-945DCB40C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365" t="9957" r="3583" b="12531"/>
            <a:stretch>
              <a:fillRect/>
            </a:stretch>
          </p:blipFill>
          <p:spPr>
            <a:xfrm>
              <a:off x="4002932" y="1719738"/>
              <a:ext cx="414419" cy="981954"/>
            </a:xfrm>
            <a:prstGeom prst="rect">
              <a:avLst/>
            </a:prstGeom>
          </p:spPr>
        </p:pic>
        <p:pic>
          <p:nvPicPr>
            <p:cNvPr id="5" name="Grafik 4" descr="Ein Bild, das Text, Schrift, Screenshot, Diagramm enthält.&#10;&#10;KI-generierte Inhalte können fehlerhaft sein.">
              <a:extLst>
                <a:ext uri="{FF2B5EF4-FFF2-40B4-BE49-F238E27FC236}">
                  <a16:creationId xmlns:a16="http://schemas.microsoft.com/office/drawing/2014/main" id="{D0758E88-082C-EF0C-D700-A20508B76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9588" t="750" r="484" b="4315"/>
            <a:stretch>
              <a:fillRect/>
            </a:stretch>
          </p:blipFill>
          <p:spPr>
            <a:xfrm>
              <a:off x="3961486" y="2840767"/>
              <a:ext cx="459560" cy="2604240"/>
            </a:xfrm>
            <a:prstGeom prst="rect">
              <a:avLst/>
            </a:prstGeom>
          </p:spPr>
        </p:pic>
        <p:pic>
          <p:nvPicPr>
            <p:cNvPr id="22" name="Grafik 21" descr="Ein Bild, das Text, Schrift, Handschrift, weiß enthält.&#10;&#10;KI-generierte Inhalte können fehlerhaft sein.">
              <a:extLst>
                <a:ext uri="{FF2B5EF4-FFF2-40B4-BE49-F238E27FC236}">
                  <a16:creationId xmlns:a16="http://schemas.microsoft.com/office/drawing/2014/main" id="{A5C395F3-B9B1-AD00-BAE7-F8D908AD1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9744" r="1442" b="68750"/>
            <a:stretch>
              <a:fillRect/>
            </a:stretch>
          </p:blipFill>
          <p:spPr>
            <a:xfrm>
              <a:off x="3998633" y="5647579"/>
              <a:ext cx="616203" cy="559594"/>
            </a:xfrm>
            <a:prstGeom prst="rect">
              <a:avLst/>
            </a:prstGeom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A173742F-579C-C271-50C4-2857A598506D}"/>
              </a:ext>
            </a:extLst>
          </p:cNvPr>
          <p:cNvGrpSpPr/>
          <p:nvPr/>
        </p:nvGrpSpPr>
        <p:grpSpPr>
          <a:xfrm>
            <a:off x="5117309" y="1108324"/>
            <a:ext cx="6670556" cy="5252743"/>
            <a:chOff x="5358733" y="1595646"/>
            <a:chExt cx="6670556" cy="5252743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A697EE26-8A99-8549-F79C-A17D111DD12B}"/>
                </a:ext>
              </a:extLst>
            </p:cNvPr>
            <p:cNvSpPr/>
            <p:nvPr/>
          </p:nvSpPr>
          <p:spPr>
            <a:xfrm>
              <a:off x="5358733" y="1595646"/>
              <a:ext cx="6670556" cy="52527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6" name="Grafik 5" descr="Ein Bild, das Text, Schrift, weiß, Typografie enthält.&#10;&#10;KI-generierte Inhalte können fehlerhaft sein.">
              <a:extLst>
                <a:ext uri="{FF2B5EF4-FFF2-40B4-BE49-F238E27FC236}">
                  <a16:creationId xmlns:a16="http://schemas.microsoft.com/office/drawing/2014/main" id="{5A600CBB-E0FE-BC07-A686-E1769A36E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7530" t="24242" r="-240" b="19697"/>
            <a:stretch>
              <a:fillRect/>
            </a:stretch>
          </p:blipFill>
          <p:spPr>
            <a:xfrm>
              <a:off x="11406318" y="6212824"/>
              <a:ext cx="594419" cy="416505"/>
            </a:xfrm>
            <a:prstGeom prst="rect">
              <a:avLst/>
            </a:prstGeom>
          </p:spPr>
        </p:pic>
        <p:pic>
          <p:nvPicPr>
            <p:cNvPr id="10" name="Grafik 9" descr="Ein Bild, das Text, Schrift, Handschrift, weiß enthält.&#10;&#10;KI-generierte Inhalte können fehlerhaft sein.">
              <a:extLst>
                <a:ext uri="{FF2B5EF4-FFF2-40B4-BE49-F238E27FC236}">
                  <a16:creationId xmlns:a16="http://schemas.microsoft.com/office/drawing/2014/main" id="{E0D62CFB-AC69-BD8A-D8BC-3EEBE1482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502" t="5135" r="13782" b="1714"/>
            <a:stretch>
              <a:fillRect/>
            </a:stretch>
          </p:blipFill>
          <p:spPr>
            <a:xfrm>
              <a:off x="5481986" y="1761557"/>
              <a:ext cx="5922793" cy="1668064"/>
            </a:xfrm>
            <a:prstGeom prst="rect">
              <a:avLst/>
            </a:prstGeom>
          </p:spPr>
        </p:pic>
        <p:pic>
          <p:nvPicPr>
            <p:cNvPr id="20" name="Grafik 19" descr="Ein Bild, das Text, Handschrift, Schrift, Kalligrafie enthält.&#10;&#10;KI-generierte Inhalte können fehlerhaft sein.">
              <a:extLst>
                <a:ext uri="{FF2B5EF4-FFF2-40B4-BE49-F238E27FC236}">
                  <a16:creationId xmlns:a16="http://schemas.microsoft.com/office/drawing/2014/main" id="{0E6E7D85-1067-7121-E8EB-3B05313B2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424" t="1079" r="18347" b="283"/>
            <a:stretch>
              <a:fillRect/>
            </a:stretch>
          </p:blipFill>
          <p:spPr>
            <a:xfrm>
              <a:off x="5478701" y="3737208"/>
              <a:ext cx="5440985" cy="3072239"/>
            </a:xfrm>
            <a:prstGeom prst="rect">
              <a:avLst/>
            </a:prstGeom>
          </p:spPr>
        </p:pic>
        <p:pic>
          <p:nvPicPr>
            <p:cNvPr id="23" name="Grafik 22" descr="Ein Bild, das Text, Schrift, Handschrift, weiß enthält.&#10;&#10;KI-generierte Inhalte können fehlerhaft sein.">
              <a:extLst>
                <a:ext uri="{FF2B5EF4-FFF2-40B4-BE49-F238E27FC236}">
                  <a16:creationId xmlns:a16="http://schemas.microsoft.com/office/drawing/2014/main" id="{73A612EC-88D4-E8C7-BD7C-49D3374DE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-3483" t="13043" r="15260" b="4062"/>
            <a:stretch>
              <a:fillRect/>
            </a:stretch>
          </p:blipFill>
          <p:spPr>
            <a:xfrm>
              <a:off x="11418803" y="1600380"/>
              <a:ext cx="588225" cy="994851"/>
            </a:xfrm>
            <a:prstGeom prst="rect">
              <a:avLst/>
            </a:prstGeom>
          </p:spPr>
        </p:pic>
        <p:pic>
          <p:nvPicPr>
            <p:cNvPr id="24" name="Grafik 23" descr="Ein Bild, das Text, Schrift, Handschrift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B357A25F-CD99-5547-F753-995B39D52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6803" t="24638" r="-324"/>
            <a:stretch>
              <a:fillRect/>
            </a:stretch>
          </p:blipFill>
          <p:spPr>
            <a:xfrm>
              <a:off x="11395760" y="3892348"/>
              <a:ext cx="632457" cy="2167838"/>
            </a:xfrm>
            <a:prstGeom prst="rect">
              <a:avLst/>
            </a:prstGeom>
          </p:spPr>
        </p:pic>
        <p:pic>
          <p:nvPicPr>
            <p:cNvPr id="25" name="Grafik 24" descr="Ein Bild, das Text, Schrift, Handschrift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FEE0FB63-F5F0-8435-3380-DC897E82D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6923" t="-689" r="1538" b="82694"/>
            <a:stretch>
              <a:fillRect/>
            </a:stretch>
          </p:blipFill>
          <p:spPr>
            <a:xfrm>
              <a:off x="11464420" y="2839108"/>
              <a:ext cx="551426" cy="517625"/>
            </a:xfrm>
            <a:prstGeom prst="rect">
              <a:avLst/>
            </a:prstGeom>
          </p:spPr>
        </p:pic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501BE862-0909-1C19-DCD5-5DAF0A96EA1B}"/>
              </a:ext>
            </a:extLst>
          </p:cNvPr>
          <p:cNvSpPr txBox="1">
            <a:spLocks/>
          </p:cNvSpPr>
          <p:nvPr/>
        </p:nvSpPr>
        <p:spPr>
          <a:xfrm>
            <a:off x="193377" y="348"/>
            <a:ext cx="11801015" cy="1229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4.1.1 Βα</a:t>
            </a:r>
            <a:r>
              <a:rPr lang="en-US" sz="3100" dirty="0" err="1">
                <a:ea typeface="Calibri Light"/>
                <a:cs typeface="Calibri Light"/>
              </a:rPr>
              <a:t>σικές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Εξισώσεις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του</a:t>
            </a:r>
            <a:r>
              <a:rPr lang="en-US" sz="3100" dirty="0">
                <a:ea typeface="Calibri Light"/>
                <a:cs typeface="Calibri Light"/>
              </a:rPr>
              <a:t> Μα</a:t>
            </a:r>
            <a:r>
              <a:rPr lang="en-US" sz="3100" dirty="0" err="1">
                <a:ea typeface="Calibri Light"/>
                <a:cs typeface="Calibri Light"/>
              </a:rPr>
              <a:t>θημ</a:t>
            </a:r>
            <a:r>
              <a:rPr lang="en-US" sz="3100" dirty="0">
                <a:ea typeface="Calibri Light"/>
                <a:cs typeface="Calibri Light"/>
              </a:rPr>
              <a:t>α</a:t>
            </a:r>
            <a:r>
              <a:rPr lang="en-US" sz="3100" dirty="0" err="1">
                <a:ea typeface="Calibri Light"/>
                <a:cs typeface="Calibri Light"/>
              </a:rPr>
              <a:t>τικού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Μοντέλου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της</a:t>
            </a:r>
            <a:r>
              <a:rPr lang="en-US" sz="3100" dirty="0">
                <a:ea typeface="Calibri Light"/>
                <a:cs typeface="Calibri Light"/>
              </a:rPr>
              <a:t> </a:t>
            </a:r>
            <a:r>
              <a:rPr lang="en-US" sz="3100" dirty="0" err="1">
                <a:ea typeface="Calibri Light"/>
                <a:cs typeface="Calibri Light"/>
              </a:rPr>
              <a:t>Διεργ</a:t>
            </a:r>
            <a:r>
              <a:rPr lang="en-US" sz="3100" dirty="0">
                <a:ea typeface="Calibri Light"/>
                <a:cs typeface="Calibri Light"/>
              </a:rPr>
              <a:t>α</a:t>
            </a:r>
            <a:r>
              <a:rPr lang="en-US" sz="3100" dirty="0" err="1">
                <a:ea typeface="Calibri Light"/>
                <a:cs typeface="Calibri Light"/>
              </a:rPr>
              <a:t>σί</a:t>
            </a:r>
            <a:r>
              <a:rPr lang="en-US" sz="3100" dirty="0">
                <a:ea typeface="Calibri Light"/>
                <a:cs typeface="Calibri Light"/>
              </a:rPr>
              <a:t>ας Πα</a:t>
            </a:r>
            <a:r>
              <a:rPr lang="en-US" sz="3100" dirty="0" err="1">
                <a:ea typeface="Calibri Light"/>
                <a:cs typeface="Calibri Light"/>
              </a:rPr>
              <a:t>στερίωσης</a:t>
            </a:r>
            <a:endParaRPr lang="en-US" sz="3100" dirty="0">
              <a:ea typeface="Calibri Light"/>
              <a:cs typeface="Calibri Light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466F8D-A6AC-EA23-B9BF-E3853DB5F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8</a:t>
            </a:fld>
            <a:r>
              <a:rPr lang="en-US"/>
              <a:t>/39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031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5B619-3801-D7D4-9FDF-C7B4C0487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CDBD6CAB-2574-3CD0-9EB0-C95C625FB3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60" t="18302" r="17479" b="27954"/>
          <a:stretch>
            <a:fillRect/>
          </a:stretch>
        </p:blipFill>
        <p:spPr>
          <a:xfrm>
            <a:off x="1602" y="830535"/>
            <a:ext cx="12195377" cy="6021785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7889FE4F-C575-E0FF-68C5-C8A13A446290}"/>
              </a:ext>
            </a:extLst>
          </p:cNvPr>
          <p:cNvSpPr/>
          <p:nvPr/>
        </p:nvSpPr>
        <p:spPr>
          <a:xfrm>
            <a:off x="872616" y="2800690"/>
            <a:ext cx="1037945" cy="54877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1700 kg/h, 5 °C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0C545173-5CDA-522B-032D-B01FA9FA5658}"/>
              </a:ext>
            </a:extLst>
          </p:cNvPr>
          <p:cNvSpPr/>
          <p:nvPr/>
        </p:nvSpPr>
        <p:spPr>
          <a:xfrm>
            <a:off x="6925482" y="2412501"/>
            <a:ext cx="649757" cy="39062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90 °C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32752C39-B9DD-0C63-2C1C-7CE57D83D7DA}"/>
              </a:ext>
            </a:extLst>
          </p:cNvPr>
          <p:cNvSpPr/>
          <p:nvPr/>
        </p:nvSpPr>
        <p:spPr>
          <a:xfrm>
            <a:off x="9340878" y="3073858"/>
            <a:ext cx="649757" cy="39062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75 °C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17ACDC72-5420-DDB4-DA81-93D7238054AD}"/>
              </a:ext>
            </a:extLst>
          </p:cNvPr>
          <p:cNvSpPr/>
          <p:nvPr/>
        </p:nvSpPr>
        <p:spPr>
          <a:xfrm>
            <a:off x="6925481" y="989141"/>
            <a:ext cx="649757" cy="39062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75 °C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17A43505-8335-6903-0BDC-059FF486B0E2}"/>
              </a:ext>
            </a:extLst>
          </p:cNvPr>
          <p:cNvSpPr/>
          <p:nvPr/>
        </p:nvSpPr>
        <p:spPr>
          <a:xfrm>
            <a:off x="7256161" y="5187329"/>
            <a:ext cx="649757" cy="39062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20 °C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C65E06C-F55E-8A8C-3566-8FBE84431727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1992238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>
                <a:ea typeface="Calibri Light"/>
                <a:cs typeface="Calibri Light"/>
              </a:rPr>
              <a:t>4.1.2 </a:t>
            </a:r>
            <a:r>
              <a:rPr lang="en-US" sz="3100" err="1">
                <a:ea typeface="Calibri Light"/>
                <a:cs typeface="Calibri Light"/>
              </a:rPr>
              <a:t>Μοντέλο</a:t>
            </a:r>
            <a:r>
              <a:rPr lang="en-US" sz="3100">
                <a:ea typeface="Calibri Light"/>
                <a:cs typeface="Calibri Light"/>
              </a:rPr>
              <a:t> Πα</a:t>
            </a:r>
            <a:r>
              <a:rPr lang="en-US" sz="3100" err="1">
                <a:ea typeface="Calibri Light"/>
                <a:cs typeface="Calibri Light"/>
              </a:rPr>
              <a:t>στερίωσης-Προδι</a:t>
            </a:r>
            <a:r>
              <a:rPr lang="en-US" sz="3100">
                <a:ea typeface="Calibri Light"/>
                <a:cs typeface="Calibri Light"/>
              </a:rPr>
              <a:t>α</a:t>
            </a:r>
            <a:r>
              <a:rPr lang="en-US" sz="3100" err="1">
                <a:ea typeface="Calibri Light"/>
                <a:cs typeface="Calibri Light"/>
              </a:rPr>
              <a:t>γρ</a:t>
            </a:r>
            <a:r>
              <a:rPr lang="en-US" sz="3100">
                <a:ea typeface="Calibri Light"/>
                <a:cs typeface="Calibri Light"/>
              </a:rPr>
              <a:t>α</a:t>
            </a:r>
            <a:r>
              <a:rPr lang="en-US" sz="3100" err="1">
                <a:ea typeface="Calibri Light"/>
                <a:cs typeface="Calibri Light"/>
              </a:rPr>
              <a:t>φές</a:t>
            </a:r>
            <a:endParaRPr lang="en-US" sz="3100">
              <a:ea typeface="Calibri Light"/>
              <a:cs typeface="Calibri Light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8CD0999-06C4-B8D8-7CEB-91E0B1125A73}"/>
              </a:ext>
            </a:extLst>
          </p:cNvPr>
          <p:cNvSpPr txBox="1"/>
          <p:nvPr/>
        </p:nvSpPr>
        <p:spPr>
          <a:xfrm>
            <a:off x="1979647" y="3630882"/>
            <a:ext cx="1575439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Αν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γεννητική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μονάδ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97253EE-8738-0473-A7E9-69EE2CD7B425}"/>
              </a:ext>
            </a:extLst>
          </p:cNvPr>
          <p:cNvSpPr txBox="1"/>
          <p:nvPr/>
        </p:nvSpPr>
        <p:spPr>
          <a:xfrm>
            <a:off x="7159432" y="3757881"/>
            <a:ext cx="1720581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Προθερμ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ντήρ</a:t>
            </a:r>
            <a:r>
              <a:rPr lang="de-DE" sz="1600" dirty="0">
                <a:ea typeface="Calibri"/>
                <a:cs typeface="Calibri"/>
              </a:rPr>
              <a:t>ας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962E513-714B-C45D-8355-FCEA1196B807}"/>
              </a:ext>
            </a:extLst>
          </p:cNvPr>
          <p:cNvSpPr txBox="1"/>
          <p:nvPr/>
        </p:nvSpPr>
        <p:spPr>
          <a:xfrm>
            <a:off x="9663146" y="3839524"/>
            <a:ext cx="1575439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err="1">
                <a:ea typeface="Calibri"/>
                <a:cs typeface="Calibri"/>
              </a:rPr>
              <a:t>Θάλ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err="1">
                <a:ea typeface="Calibri"/>
                <a:cs typeface="Calibri"/>
              </a:rPr>
              <a:t>μος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>
                <a:ea typeface="Calibri"/>
                <a:cs typeface="Calibri"/>
              </a:rPr>
              <a:t>συγκράτησης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F32F897-FB20-97BC-CC8B-C1C5F8436232}"/>
              </a:ext>
            </a:extLst>
          </p:cNvPr>
          <p:cNvSpPr txBox="1"/>
          <p:nvPr/>
        </p:nvSpPr>
        <p:spPr>
          <a:xfrm>
            <a:off x="4592217" y="5862453"/>
            <a:ext cx="822511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Ψύκτης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9E02ACA-82FD-B4CA-847D-E1A4A00D2AD8}"/>
              </a:ext>
            </a:extLst>
          </p:cNvPr>
          <p:cNvSpPr txBox="1"/>
          <p:nvPr/>
        </p:nvSpPr>
        <p:spPr>
          <a:xfrm>
            <a:off x="353183" y="3798629"/>
            <a:ext cx="1430296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Τροφοδοσί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37D1963-A670-CA93-6277-7E0070EDA604}"/>
              </a:ext>
            </a:extLst>
          </p:cNvPr>
          <p:cNvSpPr txBox="1"/>
          <p:nvPr/>
        </p:nvSpPr>
        <p:spPr>
          <a:xfrm>
            <a:off x="31817" y="6194973"/>
            <a:ext cx="1960155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Διάρκει</a:t>
            </a:r>
            <a:r>
              <a:rPr lang="de-DE" sz="1600" dirty="0">
                <a:ea typeface="Calibri"/>
                <a:cs typeface="Calibri"/>
              </a:rPr>
              <a:t>α π</a:t>
            </a:r>
            <a:r>
              <a:rPr lang="de-DE" sz="1600" dirty="0" err="1">
                <a:ea typeface="Calibri"/>
                <a:cs typeface="Calibri"/>
              </a:rPr>
              <a:t>ροσομοίωσης</a:t>
            </a:r>
            <a:endParaRPr lang="de-DE" sz="1600" dirty="0">
              <a:ea typeface="Calibri"/>
              <a:cs typeface="Calibri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3D8A116-DD73-80DC-1342-7DCBF6479660}"/>
              </a:ext>
            </a:extLst>
          </p:cNvPr>
          <p:cNvSpPr txBox="1"/>
          <p:nvPr/>
        </p:nvSpPr>
        <p:spPr>
          <a:xfrm>
            <a:off x="524798" y="1018162"/>
            <a:ext cx="1995698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600" err="1">
                <a:ea typeface="Calibri"/>
                <a:cs typeface="Calibri"/>
              </a:rPr>
              <a:t>Προδι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err="1">
                <a:ea typeface="Calibri"/>
                <a:cs typeface="Calibri"/>
              </a:rPr>
              <a:t>γρ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err="1">
                <a:ea typeface="Calibri"/>
                <a:cs typeface="Calibri"/>
              </a:rPr>
              <a:t>φές</a:t>
            </a:r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97A61868-A4AB-9090-1C98-0ED665B9AC46}"/>
              </a:ext>
            </a:extLst>
          </p:cNvPr>
          <p:cNvSpPr txBox="1"/>
          <p:nvPr/>
        </p:nvSpPr>
        <p:spPr>
          <a:xfrm>
            <a:off x="4725313" y="3186530"/>
            <a:ext cx="1979935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Νερό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θέρμ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νσης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7078926-3279-445C-A915-D56B16B6EBB1}"/>
              </a:ext>
            </a:extLst>
          </p:cNvPr>
          <p:cNvSpPr txBox="1"/>
          <p:nvPr/>
        </p:nvSpPr>
        <p:spPr>
          <a:xfrm>
            <a:off x="3151346" y="5185219"/>
            <a:ext cx="1430296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Νερό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ψύξης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AAB5CBD-E200-20D3-9C0A-2D750D7B820B}"/>
              </a:ext>
            </a:extLst>
          </p:cNvPr>
          <p:cNvSpPr txBox="1"/>
          <p:nvPr/>
        </p:nvSpPr>
        <p:spPr>
          <a:xfrm>
            <a:off x="5115526" y="6486707"/>
            <a:ext cx="2129836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Έξοδος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νερού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ψύξης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22964A6C-F7ED-C2A7-10B2-5AE339470F6F}"/>
              </a:ext>
            </a:extLst>
          </p:cNvPr>
          <p:cNvSpPr txBox="1"/>
          <p:nvPr/>
        </p:nvSpPr>
        <p:spPr>
          <a:xfrm>
            <a:off x="8272985" y="5859774"/>
            <a:ext cx="2129836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Έξοδος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γάλ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κτος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6B58417-1277-5B2B-B8C7-2E23BB1D4C3A}"/>
              </a:ext>
            </a:extLst>
          </p:cNvPr>
          <p:cNvSpPr txBox="1"/>
          <p:nvPr/>
        </p:nvSpPr>
        <p:spPr>
          <a:xfrm>
            <a:off x="8010657" y="4872922"/>
            <a:ext cx="2429639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Έξοδος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νερού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θέρμ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νσης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A07C6C73-08B4-0A7B-8AC8-A947F88751D6}"/>
              </a:ext>
            </a:extLst>
          </p:cNvPr>
          <p:cNvSpPr txBox="1"/>
          <p:nvPr/>
        </p:nvSpPr>
        <p:spPr>
          <a:xfrm>
            <a:off x="9359771" y="2024790"/>
            <a:ext cx="1305377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Εικονική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ροή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60A6A3CA-403D-8031-D722-77B4F120BA81}"/>
              </a:ext>
            </a:extLst>
          </p:cNvPr>
          <p:cNvSpPr txBox="1"/>
          <p:nvPr/>
        </p:nvSpPr>
        <p:spPr>
          <a:xfrm>
            <a:off x="10883770" y="4710527"/>
            <a:ext cx="1305377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Εικονική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ροή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DE76D52B-C785-7E65-9948-4BC248F734F1}"/>
              </a:ext>
            </a:extLst>
          </p:cNvPr>
          <p:cNvSpPr txBox="1"/>
          <p:nvPr/>
        </p:nvSpPr>
        <p:spPr>
          <a:xfrm>
            <a:off x="7910723" y="2412036"/>
            <a:ext cx="2429637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Αισθητήρ</a:t>
            </a:r>
            <a:r>
              <a:rPr lang="de-DE" sz="1600" dirty="0">
                <a:ea typeface="Calibri"/>
                <a:cs typeface="Calibri"/>
              </a:rPr>
              <a:t>ας </a:t>
            </a:r>
            <a:r>
              <a:rPr lang="de-DE" sz="1600" dirty="0" err="1">
                <a:ea typeface="Calibri"/>
                <a:cs typeface="Calibri"/>
              </a:rPr>
              <a:t>θερμοκρ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σί</a:t>
            </a:r>
            <a:r>
              <a:rPr lang="de-DE" sz="1600" dirty="0">
                <a:ea typeface="Calibri"/>
                <a:cs typeface="Calibri"/>
              </a:rPr>
              <a:t>ας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08EF13CA-0A55-AFF4-C562-CC349D863BAC}"/>
              </a:ext>
            </a:extLst>
          </p:cNvPr>
          <p:cNvSpPr txBox="1"/>
          <p:nvPr/>
        </p:nvSpPr>
        <p:spPr>
          <a:xfrm>
            <a:off x="4275605" y="3636230"/>
            <a:ext cx="2429640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Αισθητήρ</a:t>
            </a:r>
            <a:r>
              <a:rPr lang="de-DE" sz="1600" dirty="0">
                <a:ea typeface="Calibri"/>
                <a:cs typeface="Calibri"/>
              </a:rPr>
              <a:t>ας </a:t>
            </a:r>
            <a:r>
              <a:rPr lang="de-DE" sz="1600" dirty="0" err="1">
                <a:ea typeface="Calibri"/>
                <a:cs typeface="Calibri"/>
              </a:rPr>
              <a:t>θερμοκρ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σί</a:t>
            </a:r>
            <a:r>
              <a:rPr lang="de-DE" sz="1600" dirty="0">
                <a:ea typeface="Calibri"/>
                <a:cs typeface="Calibri"/>
              </a:rPr>
              <a:t>ας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043A4E5C-CDFB-7A38-65BC-CAB1681EDCB3}"/>
              </a:ext>
            </a:extLst>
          </p:cNvPr>
          <p:cNvSpPr txBox="1"/>
          <p:nvPr/>
        </p:nvSpPr>
        <p:spPr>
          <a:xfrm>
            <a:off x="4450493" y="2274626"/>
            <a:ext cx="2429637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Ρυθμιστής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θερμοκρ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σί</a:t>
            </a:r>
            <a:r>
              <a:rPr lang="de-DE" sz="1600" dirty="0">
                <a:ea typeface="Calibri"/>
                <a:cs typeface="Calibri"/>
              </a:rPr>
              <a:t>ας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847CDA57-7972-AFEC-18C7-0E89E9FF87E8}"/>
              </a:ext>
            </a:extLst>
          </p:cNvPr>
          <p:cNvSpPr txBox="1"/>
          <p:nvPr/>
        </p:nvSpPr>
        <p:spPr>
          <a:xfrm>
            <a:off x="2526754" y="4260822"/>
            <a:ext cx="2429637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Ρυθμιστής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θερμοκρ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σί</a:t>
            </a:r>
            <a:r>
              <a:rPr lang="de-DE" sz="1600" dirty="0">
                <a:ea typeface="Calibri"/>
                <a:cs typeface="Calibri"/>
              </a:rPr>
              <a:t>ας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A466D7B5-FC0E-6389-AE0C-A8DA2F9C3BAB}"/>
              </a:ext>
            </a:extLst>
          </p:cNvPr>
          <p:cNvSpPr/>
          <p:nvPr/>
        </p:nvSpPr>
        <p:spPr>
          <a:xfrm>
            <a:off x="4444476" y="4547437"/>
            <a:ext cx="563493" cy="318741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5 °C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2E460BA4-854F-73A6-FEEC-CC452D63D835}"/>
              </a:ext>
            </a:extLst>
          </p:cNvPr>
          <p:cNvSpPr txBox="1"/>
          <p:nvPr/>
        </p:nvSpPr>
        <p:spPr>
          <a:xfrm>
            <a:off x="5117604" y="4429361"/>
            <a:ext cx="1892782" cy="4384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1600" dirty="0">
              <a:ea typeface="Calibri"/>
              <a:cs typeface="Calibri"/>
            </a:endParaRPr>
          </a:p>
        </p:txBody>
      </p:sp>
      <p:pic>
        <p:nvPicPr>
          <p:cNvPr id="38" name="Picture 14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A0F177C3-85E4-A678-9FDA-0221DAF40A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761" t="34644" r="33810" b="59940"/>
          <a:stretch>
            <a:fillRect/>
          </a:stretch>
        </p:blipFill>
        <p:spPr>
          <a:xfrm>
            <a:off x="6261662" y="4441300"/>
            <a:ext cx="84698" cy="60691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B0761632-8515-5435-41D4-C5D24A193B3F}"/>
              </a:ext>
            </a:extLst>
          </p:cNvPr>
          <p:cNvSpPr txBox="1"/>
          <p:nvPr/>
        </p:nvSpPr>
        <p:spPr>
          <a:xfrm>
            <a:off x="4448537" y="4138655"/>
            <a:ext cx="333624" cy="165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1600" dirty="0">
              <a:ea typeface="Calibri"/>
              <a:cs typeface="Calibri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FE71F70-7139-CDFC-FAC9-B17771600FE7}"/>
              </a:ext>
            </a:extLst>
          </p:cNvPr>
          <p:cNvSpPr txBox="1"/>
          <p:nvPr/>
        </p:nvSpPr>
        <p:spPr>
          <a:xfrm>
            <a:off x="4749675" y="2193939"/>
            <a:ext cx="249184" cy="1488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1600" dirty="0">
              <a:ea typeface="Calibri"/>
              <a:cs typeface="Calibri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BDA7BF0-6ABD-DA3D-13F3-FC6AC63F98A5}"/>
              </a:ext>
            </a:extLst>
          </p:cNvPr>
          <p:cNvSpPr txBox="1"/>
          <p:nvPr/>
        </p:nvSpPr>
        <p:spPr>
          <a:xfrm>
            <a:off x="6306551" y="2109160"/>
            <a:ext cx="436386" cy="16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1600" dirty="0">
              <a:ea typeface="Calibri"/>
              <a:cs typeface="Calibri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48C56AE-133D-A3B3-DC1D-3819F5CA5F71}"/>
              </a:ext>
            </a:extLst>
          </p:cNvPr>
          <p:cNvSpPr txBox="1"/>
          <p:nvPr/>
        </p:nvSpPr>
        <p:spPr>
          <a:xfrm>
            <a:off x="4477751" y="4145146"/>
            <a:ext cx="436386" cy="16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1600" dirty="0">
              <a:ea typeface="Calibri"/>
              <a:cs typeface="Calibri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97A65F8-7319-B8E7-F50C-4686E7400E99}"/>
              </a:ext>
            </a:extLst>
          </p:cNvPr>
          <p:cNvSpPr txBox="1"/>
          <p:nvPr/>
        </p:nvSpPr>
        <p:spPr>
          <a:xfrm>
            <a:off x="2616294" y="4177803"/>
            <a:ext cx="436386" cy="16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0703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C955A-B4E4-034B-D789-57D5CE660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157A72E9-EB38-99AC-5DA0-5162C79697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60" t="18302" r="17479" b="27954"/>
          <a:stretch>
            <a:fillRect/>
          </a:stretch>
        </p:blipFill>
        <p:spPr>
          <a:xfrm>
            <a:off x="1602" y="830535"/>
            <a:ext cx="12195377" cy="6021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988F0E-57BE-4097-4E27-1E101B43A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98" y="138893"/>
            <a:ext cx="12384443" cy="686828"/>
          </a:xfrm>
        </p:spPr>
        <p:txBody>
          <a:bodyPr>
            <a:normAutofit/>
          </a:bodyPr>
          <a:lstStyle/>
          <a:p>
            <a:r>
              <a:rPr lang="en-US" sz="3100" dirty="0">
                <a:ea typeface="Calibri Light"/>
                <a:cs typeface="Calibri Light"/>
              </a:rPr>
              <a:t>4.1.3 </a:t>
            </a:r>
            <a:r>
              <a:rPr lang="en-US" sz="3100" dirty="0" err="1">
                <a:ea typeface="Calibri Light"/>
                <a:cs typeface="Calibri Light"/>
              </a:rPr>
              <a:t>Μοντέλο</a:t>
            </a:r>
            <a:r>
              <a:rPr lang="en-US" sz="3100" dirty="0">
                <a:ea typeface="Calibri Light"/>
                <a:cs typeface="Calibri Light"/>
              </a:rPr>
              <a:t> Πα</a:t>
            </a:r>
            <a:r>
              <a:rPr lang="en-US" sz="3100" dirty="0" err="1">
                <a:ea typeface="Calibri Light"/>
                <a:cs typeface="Calibri Light"/>
              </a:rPr>
              <a:t>στερίωσης</a:t>
            </a:r>
            <a:r>
              <a:rPr lang="en-US" sz="3100" dirty="0">
                <a:ea typeface="Calibri Light"/>
                <a:cs typeface="Calibri Light"/>
              </a:rPr>
              <a:t>-Απ</a:t>
            </a:r>
            <a:r>
              <a:rPr lang="en-US" sz="3100" dirty="0" err="1">
                <a:ea typeface="Calibri Light"/>
                <a:cs typeface="Calibri Light"/>
              </a:rPr>
              <a:t>οτελέσμ</a:t>
            </a:r>
            <a:r>
              <a:rPr lang="en-US" sz="3100" dirty="0">
                <a:ea typeface="Calibri Light"/>
                <a:cs typeface="Calibri Light"/>
              </a:rPr>
              <a:t>ατα </a:t>
            </a:r>
            <a:r>
              <a:rPr lang="en-US" sz="3100" dirty="0" err="1">
                <a:ea typeface="Calibri Light"/>
                <a:cs typeface="Calibri Light"/>
              </a:rPr>
              <a:t>Προσομοίωσης</a:t>
            </a:r>
            <a:r>
              <a:rPr lang="en-US" sz="3100" dirty="0">
                <a:ea typeface="Calibri Light"/>
                <a:cs typeface="Calibri Light"/>
              </a:rPr>
              <a:t> (1/5)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AB4FAF7C-6F49-0903-7446-87E3730F939E}"/>
              </a:ext>
            </a:extLst>
          </p:cNvPr>
          <p:cNvSpPr/>
          <p:nvPr/>
        </p:nvSpPr>
        <p:spPr>
          <a:xfrm>
            <a:off x="872616" y="2800690"/>
            <a:ext cx="1037945" cy="54877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1700 kg/h, 5 °C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4463ECE-6947-5455-C2DD-0B5CC9B91069}"/>
              </a:ext>
            </a:extLst>
          </p:cNvPr>
          <p:cNvSpPr/>
          <p:nvPr/>
        </p:nvSpPr>
        <p:spPr>
          <a:xfrm>
            <a:off x="6925482" y="2412501"/>
            <a:ext cx="649757" cy="39062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90 °C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78F46E43-8E02-D1C2-BF65-10DF3675CD85}"/>
              </a:ext>
            </a:extLst>
          </p:cNvPr>
          <p:cNvSpPr/>
          <p:nvPr/>
        </p:nvSpPr>
        <p:spPr>
          <a:xfrm>
            <a:off x="9340878" y="3073858"/>
            <a:ext cx="649757" cy="39062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75 °C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88E09497-5609-3FA0-62EA-40DAF4BA2FAB}"/>
              </a:ext>
            </a:extLst>
          </p:cNvPr>
          <p:cNvSpPr/>
          <p:nvPr/>
        </p:nvSpPr>
        <p:spPr>
          <a:xfrm>
            <a:off x="6925481" y="989141"/>
            <a:ext cx="649757" cy="39062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75 °C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B158CAA9-3EF4-402D-25A4-7858BD18EBF7}"/>
              </a:ext>
            </a:extLst>
          </p:cNvPr>
          <p:cNvSpPr/>
          <p:nvPr/>
        </p:nvSpPr>
        <p:spPr>
          <a:xfrm>
            <a:off x="7040501" y="5129819"/>
            <a:ext cx="649757" cy="39062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20 °C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93128153-C233-16B4-76EC-CEE39960D6D6}"/>
              </a:ext>
            </a:extLst>
          </p:cNvPr>
          <p:cNvSpPr/>
          <p:nvPr/>
        </p:nvSpPr>
        <p:spPr>
          <a:xfrm>
            <a:off x="4395067" y="6236877"/>
            <a:ext cx="1052322" cy="491268"/>
          </a:xfrm>
          <a:prstGeom prst="wedgeRoundRectCallo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ea typeface="Calibri"/>
                <a:cs typeface="Calibri"/>
              </a:rPr>
              <a:t>2278 kg/h, 18 °C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8E3190A2-BE79-2103-6B44-FE5FEBA039C3}"/>
              </a:ext>
            </a:extLst>
          </p:cNvPr>
          <p:cNvSpPr/>
          <p:nvPr/>
        </p:nvSpPr>
        <p:spPr>
          <a:xfrm>
            <a:off x="2166575" y="5129820"/>
            <a:ext cx="649757" cy="390627"/>
          </a:xfrm>
          <a:prstGeom prst="wedgeRoundRectCallo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ea typeface="Calibri"/>
                <a:cs typeface="Calibri"/>
              </a:rPr>
              <a:t>38 °C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B119A89C-E8AE-C7BC-DA0A-C2CF76596569}"/>
              </a:ext>
            </a:extLst>
          </p:cNvPr>
          <p:cNvSpPr/>
          <p:nvPr/>
        </p:nvSpPr>
        <p:spPr>
          <a:xfrm>
            <a:off x="4006878" y="3045104"/>
            <a:ext cx="649757" cy="390627"/>
          </a:xfrm>
          <a:prstGeom prst="wedgeRoundRectCallo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ea typeface="Calibri"/>
                <a:cs typeface="Calibri"/>
              </a:rPr>
              <a:t>42 °C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13F972C-9FE9-5740-E956-272866A4F013}"/>
              </a:ext>
            </a:extLst>
          </p:cNvPr>
          <p:cNvSpPr txBox="1"/>
          <p:nvPr/>
        </p:nvSpPr>
        <p:spPr>
          <a:xfrm>
            <a:off x="1979647" y="3630882"/>
            <a:ext cx="1575439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Αν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γεννητική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μονάδ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3835CAC-A666-CCC1-E899-744817C0E94C}"/>
              </a:ext>
            </a:extLst>
          </p:cNvPr>
          <p:cNvSpPr txBox="1"/>
          <p:nvPr/>
        </p:nvSpPr>
        <p:spPr>
          <a:xfrm>
            <a:off x="7159432" y="3757881"/>
            <a:ext cx="1720581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Προθερμ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ντήρ</a:t>
            </a:r>
            <a:r>
              <a:rPr lang="de-DE" sz="1600" dirty="0">
                <a:ea typeface="Calibri"/>
                <a:cs typeface="Calibri"/>
              </a:rPr>
              <a:t>ας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63E5BEB6-55CD-3BCB-FA96-7AEDA962B316}"/>
              </a:ext>
            </a:extLst>
          </p:cNvPr>
          <p:cNvSpPr/>
          <p:nvPr/>
        </p:nvSpPr>
        <p:spPr>
          <a:xfrm>
            <a:off x="7572463" y="4080274"/>
            <a:ext cx="1037945" cy="448136"/>
          </a:xfrm>
          <a:prstGeom prst="wedgeRoundRectCallo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ea typeface="Calibri"/>
                <a:cs typeface="Calibri"/>
              </a:rPr>
              <a:t>6616 kg/h, 84 °C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D412228-457A-24C7-FAD1-DEF9A653A347}"/>
              </a:ext>
            </a:extLst>
          </p:cNvPr>
          <p:cNvSpPr txBox="1"/>
          <p:nvPr/>
        </p:nvSpPr>
        <p:spPr>
          <a:xfrm>
            <a:off x="9663146" y="3839524"/>
            <a:ext cx="1575439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err="1">
                <a:ea typeface="Calibri"/>
                <a:cs typeface="Calibri"/>
              </a:rPr>
              <a:t>Θάλ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err="1">
                <a:ea typeface="Calibri"/>
                <a:cs typeface="Calibri"/>
              </a:rPr>
              <a:t>μος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>
                <a:ea typeface="Calibri"/>
                <a:cs typeface="Calibri"/>
              </a:rPr>
              <a:t>συγκράτησης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0918543A-C2D5-BF77-6A79-02347F890483}"/>
              </a:ext>
            </a:extLst>
          </p:cNvPr>
          <p:cNvSpPr txBox="1"/>
          <p:nvPr/>
        </p:nvSpPr>
        <p:spPr>
          <a:xfrm>
            <a:off x="4592217" y="5862453"/>
            <a:ext cx="822511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Ψύκτης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7907C8F6-7714-84DE-0E94-46569EBD5380}"/>
              </a:ext>
            </a:extLst>
          </p:cNvPr>
          <p:cNvSpPr txBox="1"/>
          <p:nvPr/>
        </p:nvSpPr>
        <p:spPr>
          <a:xfrm>
            <a:off x="353183" y="3798629"/>
            <a:ext cx="1430296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Τροφοδοσί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E5C7EF6-A614-6BD7-3E54-D1944882E8CD}"/>
              </a:ext>
            </a:extLst>
          </p:cNvPr>
          <p:cNvSpPr txBox="1"/>
          <p:nvPr/>
        </p:nvSpPr>
        <p:spPr>
          <a:xfrm>
            <a:off x="31817" y="6194973"/>
            <a:ext cx="1960155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Διάρκει</a:t>
            </a:r>
            <a:r>
              <a:rPr lang="de-DE" sz="1600" dirty="0">
                <a:ea typeface="Calibri"/>
                <a:cs typeface="Calibri"/>
              </a:rPr>
              <a:t>α π</a:t>
            </a:r>
            <a:r>
              <a:rPr lang="de-DE" sz="1600" dirty="0" err="1">
                <a:ea typeface="Calibri"/>
                <a:cs typeface="Calibri"/>
              </a:rPr>
              <a:t>ροσομοίωσης</a:t>
            </a:r>
            <a:endParaRPr lang="de-DE" sz="1600" dirty="0">
              <a:ea typeface="Calibri"/>
              <a:cs typeface="Calibri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01854D2-607B-3356-4C3B-995BCD82F8EA}"/>
              </a:ext>
            </a:extLst>
          </p:cNvPr>
          <p:cNvSpPr txBox="1"/>
          <p:nvPr/>
        </p:nvSpPr>
        <p:spPr>
          <a:xfrm>
            <a:off x="524798" y="1018162"/>
            <a:ext cx="1995698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600" err="1">
                <a:ea typeface="Calibri"/>
                <a:cs typeface="Calibri"/>
              </a:rPr>
              <a:t>Προδι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err="1">
                <a:ea typeface="Calibri"/>
                <a:cs typeface="Calibri"/>
              </a:rPr>
              <a:t>γρ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err="1">
                <a:ea typeface="Calibri"/>
                <a:cs typeface="Calibri"/>
              </a:rPr>
              <a:t>φές</a:t>
            </a:r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B37BEB00-385D-9871-C226-B4B015D3C3F9}"/>
              </a:ext>
            </a:extLst>
          </p:cNvPr>
          <p:cNvSpPr txBox="1"/>
          <p:nvPr/>
        </p:nvSpPr>
        <p:spPr>
          <a:xfrm>
            <a:off x="4725313" y="3186530"/>
            <a:ext cx="1979935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Νερό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θέρμ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νσης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6490F960-7F63-318A-CFC9-EC3944265737}"/>
              </a:ext>
            </a:extLst>
          </p:cNvPr>
          <p:cNvSpPr txBox="1"/>
          <p:nvPr/>
        </p:nvSpPr>
        <p:spPr>
          <a:xfrm>
            <a:off x="3151346" y="5185219"/>
            <a:ext cx="1430296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Νερό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ψύξης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98D7C397-3143-F130-6DC8-24F7305700D0}"/>
              </a:ext>
            </a:extLst>
          </p:cNvPr>
          <p:cNvSpPr txBox="1"/>
          <p:nvPr/>
        </p:nvSpPr>
        <p:spPr>
          <a:xfrm>
            <a:off x="5492604" y="6480544"/>
            <a:ext cx="2129836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Έξοδος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νερού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ψύξης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48FCA397-2129-4EBE-1CE3-A646FEFA5DB6}"/>
              </a:ext>
            </a:extLst>
          </p:cNvPr>
          <p:cNvSpPr txBox="1"/>
          <p:nvPr/>
        </p:nvSpPr>
        <p:spPr>
          <a:xfrm>
            <a:off x="8272985" y="5859774"/>
            <a:ext cx="2129836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Έξοδος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γάλ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κτος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74A9A52F-CD88-D909-5645-80628522943A}"/>
              </a:ext>
            </a:extLst>
          </p:cNvPr>
          <p:cNvSpPr txBox="1"/>
          <p:nvPr/>
        </p:nvSpPr>
        <p:spPr>
          <a:xfrm>
            <a:off x="8010657" y="4872922"/>
            <a:ext cx="2429639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Έξοδος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νερού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θέρμ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νσης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A3EE5E1A-244B-3D1E-7F97-2148DF879733}"/>
              </a:ext>
            </a:extLst>
          </p:cNvPr>
          <p:cNvSpPr txBox="1"/>
          <p:nvPr/>
        </p:nvSpPr>
        <p:spPr>
          <a:xfrm>
            <a:off x="9359771" y="2024790"/>
            <a:ext cx="1305377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Εικονική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ροή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BD77A525-C118-939B-166F-64E7CFED7794}"/>
              </a:ext>
            </a:extLst>
          </p:cNvPr>
          <p:cNvSpPr txBox="1"/>
          <p:nvPr/>
        </p:nvSpPr>
        <p:spPr>
          <a:xfrm>
            <a:off x="10883770" y="4710527"/>
            <a:ext cx="1305377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Εικονική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ροή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6B96CBFA-1BC9-125F-7D8A-1E6CDDB78957}"/>
              </a:ext>
            </a:extLst>
          </p:cNvPr>
          <p:cNvSpPr txBox="1"/>
          <p:nvPr/>
        </p:nvSpPr>
        <p:spPr>
          <a:xfrm>
            <a:off x="7910723" y="2412036"/>
            <a:ext cx="2429637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Αισθητήρ</a:t>
            </a:r>
            <a:r>
              <a:rPr lang="de-DE" sz="1600" dirty="0">
                <a:ea typeface="Calibri"/>
                <a:cs typeface="Calibri"/>
              </a:rPr>
              <a:t>ας </a:t>
            </a:r>
            <a:r>
              <a:rPr lang="de-DE" sz="1600" dirty="0" err="1">
                <a:ea typeface="Calibri"/>
                <a:cs typeface="Calibri"/>
              </a:rPr>
              <a:t>θερμοκρ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σί</a:t>
            </a:r>
            <a:r>
              <a:rPr lang="de-DE" sz="1600" dirty="0">
                <a:ea typeface="Calibri"/>
                <a:cs typeface="Calibri"/>
              </a:rPr>
              <a:t>ας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EBE624BC-E997-86E0-4979-64BED15D9402}"/>
              </a:ext>
            </a:extLst>
          </p:cNvPr>
          <p:cNvSpPr txBox="1"/>
          <p:nvPr/>
        </p:nvSpPr>
        <p:spPr>
          <a:xfrm>
            <a:off x="4275605" y="3591406"/>
            <a:ext cx="2429640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Αισθητήρ</a:t>
            </a:r>
            <a:r>
              <a:rPr lang="de-DE" sz="1600" dirty="0">
                <a:ea typeface="Calibri"/>
                <a:cs typeface="Calibri"/>
              </a:rPr>
              <a:t>ας </a:t>
            </a:r>
            <a:r>
              <a:rPr lang="de-DE" sz="1600" dirty="0" err="1">
                <a:ea typeface="Calibri"/>
                <a:cs typeface="Calibri"/>
              </a:rPr>
              <a:t>θερμοκρ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σί</a:t>
            </a:r>
            <a:r>
              <a:rPr lang="de-DE" sz="1600" dirty="0">
                <a:ea typeface="Calibri"/>
                <a:cs typeface="Calibri"/>
              </a:rPr>
              <a:t>ας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98F2900B-CBE8-9A76-2471-DAF9DD713156}"/>
              </a:ext>
            </a:extLst>
          </p:cNvPr>
          <p:cNvSpPr txBox="1"/>
          <p:nvPr/>
        </p:nvSpPr>
        <p:spPr>
          <a:xfrm>
            <a:off x="4450493" y="2274626"/>
            <a:ext cx="2429637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Ρυθμιστής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θερμοκρ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σί</a:t>
            </a:r>
            <a:r>
              <a:rPr lang="de-DE" sz="1600" dirty="0">
                <a:ea typeface="Calibri"/>
                <a:cs typeface="Calibri"/>
              </a:rPr>
              <a:t>ας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0EB62925-D07A-CEA0-6833-23EB69970DE3}"/>
              </a:ext>
            </a:extLst>
          </p:cNvPr>
          <p:cNvSpPr txBox="1"/>
          <p:nvPr/>
        </p:nvSpPr>
        <p:spPr>
          <a:xfrm>
            <a:off x="2526754" y="4260822"/>
            <a:ext cx="2429637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Ρυθμιστής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θερμοκρ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σί</a:t>
            </a:r>
            <a:r>
              <a:rPr lang="de-DE" sz="1600" dirty="0">
                <a:ea typeface="Calibri"/>
                <a:cs typeface="Calibri"/>
              </a:rPr>
              <a:t>ας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C0033EBF-0711-157F-07C2-66806B4F3FA4}"/>
              </a:ext>
            </a:extLst>
          </p:cNvPr>
          <p:cNvSpPr/>
          <p:nvPr/>
        </p:nvSpPr>
        <p:spPr>
          <a:xfrm>
            <a:off x="4251293" y="4525972"/>
            <a:ext cx="563493" cy="318741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5 °C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55BBE41D-51F5-AF45-1698-B1FEBD9D3F0F}"/>
              </a:ext>
            </a:extLst>
          </p:cNvPr>
          <p:cNvSpPr txBox="1"/>
          <p:nvPr/>
        </p:nvSpPr>
        <p:spPr>
          <a:xfrm>
            <a:off x="5117604" y="4429361"/>
            <a:ext cx="1892782" cy="4384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1600" dirty="0">
              <a:ea typeface="Calibri"/>
              <a:cs typeface="Calibri"/>
            </a:endParaRPr>
          </a:p>
        </p:txBody>
      </p:sp>
      <p:pic>
        <p:nvPicPr>
          <p:cNvPr id="54" name="Picture 14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59590EFF-B9BE-1C2F-79C2-848DF3E7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761" t="34644" r="33810" b="59940"/>
          <a:stretch>
            <a:fillRect/>
          </a:stretch>
        </p:blipFill>
        <p:spPr>
          <a:xfrm>
            <a:off x="6261662" y="4429755"/>
            <a:ext cx="84698" cy="606912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0757EC13-7B82-8AE7-0306-DCD597F2342B}"/>
              </a:ext>
            </a:extLst>
          </p:cNvPr>
          <p:cNvSpPr txBox="1"/>
          <p:nvPr/>
        </p:nvSpPr>
        <p:spPr>
          <a:xfrm>
            <a:off x="4749675" y="2193939"/>
            <a:ext cx="249184" cy="1488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1600" dirty="0">
              <a:ea typeface="Calibri"/>
              <a:cs typeface="Calibri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0BE097B7-2320-1C36-21FD-3227A01BEDE1}"/>
              </a:ext>
            </a:extLst>
          </p:cNvPr>
          <p:cNvSpPr txBox="1"/>
          <p:nvPr/>
        </p:nvSpPr>
        <p:spPr>
          <a:xfrm>
            <a:off x="6306551" y="2196603"/>
            <a:ext cx="436386" cy="16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1600" dirty="0">
              <a:ea typeface="Calibri"/>
              <a:cs typeface="Calibri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43A0BF6-CCC9-B9EE-83AA-28C133828211}"/>
              </a:ext>
            </a:extLst>
          </p:cNvPr>
          <p:cNvSpPr txBox="1"/>
          <p:nvPr/>
        </p:nvSpPr>
        <p:spPr>
          <a:xfrm>
            <a:off x="4477751" y="4145146"/>
            <a:ext cx="436386" cy="16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1600" dirty="0">
              <a:ea typeface="Calibri"/>
              <a:cs typeface="Calibri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1C79D967-E33F-A3EA-59B5-97CE11525FF4}"/>
              </a:ext>
            </a:extLst>
          </p:cNvPr>
          <p:cNvSpPr txBox="1"/>
          <p:nvPr/>
        </p:nvSpPr>
        <p:spPr>
          <a:xfrm>
            <a:off x="2714265" y="4177803"/>
            <a:ext cx="436386" cy="16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4140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3A32-0836-D66F-4AFE-F6F81FFDE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feil: Fünfeck 4">
            <a:extLst>
              <a:ext uri="{FF2B5EF4-FFF2-40B4-BE49-F238E27FC236}">
                <a16:creationId xmlns:a16="http://schemas.microsoft.com/office/drawing/2014/main" id="{558F6892-6890-DF6C-CD4D-C89E56A53F06}"/>
              </a:ext>
            </a:extLst>
          </p:cNvPr>
          <p:cNvSpPr/>
          <p:nvPr/>
        </p:nvSpPr>
        <p:spPr>
          <a:xfrm>
            <a:off x="2023172" y="4926783"/>
            <a:ext cx="1910810" cy="76900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Pfeil: Fünfeck 9">
            <a:extLst>
              <a:ext uri="{FF2B5EF4-FFF2-40B4-BE49-F238E27FC236}">
                <a16:creationId xmlns:a16="http://schemas.microsoft.com/office/drawing/2014/main" id="{50ED807E-6689-3B47-CE43-35BB7044C769}"/>
              </a:ext>
            </a:extLst>
          </p:cNvPr>
          <p:cNvSpPr/>
          <p:nvPr/>
        </p:nvSpPr>
        <p:spPr>
          <a:xfrm>
            <a:off x="3663289" y="4933507"/>
            <a:ext cx="1890709" cy="758687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Pfeil: Fünfeck 14">
            <a:extLst>
              <a:ext uri="{FF2B5EF4-FFF2-40B4-BE49-F238E27FC236}">
                <a16:creationId xmlns:a16="http://schemas.microsoft.com/office/drawing/2014/main" id="{486E7386-7C03-1BAB-8E9D-45C699745A59}"/>
              </a:ext>
            </a:extLst>
          </p:cNvPr>
          <p:cNvSpPr/>
          <p:nvPr/>
        </p:nvSpPr>
        <p:spPr>
          <a:xfrm>
            <a:off x="5275689" y="4934394"/>
            <a:ext cx="1830055" cy="76989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Pfeil: Fünfeck 10">
            <a:extLst>
              <a:ext uri="{FF2B5EF4-FFF2-40B4-BE49-F238E27FC236}">
                <a16:creationId xmlns:a16="http://schemas.microsoft.com/office/drawing/2014/main" id="{263093A3-C651-5C57-0E23-B9CE9621C998}"/>
              </a:ext>
            </a:extLst>
          </p:cNvPr>
          <p:cNvSpPr/>
          <p:nvPr/>
        </p:nvSpPr>
        <p:spPr>
          <a:xfrm>
            <a:off x="6881188" y="4950084"/>
            <a:ext cx="1826143" cy="76900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2E2F4399-5452-B760-1D7A-41C71A084790}"/>
              </a:ext>
            </a:extLst>
          </p:cNvPr>
          <p:cNvSpPr txBox="1"/>
          <p:nvPr/>
        </p:nvSpPr>
        <p:spPr>
          <a:xfrm>
            <a:off x="1066187" y="5878049"/>
            <a:ext cx="10045226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err="1">
                <a:ea typeface="Calibri"/>
                <a:cs typeface="Calibri"/>
              </a:rPr>
              <a:t>Εικόν</a:t>
            </a:r>
            <a:r>
              <a:rPr lang="en-US" sz="2000">
                <a:ea typeface="Calibri"/>
                <a:cs typeface="Calibri"/>
              </a:rPr>
              <a:t>α 2: </a:t>
            </a:r>
            <a:r>
              <a:rPr lang="en-US" sz="2000" err="1">
                <a:ea typeface="Calibri"/>
                <a:cs typeface="Calibri"/>
              </a:rPr>
              <a:t>Προφίλ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θερμοκρ</a:t>
            </a:r>
            <a:r>
              <a:rPr lang="en-US" sz="2000">
                <a:ea typeface="Calibri"/>
                <a:cs typeface="Calibri"/>
              </a:rPr>
              <a:t>α</a:t>
            </a:r>
            <a:r>
              <a:rPr lang="en-US" sz="2000" err="1">
                <a:ea typeface="Calibri"/>
                <a:cs typeface="Calibri"/>
              </a:rPr>
              <a:t>σιών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γάλ</a:t>
            </a:r>
            <a:r>
              <a:rPr lang="en-US" sz="2000">
                <a:ea typeface="Calibri"/>
                <a:cs typeface="Calibri"/>
              </a:rPr>
              <a:t>α</a:t>
            </a:r>
            <a:r>
              <a:rPr lang="en-US" sz="2000" err="1">
                <a:ea typeface="Calibri"/>
                <a:cs typeface="Calibri"/>
              </a:rPr>
              <a:t>κτος</a:t>
            </a:r>
            <a:r>
              <a:rPr lang="en-US" sz="2000">
                <a:ea typeface="Calibri"/>
                <a:cs typeface="Calibri"/>
              </a:rPr>
              <a:t>, β</a:t>
            </a:r>
            <a:r>
              <a:rPr lang="en-US" sz="2000" err="1">
                <a:ea typeface="Calibri"/>
                <a:cs typeface="Calibri"/>
              </a:rPr>
              <a:t>οηθητικών</a:t>
            </a:r>
            <a:r>
              <a:rPr lang="en-US" sz="2000">
                <a:ea typeface="Calibri"/>
                <a:cs typeface="Calibri"/>
              </a:rPr>
              <a:t> πα</a:t>
            </a:r>
            <a:r>
              <a:rPr lang="en-US" sz="2000" err="1">
                <a:ea typeface="Calibri"/>
                <a:cs typeface="Calibri"/>
              </a:rPr>
              <a:t>ροχών</a:t>
            </a:r>
            <a:r>
              <a:rPr lang="en-US" sz="2000">
                <a:ea typeface="Calibri"/>
                <a:cs typeface="Calibri"/>
              </a:rPr>
              <a:t> και </a:t>
            </a:r>
            <a:r>
              <a:rPr lang="en-US" sz="2000" err="1">
                <a:ea typeface="Calibri"/>
                <a:cs typeface="Calibri"/>
              </a:rPr>
              <a:t>τοιχωμάτων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των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εν</a:t>
            </a:r>
            <a:r>
              <a:rPr lang="en-US" sz="2000">
                <a:ea typeface="Calibri"/>
                <a:cs typeface="Calibri"/>
              </a:rPr>
              <a:t>α</a:t>
            </a:r>
            <a:r>
              <a:rPr lang="en-US" sz="2000" err="1">
                <a:ea typeface="Calibri"/>
                <a:cs typeface="Calibri"/>
              </a:rPr>
              <a:t>λλ</a:t>
            </a:r>
            <a:r>
              <a:rPr lang="en-US" sz="2000">
                <a:ea typeface="Calibri"/>
                <a:cs typeface="Calibri"/>
              </a:rPr>
              <a:t>α</a:t>
            </a:r>
            <a:r>
              <a:rPr lang="en-US" sz="2000" err="1">
                <a:ea typeface="Calibri"/>
                <a:cs typeface="Calibri"/>
              </a:rPr>
              <a:t>κτών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θερμότητ</a:t>
            </a:r>
            <a:r>
              <a:rPr lang="en-US" sz="2000">
                <a:ea typeface="Calibri"/>
                <a:cs typeface="Calibri"/>
              </a:rPr>
              <a:t>ας </a:t>
            </a:r>
            <a:r>
              <a:rPr lang="en-US" sz="2000" err="1">
                <a:ea typeface="Calibri"/>
                <a:cs typeface="Calibri"/>
              </a:rPr>
              <a:t>ως</a:t>
            </a:r>
            <a:r>
              <a:rPr lang="en-US" sz="2000">
                <a:ea typeface="Calibri"/>
                <a:cs typeface="Calibri"/>
              </a:rPr>
              <a:t> π</a:t>
            </a:r>
            <a:r>
              <a:rPr lang="en-US" sz="2000" err="1">
                <a:ea typeface="Calibri"/>
                <a:cs typeface="Calibri"/>
              </a:rPr>
              <a:t>ρος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τον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χρόνο</a:t>
            </a:r>
            <a:r>
              <a:rPr lang="en-US" sz="2000">
                <a:ea typeface="Calibri"/>
                <a:cs typeface="Calibri"/>
              </a:rPr>
              <a:t> παρα</a:t>
            </a:r>
            <a:r>
              <a:rPr lang="en-US" sz="2000" err="1">
                <a:ea typeface="Calibri"/>
                <a:cs typeface="Calibri"/>
              </a:rPr>
              <a:t>μονής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στο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τμήμ</a:t>
            </a:r>
            <a:r>
              <a:rPr lang="en-US" sz="2000">
                <a:ea typeface="Calibri"/>
                <a:cs typeface="Calibri"/>
              </a:rPr>
              <a:t>α πα</a:t>
            </a:r>
            <a:r>
              <a:rPr lang="en-US" sz="2000" err="1">
                <a:ea typeface="Calibri"/>
                <a:cs typeface="Calibri"/>
              </a:rPr>
              <a:t>στερίωσης</a:t>
            </a:r>
            <a:endParaRPr lang="de-DE" sz="2000" err="1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24" name="Pfeil: Fünfeck 23">
            <a:extLst>
              <a:ext uri="{FF2B5EF4-FFF2-40B4-BE49-F238E27FC236}">
                <a16:creationId xmlns:a16="http://schemas.microsoft.com/office/drawing/2014/main" id="{9BE97184-B8E2-589D-E847-E063A27DCE6B}"/>
              </a:ext>
            </a:extLst>
          </p:cNvPr>
          <p:cNvSpPr/>
          <p:nvPr/>
        </p:nvSpPr>
        <p:spPr>
          <a:xfrm>
            <a:off x="8468475" y="4945599"/>
            <a:ext cx="1153791" cy="75780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76A433A-0A7B-AB42-AF32-312270D98C56}"/>
              </a:ext>
            </a:extLst>
          </p:cNvPr>
          <p:cNvSpPr txBox="1"/>
          <p:nvPr/>
        </p:nvSpPr>
        <p:spPr>
          <a:xfrm>
            <a:off x="2029707" y="5007925"/>
            <a:ext cx="171765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Αν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α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γεννητική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μονάδ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α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7CDFF8D-2829-DDEE-F242-13A67CF0AF41}"/>
              </a:ext>
            </a:extLst>
          </p:cNvPr>
          <p:cNvSpPr txBox="1"/>
          <p:nvPr/>
        </p:nvSpPr>
        <p:spPr>
          <a:xfrm>
            <a:off x="3476299" y="5116391"/>
            <a:ext cx="226140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Προθερμ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α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ντήρ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ας</a:t>
            </a:r>
            <a:endParaRPr lang="de-DE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3761CDC-8E52-C442-491A-CF52F9D4142A}"/>
              </a:ext>
            </a:extLst>
          </p:cNvPr>
          <p:cNvSpPr txBox="1"/>
          <p:nvPr/>
        </p:nvSpPr>
        <p:spPr>
          <a:xfrm>
            <a:off x="5276532" y="4973025"/>
            <a:ext cx="169292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Θάλ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α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μος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συγκράτησης</a:t>
            </a:r>
            <a:endParaRPr lang="de-DE" err="1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A7680F1-9557-20C9-B635-8A3A90F3534F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384443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4.1.3 </a:t>
            </a:r>
            <a:r>
              <a:rPr lang="en-US" sz="3100" dirty="0" err="1">
                <a:ea typeface="Calibri Light"/>
                <a:cs typeface="Calibri Light"/>
              </a:rPr>
              <a:t>Μοντέλο</a:t>
            </a:r>
            <a:r>
              <a:rPr lang="en-US" sz="3100" dirty="0">
                <a:ea typeface="Calibri Light"/>
                <a:cs typeface="Calibri Light"/>
              </a:rPr>
              <a:t> Πα</a:t>
            </a:r>
            <a:r>
              <a:rPr lang="en-US" sz="3100" dirty="0" err="1">
                <a:ea typeface="Calibri Light"/>
                <a:cs typeface="Calibri Light"/>
              </a:rPr>
              <a:t>στερίωσης</a:t>
            </a:r>
            <a:r>
              <a:rPr lang="en-US" sz="3100" dirty="0">
                <a:ea typeface="Calibri Light"/>
                <a:cs typeface="Calibri Light"/>
              </a:rPr>
              <a:t>-Απ</a:t>
            </a:r>
            <a:r>
              <a:rPr lang="en-US" sz="3100" dirty="0" err="1">
                <a:ea typeface="Calibri Light"/>
                <a:cs typeface="Calibri Light"/>
              </a:rPr>
              <a:t>οτελέσμ</a:t>
            </a:r>
            <a:r>
              <a:rPr lang="en-US" sz="3100" dirty="0">
                <a:ea typeface="Calibri Light"/>
                <a:cs typeface="Calibri Light"/>
              </a:rPr>
              <a:t>ατα </a:t>
            </a:r>
            <a:r>
              <a:rPr lang="en-US" sz="3100" dirty="0" err="1">
                <a:ea typeface="Calibri Light"/>
                <a:cs typeface="Calibri Light"/>
              </a:rPr>
              <a:t>Προσομοίωσης</a:t>
            </a:r>
            <a:r>
              <a:rPr lang="en-US" sz="3100" dirty="0">
                <a:ea typeface="Calibri Light"/>
                <a:cs typeface="Calibri Light"/>
              </a:rPr>
              <a:t> (2/5)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949543C-DA3A-519A-1EFB-0762E3D746C9}"/>
              </a:ext>
            </a:extLst>
          </p:cNvPr>
          <p:cNvSpPr txBox="1"/>
          <p:nvPr/>
        </p:nvSpPr>
        <p:spPr>
          <a:xfrm>
            <a:off x="8467006" y="5131152"/>
            <a:ext cx="140264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Ψύκτης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1860396-A384-69F9-9D74-3C4C3E51C589}"/>
              </a:ext>
            </a:extLst>
          </p:cNvPr>
          <p:cNvSpPr txBox="1"/>
          <p:nvPr/>
        </p:nvSpPr>
        <p:spPr>
          <a:xfrm>
            <a:off x="6875628" y="5010592"/>
            <a:ext cx="170555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Αν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α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γεννητική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μονάδ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α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90225CE-4A7D-4D85-A07A-C94A47170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11</a:t>
            </a:fld>
            <a:r>
              <a:rPr lang="en-US"/>
              <a:t>/39</a:t>
            </a:r>
            <a:endParaRPr lang="de-DE"/>
          </a:p>
        </p:txBody>
      </p:sp>
      <p:pic>
        <p:nvPicPr>
          <p:cNvPr id="3" name="Grafik 2" descr="Ein Bild, das Text, Reihe, Diagramm, Steigung enthält.&#10;&#10;KI-generierte Inhalte können fehlerhaft sein.">
            <a:extLst>
              <a:ext uri="{FF2B5EF4-FFF2-40B4-BE49-F238E27FC236}">
                <a16:creationId xmlns:a16="http://schemas.microsoft.com/office/drawing/2014/main" id="{AD8B544D-4EF4-AA8E-B8D0-A9B06B7ABA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9" t="7377" r="1060" b="-963"/>
          <a:stretch>
            <a:fillRect/>
          </a:stretch>
        </p:blipFill>
        <p:spPr>
          <a:xfrm>
            <a:off x="1442582" y="856721"/>
            <a:ext cx="8981386" cy="414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34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F05FB-6CCE-6996-BBF1-0E9DAD453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feil: Fünfeck 27">
            <a:extLst>
              <a:ext uri="{FF2B5EF4-FFF2-40B4-BE49-F238E27FC236}">
                <a16:creationId xmlns:a16="http://schemas.microsoft.com/office/drawing/2014/main" id="{D2A82891-FF10-2055-6DF8-B9F0D657FBE3}"/>
              </a:ext>
            </a:extLst>
          </p:cNvPr>
          <p:cNvSpPr/>
          <p:nvPr/>
        </p:nvSpPr>
        <p:spPr>
          <a:xfrm>
            <a:off x="4537772" y="6222182"/>
            <a:ext cx="1562468" cy="649262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16E81-94DB-D1BE-4089-DE58B0C84F8F}"/>
              </a:ext>
            </a:extLst>
          </p:cNvPr>
          <p:cNvSpPr txBox="1"/>
          <p:nvPr/>
        </p:nvSpPr>
        <p:spPr>
          <a:xfrm>
            <a:off x="7489996" y="3981645"/>
            <a:ext cx="417687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err="1">
                <a:ea typeface="Calibri"/>
                <a:cs typeface="Calibri"/>
              </a:rPr>
              <a:t>Εικόν</a:t>
            </a:r>
            <a:r>
              <a:rPr lang="en-US" sz="2000">
                <a:ea typeface="Calibri"/>
                <a:cs typeface="Calibri"/>
              </a:rPr>
              <a:t>α 4: </a:t>
            </a:r>
            <a:r>
              <a:rPr lang="en-US" sz="2000" err="1">
                <a:latin typeface="Calibri"/>
                <a:ea typeface="Calibri"/>
                <a:cs typeface="Calibri"/>
              </a:rPr>
              <a:t>Συγκέντρωση</a:t>
            </a:r>
            <a:r>
              <a:rPr lang="en-US" sz="2000">
                <a:latin typeface="Calibri"/>
                <a:ea typeface="Calibri"/>
                <a:cs typeface="Calibri"/>
              </a:rPr>
              <a:t> π</a:t>
            </a:r>
            <a:r>
              <a:rPr lang="en-US" sz="2000" err="1">
                <a:latin typeface="Calibri"/>
                <a:ea typeface="Calibri"/>
                <a:cs typeface="Calibri"/>
              </a:rPr>
              <a:t>ρωτεϊνών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ορού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γάλ</a:t>
            </a:r>
            <a:r>
              <a:rPr lang="en-US" sz="2000">
                <a:latin typeface="Calibri"/>
                <a:ea typeface="Calibri"/>
                <a:cs typeface="Calibri"/>
              </a:rPr>
              <a:t>α</a:t>
            </a:r>
            <a:r>
              <a:rPr lang="en-US" sz="2000" err="1">
                <a:latin typeface="Calibri"/>
                <a:ea typeface="Calibri"/>
                <a:cs typeface="Calibri"/>
              </a:rPr>
              <a:t>κτος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ως</a:t>
            </a:r>
            <a:r>
              <a:rPr lang="en-US" sz="2000">
                <a:latin typeface="Calibri"/>
                <a:ea typeface="Calibri"/>
                <a:cs typeface="Calibri"/>
              </a:rPr>
              <a:t> π</a:t>
            </a:r>
            <a:r>
              <a:rPr lang="en-US" sz="2000" err="1">
                <a:latin typeface="Calibri"/>
                <a:ea typeface="Calibri"/>
                <a:cs typeface="Calibri"/>
              </a:rPr>
              <a:t>ρος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τον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χρόνο</a:t>
            </a:r>
            <a:r>
              <a:rPr lang="en-US" sz="2000">
                <a:latin typeface="Calibri"/>
                <a:ea typeface="Calibri"/>
                <a:cs typeface="Calibri"/>
              </a:rPr>
              <a:t> παρα</a:t>
            </a:r>
            <a:r>
              <a:rPr lang="en-US" sz="2000" err="1">
                <a:latin typeface="Calibri"/>
                <a:ea typeface="Calibri"/>
                <a:cs typeface="Calibri"/>
              </a:rPr>
              <a:t>μονής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στο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τμήμ</a:t>
            </a:r>
            <a:r>
              <a:rPr lang="en-US" sz="2000">
                <a:latin typeface="Calibri"/>
                <a:ea typeface="Calibri"/>
                <a:cs typeface="Calibri"/>
              </a:rPr>
              <a:t>α πα</a:t>
            </a:r>
            <a:r>
              <a:rPr lang="en-US" sz="2000" err="1">
                <a:latin typeface="Calibri"/>
                <a:ea typeface="Calibri"/>
                <a:cs typeface="Calibri"/>
              </a:rPr>
              <a:t>στερίωσης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E2181C27-7838-6545-8DA2-9097F48ADD4B}"/>
              </a:ext>
            </a:extLst>
          </p:cNvPr>
          <p:cNvSpPr txBox="1"/>
          <p:nvPr/>
        </p:nvSpPr>
        <p:spPr>
          <a:xfrm>
            <a:off x="7489994" y="1455563"/>
            <a:ext cx="417687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err="1">
                <a:ea typeface="Calibri"/>
                <a:cs typeface="Calibri"/>
              </a:rPr>
              <a:t>Εικόν</a:t>
            </a:r>
            <a:r>
              <a:rPr lang="en-US" sz="2000">
                <a:ea typeface="Calibri"/>
                <a:cs typeface="Calibri"/>
              </a:rPr>
              <a:t>α 3: </a:t>
            </a:r>
            <a:r>
              <a:rPr lang="en-US" sz="2000" err="1">
                <a:latin typeface="Calibri"/>
                <a:ea typeface="Calibri"/>
                <a:cs typeface="Calibri"/>
              </a:rPr>
              <a:t>Συγκέντρωση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φωσφ</a:t>
            </a:r>
            <a:r>
              <a:rPr lang="en-US" sz="2000">
                <a:latin typeface="Calibri"/>
                <a:ea typeface="Calibri"/>
                <a:cs typeface="Calibri"/>
              </a:rPr>
              <a:t>α</a:t>
            </a:r>
            <a:r>
              <a:rPr lang="en-US" sz="2000" err="1">
                <a:latin typeface="Calibri"/>
                <a:ea typeface="Calibri"/>
                <a:cs typeface="Calibri"/>
              </a:rPr>
              <a:t>τάσης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ως</a:t>
            </a:r>
            <a:r>
              <a:rPr lang="en-US" sz="2000">
                <a:latin typeface="Calibri"/>
                <a:ea typeface="Calibri"/>
                <a:cs typeface="Calibri"/>
              </a:rPr>
              <a:t> π</a:t>
            </a:r>
            <a:r>
              <a:rPr lang="en-US" sz="2000" err="1">
                <a:latin typeface="Calibri"/>
                <a:ea typeface="Calibri"/>
                <a:cs typeface="Calibri"/>
              </a:rPr>
              <a:t>ρος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τον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χρόνο</a:t>
            </a:r>
            <a:r>
              <a:rPr lang="en-US" sz="2000">
                <a:latin typeface="Calibri"/>
                <a:ea typeface="Calibri"/>
                <a:cs typeface="Calibri"/>
              </a:rPr>
              <a:t> παρα</a:t>
            </a:r>
            <a:r>
              <a:rPr lang="en-US" sz="2000" err="1">
                <a:latin typeface="Calibri"/>
                <a:ea typeface="Calibri"/>
                <a:cs typeface="Calibri"/>
              </a:rPr>
              <a:t>μονής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στο</a:t>
            </a:r>
            <a:r>
              <a:rPr lang="en-US" sz="2000"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latin typeface="Calibri"/>
                <a:ea typeface="Calibri"/>
                <a:cs typeface="Calibri"/>
              </a:rPr>
              <a:t>τμήμ</a:t>
            </a:r>
            <a:r>
              <a:rPr lang="en-US" sz="2000">
                <a:latin typeface="Calibri"/>
                <a:ea typeface="Calibri"/>
                <a:cs typeface="Calibri"/>
              </a:rPr>
              <a:t>α πα</a:t>
            </a:r>
            <a:r>
              <a:rPr lang="en-US" sz="2000" err="1">
                <a:latin typeface="Calibri"/>
                <a:ea typeface="Calibri"/>
                <a:cs typeface="Calibri"/>
              </a:rPr>
              <a:t>στερίωσης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DE0081F-EAD1-B8B5-591A-D99AFC7A1FB7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474090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4.1.3 </a:t>
            </a:r>
            <a:r>
              <a:rPr lang="en-US" sz="3100" dirty="0" err="1">
                <a:ea typeface="Calibri Light"/>
                <a:cs typeface="Calibri Light"/>
              </a:rPr>
              <a:t>Μοντέλο</a:t>
            </a:r>
            <a:r>
              <a:rPr lang="en-US" sz="3100" dirty="0">
                <a:ea typeface="Calibri Light"/>
                <a:cs typeface="Calibri Light"/>
              </a:rPr>
              <a:t> Πα</a:t>
            </a:r>
            <a:r>
              <a:rPr lang="en-US" sz="3100" dirty="0" err="1">
                <a:ea typeface="Calibri Light"/>
                <a:cs typeface="Calibri Light"/>
              </a:rPr>
              <a:t>στερίωσης</a:t>
            </a:r>
            <a:r>
              <a:rPr lang="en-US" sz="3100" dirty="0">
                <a:ea typeface="Calibri Light"/>
                <a:cs typeface="Calibri Light"/>
              </a:rPr>
              <a:t>-Απ</a:t>
            </a:r>
            <a:r>
              <a:rPr lang="en-US" sz="3100" dirty="0" err="1">
                <a:ea typeface="Calibri Light"/>
                <a:cs typeface="Calibri Light"/>
              </a:rPr>
              <a:t>οτελέσμ</a:t>
            </a:r>
            <a:r>
              <a:rPr lang="en-US" sz="3100" dirty="0">
                <a:ea typeface="Calibri Light"/>
                <a:cs typeface="Calibri Light"/>
              </a:rPr>
              <a:t>ατα </a:t>
            </a:r>
            <a:r>
              <a:rPr lang="en-US" sz="3100" dirty="0" err="1">
                <a:ea typeface="Calibri Light"/>
                <a:cs typeface="Calibri Light"/>
              </a:rPr>
              <a:t>Προσομοίωσης</a:t>
            </a:r>
            <a:r>
              <a:rPr lang="en-US" sz="3100" dirty="0">
                <a:ea typeface="Calibri Light"/>
                <a:cs typeface="Calibri Light"/>
              </a:rPr>
              <a:t> (3/5)</a:t>
            </a:r>
          </a:p>
        </p:txBody>
      </p:sp>
      <p:pic>
        <p:nvPicPr>
          <p:cNvPr id="72" name="Grafik 71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3DC3C9C0-890D-9062-488A-7026EA701A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49" t="84028" r="37558" b="11458"/>
          <a:stretch>
            <a:fillRect/>
          </a:stretch>
        </p:blipFill>
        <p:spPr>
          <a:xfrm>
            <a:off x="3171889" y="6077906"/>
            <a:ext cx="1357727" cy="13558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E682FB2-4FD5-57FE-88AA-01C8B3BEB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12</a:t>
            </a:fld>
            <a:r>
              <a:rPr lang="en-US"/>
              <a:t>/39</a:t>
            </a:r>
            <a:endParaRPr lang="de-DE"/>
          </a:p>
        </p:txBody>
      </p:sp>
      <p:sp>
        <p:nvSpPr>
          <p:cNvPr id="5" name="Pfeil: Fünfeck 4">
            <a:extLst>
              <a:ext uri="{FF2B5EF4-FFF2-40B4-BE49-F238E27FC236}">
                <a16:creationId xmlns:a16="http://schemas.microsoft.com/office/drawing/2014/main" id="{E3837D87-EC5C-5835-F594-CB4C539C396F}"/>
              </a:ext>
            </a:extLst>
          </p:cNvPr>
          <p:cNvSpPr/>
          <p:nvPr/>
        </p:nvSpPr>
        <p:spPr>
          <a:xfrm>
            <a:off x="520944" y="6233068"/>
            <a:ext cx="1769296" cy="649262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Pfeil: Fünfeck 8">
            <a:extLst>
              <a:ext uri="{FF2B5EF4-FFF2-40B4-BE49-F238E27FC236}">
                <a16:creationId xmlns:a16="http://schemas.microsoft.com/office/drawing/2014/main" id="{B78B8C3D-9B98-0AB4-6531-8DFC42035488}"/>
              </a:ext>
            </a:extLst>
          </p:cNvPr>
          <p:cNvSpPr/>
          <p:nvPr/>
        </p:nvSpPr>
        <p:spPr>
          <a:xfrm>
            <a:off x="2128404" y="6228905"/>
            <a:ext cx="1248453" cy="628059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Pfeil: Fünfeck 10">
            <a:extLst>
              <a:ext uri="{FF2B5EF4-FFF2-40B4-BE49-F238E27FC236}">
                <a16:creationId xmlns:a16="http://schemas.microsoft.com/office/drawing/2014/main" id="{37AD934B-9095-9663-9F10-572A934D4BB7}"/>
              </a:ext>
            </a:extLst>
          </p:cNvPr>
          <p:cNvSpPr/>
          <p:nvPr/>
        </p:nvSpPr>
        <p:spPr>
          <a:xfrm>
            <a:off x="3174746" y="6229793"/>
            <a:ext cx="1590570" cy="61749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Pfeil: Fünfeck 15">
            <a:extLst>
              <a:ext uri="{FF2B5EF4-FFF2-40B4-BE49-F238E27FC236}">
                <a16:creationId xmlns:a16="http://schemas.microsoft.com/office/drawing/2014/main" id="{34FA78C3-8AD0-1097-6799-3EBB45420EBB}"/>
              </a:ext>
            </a:extLst>
          </p:cNvPr>
          <p:cNvSpPr/>
          <p:nvPr/>
        </p:nvSpPr>
        <p:spPr>
          <a:xfrm>
            <a:off x="5910332" y="6208341"/>
            <a:ext cx="1077591" cy="703373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934FE58-3A4A-A9D5-DC76-5A1B6D2FAFD3}"/>
              </a:ext>
            </a:extLst>
          </p:cNvPr>
          <p:cNvSpPr txBox="1"/>
          <p:nvPr/>
        </p:nvSpPr>
        <p:spPr>
          <a:xfrm>
            <a:off x="407735" y="6205353"/>
            <a:ext cx="1793850" cy="718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Αν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α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γεννητική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μονάδ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α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05BE700-11C8-7D27-54CA-11198FF17E0C}"/>
              </a:ext>
            </a:extLst>
          </p:cNvPr>
          <p:cNvSpPr txBox="1"/>
          <p:nvPr/>
        </p:nvSpPr>
        <p:spPr>
          <a:xfrm>
            <a:off x="1886985" y="6400906"/>
            <a:ext cx="172800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err="1">
                <a:solidFill>
                  <a:schemeClr val="bg1"/>
                </a:solidFill>
                <a:ea typeface="Calibri"/>
                <a:cs typeface="Calibri"/>
              </a:rPr>
              <a:t>Προθερμ</a:t>
            </a:r>
            <a:r>
              <a:rPr lang="de-DE" sz="1600">
                <a:solidFill>
                  <a:schemeClr val="bg1"/>
                </a:solidFill>
                <a:ea typeface="Calibri"/>
                <a:cs typeface="Calibri"/>
              </a:rPr>
              <a:t>α</a:t>
            </a:r>
            <a:r>
              <a:rPr lang="de-DE" sz="1600" err="1">
                <a:solidFill>
                  <a:schemeClr val="bg1"/>
                </a:solidFill>
                <a:ea typeface="Calibri"/>
                <a:cs typeface="Calibri"/>
              </a:rPr>
              <a:t>ντήρ</a:t>
            </a:r>
            <a:r>
              <a:rPr lang="de-DE" sz="1600">
                <a:solidFill>
                  <a:schemeClr val="bg1"/>
                </a:solidFill>
                <a:ea typeface="Calibri"/>
                <a:cs typeface="Calibri"/>
              </a:rPr>
              <a:t>ας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250526B-4F34-2B42-479F-CE241077BA1D}"/>
              </a:ext>
            </a:extLst>
          </p:cNvPr>
          <p:cNvSpPr txBox="1"/>
          <p:nvPr/>
        </p:nvSpPr>
        <p:spPr>
          <a:xfrm>
            <a:off x="2979646" y="6213996"/>
            <a:ext cx="174735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Θάλ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α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μος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συγκράτησης</a:t>
            </a:r>
            <a:endParaRPr lang="de-DE" err="1">
              <a:solidFill>
                <a:schemeClr val="bg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C6DAD53-D141-33CD-9CFB-896638BBFA9A}"/>
              </a:ext>
            </a:extLst>
          </p:cNvPr>
          <p:cNvSpPr txBox="1"/>
          <p:nvPr/>
        </p:nvSpPr>
        <p:spPr>
          <a:xfrm>
            <a:off x="5908863" y="6339466"/>
            <a:ext cx="140264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Ψύκτης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DCB409D-0041-D23D-6396-F29BD13FBCAB}"/>
              </a:ext>
            </a:extLst>
          </p:cNvPr>
          <p:cNvSpPr txBox="1"/>
          <p:nvPr/>
        </p:nvSpPr>
        <p:spPr>
          <a:xfrm>
            <a:off x="4304820" y="6238009"/>
            <a:ext cx="1793850" cy="718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Αν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α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γεννητική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de-DE" sz="2000" err="1">
                <a:solidFill>
                  <a:schemeClr val="bg1"/>
                </a:solidFill>
                <a:ea typeface="Calibri"/>
                <a:cs typeface="Calibri"/>
              </a:rPr>
              <a:t>μονάδ</a:t>
            </a:r>
            <a:r>
              <a:rPr lang="de-DE" sz="2000">
                <a:solidFill>
                  <a:schemeClr val="bg1"/>
                </a:solidFill>
                <a:ea typeface="Calibri"/>
                <a:cs typeface="Calibri"/>
              </a:rPr>
              <a:t>α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C6384F5-436B-7B5B-C7F3-C5BC76598AC2}"/>
              </a:ext>
            </a:extLst>
          </p:cNvPr>
          <p:cNvSpPr/>
          <p:nvPr/>
        </p:nvSpPr>
        <p:spPr>
          <a:xfrm>
            <a:off x="118782" y="732916"/>
            <a:ext cx="6942860" cy="55092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2" name="Grafik 61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F1514CC3-56AC-B84D-1E24-EB422F957B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2" t="512" r="2156" b="16591"/>
          <a:stretch>
            <a:fillRect/>
          </a:stretch>
        </p:blipFill>
        <p:spPr>
          <a:xfrm>
            <a:off x="409393" y="743952"/>
            <a:ext cx="6339952" cy="2444984"/>
          </a:xfrm>
          <a:prstGeom prst="rect">
            <a:avLst/>
          </a:prstGeom>
        </p:spPr>
      </p:pic>
      <p:pic>
        <p:nvPicPr>
          <p:cNvPr id="65" name="Grafik 64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1BBE2472-A87C-4C8C-9AD3-204BD46686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1" t="1792" r="922" b="6093"/>
          <a:stretch>
            <a:fillRect/>
          </a:stretch>
        </p:blipFill>
        <p:spPr>
          <a:xfrm>
            <a:off x="333894" y="3194067"/>
            <a:ext cx="6477662" cy="289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070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0533E-E7CE-03F3-CA30-67A0BA905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2098951-7499-0F4F-8EDA-913B8DA42139}"/>
              </a:ext>
            </a:extLst>
          </p:cNvPr>
          <p:cNvSpPr txBox="1"/>
          <p:nvPr/>
        </p:nvSpPr>
        <p:spPr>
          <a:xfrm>
            <a:off x="2327770" y="5987189"/>
            <a:ext cx="696207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err="1">
                <a:ea typeface="Calibri"/>
                <a:cs typeface="Calibri"/>
              </a:rPr>
              <a:t>Εικόν</a:t>
            </a:r>
            <a:r>
              <a:rPr lang="en-US" sz="2000" dirty="0">
                <a:ea typeface="Calibri"/>
                <a:cs typeface="Calibri"/>
              </a:rPr>
              <a:t>α 5: </a:t>
            </a:r>
            <a:r>
              <a:rPr lang="en-US" sz="2000" dirty="0" err="1">
                <a:ea typeface="Calibri"/>
                <a:cs typeface="Calibri"/>
              </a:rPr>
              <a:t>Συντελεστής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μετ</a:t>
            </a:r>
            <a:r>
              <a:rPr lang="en-US" sz="2000" dirty="0">
                <a:ea typeface="Calibri"/>
                <a:cs typeface="Calibri"/>
              </a:rPr>
              <a:t>α</a:t>
            </a:r>
            <a:r>
              <a:rPr lang="en-US" sz="2000" dirty="0" err="1">
                <a:ea typeface="Calibri"/>
                <a:cs typeface="Calibri"/>
              </a:rPr>
              <a:t>φοράς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θερμότητ</a:t>
            </a:r>
            <a:r>
              <a:rPr lang="en-US" sz="2000" dirty="0">
                <a:ea typeface="Calibri"/>
                <a:cs typeface="Calibri"/>
              </a:rPr>
              <a:t>ας </a:t>
            </a:r>
            <a:r>
              <a:rPr lang="en-US" sz="2000" dirty="0" err="1">
                <a:ea typeface="Calibri"/>
                <a:cs typeface="Calibri"/>
              </a:rPr>
              <a:t>στο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κέλυφος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της</a:t>
            </a:r>
            <a:r>
              <a:rPr lang="en-US" sz="2000" dirty="0">
                <a:ea typeface="Calibri"/>
                <a:cs typeface="Calibri"/>
              </a:rPr>
              <a:t> ανα</a:t>
            </a:r>
            <a:r>
              <a:rPr lang="en-US" sz="2000" dirty="0" err="1">
                <a:ea typeface="Calibri"/>
                <a:cs typeface="Calibri"/>
              </a:rPr>
              <a:t>γεννητικής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μονάδ</a:t>
            </a:r>
            <a:r>
              <a:rPr lang="en-US" sz="2000" dirty="0">
                <a:ea typeface="Calibri"/>
                <a:cs typeface="Calibri"/>
              </a:rPr>
              <a:t>ας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4A7DBFC-8999-85D0-D224-77789D86E11B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48529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4.1.3 </a:t>
            </a:r>
            <a:r>
              <a:rPr lang="en-US" sz="3100" dirty="0" err="1">
                <a:ea typeface="Calibri Light"/>
                <a:cs typeface="Calibri Light"/>
              </a:rPr>
              <a:t>Μοντέλο</a:t>
            </a:r>
            <a:r>
              <a:rPr lang="en-US" sz="3100" dirty="0">
                <a:ea typeface="Calibri Light"/>
                <a:cs typeface="Calibri Light"/>
              </a:rPr>
              <a:t> Πα</a:t>
            </a:r>
            <a:r>
              <a:rPr lang="en-US" sz="3100" dirty="0" err="1">
                <a:ea typeface="Calibri Light"/>
                <a:cs typeface="Calibri Light"/>
              </a:rPr>
              <a:t>στερίωσης</a:t>
            </a:r>
            <a:r>
              <a:rPr lang="en-US" sz="3100" dirty="0">
                <a:ea typeface="Calibri Light"/>
                <a:cs typeface="Calibri Light"/>
              </a:rPr>
              <a:t>-Απ</a:t>
            </a:r>
            <a:r>
              <a:rPr lang="en-US" sz="3100" dirty="0" err="1">
                <a:ea typeface="Calibri Light"/>
                <a:cs typeface="Calibri Light"/>
              </a:rPr>
              <a:t>οτελέσμ</a:t>
            </a:r>
            <a:r>
              <a:rPr lang="en-US" sz="3100" dirty="0">
                <a:ea typeface="Calibri Light"/>
                <a:cs typeface="Calibri Light"/>
              </a:rPr>
              <a:t>ατα </a:t>
            </a:r>
            <a:r>
              <a:rPr lang="en-US" sz="3100" dirty="0" err="1">
                <a:ea typeface="Calibri Light"/>
                <a:cs typeface="Calibri Light"/>
              </a:rPr>
              <a:t>Προσομοίωσης</a:t>
            </a:r>
            <a:r>
              <a:rPr lang="en-US" sz="3100" dirty="0">
                <a:ea typeface="Calibri Light"/>
                <a:cs typeface="Calibri Light"/>
              </a:rPr>
              <a:t> (4/5)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CCE4FC9-0C0E-4365-3321-871304172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13</a:t>
            </a:fld>
            <a:r>
              <a:rPr lang="en-US"/>
              <a:t>/39</a:t>
            </a:r>
            <a:endParaRPr lang="de-DE"/>
          </a:p>
        </p:txBody>
      </p:sp>
      <p:pic>
        <p:nvPicPr>
          <p:cNvPr id="3" name="Grafik 2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E9723FCF-9DAD-068D-F7B5-62DF528E14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8" t="6801" r="43556" b="305"/>
          <a:stretch>
            <a:fillRect/>
          </a:stretch>
        </p:blipFill>
        <p:spPr>
          <a:xfrm>
            <a:off x="2817586" y="951895"/>
            <a:ext cx="5993299" cy="496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612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CB70D-513A-8380-A1C3-35D8C48D6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5">
            <a:extLst>
              <a:ext uri="{FF2B5EF4-FFF2-40B4-BE49-F238E27FC236}">
                <a16:creationId xmlns:a16="http://schemas.microsoft.com/office/drawing/2014/main" id="{54649B78-3EAD-A28D-DD79-688224554709}"/>
              </a:ext>
            </a:extLst>
          </p:cNvPr>
          <p:cNvSpPr txBox="1"/>
          <p:nvPr/>
        </p:nvSpPr>
        <p:spPr>
          <a:xfrm>
            <a:off x="5781329" y="1580822"/>
            <a:ext cx="519661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err="1">
                <a:ea typeface="Calibri"/>
                <a:cs typeface="Calibri"/>
              </a:rPr>
              <a:t>Εικόν</a:t>
            </a:r>
            <a:r>
              <a:rPr lang="en-US" sz="2000" dirty="0">
                <a:ea typeface="Calibri"/>
                <a:cs typeface="Calibri"/>
              </a:rPr>
              <a:t>α 6: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Συγκέντρωση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latin typeface="Calibri"/>
                <a:ea typeface="Calibri"/>
                <a:cs typeface="Calibri"/>
              </a:rPr>
              <a:t>S.thermophilus</a:t>
            </a:r>
            <a:r>
              <a:rPr lang="en-US" sz="2000" i="1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στ</a:t>
            </a:r>
            <a:r>
              <a:rPr lang="en-US" sz="2000" dirty="0">
                <a:latin typeface="Calibri"/>
                <a:ea typeface="Calibri"/>
                <a:cs typeface="Calibri"/>
              </a:rPr>
              <a:t>α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τοιχώμ</a:t>
            </a:r>
            <a:r>
              <a:rPr lang="en-US" sz="2000" dirty="0">
                <a:latin typeface="Calibri"/>
                <a:ea typeface="Calibri"/>
                <a:cs typeface="Calibri"/>
              </a:rPr>
              <a:t>ατα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της</a:t>
            </a:r>
            <a:r>
              <a:rPr lang="en-US" sz="2000" dirty="0">
                <a:latin typeface="Calibri"/>
                <a:ea typeface="Calibri"/>
                <a:cs typeface="Calibri"/>
              </a:rPr>
              <a:t> ανα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γεννητικής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μονάδ</a:t>
            </a:r>
            <a:r>
              <a:rPr lang="en-US" sz="2000" dirty="0">
                <a:latin typeface="Calibri"/>
                <a:ea typeface="Calibri"/>
                <a:cs typeface="Calibri"/>
              </a:rPr>
              <a:t>ας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ως</a:t>
            </a:r>
            <a:r>
              <a:rPr lang="en-US" sz="2000" dirty="0">
                <a:latin typeface="Calibri"/>
                <a:ea typeface="Calibri"/>
                <a:cs typeface="Calibri"/>
              </a:rPr>
              <a:t> π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ρος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τον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χρόνο</a:t>
            </a:r>
            <a:r>
              <a:rPr lang="en-US" sz="2000" dirty="0">
                <a:latin typeface="Calibri"/>
                <a:ea typeface="Calibri"/>
                <a:cs typeface="Calibri"/>
              </a:rPr>
              <a:t> παρα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μονής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25E52DBF-4E69-5320-4ABB-80A32D049E3F}"/>
              </a:ext>
            </a:extLst>
          </p:cNvPr>
          <p:cNvSpPr txBox="1"/>
          <p:nvPr/>
        </p:nvSpPr>
        <p:spPr>
          <a:xfrm>
            <a:off x="6084348" y="4346987"/>
            <a:ext cx="5039728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err="1">
                <a:ea typeface="Calibri"/>
                <a:cs typeface="Calibri"/>
              </a:rPr>
              <a:t>Εικόν</a:t>
            </a:r>
            <a:r>
              <a:rPr lang="en-US" sz="2000" dirty="0">
                <a:ea typeface="Calibri"/>
                <a:cs typeface="Calibri"/>
              </a:rPr>
              <a:t>α 7: </a:t>
            </a:r>
            <a:r>
              <a:rPr lang="en-US" sz="2000" dirty="0">
                <a:latin typeface="Calibri"/>
                <a:ea typeface="Calibri"/>
                <a:cs typeface="Calibri"/>
              </a:rPr>
              <a:t>Συγκέντρωση </a:t>
            </a:r>
            <a:r>
              <a:rPr lang="en-US" sz="2000" i="1" dirty="0">
                <a:latin typeface="Calibri"/>
                <a:ea typeface="Calibri"/>
                <a:cs typeface="Calibri"/>
              </a:rPr>
              <a:t>S.thermophilus </a:t>
            </a:r>
            <a:r>
              <a:rPr lang="en-US" sz="2000" dirty="0">
                <a:latin typeface="Calibri"/>
                <a:ea typeface="Calibri"/>
                <a:cs typeface="Calibri"/>
              </a:rPr>
              <a:t>και κατεστραμμένου </a:t>
            </a:r>
            <a:r>
              <a:rPr lang="en-US" sz="2000" i="1" dirty="0">
                <a:latin typeface="Calibri"/>
                <a:ea typeface="Calibri"/>
                <a:cs typeface="Calibri"/>
              </a:rPr>
              <a:t>S.thermophilus </a:t>
            </a:r>
            <a:r>
              <a:rPr lang="en-US" sz="2000" dirty="0">
                <a:latin typeface="Calibri"/>
                <a:ea typeface="Calibri"/>
                <a:cs typeface="Calibri"/>
              </a:rPr>
              <a:t>στο γάλα που ρέει στην αναγεννητική μονάδα ως προς τον χρόνο παραμονής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37149B-96EE-E06C-3BC0-AB2FFE136D1F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362032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4.1.3 </a:t>
            </a:r>
            <a:r>
              <a:rPr lang="en-US" sz="3100" dirty="0" err="1">
                <a:ea typeface="Calibri Light"/>
                <a:cs typeface="Calibri Light"/>
              </a:rPr>
              <a:t>Μοντέλο</a:t>
            </a:r>
            <a:r>
              <a:rPr lang="en-US" sz="3100" dirty="0">
                <a:ea typeface="Calibri Light"/>
                <a:cs typeface="Calibri Light"/>
              </a:rPr>
              <a:t> Πα</a:t>
            </a:r>
            <a:r>
              <a:rPr lang="en-US" sz="3100" dirty="0" err="1">
                <a:ea typeface="Calibri Light"/>
                <a:cs typeface="Calibri Light"/>
              </a:rPr>
              <a:t>στερίωσης</a:t>
            </a:r>
            <a:r>
              <a:rPr lang="en-US" sz="3100" dirty="0">
                <a:ea typeface="Calibri Light"/>
                <a:cs typeface="Calibri Light"/>
              </a:rPr>
              <a:t>-Απ</a:t>
            </a:r>
            <a:r>
              <a:rPr lang="en-US" sz="3100" dirty="0" err="1">
                <a:ea typeface="Calibri Light"/>
                <a:cs typeface="Calibri Light"/>
              </a:rPr>
              <a:t>οτελέσμ</a:t>
            </a:r>
            <a:r>
              <a:rPr lang="en-US" sz="3100" dirty="0">
                <a:ea typeface="Calibri Light"/>
                <a:cs typeface="Calibri Light"/>
              </a:rPr>
              <a:t>ατα </a:t>
            </a:r>
            <a:r>
              <a:rPr lang="en-US" sz="3100" dirty="0" err="1">
                <a:ea typeface="Calibri Light"/>
                <a:cs typeface="Calibri Light"/>
              </a:rPr>
              <a:t>Προσομοίωσης</a:t>
            </a:r>
            <a:r>
              <a:rPr lang="en-US" sz="3100" dirty="0">
                <a:ea typeface="Calibri Light"/>
                <a:cs typeface="Calibri Light"/>
              </a:rPr>
              <a:t> (5/5)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21F5106-4677-9FC5-1830-267D4CCD4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14</a:t>
            </a:fld>
            <a:r>
              <a:rPr lang="en-US"/>
              <a:t>/39</a:t>
            </a:r>
            <a:endParaRPr lang="de-DE"/>
          </a:p>
        </p:txBody>
      </p:sp>
      <p:pic>
        <p:nvPicPr>
          <p:cNvPr id="4" name="Grafik 3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7117CB06-4DB0-7027-6968-FA151FA214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5" r="496" b="14189"/>
          <a:stretch>
            <a:fillRect/>
          </a:stretch>
        </p:blipFill>
        <p:spPr>
          <a:xfrm>
            <a:off x="225253" y="834432"/>
            <a:ext cx="4848146" cy="2890278"/>
          </a:xfrm>
          <a:prstGeom prst="rect">
            <a:avLst/>
          </a:prstGeom>
        </p:spPr>
      </p:pic>
      <p:pic>
        <p:nvPicPr>
          <p:cNvPr id="3" name="Grafik 2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816ADA77-0DC7-D512-9E18-1B09AC96F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19" y="3690935"/>
            <a:ext cx="4845842" cy="303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165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5B803-3E7E-5534-D315-A4B96C0C4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86A43091-74B0-83E8-D488-E8F3BE99A55F}"/>
              </a:ext>
            </a:extLst>
          </p:cNvPr>
          <p:cNvGrpSpPr/>
          <p:nvPr/>
        </p:nvGrpSpPr>
        <p:grpSpPr>
          <a:xfrm>
            <a:off x="6653163" y="2251584"/>
            <a:ext cx="3799220" cy="3329011"/>
            <a:chOff x="5420516" y="1187025"/>
            <a:chExt cx="3799220" cy="3329011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528A6BC7-1D00-3A69-01FC-27136725A0C3}"/>
                </a:ext>
              </a:extLst>
            </p:cNvPr>
            <p:cNvSpPr/>
            <p:nvPr/>
          </p:nvSpPr>
          <p:spPr>
            <a:xfrm>
              <a:off x="5420516" y="1187025"/>
              <a:ext cx="3799220" cy="33290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8" name="Grafik 17" descr="Ein Bild, das Text, Schrift, Screenshot, Zahl enthält.&#10;&#10;KI-generierte Inhalte können fehlerhaft sein.">
              <a:extLst>
                <a:ext uri="{FF2B5EF4-FFF2-40B4-BE49-F238E27FC236}">
                  <a16:creationId xmlns:a16="http://schemas.microsoft.com/office/drawing/2014/main" id="{0FE9C2E9-968B-E201-AE04-FEC9F4CC0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86" t="2281" r="5573" b="1141"/>
            <a:stretch>
              <a:fillRect/>
            </a:stretch>
          </p:blipFill>
          <p:spPr>
            <a:xfrm>
              <a:off x="5682127" y="1425726"/>
              <a:ext cx="3325677" cy="2851710"/>
            </a:xfrm>
            <a:prstGeom prst="rect">
              <a:avLst/>
            </a:prstGeom>
          </p:spPr>
        </p:pic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AA948144-9F8A-3A38-054D-2A5DE6EA9E1E}"/>
              </a:ext>
            </a:extLst>
          </p:cNvPr>
          <p:cNvGrpSpPr/>
          <p:nvPr/>
        </p:nvGrpSpPr>
        <p:grpSpPr>
          <a:xfrm>
            <a:off x="1666546" y="2386054"/>
            <a:ext cx="3541486" cy="3071277"/>
            <a:chOff x="478722" y="2509319"/>
            <a:chExt cx="3541486" cy="3071277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A5F063E0-7C62-1496-8A6C-43926DD5F924}"/>
                </a:ext>
              </a:extLst>
            </p:cNvPr>
            <p:cNvSpPr/>
            <p:nvPr/>
          </p:nvSpPr>
          <p:spPr>
            <a:xfrm>
              <a:off x="478722" y="2509319"/>
              <a:ext cx="3541486" cy="30712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7" name="Grafik 16" descr="Ein Bild, das Text, Schrift, Handschrift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EDD1AEB4-19C5-5168-AB8E-94D0CEEFB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05" t="3950" r="40055"/>
            <a:stretch>
              <a:fillRect/>
            </a:stretch>
          </p:blipFill>
          <p:spPr>
            <a:xfrm>
              <a:off x="660817" y="2805462"/>
              <a:ext cx="2381914" cy="2561667"/>
            </a:xfrm>
            <a:prstGeom prst="rect">
              <a:avLst/>
            </a:prstGeom>
          </p:spPr>
        </p:pic>
        <p:pic>
          <p:nvPicPr>
            <p:cNvPr id="2" name="Grafik 1" descr="Ein Bild, das Text, Schrift, Handschrift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23CB76F3-5C87-058A-B676-0309E8DA3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978" t="578" r="829" b="4110"/>
            <a:stretch>
              <a:fillRect/>
            </a:stretch>
          </p:blipFill>
          <p:spPr>
            <a:xfrm>
              <a:off x="3204552" y="2681921"/>
              <a:ext cx="615048" cy="2541991"/>
            </a:xfrm>
            <a:prstGeom prst="rect">
              <a:avLst/>
            </a:prstGeom>
          </p:spPr>
        </p:pic>
      </p:grp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E39AEE8-2A9A-950B-F1D5-53F51C775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15</a:t>
            </a:fld>
            <a:r>
              <a:rPr lang="en-US"/>
              <a:t>/39</a:t>
            </a:r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367A8F2-A24A-93C9-DEE7-5BB21EB672A8}"/>
              </a:ext>
            </a:extLst>
          </p:cNvPr>
          <p:cNvSpPr txBox="1">
            <a:spLocks/>
          </p:cNvSpPr>
          <p:nvPr/>
        </p:nvSpPr>
        <p:spPr>
          <a:xfrm>
            <a:off x="193377" y="348"/>
            <a:ext cx="11801015" cy="1229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4.2.1 Βα</a:t>
            </a:r>
            <a:r>
              <a:rPr lang="en-US" sz="3100" dirty="0" err="1">
                <a:ea typeface="Calibri Light"/>
                <a:cs typeface="Calibri Light"/>
              </a:rPr>
              <a:t>σικές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Εξισώσεις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του</a:t>
            </a:r>
            <a:r>
              <a:rPr lang="en-US" sz="3100" dirty="0">
                <a:ea typeface="Calibri Light"/>
                <a:cs typeface="Calibri Light"/>
              </a:rPr>
              <a:t> Μα</a:t>
            </a:r>
            <a:r>
              <a:rPr lang="en-US" sz="3100" dirty="0" err="1">
                <a:ea typeface="Calibri Light"/>
                <a:cs typeface="Calibri Light"/>
              </a:rPr>
              <a:t>θημ</a:t>
            </a:r>
            <a:r>
              <a:rPr lang="en-US" sz="3100" dirty="0">
                <a:ea typeface="Calibri Light"/>
                <a:cs typeface="Calibri Light"/>
              </a:rPr>
              <a:t>α</a:t>
            </a:r>
            <a:r>
              <a:rPr lang="en-US" sz="3100" dirty="0" err="1">
                <a:ea typeface="Calibri Light"/>
                <a:cs typeface="Calibri Light"/>
              </a:rPr>
              <a:t>τικού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Μοντέλου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της</a:t>
            </a:r>
            <a:r>
              <a:rPr lang="en-US" sz="3100" dirty="0">
                <a:ea typeface="Calibri Light"/>
                <a:cs typeface="Calibri Light"/>
              </a:rPr>
              <a:t> </a:t>
            </a:r>
            <a:r>
              <a:rPr lang="en-US" sz="3100" dirty="0" err="1">
                <a:ea typeface="Calibri Light"/>
                <a:cs typeface="Calibri Light"/>
              </a:rPr>
              <a:t>Διεργ</a:t>
            </a:r>
            <a:r>
              <a:rPr lang="en-US" sz="3100" dirty="0">
                <a:ea typeface="Calibri Light"/>
                <a:cs typeface="Calibri Light"/>
              </a:rPr>
              <a:t>α</a:t>
            </a:r>
            <a:r>
              <a:rPr lang="en-US" sz="3100" dirty="0" err="1">
                <a:ea typeface="Calibri Light"/>
                <a:cs typeface="Calibri Light"/>
              </a:rPr>
              <a:t>σί</a:t>
            </a:r>
            <a:r>
              <a:rPr lang="en-US" sz="3100" dirty="0">
                <a:ea typeface="Calibri Light"/>
                <a:cs typeface="Calibri Light"/>
              </a:rPr>
              <a:t>ας </a:t>
            </a:r>
            <a:r>
              <a:rPr lang="en-US" sz="3100" dirty="0" err="1">
                <a:ea typeface="Calibri Light"/>
                <a:cs typeface="Calibri Light"/>
              </a:rPr>
              <a:t>Διήθησης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με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Μεμ</a:t>
            </a:r>
            <a:r>
              <a:rPr lang="en-US" sz="3100" dirty="0">
                <a:ea typeface="Calibri Light"/>
                <a:cs typeface="Calibri Light"/>
              </a:rPr>
              <a:t>β</a:t>
            </a:r>
            <a:r>
              <a:rPr lang="en-US" sz="3100" dirty="0" err="1">
                <a:ea typeface="Calibri Light"/>
                <a:cs typeface="Calibri Light"/>
              </a:rPr>
              <a:t>ράνη</a:t>
            </a:r>
            <a:r>
              <a:rPr lang="en-US" sz="3100" dirty="0">
                <a:ea typeface="Calibri Light"/>
                <a:cs typeface="Calibri Ligh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7166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E9D5B-9496-161A-3426-AC6A9C169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CC534ECB-B21B-A7E9-062C-47DA48FD67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1" t="17301" r="23341" b="10504"/>
          <a:stretch>
            <a:fillRect/>
          </a:stretch>
        </p:blipFill>
        <p:spPr>
          <a:xfrm>
            <a:off x="618226" y="853358"/>
            <a:ext cx="10956212" cy="6000646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D2A573B0-EABA-98E0-207E-ADE41A28AD9E}"/>
              </a:ext>
            </a:extLst>
          </p:cNvPr>
          <p:cNvSpPr/>
          <p:nvPr/>
        </p:nvSpPr>
        <p:spPr>
          <a:xfrm>
            <a:off x="3431784" y="3045102"/>
            <a:ext cx="649757" cy="39062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20 °C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04BFC781-12BA-A4A4-6F1C-A6F8AEF58FA1}"/>
              </a:ext>
            </a:extLst>
          </p:cNvPr>
          <p:cNvSpPr/>
          <p:nvPr/>
        </p:nvSpPr>
        <p:spPr>
          <a:xfrm>
            <a:off x="3230503" y="1434841"/>
            <a:ext cx="1037945" cy="54877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1700 kg/h, 20 °C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6F920032-C476-BB1E-1111-40633A242041}"/>
              </a:ext>
            </a:extLst>
          </p:cNvPr>
          <p:cNvSpPr/>
          <p:nvPr/>
        </p:nvSpPr>
        <p:spPr>
          <a:xfrm>
            <a:off x="9038954" y="5690534"/>
            <a:ext cx="1095454" cy="44813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ea typeface="Calibri"/>
                <a:cs typeface="Calibri"/>
              </a:rPr>
              <a:t>20% </a:t>
            </a:r>
            <a:r>
              <a:rPr lang="en-US" sz="1400" dirty="0" err="1">
                <a:ea typeface="Calibri"/>
                <a:cs typeface="Calibri"/>
              </a:rPr>
              <a:t>στερεά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BAA95D6-F631-E998-6875-617FCED2BAF5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>
                <a:ea typeface="Calibri Light"/>
                <a:cs typeface="Calibri Light"/>
              </a:rPr>
              <a:t>4.2.2 </a:t>
            </a:r>
            <a:r>
              <a:rPr lang="en-US" sz="3100" err="1">
                <a:ea typeface="Calibri Light"/>
                <a:cs typeface="Calibri Light"/>
              </a:rPr>
              <a:t>Μοντέλο</a:t>
            </a:r>
            <a:r>
              <a:rPr lang="en-US" sz="3100">
                <a:ea typeface="Calibri Light"/>
                <a:cs typeface="Calibri Light"/>
              </a:rPr>
              <a:t> </a:t>
            </a:r>
            <a:r>
              <a:rPr lang="en-US" sz="3100" err="1">
                <a:ea typeface="Calibri Light"/>
                <a:cs typeface="Calibri Light"/>
              </a:rPr>
              <a:t>Διήθησης</a:t>
            </a:r>
            <a:r>
              <a:rPr lang="en-US" sz="3100">
                <a:ea typeface="Calibri Light"/>
                <a:cs typeface="Calibri Light"/>
              </a:rPr>
              <a:t> </a:t>
            </a:r>
            <a:r>
              <a:rPr lang="en-US" sz="3100" err="1">
                <a:ea typeface="Calibri Light"/>
                <a:cs typeface="Calibri Light"/>
              </a:rPr>
              <a:t>με</a:t>
            </a:r>
            <a:r>
              <a:rPr lang="en-US" sz="3100">
                <a:ea typeface="Calibri Light"/>
                <a:cs typeface="Calibri Light"/>
              </a:rPr>
              <a:t> </a:t>
            </a:r>
            <a:r>
              <a:rPr lang="en-US" sz="3100" err="1">
                <a:ea typeface="Calibri Light"/>
                <a:cs typeface="Calibri Light"/>
              </a:rPr>
              <a:t>Μεμ</a:t>
            </a:r>
            <a:r>
              <a:rPr lang="en-US" sz="3100">
                <a:ea typeface="Calibri Light"/>
                <a:cs typeface="Calibri Light"/>
              </a:rPr>
              <a:t>β</a:t>
            </a:r>
            <a:r>
              <a:rPr lang="en-US" sz="3100" err="1">
                <a:ea typeface="Calibri Light"/>
                <a:cs typeface="Calibri Light"/>
              </a:rPr>
              <a:t>ράνη-Προδι</a:t>
            </a:r>
            <a:r>
              <a:rPr lang="en-US" sz="3100">
                <a:ea typeface="Calibri Light"/>
                <a:cs typeface="Calibri Light"/>
              </a:rPr>
              <a:t>α</a:t>
            </a:r>
            <a:r>
              <a:rPr lang="en-US" sz="3100" err="1">
                <a:ea typeface="Calibri Light"/>
                <a:cs typeface="Calibri Light"/>
              </a:rPr>
              <a:t>γρ</a:t>
            </a:r>
            <a:r>
              <a:rPr lang="en-US" sz="3100">
                <a:ea typeface="Calibri Light"/>
                <a:cs typeface="Calibri Light"/>
              </a:rPr>
              <a:t>α</a:t>
            </a:r>
            <a:r>
              <a:rPr lang="en-US" sz="3100" err="1">
                <a:ea typeface="Calibri Light"/>
                <a:cs typeface="Calibri Light"/>
              </a:rPr>
              <a:t>φές</a:t>
            </a:r>
            <a:endParaRPr lang="en-US" sz="3100">
              <a:ea typeface="Calibri Light"/>
              <a:cs typeface="Calibri Light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29D7A3C-627E-E9F7-0E1C-4F7F7C11E4FD}"/>
              </a:ext>
            </a:extLst>
          </p:cNvPr>
          <p:cNvSpPr txBox="1"/>
          <p:nvPr/>
        </p:nvSpPr>
        <p:spPr>
          <a:xfrm>
            <a:off x="7712789" y="4837382"/>
            <a:ext cx="1793153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Μεμ</a:t>
            </a:r>
            <a:r>
              <a:rPr lang="de-DE" sz="1600" dirty="0">
                <a:ea typeface="Calibri"/>
                <a:cs typeface="Calibri"/>
              </a:rPr>
              <a:t>β</a:t>
            </a:r>
            <a:r>
              <a:rPr lang="de-DE" sz="1600" dirty="0" err="1">
                <a:ea typeface="Calibri"/>
                <a:cs typeface="Calibri"/>
              </a:rPr>
              <a:t>ράνη</a:t>
            </a:r>
            <a:r>
              <a:rPr lang="de-DE" sz="1600" dirty="0">
                <a:ea typeface="Calibri"/>
                <a:cs typeface="Calibri"/>
              </a:rPr>
              <a:t> υπ</a:t>
            </a:r>
            <a:r>
              <a:rPr lang="de-DE" sz="1600" dirty="0" err="1">
                <a:ea typeface="Calibri"/>
                <a:cs typeface="Calibri"/>
              </a:rPr>
              <a:t>ερδιήθησης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23D8D06-413D-6925-E98B-28D7EE334B35}"/>
              </a:ext>
            </a:extLst>
          </p:cNvPr>
          <p:cNvSpPr txBox="1"/>
          <p:nvPr/>
        </p:nvSpPr>
        <p:spPr>
          <a:xfrm>
            <a:off x="1199503" y="2841667"/>
            <a:ext cx="2029010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Νερό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δι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διήθησης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6BF98B3-B1FE-F9DD-AE44-0E12FB25360D}"/>
              </a:ext>
            </a:extLst>
          </p:cNvPr>
          <p:cNvSpPr txBox="1"/>
          <p:nvPr/>
        </p:nvSpPr>
        <p:spPr>
          <a:xfrm>
            <a:off x="9752046" y="6515906"/>
            <a:ext cx="1311553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Συμ</a:t>
            </a:r>
            <a:r>
              <a:rPr lang="de-DE" sz="1600" dirty="0">
                <a:ea typeface="Calibri"/>
                <a:cs typeface="Calibri"/>
              </a:rPr>
              <a:t>π</a:t>
            </a:r>
            <a:r>
              <a:rPr lang="de-DE" sz="1600" dirty="0" err="1">
                <a:ea typeface="Calibri"/>
                <a:cs typeface="Calibri"/>
              </a:rPr>
              <a:t>ύκνωμ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79D306D-1687-6493-3AF7-6F72286C95D9}"/>
              </a:ext>
            </a:extLst>
          </p:cNvPr>
          <p:cNvSpPr txBox="1"/>
          <p:nvPr/>
        </p:nvSpPr>
        <p:spPr>
          <a:xfrm>
            <a:off x="9899003" y="2496953"/>
            <a:ext cx="1248868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Διήθημ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7312A89-12E9-97C3-0AC8-25EAE055989B}"/>
              </a:ext>
            </a:extLst>
          </p:cNvPr>
          <p:cNvSpPr txBox="1"/>
          <p:nvPr/>
        </p:nvSpPr>
        <p:spPr>
          <a:xfrm>
            <a:off x="1390003" y="2324596"/>
            <a:ext cx="1430296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Τροφοδοσί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12441A3-77DB-EEF3-87A7-9B121D87BF86}"/>
              </a:ext>
            </a:extLst>
          </p:cNvPr>
          <p:cNvSpPr txBox="1"/>
          <p:nvPr/>
        </p:nvSpPr>
        <p:spPr>
          <a:xfrm>
            <a:off x="618931" y="6007596"/>
            <a:ext cx="1747796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Διάρκει</a:t>
            </a:r>
            <a:r>
              <a:rPr lang="de-DE" sz="1600" dirty="0">
                <a:ea typeface="Calibri"/>
                <a:cs typeface="Calibri"/>
              </a:rPr>
              <a:t>α π</a:t>
            </a:r>
            <a:r>
              <a:rPr lang="de-DE" sz="1600" dirty="0" err="1">
                <a:ea typeface="Calibri"/>
                <a:cs typeface="Calibri"/>
              </a:rPr>
              <a:t>ροσομοίωσης</a:t>
            </a:r>
            <a:endParaRPr lang="de-DE" sz="1600" dirty="0">
              <a:ea typeface="Calibri"/>
              <a:cs typeface="Calibri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3B65DBDC-E43F-92D6-BCD6-54E5AA877A1D}"/>
              </a:ext>
            </a:extLst>
          </p:cNvPr>
          <p:cNvSpPr txBox="1"/>
          <p:nvPr/>
        </p:nvSpPr>
        <p:spPr>
          <a:xfrm>
            <a:off x="1009003" y="4392882"/>
            <a:ext cx="2709368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Ρυθμιστής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κλάσμ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τος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στερεών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040DEBA-6D6E-2C6B-4049-8881A6BDC406}"/>
              </a:ext>
            </a:extLst>
          </p:cNvPr>
          <p:cNvSpPr txBox="1"/>
          <p:nvPr/>
        </p:nvSpPr>
        <p:spPr>
          <a:xfrm>
            <a:off x="1299290" y="1118096"/>
            <a:ext cx="1521010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Προδι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γρ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φές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6E2BD-B52C-0632-CF46-613656D3C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16</a:t>
            </a:fld>
            <a:r>
              <a:rPr lang="en-US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1361646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116E8-FC64-1A9E-0A83-CF338C049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CAFEBE55-156A-FCA8-9F6A-09D2E2420B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1" t="17301" r="23341" b="10504"/>
          <a:stretch>
            <a:fillRect/>
          </a:stretch>
        </p:blipFill>
        <p:spPr>
          <a:xfrm>
            <a:off x="618226" y="853358"/>
            <a:ext cx="10956212" cy="6000646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B3773DD3-3F47-3024-E20D-1E79FF1C2550}"/>
              </a:ext>
            </a:extLst>
          </p:cNvPr>
          <p:cNvSpPr/>
          <p:nvPr/>
        </p:nvSpPr>
        <p:spPr>
          <a:xfrm>
            <a:off x="3431784" y="3045102"/>
            <a:ext cx="649757" cy="39062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20 °C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F28FA5E4-BB30-98EB-071A-C63EAC165241}"/>
              </a:ext>
            </a:extLst>
          </p:cNvPr>
          <p:cNvSpPr/>
          <p:nvPr/>
        </p:nvSpPr>
        <p:spPr>
          <a:xfrm>
            <a:off x="3230503" y="1434841"/>
            <a:ext cx="1037945" cy="54877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1700 kg/h, 20 °C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E90499E2-1002-5EA8-6C14-E859CA0A686F}"/>
              </a:ext>
            </a:extLst>
          </p:cNvPr>
          <p:cNvSpPr/>
          <p:nvPr/>
        </p:nvSpPr>
        <p:spPr>
          <a:xfrm>
            <a:off x="9038954" y="5690534"/>
            <a:ext cx="1095454" cy="44813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ea typeface="Calibri"/>
                <a:cs typeface="Calibri"/>
              </a:rPr>
              <a:t>20% </a:t>
            </a:r>
            <a:r>
              <a:rPr lang="en-US" sz="1400" dirty="0" err="1">
                <a:ea typeface="Calibri"/>
                <a:cs typeface="Calibri"/>
              </a:rPr>
              <a:t>στερεά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E70145EE-20EE-0AC7-EF35-172FAF1D39CF}"/>
              </a:ext>
            </a:extLst>
          </p:cNvPr>
          <p:cNvSpPr/>
          <p:nvPr/>
        </p:nvSpPr>
        <p:spPr>
          <a:xfrm>
            <a:off x="9038955" y="1564237"/>
            <a:ext cx="1037945" cy="548777"/>
          </a:xfrm>
          <a:prstGeom prst="wedgeRoundRectCallo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1721 kg/h, 20 °C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B1FFED42-987D-564A-C868-18F7ACC463BF}"/>
              </a:ext>
            </a:extLst>
          </p:cNvPr>
          <p:cNvSpPr/>
          <p:nvPr/>
        </p:nvSpPr>
        <p:spPr>
          <a:xfrm>
            <a:off x="7874388" y="5589897"/>
            <a:ext cx="1037945" cy="548777"/>
          </a:xfrm>
          <a:prstGeom prst="wedgeRoundRectCallo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356 kg/h, 20 °C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7C0FDF9A-0E7D-2160-1F40-99C067338C04}"/>
              </a:ext>
            </a:extLst>
          </p:cNvPr>
          <p:cNvSpPr/>
          <p:nvPr/>
        </p:nvSpPr>
        <p:spPr>
          <a:xfrm>
            <a:off x="4265670" y="3045101"/>
            <a:ext cx="894172" cy="390627"/>
          </a:xfrm>
          <a:prstGeom prst="wedgeRoundRectCallo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377 kg/h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FC4571D-A709-B244-7145-DF708F6D9554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latin typeface="Calibri Light"/>
                <a:ea typeface="Calibri Light"/>
                <a:cs typeface="Calibri Light"/>
              </a:rPr>
              <a:t>4.2.3 </a:t>
            </a:r>
            <a:r>
              <a:rPr lang="en-US" sz="3600" err="1">
                <a:latin typeface="Calibri Light"/>
                <a:ea typeface="Calibri Light"/>
                <a:cs typeface="Calibri Light"/>
              </a:rPr>
              <a:t>Μοντέλο</a:t>
            </a:r>
            <a:r>
              <a:rPr lang="en-US" sz="3600">
                <a:latin typeface="Calibri Light"/>
                <a:ea typeface="Calibri Light"/>
                <a:cs typeface="Calibri Light"/>
              </a:rPr>
              <a:t> </a:t>
            </a:r>
            <a:r>
              <a:rPr lang="en-US" sz="3600" err="1">
                <a:latin typeface="Calibri Light"/>
                <a:ea typeface="Calibri Light"/>
                <a:cs typeface="Calibri Light"/>
              </a:rPr>
              <a:t>Διήθησης</a:t>
            </a:r>
            <a:r>
              <a:rPr lang="en-US" sz="3600">
                <a:latin typeface="Calibri Light"/>
                <a:ea typeface="Calibri Light"/>
                <a:cs typeface="Calibri Light"/>
              </a:rPr>
              <a:t> </a:t>
            </a:r>
            <a:r>
              <a:rPr lang="en-US" sz="3600" err="1">
                <a:latin typeface="Calibri Light"/>
                <a:ea typeface="Calibri Light"/>
                <a:cs typeface="Calibri Light"/>
              </a:rPr>
              <a:t>με</a:t>
            </a:r>
            <a:r>
              <a:rPr lang="en-US" sz="3600">
                <a:latin typeface="Calibri Light"/>
                <a:ea typeface="Calibri Light"/>
                <a:cs typeface="Calibri Light"/>
              </a:rPr>
              <a:t> </a:t>
            </a:r>
            <a:r>
              <a:rPr lang="en-US" sz="3600" err="1">
                <a:latin typeface="Calibri Light"/>
                <a:ea typeface="Calibri Light"/>
                <a:cs typeface="Calibri Light"/>
              </a:rPr>
              <a:t>Μεμ</a:t>
            </a:r>
            <a:r>
              <a:rPr lang="en-US" sz="3600">
                <a:latin typeface="Calibri Light"/>
                <a:ea typeface="Calibri Light"/>
                <a:cs typeface="Calibri Light"/>
              </a:rPr>
              <a:t>β</a:t>
            </a:r>
            <a:r>
              <a:rPr lang="en-US" sz="3600" err="1">
                <a:latin typeface="Calibri Light"/>
                <a:ea typeface="Calibri Light"/>
                <a:cs typeface="Calibri Light"/>
              </a:rPr>
              <a:t>ράνη</a:t>
            </a:r>
            <a:r>
              <a:rPr lang="en-US" sz="3600">
                <a:latin typeface="Calibri Light"/>
                <a:ea typeface="Calibri Light"/>
                <a:cs typeface="Calibri Light"/>
              </a:rPr>
              <a:t>-Απ</a:t>
            </a:r>
            <a:r>
              <a:rPr lang="en-US" sz="3600" err="1">
                <a:latin typeface="Calibri Light"/>
                <a:ea typeface="Calibri Light"/>
                <a:cs typeface="Calibri Light"/>
              </a:rPr>
              <a:t>οτελέσμ</a:t>
            </a:r>
            <a:r>
              <a:rPr lang="en-US" sz="3600">
                <a:latin typeface="Calibri Light"/>
                <a:ea typeface="Calibri Light"/>
                <a:cs typeface="Calibri Light"/>
              </a:rPr>
              <a:t>ατα </a:t>
            </a:r>
            <a:r>
              <a:rPr lang="en-US" sz="3600" err="1">
                <a:latin typeface="Calibri Light"/>
                <a:ea typeface="Calibri Light"/>
                <a:cs typeface="Calibri Light"/>
              </a:rPr>
              <a:t>Προσομοίωσης</a:t>
            </a:r>
            <a:r>
              <a:rPr lang="en-US" sz="3600">
                <a:latin typeface="Calibri Light"/>
                <a:ea typeface="Calibri Light"/>
                <a:cs typeface="Calibri Light"/>
              </a:rPr>
              <a:t> (1/2)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EDDAABF-815F-9BB6-7168-D38406347002}"/>
              </a:ext>
            </a:extLst>
          </p:cNvPr>
          <p:cNvSpPr txBox="1"/>
          <p:nvPr/>
        </p:nvSpPr>
        <p:spPr>
          <a:xfrm>
            <a:off x="7712789" y="4837382"/>
            <a:ext cx="1793153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Μεμ</a:t>
            </a:r>
            <a:r>
              <a:rPr lang="de-DE" sz="1600" dirty="0">
                <a:ea typeface="Calibri"/>
                <a:cs typeface="Calibri"/>
              </a:rPr>
              <a:t>β</a:t>
            </a:r>
            <a:r>
              <a:rPr lang="de-DE" sz="1600" dirty="0" err="1">
                <a:ea typeface="Calibri"/>
                <a:cs typeface="Calibri"/>
              </a:rPr>
              <a:t>ράνη</a:t>
            </a:r>
            <a:r>
              <a:rPr lang="de-DE" sz="1600" dirty="0">
                <a:ea typeface="Calibri"/>
                <a:cs typeface="Calibri"/>
              </a:rPr>
              <a:t> υπ</a:t>
            </a:r>
            <a:r>
              <a:rPr lang="de-DE" sz="1600" dirty="0" err="1">
                <a:ea typeface="Calibri"/>
                <a:cs typeface="Calibri"/>
              </a:rPr>
              <a:t>ερδιήθησης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908FC3B-CBB7-B53F-8AC6-57FCD6EB608D}"/>
              </a:ext>
            </a:extLst>
          </p:cNvPr>
          <p:cNvSpPr txBox="1"/>
          <p:nvPr/>
        </p:nvSpPr>
        <p:spPr>
          <a:xfrm>
            <a:off x="1199503" y="2841667"/>
            <a:ext cx="2029010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Νερό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δι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διήθησης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5ADD5C2-9B00-889B-8D79-61B30BFD2DBD}"/>
              </a:ext>
            </a:extLst>
          </p:cNvPr>
          <p:cNvSpPr txBox="1"/>
          <p:nvPr/>
        </p:nvSpPr>
        <p:spPr>
          <a:xfrm>
            <a:off x="9588385" y="6514030"/>
            <a:ext cx="1467520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Συμ</a:t>
            </a:r>
            <a:r>
              <a:rPr lang="de-DE" sz="1600" dirty="0">
                <a:ea typeface="Calibri"/>
                <a:cs typeface="Calibri"/>
              </a:rPr>
              <a:t>π</a:t>
            </a:r>
            <a:r>
              <a:rPr lang="de-DE" sz="1600" dirty="0" err="1">
                <a:ea typeface="Calibri"/>
                <a:cs typeface="Calibri"/>
              </a:rPr>
              <a:t>ύκνωμ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16AC9AD-0F73-2362-9E6A-269E8A9BB6D3}"/>
              </a:ext>
            </a:extLst>
          </p:cNvPr>
          <p:cNvSpPr txBox="1"/>
          <p:nvPr/>
        </p:nvSpPr>
        <p:spPr>
          <a:xfrm>
            <a:off x="9899003" y="2496953"/>
            <a:ext cx="1248868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Διήθημ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74F4F43-49A5-B76D-4EFB-5A5C120D2229}"/>
              </a:ext>
            </a:extLst>
          </p:cNvPr>
          <p:cNvSpPr txBox="1"/>
          <p:nvPr/>
        </p:nvSpPr>
        <p:spPr>
          <a:xfrm>
            <a:off x="1390003" y="2324596"/>
            <a:ext cx="1430296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Τροφοδοσί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5849144-10E4-F28A-65C0-A94B50196D2D}"/>
              </a:ext>
            </a:extLst>
          </p:cNvPr>
          <p:cNvSpPr txBox="1"/>
          <p:nvPr/>
        </p:nvSpPr>
        <p:spPr>
          <a:xfrm>
            <a:off x="618931" y="6007596"/>
            <a:ext cx="1747796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Διάρκει</a:t>
            </a:r>
            <a:r>
              <a:rPr lang="de-DE" sz="1600" dirty="0">
                <a:ea typeface="Calibri"/>
                <a:cs typeface="Calibri"/>
              </a:rPr>
              <a:t>α π</a:t>
            </a:r>
            <a:r>
              <a:rPr lang="de-DE" sz="1600" dirty="0" err="1">
                <a:ea typeface="Calibri"/>
                <a:cs typeface="Calibri"/>
              </a:rPr>
              <a:t>ροσομοίωσης</a:t>
            </a:r>
            <a:endParaRPr lang="de-DE" sz="1600" dirty="0">
              <a:ea typeface="Calibri"/>
              <a:cs typeface="Calibri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ED4C0AA-580E-811D-8955-F0644EBA39AA}"/>
              </a:ext>
            </a:extLst>
          </p:cNvPr>
          <p:cNvSpPr txBox="1"/>
          <p:nvPr/>
        </p:nvSpPr>
        <p:spPr>
          <a:xfrm>
            <a:off x="1009003" y="4392882"/>
            <a:ext cx="2709368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Ρυθμιστής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κλάσμ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τος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στερεών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E0E95CA-87CF-0402-EED9-678703B914C3}"/>
              </a:ext>
            </a:extLst>
          </p:cNvPr>
          <p:cNvSpPr txBox="1"/>
          <p:nvPr/>
        </p:nvSpPr>
        <p:spPr>
          <a:xfrm>
            <a:off x="1299290" y="1118096"/>
            <a:ext cx="1521010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Προδι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γρ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φές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1FDB4-00AA-3948-F79E-C29E7EEE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17</a:t>
            </a:fld>
            <a:r>
              <a:rPr lang="en-US"/>
              <a:t>/39</a:t>
            </a:r>
          </a:p>
        </p:txBody>
      </p:sp>
    </p:spTree>
    <p:extLst>
      <p:ext uri="{BB962C8B-B14F-4D97-AF65-F5344CB8AC3E}">
        <p14:creationId xmlns:p14="http://schemas.microsoft.com/office/powerpoint/2010/main" val="3169731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573B0B-B385-82BE-D146-B18B92FD8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18</a:t>
            </a:fld>
            <a:r>
              <a:rPr lang="en-US"/>
              <a:t>/39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69B38F-22B2-8C8D-B5AA-FBD76410A65A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latin typeface="Calibri Light"/>
                <a:ea typeface="Calibri Light"/>
                <a:cs typeface="Calibri Light"/>
              </a:rPr>
              <a:t>4.2.3 </a:t>
            </a:r>
            <a:r>
              <a:rPr lang="en-US" sz="3600" err="1">
                <a:latin typeface="Calibri Light"/>
                <a:ea typeface="Calibri Light"/>
                <a:cs typeface="Calibri Light"/>
              </a:rPr>
              <a:t>Μοντέλο</a:t>
            </a:r>
            <a:r>
              <a:rPr lang="en-US" sz="3600">
                <a:latin typeface="Calibri Light"/>
                <a:ea typeface="Calibri Light"/>
                <a:cs typeface="Calibri Light"/>
              </a:rPr>
              <a:t> </a:t>
            </a:r>
            <a:r>
              <a:rPr lang="en-US" sz="3600" err="1">
                <a:latin typeface="Calibri Light"/>
                <a:ea typeface="Calibri Light"/>
                <a:cs typeface="Calibri Light"/>
              </a:rPr>
              <a:t>Διήθησης</a:t>
            </a:r>
            <a:r>
              <a:rPr lang="en-US" sz="3600">
                <a:latin typeface="Calibri Light"/>
                <a:ea typeface="Calibri Light"/>
                <a:cs typeface="Calibri Light"/>
              </a:rPr>
              <a:t> </a:t>
            </a:r>
            <a:r>
              <a:rPr lang="en-US" sz="3600" err="1">
                <a:latin typeface="Calibri Light"/>
                <a:ea typeface="Calibri Light"/>
                <a:cs typeface="Calibri Light"/>
              </a:rPr>
              <a:t>με</a:t>
            </a:r>
            <a:r>
              <a:rPr lang="en-US" sz="3600">
                <a:latin typeface="Calibri Light"/>
                <a:ea typeface="Calibri Light"/>
                <a:cs typeface="Calibri Light"/>
              </a:rPr>
              <a:t> </a:t>
            </a:r>
            <a:r>
              <a:rPr lang="en-US" sz="3600" err="1">
                <a:latin typeface="Calibri Light"/>
                <a:ea typeface="Calibri Light"/>
                <a:cs typeface="Calibri Light"/>
              </a:rPr>
              <a:t>Μεμ</a:t>
            </a:r>
            <a:r>
              <a:rPr lang="en-US" sz="3600">
                <a:latin typeface="Calibri Light"/>
                <a:ea typeface="Calibri Light"/>
                <a:cs typeface="Calibri Light"/>
              </a:rPr>
              <a:t>β</a:t>
            </a:r>
            <a:r>
              <a:rPr lang="en-US" sz="3600" err="1">
                <a:latin typeface="Calibri Light"/>
                <a:ea typeface="Calibri Light"/>
                <a:cs typeface="Calibri Light"/>
              </a:rPr>
              <a:t>ράνη</a:t>
            </a:r>
            <a:r>
              <a:rPr lang="en-US" sz="3600">
                <a:latin typeface="Calibri Light"/>
                <a:ea typeface="Calibri Light"/>
                <a:cs typeface="Calibri Light"/>
              </a:rPr>
              <a:t>-Απ</a:t>
            </a:r>
            <a:r>
              <a:rPr lang="en-US" sz="3600" err="1">
                <a:latin typeface="Calibri Light"/>
                <a:ea typeface="Calibri Light"/>
                <a:cs typeface="Calibri Light"/>
              </a:rPr>
              <a:t>οτελέσμ</a:t>
            </a:r>
            <a:r>
              <a:rPr lang="en-US" sz="3600">
                <a:latin typeface="Calibri Light"/>
                <a:ea typeface="Calibri Light"/>
                <a:cs typeface="Calibri Light"/>
              </a:rPr>
              <a:t>ατα </a:t>
            </a:r>
            <a:r>
              <a:rPr lang="en-US" sz="3600" err="1">
                <a:latin typeface="Calibri Light"/>
                <a:ea typeface="Calibri Light"/>
                <a:cs typeface="Calibri Light"/>
              </a:rPr>
              <a:t>Προσομοίωσης</a:t>
            </a:r>
            <a:r>
              <a:rPr lang="en-US" sz="3600">
                <a:latin typeface="Calibri Light"/>
                <a:ea typeface="Calibri Light"/>
                <a:cs typeface="Calibri Light"/>
              </a:rPr>
              <a:t> (2/2)</a:t>
            </a:r>
          </a:p>
        </p:txBody>
      </p:sp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16A3AAED-C473-FD0C-9F1C-ECCC13DADF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7181212"/>
              </p:ext>
            </p:extLst>
          </p:nvPr>
        </p:nvGraphicFramePr>
        <p:xfrm>
          <a:off x="417535" y="1053013"/>
          <a:ext cx="7223342" cy="4950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5">
            <a:extLst>
              <a:ext uri="{FF2B5EF4-FFF2-40B4-BE49-F238E27FC236}">
                <a16:creationId xmlns:a16="http://schemas.microsoft.com/office/drawing/2014/main" id="{74F4ABCB-5B73-2925-D27B-48C4F348F882}"/>
              </a:ext>
            </a:extLst>
          </p:cNvPr>
          <p:cNvSpPr txBox="1"/>
          <p:nvPr/>
        </p:nvSpPr>
        <p:spPr>
          <a:xfrm>
            <a:off x="645965" y="5996247"/>
            <a:ext cx="67724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err="1">
                <a:ea typeface="Calibri"/>
                <a:cs typeface="Calibri"/>
              </a:rPr>
              <a:t>Εικόν</a:t>
            </a:r>
            <a:r>
              <a:rPr lang="en-US" sz="2000" dirty="0">
                <a:ea typeface="Calibri"/>
                <a:cs typeface="Calibri"/>
              </a:rPr>
              <a:t>α 8: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Συγκριτικό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διάγρ</a:t>
            </a:r>
            <a:r>
              <a:rPr lang="en-US" sz="2000" dirty="0">
                <a:latin typeface="Calibri"/>
                <a:ea typeface="Calibri"/>
                <a:cs typeface="Calibri"/>
              </a:rPr>
              <a:t>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μμ</a:t>
            </a:r>
            <a:r>
              <a:rPr lang="en-US" sz="2000" dirty="0">
                <a:latin typeface="Calibri"/>
                <a:ea typeface="Calibri"/>
                <a:cs typeface="Calibri"/>
              </a:rPr>
              <a:t>α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σύστ</a:t>
            </a:r>
            <a:r>
              <a:rPr lang="en-US" sz="2000" dirty="0">
                <a:latin typeface="Calibri"/>
                <a:ea typeface="Calibri"/>
                <a:cs typeface="Calibri"/>
              </a:rPr>
              <a:t>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σης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του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διηθήμ</a:t>
            </a:r>
            <a:r>
              <a:rPr lang="en-US" sz="2000" dirty="0">
                <a:latin typeface="Calibri"/>
                <a:ea typeface="Calibri"/>
                <a:cs typeface="Calibri"/>
              </a:rPr>
              <a:t>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τος</a:t>
            </a:r>
            <a:r>
              <a:rPr lang="en-US" sz="2000" dirty="0">
                <a:latin typeface="Calibri"/>
                <a:ea typeface="Calibri"/>
                <a:cs typeface="Calibri"/>
              </a:rPr>
              <a:t> και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του</a:t>
            </a:r>
            <a:r>
              <a:rPr lang="en-US" sz="2000" dirty="0">
                <a:latin typeface="Calibri"/>
                <a:ea typeface="Calibri"/>
                <a:cs typeface="Calibri"/>
              </a:rPr>
              <a:t> 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συμ</a:t>
            </a:r>
            <a:r>
              <a:rPr lang="en-US" sz="2000" dirty="0">
                <a:latin typeface="Calibri"/>
                <a:ea typeface="Calibri"/>
                <a:cs typeface="Calibri"/>
              </a:rPr>
              <a:t>π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υκνώμ</a:t>
            </a:r>
            <a:r>
              <a:rPr lang="en-US" sz="2000" dirty="0">
                <a:latin typeface="Calibri"/>
                <a:ea typeface="Calibri"/>
                <a:cs typeface="Calibri"/>
              </a:rPr>
              <a:t>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τος</a:t>
            </a:r>
            <a:r>
              <a:rPr lang="en-US" sz="2000" dirty="0">
                <a:latin typeface="Calibri"/>
                <a:ea typeface="Calibri"/>
                <a:cs typeface="Calibri"/>
              </a:rPr>
              <a:t> 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σε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στερεά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84CF3B5-6AF8-6AB4-6CF9-E63595FE593A}"/>
              </a:ext>
            </a:extLst>
          </p:cNvPr>
          <p:cNvSpPr txBox="1"/>
          <p:nvPr/>
        </p:nvSpPr>
        <p:spPr>
          <a:xfrm>
            <a:off x="7651315" y="2479110"/>
            <a:ext cx="4540685" cy="16517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800" u="sng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Νερό</a:t>
            </a:r>
            <a:endParaRPr lang="en-US" sz="2800" u="sng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algn="ctr">
              <a:lnSpc>
                <a:spcPts val="2025"/>
              </a:lnSpc>
            </a:pPr>
            <a:endParaRPr lang="en-US" sz="2800" u="sng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algn="ctr">
              <a:lnSpc>
                <a:spcPts val="2025"/>
              </a:lnSpc>
            </a:pPr>
            <a:r>
              <a:rPr lang="en-US" sz="2800">
                <a:solidFill>
                  <a:srgbClr val="000000"/>
                </a:solidFill>
                <a:latin typeface="Calibri"/>
                <a:cs typeface="Arial"/>
              </a:rPr>
              <a:t>80% </a:t>
            </a:r>
            <a:r>
              <a:rPr lang="en-US" sz="2800" err="1">
                <a:solidFill>
                  <a:srgbClr val="000000"/>
                </a:solidFill>
                <a:latin typeface="Calibri"/>
                <a:cs typeface="Arial"/>
              </a:rPr>
              <a:t>στο</a:t>
            </a:r>
            <a:r>
              <a:rPr lang="en-US" sz="280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cs typeface="Arial"/>
              </a:rPr>
              <a:t>συμ</a:t>
            </a:r>
            <a:r>
              <a:rPr lang="en-US" sz="2800">
                <a:solidFill>
                  <a:srgbClr val="000000"/>
                </a:solidFill>
                <a:latin typeface="Calibri"/>
                <a:cs typeface="Arial"/>
              </a:rPr>
              <a:t>π</a:t>
            </a:r>
            <a:r>
              <a:rPr lang="en-US" sz="2800" err="1">
                <a:solidFill>
                  <a:srgbClr val="000000"/>
                </a:solidFill>
                <a:latin typeface="Calibri"/>
                <a:cs typeface="Arial"/>
              </a:rPr>
              <a:t>ύκνωμ</a:t>
            </a:r>
            <a:r>
              <a:rPr lang="en-US" sz="2800">
                <a:solidFill>
                  <a:srgbClr val="000000"/>
                </a:solidFill>
                <a:latin typeface="Calibri"/>
                <a:cs typeface="Arial"/>
              </a:rPr>
              <a:t>α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algn="ctr">
              <a:lnSpc>
                <a:spcPts val="2025"/>
              </a:lnSpc>
            </a:pPr>
            <a:endParaRPr lang="en-US" sz="280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algn="ctr">
              <a:lnSpc>
                <a:spcPts val="2025"/>
              </a:lnSpc>
            </a:pPr>
            <a:r>
              <a:rPr lang="en-US" sz="2800">
                <a:ea typeface="Calibri"/>
                <a:cs typeface="Arial"/>
              </a:rPr>
              <a:t>95.3% </a:t>
            </a:r>
            <a:r>
              <a:rPr lang="en-US" sz="2800" err="1">
                <a:ea typeface="Calibri"/>
                <a:cs typeface="Arial"/>
              </a:rPr>
              <a:t>στο</a:t>
            </a:r>
            <a:r>
              <a:rPr lang="en-US" sz="2800">
                <a:ea typeface="Calibri"/>
                <a:cs typeface="Arial"/>
              </a:rPr>
              <a:t> </a:t>
            </a:r>
            <a:r>
              <a:rPr lang="en-US" sz="2800" err="1">
                <a:ea typeface="Calibri"/>
                <a:cs typeface="Arial"/>
              </a:rPr>
              <a:t>διήθημ</a:t>
            </a:r>
            <a:r>
              <a:rPr lang="en-US" sz="2800">
                <a:ea typeface="Calibri"/>
                <a:cs typeface="Arial"/>
              </a:rPr>
              <a:t>α</a:t>
            </a:r>
          </a:p>
          <a:p>
            <a:pPr algn="ctr"/>
            <a:endParaRPr lang="de-DE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32789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feld 34">
            <a:extLst>
              <a:ext uri="{FF2B5EF4-FFF2-40B4-BE49-F238E27FC236}">
                <a16:creationId xmlns:a16="http://schemas.microsoft.com/office/drawing/2014/main" id="{6733D434-DAB9-2BFA-77AE-77F8F5E48991}"/>
              </a:ext>
            </a:extLst>
          </p:cNvPr>
          <p:cNvSpPr txBox="1"/>
          <p:nvPr/>
        </p:nvSpPr>
        <p:spPr>
          <a:xfrm>
            <a:off x="217147" y="6540414"/>
            <a:ext cx="11752298" cy="3218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1600" dirty="0">
              <a:ea typeface="Calibri"/>
              <a:cs typeface="Calibri"/>
            </a:endParaRPr>
          </a:p>
        </p:txBody>
      </p:sp>
      <p:pic>
        <p:nvPicPr>
          <p:cNvPr id="13" name="Picture 12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DDB28D67-71B7-19E6-1C90-608F2DB67E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36" t="18110" r="14442" b="29833"/>
          <a:stretch>
            <a:fillRect/>
          </a:stretch>
        </p:blipFill>
        <p:spPr>
          <a:xfrm>
            <a:off x="215661" y="839613"/>
            <a:ext cx="11747124" cy="588330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D8DF9-0C29-D238-364A-456EA9CC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19</a:t>
            </a:fld>
            <a:endParaRPr lang="en-US"/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B2B9DE8F-D2FA-DE78-BDE0-FD79541AEB05}"/>
              </a:ext>
            </a:extLst>
          </p:cNvPr>
          <p:cNvSpPr/>
          <p:nvPr/>
        </p:nvSpPr>
        <p:spPr>
          <a:xfrm>
            <a:off x="1102654" y="2412501"/>
            <a:ext cx="1037945" cy="54877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1700 kg/h, 5 °C</a:t>
            </a:r>
          </a:p>
        </p:txBody>
      </p: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D847B27F-3825-D54F-72A1-168FDE501E8F}"/>
              </a:ext>
            </a:extLst>
          </p:cNvPr>
          <p:cNvSpPr/>
          <p:nvPr/>
        </p:nvSpPr>
        <p:spPr>
          <a:xfrm>
            <a:off x="6781710" y="1708010"/>
            <a:ext cx="1037945" cy="54877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3095 kg/h, 90 °C</a:t>
            </a:r>
          </a:p>
        </p:txBody>
      </p:sp>
      <p:sp>
        <p:nvSpPr>
          <p:cNvPr id="27" name="Speech Bubble: Rectangle with Corners Rounded 26">
            <a:extLst>
              <a:ext uri="{FF2B5EF4-FFF2-40B4-BE49-F238E27FC236}">
                <a16:creationId xmlns:a16="http://schemas.microsoft.com/office/drawing/2014/main" id="{455CCD94-429A-910F-3690-8E02FCA718FD}"/>
              </a:ext>
            </a:extLst>
          </p:cNvPr>
          <p:cNvSpPr/>
          <p:nvPr/>
        </p:nvSpPr>
        <p:spPr>
          <a:xfrm>
            <a:off x="4136275" y="3433293"/>
            <a:ext cx="1037945" cy="54877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2278 kg/h, 5 °C</a:t>
            </a:r>
          </a:p>
        </p:txBody>
      </p:sp>
      <p:sp>
        <p:nvSpPr>
          <p:cNvPr id="29" name="Speech Bubble: Rectangle with Corners Rounded 28">
            <a:extLst>
              <a:ext uri="{FF2B5EF4-FFF2-40B4-BE49-F238E27FC236}">
                <a16:creationId xmlns:a16="http://schemas.microsoft.com/office/drawing/2014/main" id="{7D415F0B-20AC-45BA-7607-9CDDAB7C231D}"/>
              </a:ext>
            </a:extLst>
          </p:cNvPr>
          <p:cNvSpPr/>
          <p:nvPr/>
        </p:nvSpPr>
        <p:spPr>
          <a:xfrm>
            <a:off x="7169897" y="5172953"/>
            <a:ext cx="1037945" cy="54877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226 kg/h, 20 °C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DF69B78-8AE2-96CA-7BAF-BE10E9C45F32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>
                <a:ea typeface="Calibri Light"/>
                <a:cs typeface="Calibri Light"/>
              </a:rPr>
              <a:t>4.3.1 </a:t>
            </a:r>
            <a:r>
              <a:rPr lang="en-US" sz="3100" err="1">
                <a:ea typeface="Calibri Light"/>
                <a:cs typeface="Calibri Light"/>
              </a:rPr>
              <a:t>Ολοκληρωμένο</a:t>
            </a:r>
            <a:r>
              <a:rPr lang="en-US" sz="3100">
                <a:ea typeface="Calibri Light"/>
                <a:cs typeface="Calibri Light"/>
              </a:rPr>
              <a:t> </a:t>
            </a:r>
            <a:r>
              <a:rPr lang="en-US" sz="3100" err="1">
                <a:ea typeface="Calibri Light"/>
                <a:cs typeface="Calibri Light"/>
              </a:rPr>
              <a:t>Μοντέλο-Προδι</a:t>
            </a:r>
            <a:r>
              <a:rPr lang="en-US" sz="3100">
                <a:ea typeface="Calibri Light"/>
                <a:cs typeface="Calibri Light"/>
              </a:rPr>
              <a:t>α</a:t>
            </a:r>
            <a:r>
              <a:rPr lang="en-US" sz="3100" err="1">
                <a:ea typeface="Calibri Light"/>
                <a:cs typeface="Calibri Light"/>
              </a:rPr>
              <a:t>γρ</a:t>
            </a:r>
            <a:r>
              <a:rPr lang="en-US" sz="3100">
                <a:ea typeface="Calibri Light"/>
                <a:cs typeface="Calibri Light"/>
              </a:rPr>
              <a:t>α</a:t>
            </a:r>
            <a:r>
              <a:rPr lang="en-US" sz="3100" err="1">
                <a:ea typeface="Calibri Light"/>
                <a:cs typeface="Calibri Light"/>
              </a:rPr>
              <a:t>φές</a:t>
            </a:r>
            <a:endParaRPr lang="en-US" sz="3100">
              <a:ea typeface="Calibri Light"/>
              <a:cs typeface="Calibri Light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BB2D3C0-3EC5-F092-FF3E-735C7E6FC3FC}"/>
              </a:ext>
            </a:extLst>
          </p:cNvPr>
          <p:cNvSpPr txBox="1"/>
          <p:nvPr/>
        </p:nvSpPr>
        <p:spPr>
          <a:xfrm>
            <a:off x="2036797" y="3249882"/>
            <a:ext cx="1575439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Αν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γεννητική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μονάδ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CEFA823-437C-4E73-F938-305F073F6559}"/>
              </a:ext>
            </a:extLst>
          </p:cNvPr>
          <p:cNvSpPr txBox="1"/>
          <p:nvPr/>
        </p:nvSpPr>
        <p:spPr>
          <a:xfrm>
            <a:off x="6959407" y="3348306"/>
            <a:ext cx="1720581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Προθερμ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ντήρ</a:t>
            </a:r>
            <a:r>
              <a:rPr lang="de-DE" sz="1600" dirty="0">
                <a:ea typeface="Calibri"/>
                <a:cs typeface="Calibri"/>
              </a:rPr>
              <a:t>ας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BB1D69E-0D6E-3977-587C-DDB8F7D30D3C}"/>
              </a:ext>
            </a:extLst>
          </p:cNvPr>
          <p:cNvSpPr txBox="1"/>
          <p:nvPr/>
        </p:nvSpPr>
        <p:spPr>
          <a:xfrm>
            <a:off x="9224996" y="3429949"/>
            <a:ext cx="1575439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err="1">
                <a:ea typeface="Calibri"/>
                <a:cs typeface="Calibri"/>
              </a:rPr>
              <a:t>Θάλ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err="1">
                <a:ea typeface="Calibri"/>
                <a:cs typeface="Calibri"/>
              </a:rPr>
              <a:t>μος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>
                <a:ea typeface="Calibri"/>
                <a:cs typeface="Calibri"/>
              </a:rPr>
              <a:t>συγκράτησης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1FBD902-B64B-3BDA-7B65-3BB700060B78}"/>
              </a:ext>
            </a:extLst>
          </p:cNvPr>
          <p:cNvSpPr txBox="1"/>
          <p:nvPr/>
        </p:nvSpPr>
        <p:spPr>
          <a:xfrm>
            <a:off x="4592217" y="5005203"/>
            <a:ext cx="822511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Ψύκτης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79A2FB1-5AE8-347D-F1F4-790C9794DC5F}"/>
              </a:ext>
            </a:extLst>
          </p:cNvPr>
          <p:cNvSpPr txBox="1"/>
          <p:nvPr/>
        </p:nvSpPr>
        <p:spPr>
          <a:xfrm>
            <a:off x="546526" y="3332330"/>
            <a:ext cx="1293819" cy="3499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Τροφοδοσί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E113FB2-5EDC-C355-9320-B5507B76E90A}"/>
              </a:ext>
            </a:extLst>
          </p:cNvPr>
          <p:cNvSpPr txBox="1"/>
          <p:nvPr/>
        </p:nvSpPr>
        <p:spPr>
          <a:xfrm>
            <a:off x="543608" y="5865152"/>
            <a:ext cx="2665289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Διάρκει</a:t>
            </a:r>
            <a:r>
              <a:rPr lang="de-DE" sz="1600" dirty="0">
                <a:ea typeface="Calibri"/>
                <a:cs typeface="Calibri"/>
              </a:rPr>
              <a:t>α π</a:t>
            </a:r>
            <a:r>
              <a:rPr lang="de-DE" sz="1600" dirty="0" err="1">
                <a:ea typeface="Calibri"/>
                <a:cs typeface="Calibri"/>
              </a:rPr>
              <a:t>ροσομοίωσης</a:t>
            </a:r>
            <a:endParaRPr lang="de-DE" sz="1600" dirty="0">
              <a:ea typeface="Calibri"/>
              <a:cs typeface="Calibri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60E5936-FDE4-2E98-9219-E8A7DB878C24}"/>
              </a:ext>
            </a:extLst>
          </p:cNvPr>
          <p:cNvSpPr txBox="1"/>
          <p:nvPr/>
        </p:nvSpPr>
        <p:spPr>
          <a:xfrm>
            <a:off x="763634" y="1029535"/>
            <a:ext cx="1711370" cy="3499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600" err="1">
                <a:ea typeface="Calibri"/>
                <a:cs typeface="Calibri"/>
              </a:rPr>
              <a:t>Προδι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err="1">
                <a:ea typeface="Calibri"/>
                <a:cs typeface="Calibri"/>
              </a:rPr>
              <a:t>γρ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err="1">
                <a:ea typeface="Calibri"/>
                <a:cs typeface="Calibri"/>
              </a:rPr>
              <a:t>φές</a:t>
            </a:r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842C680-9842-B049-9CAE-E7B66663D9AB}"/>
              </a:ext>
            </a:extLst>
          </p:cNvPr>
          <p:cNvSpPr txBox="1"/>
          <p:nvPr/>
        </p:nvSpPr>
        <p:spPr>
          <a:xfrm>
            <a:off x="4813058" y="2622535"/>
            <a:ext cx="1979935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Νερό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θέρμ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νσης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5E1F113-4308-EBB5-29DE-7382C80E550E}"/>
              </a:ext>
            </a:extLst>
          </p:cNvPr>
          <p:cNvSpPr txBox="1"/>
          <p:nvPr/>
        </p:nvSpPr>
        <p:spPr>
          <a:xfrm>
            <a:off x="3160871" y="4251769"/>
            <a:ext cx="1430296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Νερό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ψύξης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166E8AB-11B3-9CED-A45D-F309A539B429}"/>
              </a:ext>
            </a:extLst>
          </p:cNvPr>
          <p:cNvSpPr txBox="1"/>
          <p:nvPr/>
        </p:nvSpPr>
        <p:spPr>
          <a:xfrm>
            <a:off x="4972651" y="5722859"/>
            <a:ext cx="1986961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Έξοδος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νερού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ψύξης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AF970CA9-A679-8703-E63D-EFA6070D783B}"/>
              </a:ext>
            </a:extLst>
          </p:cNvPr>
          <p:cNvSpPr txBox="1"/>
          <p:nvPr/>
        </p:nvSpPr>
        <p:spPr>
          <a:xfrm>
            <a:off x="7296282" y="4253797"/>
            <a:ext cx="2429639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Έξοδος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νερού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θέρμ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νσης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167FC4D2-2CE1-D90C-5BF7-61B82A78B6CB}"/>
              </a:ext>
            </a:extLst>
          </p:cNvPr>
          <p:cNvSpPr txBox="1"/>
          <p:nvPr/>
        </p:nvSpPr>
        <p:spPr>
          <a:xfrm>
            <a:off x="8969246" y="2091465"/>
            <a:ext cx="1305377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Εικονική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ροή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003604BC-6C30-62D3-4325-07499A445222}"/>
              </a:ext>
            </a:extLst>
          </p:cNvPr>
          <p:cNvSpPr txBox="1"/>
          <p:nvPr/>
        </p:nvSpPr>
        <p:spPr>
          <a:xfrm>
            <a:off x="10445620" y="4091402"/>
            <a:ext cx="1305377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Εικονική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ροή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E76F597-5FE3-31C1-55D2-334F54FF5A02}"/>
              </a:ext>
            </a:extLst>
          </p:cNvPr>
          <p:cNvSpPr txBox="1"/>
          <p:nvPr/>
        </p:nvSpPr>
        <p:spPr>
          <a:xfrm>
            <a:off x="8324394" y="6130777"/>
            <a:ext cx="1793153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Μεμ</a:t>
            </a:r>
            <a:r>
              <a:rPr lang="de-DE" sz="1600" dirty="0">
                <a:ea typeface="Calibri"/>
                <a:cs typeface="Calibri"/>
              </a:rPr>
              <a:t>β</a:t>
            </a:r>
            <a:r>
              <a:rPr lang="de-DE" sz="1600" dirty="0" err="1">
                <a:ea typeface="Calibri"/>
                <a:cs typeface="Calibri"/>
              </a:rPr>
              <a:t>ράνη</a:t>
            </a:r>
            <a:r>
              <a:rPr lang="de-DE" sz="1600" dirty="0">
                <a:ea typeface="Calibri"/>
                <a:cs typeface="Calibri"/>
              </a:rPr>
              <a:t> υπ</a:t>
            </a:r>
            <a:r>
              <a:rPr lang="de-DE" sz="1600" dirty="0" err="1">
                <a:ea typeface="Calibri"/>
                <a:cs typeface="Calibri"/>
              </a:rPr>
              <a:t>ερδιήθησης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297FD212-E91D-C669-902B-08F9BD1486F3}"/>
              </a:ext>
            </a:extLst>
          </p:cNvPr>
          <p:cNvSpPr txBox="1"/>
          <p:nvPr/>
        </p:nvSpPr>
        <p:spPr>
          <a:xfrm>
            <a:off x="5661213" y="6521325"/>
            <a:ext cx="2029010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Νερό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δι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διήθησης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2767D5F2-C3DB-78FE-CEBC-D41E017B0692}"/>
              </a:ext>
            </a:extLst>
          </p:cNvPr>
          <p:cNvSpPr txBox="1"/>
          <p:nvPr/>
        </p:nvSpPr>
        <p:spPr>
          <a:xfrm>
            <a:off x="9974917" y="6353265"/>
            <a:ext cx="1874795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Συμ</a:t>
            </a:r>
            <a:r>
              <a:rPr lang="de-DE" sz="1600" dirty="0">
                <a:ea typeface="Calibri"/>
                <a:cs typeface="Calibri"/>
              </a:rPr>
              <a:t>π</a:t>
            </a:r>
            <a:r>
              <a:rPr lang="de-DE" sz="1600" dirty="0" err="1">
                <a:ea typeface="Calibri"/>
                <a:cs typeface="Calibri"/>
              </a:rPr>
              <a:t>ύκνωμ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66E04440-74B5-7CE9-2C8C-EF6962B6A4E8}"/>
              </a:ext>
            </a:extLst>
          </p:cNvPr>
          <p:cNvSpPr txBox="1"/>
          <p:nvPr/>
        </p:nvSpPr>
        <p:spPr>
          <a:xfrm>
            <a:off x="10711135" y="5173979"/>
            <a:ext cx="1248868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Διήθημ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42C8A444-2427-AE30-A2CF-EFD12F74A84B}"/>
              </a:ext>
            </a:extLst>
          </p:cNvPr>
          <p:cNvSpPr txBox="1"/>
          <p:nvPr/>
        </p:nvSpPr>
        <p:spPr>
          <a:xfrm>
            <a:off x="8609172" y="5868649"/>
            <a:ext cx="1756062" cy="171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1600" dirty="0">
              <a:ea typeface="Calibri"/>
              <a:cs typeface="Calibri"/>
            </a:endParaRPr>
          </a:p>
        </p:txBody>
      </p:sp>
      <p:pic>
        <p:nvPicPr>
          <p:cNvPr id="2" name="Picture 12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74155414-327B-0673-7A91-3545C58BA1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429" t="42830" r="62952" b="55431"/>
          <a:stretch>
            <a:fillRect/>
          </a:stretch>
        </p:blipFill>
        <p:spPr>
          <a:xfrm>
            <a:off x="9028704" y="5867729"/>
            <a:ext cx="126214" cy="19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68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2A0A4-CFAC-FDAC-7977-EDB1A1CF1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feld 54">
            <a:extLst>
              <a:ext uri="{FF2B5EF4-FFF2-40B4-BE49-F238E27FC236}">
                <a16:creationId xmlns:a16="http://schemas.microsoft.com/office/drawing/2014/main" id="{0A353DDA-6FB5-0D0C-3CFD-952130BEC4F3}"/>
              </a:ext>
            </a:extLst>
          </p:cNvPr>
          <p:cNvSpPr txBox="1"/>
          <p:nvPr/>
        </p:nvSpPr>
        <p:spPr>
          <a:xfrm>
            <a:off x="217147" y="6540414"/>
            <a:ext cx="11752298" cy="3218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1600" dirty="0">
              <a:ea typeface="Calibri"/>
              <a:cs typeface="Calibri"/>
            </a:endParaRPr>
          </a:p>
        </p:txBody>
      </p:sp>
      <p:pic>
        <p:nvPicPr>
          <p:cNvPr id="13" name="Picture 12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7727E763-2AFE-B7F0-A206-27FA3CEEF1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36" t="18110" r="14442" b="29833"/>
          <a:stretch>
            <a:fillRect/>
          </a:stretch>
        </p:blipFill>
        <p:spPr>
          <a:xfrm>
            <a:off x="215661" y="839613"/>
            <a:ext cx="11747124" cy="588330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05453-21CA-B69F-FAC9-894DF4DC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20</a:t>
            </a:fld>
            <a:endParaRPr lang="en-US"/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EAADF45A-7A93-3790-51C9-F1BDB04DBBD5}"/>
              </a:ext>
            </a:extLst>
          </p:cNvPr>
          <p:cNvSpPr/>
          <p:nvPr/>
        </p:nvSpPr>
        <p:spPr>
          <a:xfrm>
            <a:off x="1102654" y="2412501"/>
            <a:ext cx="1037945" cy="54877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1700 kg/h, 5 °C</a:t>
            </a:r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F8CB59E7-F957-0E06-5A9C-0FF06E77D454}"/>
              </a:ext>
            </a:extLst>
          </p:cNvPr>
          <p:cNvSpPr/>
          <p:nvPr/>
        </p:nvSpPr>
        <p:spPr>
          <a:xfrm>
            <a:off x="9153973" y="2685669"/>
            <a:ext cx="649757" cy="390627"/>
          </a:xfrm>
          <a:prstGeom prst="wedgeRoundRectCallo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72 °C</a:t>
            </a:r>
          </a:p>
        </p:txBody>
      </p:sp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72664C32-81EE-666D-743E-6852DD37AA1F}"/>
              </a:ext>
            </a:extLst>
          </p:cNvPr>
          <p:cNvSpPr/>
          <p:nvPr/>
        </p:nvSpPr>
        <p:spPr>
          <a:xfrm>
            <a:off x="7169896" y="989141"/>
            <a:ext cx="649757" cy="390627"/>
          </a:xfrm>
          <a:prstGeom prst="wedgeRoundRectCallo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72 °C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014199A2-D75E-AEEB-127C-05F2BCE0DBE1}"/>
              </a:ext>
            </a:extLst>
          </p:cNvPr>
          <p:cNvSpPr/>
          <p:nvPr/>
        </p:nvSpPr>
        <p:spPr>
          <a:xfrm>
            <a:off x="2252839" y="4224046"/>
            <a:ext cx="649757" cy="390627"/>
          </a:xfrm>
          <a:prstGeom prst="wedgeRoundRectCallo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ea typeface="Calibri"/>
                <a:cs typeface="Calibri"/>
              </a:rPr>
              <a:t>37 °C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972B60B7-C6E7-4A55-58AD-2FCA7ACBA613}"/>
              </a:ext>
            </a:extLst>
          </p:cNvPr>
          <p:cNvSpPr/>
          <p:nvPr/>
        </p:nvSpPr>
        <p:spPr>
          <a:xfrm>
            <a:off x="3934991" y="2570651"/>
            <a:ext cx="649757" cy="390627"/>
          </a:xfrm>
          <a:prstGeom prst="wedgeRoundRectCallo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ea typeface="Calibri"/>
                <a:cs typeface="Calibri"/>
              </a:rPr>
              <a:t>40 °C</a:t>
            </a:r>
          </a:p>
        </p:txBody>
      </p:sp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B8B13092-0011-873C-4E32-F45108224D69}"/>
              </a:ext>
            </a:extLst>
          </p:cNvPr>
          <p:cNvSpPr/>
          <p:nvPr/>
        </p:nvSpPr>
        <p:spPr>
          <a:xfrm>
            <a:off x="6781710" y="1708010"/>
            <a:ext cx="1037945" cy="54877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3095 kg/h, 90 °C</a:t>
            </a:r>
          </a:p>
        </p:txBody>
      </p:sp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42D5ACBF-941F-EE38-223F-9AFA6076099F}"/>
              </a:ext>
            </a:extLst>
          </p:cNvPr>
          <p:cNvSpPr/>
          <p:nvPr/>
        </p:nvSpPr>
        <p:spPr>
          <a:xfrm>
            <a:off x="4136275" y="3433293"/>
            <a:ext cx="1037945" cy="54877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2278 kg/h, 5 °C</a:t>
            </a:r>
          </a:p>
        </p:txBody>
      </p:sp>
      <p:sp>
        <p:nvSpPr>
          <p:cNvPr id="27" name="Speech Bubble: Rectangle with Corners Rounded 26">
            <a:extLst>
              <a:ext uri="{FF2B5EF4-FFF2-40B4-BE49-F238E27FC236}">
                <a16:creationId xmlns:a16="http://schemas.microsoft.com/office/drawing/2014/main" id="{0C232B4A-BCC6-2D27-93E2-B48139FEC319}"/>
              </a:ext>
            </a:extLst>
          </p:cNvPr>
          <p:cNvSpPr/>
          <p:nvPr/>
        </p:nvSpPr>
        <p:spPr>
          <a:xfrm>
            <a:off x="7169897" y="5172953"/>
            <a:ext cx="1037945" cy="548777"/>
          </a:xfrm>
          <a:prstGeom prst="wedgeRoundRectCallo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226 kg/h, 20 °C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1013FC9-7BEA-D04E-8B34-140B5E89830A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4.3.2  </a:t>
            </a:r>
            <a:r>
              <a:rPr lang="en-US" sz="3100" dirty="0" err="1">
                <a:ea typeface="Calibri Light"/>
                <a:cs typeface="Calibri Light"/>
              </a:rPr>
              <a:t>Ολοκληρωμένο</a:t>
            </a:r>
            <a:r>
              <a:rPr lang="en-US" sz="3100" dirty="0">
                <a:ea typeface="Calibri Light"/>
                <a:cs typeface="Calibri Light"/>
              </a:rPr>
              <a:t> </a:t>
            </a:r>
            <a:r>
              <a:rPr lang="en-US" sz="3100" dirty="0" err="1">
                <a:ea typeface="Calibri Light"/>
                <a:cs typeface="Calibri Light"/>
              </a:rPr>
              <a:t>Μοντέλο</a:t>
            </a:r>
            <a:r>
              <a:rPr lang="en-US" sz="3100" dirty="0">
                <a:ea typeface="Calibri Light"/>
                <a:cs typeface="Calibri Light"/>
              </a:rPr>
              <a:t>-Απ</a:t>
            </a:r>
            <a:r>
              <a:rPr lang="en-US" sz="3100" dirty="0" err="1">
                <a:ea typeface="Calibri Light"/>
                <a:cs typeface="Calibri Light"/>
              </a:rPr>
              <a:t>οτελέσμ</a:t>
            </a:r>
            <a:r>
              <a:rPr lang="en-US" sz="3100" dirty="0">
                <a:ea typeface="Calibri Light"/>
                <a:cs typeface="Calibri Light"/>
              </a:rPr>
              <a:t>ατα </a:t>
            </a:r>
            <a:r>
              <a:rPr lang="en-US" sz="3100" dirty="0" err="1">
                <a:ea typeface="Calibri Light"/>
                <a:cs typeface="Calibri Light"/>
              </a:rPr>
              <a:t>Προσομοίωσης</a:t>
            </a:r>
            <a:r>
              <a:rPr lang="en-US" sz="3100" dirty="0">
                <a:ea typeface="Calibri Light"/>
                <a:cs typeface="Calibri Light"/>
              </a:rPr>
              <a:t> (1/4)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C4645A5-1B5A-1AAB-6609-A0DBC15CEE8B}"/>
              </a:ext>
            </a:extLst>
          </p:cNvPr>
          <p:cNvSpPr txBox="1"/>
          <p:nvPr/>
        </p:nvSpPr>
        <p:spPr>
          <a:xfrm>
            <a:off x="2036797" y="3249882"/>
            <a:ext cx="1575439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Αν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γεννητική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μονάδ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BBCDCB3-A5FF-0DA3-4BD4-4C8DC8129736}"/>
              </a:ext>
            </a:extLst>
          </p:cNvPr>
          <p:cNvSpPr txBox="1"/>
          <p:nvPr/>
        </p:nvSpPr>
        <p:spPr>
          <a:xfrm>
            <a:off x="6959407" y="3348306"/>
            <a:ext cx="1720581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Προθερμ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ντήρ</a:t>
            </a:r>
            <a:r>
              <a:rPr lang="de-DE" sz="1600" dirty="0">
                <a:ea typeface="Calibri"/>
                <a:cs typeface="Calibri"/>
              </a:rPr>
              <a:t>ας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D2B7DAF-78DF-787B-350E-96C980AA48C4}"/>
              </a:ext>
            </a:extLst>
          </p:cNvPr>
          <p:cNvSpPr txBox="1"/>
          <p:nvPr/>
        </p:nvSpPr>
        <p:spPr>
          <a:xfrm>
            <a:off x="9224996" y="3429949"/>
            <a:ext cx="1575439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err="1">
                <a:ea typeface="Calibri"/>
                <a:cs typeface="Calibri"/>
              </a:rPr>
              <a:t>Θάλ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err="1">
                <a:ea typeface="Calibri"/>
                <a:cs typeface="Calibri"/>
              </a:rPr>
              <a:t>μος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>
                <a:ea typeface="Calibri"/>
                <a:cs typeface="Calibri"/>
              </a:rPr>
              <a:t>συγκράτησης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E72FBC7-FC09-9B34-9A86-4DB9FF75A4B6}"/>
              </a:ext>
            </a:extLst>
          </p:cNvPr>
          <p:cNvSpPr txBox="1"/>
          <p:nvPr/>
        </p:nvSpPr>
        <p:spPr>
          <a:xfrm>
            <a:off x="4592217" y="5005203"/>
            <a:ext cx="822511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Ψύκτης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7070C4A-2E91-F71B-0F9A-C003D50D37FE}"/>
              </a:ext>
            </a:extLst>
          </p:cNvPr>
          <p:cNvSpPr txBox="1"/>
          <p:nvPr/>
        </p:nvSpPr>
        <p:spPr>
          <a:xfrm>
            <a:off x="546526" y="3332330"/>
            <a:ext cx="1293819" cy="3499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Τροφοδοσί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AAA8A4E-A1B0-1D22-FA7F-EAA2755A4E37}"/>
              </a:ext>
            </a:extLst>
          </p:cNvPr>
          <p:cNvSpPr txBox="1"/>
          <p:nvPr/>
        </p:nvSpPr>
        <p:spPr>
          <a:xfrm>
            <a:off x="543608" y="5865152"/>
            <a:ext cx="2665289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Διάρκει</a:t>
            </a:r>
            <a:r>
              <a:rPr lang="de-DE" sz="1600" dirty="0">
                <a:ea typeface="Calibri"/>
                <a:cs typeface="Calibri"/>
              </a:rPr>
              <a:t>α π</a:t>
            </a:r>
            <a:r>
              <a:rPr lang="de-DE" sz="1600" dirty="0" err="1">
                <a:ea typeface="Calibri"/>
                <a:cs typeface="Calibri"/>
              </a:rPr>
              <a:t>ροσομοίωσης</a:t>
            </a:r>
            <a:endParaRPr lang="de-DE" sz="1600" dirty="0">
              <a:ea typeface="Calibri"/>
              <a:cs typeface="Calibri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5E3457AA-7CC7-5555-9478-F27D0C356E31}"/>
              </a:ext>
            </a:extLst>
          </p:cNvPr>
          <p:cNvSpPr txBox="1"/>
          <p:nvPr/>
        </p:nvSpPr>
        <p:spPr>
          <a:xfrm>
            <a:off x="763634" y="1029535"/>
            <a:ext cx="1711370" cy="3499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600" err="1">
                <a:ea typeface="Calibri"/>
                <a:cs typeface="Calibri"/>
              </a:rPr>
              <a:t>Προδι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err="1">
                <a:ea typeface="Calibri"/>
                <a:cs typeface="Calibri"/>
              </a:rPr>
              <a:t>γρ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err="1">
                <a:ea typeface="Calibri"/>
                <a:cs typeface="Calibri"/>
              </a:rPr>
              <a:t>φές</a:t>
            </a:r>
            <a:endParaRPr lang="de-DE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5A04A355-8260-3323-658A-5C3EDA115E50}"/>
              </a:ext>
            </a:extLst>
          </p:cNvPr>
          <p:cNvSpPr txBox="1"/>
          <p:nvPr/>
        </p:nvSpPr>
        <p:spPr>
          <a:xfrm>
            <a:off x="4813058" y="2576353"/>
            <a:ext cx="1979935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Νερό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θέρμ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νσης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26798CC8-6379-0AA6-8004-174D114DD7D1}"/>
              </a:ext>
            </a:extLst>
          </p:cNvPr>
          <p:cNvSpPr txBox="1"/>
          <p:nvPr/>
        </p:nvSpPr>
        <p:spPr>
          <a:xfrm>
            <a:off x="3160871" y="4251769"/>
            <a:ext cx="1430296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Νερό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ψύξης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C562D877-2C4D-4F3E-8706-7FA3135FA3F1}"/>
              </a:ext>
            </a:extLst>
          </p:cNvPr>
          <p:cNvSpPr txBox="1"/>
          <p:nvPr/>
        </p:nvSpPr>
        <p:spPr>
          <a:xfrm>
            <a:off x="4972651" y="5722859"/>
            <a:ext cx="1986961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Έξοδος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νερού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ψύξης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41585411-773C-5546-2499-5631F3BF6499}"/>
              </a:ext>
            </a:extLst>
          </p:cNvPr>
          <p:cNvSpPr txBox="1"/>
          <p:nvPr/>
        </p:nvSpPr>
        <p:spPr>
          <a:xfrm>
            <a:off x="7296282" y="4253797"/>
            <a:ext cx="2429639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Έξοδος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νερού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θέρμ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νσης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6089B6CF-84F3-246C-5F9E-F60C1352EF06}"/>
              </a:ext>
            </a:extLst>
          </p:cNvPr>
          <p:cNvSpPr txBox="1"/>
          <p:nvPr/>
        </p:nvSpPr>
        <p:spPr>
          <a:xfrm>
            <a:off x="8969246" y="2091465"/>
            <a:ext cx="1305377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Εικονική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ροή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4337F1BA-EB35-CC91-B7E1-00BEAC7D0D97}"/>
              </a:ext>
            </a:extLst>
          </p:cNvPr>
          <p:cNvSpPr txBox="1"/>
          <p:nvPr/>
        </p:nvSpPr>
        <p:spPr>
          <a:xfrm>
            <a:off x="10445620" y="4091402"/>
            <a:ext cx="1305377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Εικονική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ροή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B47B372-0FFC-EEDA-B414-1A5EAD054E86}"/>
              </a:ext>
            </a:extLst>
          </p:cNvPr>
          <p:cNvSpPr txBox="1"/>
          <p:nvPr/>
        </p:nvSpPr>
        <p:spPr>
          <a:xfrm>
            <a:off x="8081939" y="6200051"/>
            <a:ext cx="1400608" cy="6078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Μεμ</a:t>
            </a:r>
            <a:r>
              <a:rPr lang="de-DE" sz="1600" dirty="0">
                <a:ea typeface="Calibri"/>
                <a:cs typeface="Calibri"/>
              </a:rPr>
              <a:t>β</a:t>
            </a:r>
            <a:r>
              <a:rPr lang="de-DE" sz="1600" dirty="0" err="1">
                <a:ea typeface="Calibri"/>
                <a:cs typeface="Calibri"/>
              </a:rPr>
              <a:t>ράνη</a:t>
            </a:r>
            <a:r>
              <a:rPr lang="de-DE" sz="1600" dirty="0">
                <a:ea typeface="Calibri"/>
                <a:cs typeface="Calibri"/>
              </a:rPr>
              <a:t> υπ</a:t>
            </a:r>
            <a:r>
              <a:rPr lang="de-DE" sz="1600" dirty="0" err="1">
                <a:ea typeface="Calibri"/>
                <a:cs typeface="Calibri"/>
              </a:rPr>
              <a:t>ερδιήθησης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B0E541CF-3BC8-4F41-8FC3-123468A3CBC9}"/>
              </a:ext>
            </a:extLst>
          </p:cNvPr>
          <p:cNvSpPr txBox="1"/>
          <p:nvPr/>
        </p:nvSpPr>
        <p:spPr>
          <a:xfrm>
            <a:off x="5661213" y="6521325"/>
            <a:ext cx="2029010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Νερό</a:t>
            </a:r>
            <a:r>
              <a:rPr lang="de-DE" sz="1600" dirty="0">
                <a:ea typeface="Calibri"/>
                <a:cs typeface="Calibri"/>
              </a:rPr>
              <a:t> </a:t>
            </a:r>
            <a:r>
              <a:rPr lang="de-DE" sz="1600" dirty="0" err="1">
                <a:ea typeface="Calibri"/>
                <a:cs typeface="Calibri"/>
              </a:rPr>
              <a:t>δι</a:t>
            </a:r>
            <a:r>
              <a:rPr lang="de-DE" sz="1600" dirty="0">
                <a:ea typeface="Calibri"/>
                <a:cs typeface="Calibri"/>
              </a:rPr>
              <a:t>α</a:t>
            </a:r>
            <a:r>
              <a:rPr lang="de-DE" sz="1600" dirty="0" err="1">
                <a:ea typeface="Calibri"/>
                <a:cs typeface="Calibri"/>
              </a:rPr>
              <a:t>διήθησης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E731BB0B-D641-33DF-AB53-B8B1B98D6E2B}"/>
              </a:ext>
            </a:extLst>
          </p:cNvPr>
          <p:cNvSpPr txBox="1"/>
          <p:nvPr/>
        </p:nvSpPr>
        <p:spPr>
          <a:xfrm>
            <a:off x="10598371" y="6330175"/>
            <a:ext cx="1297523" cy="3500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Συμ</a:t>
            </a:r>
            <a:r>
              <a:rPr lang="de-DE" sz="1600" dirty="0">
                <a:ea typeface="Calibri"/>
                <a:cs typeface="Calibri"/>
              </a:rPr>
              <a:t>π</a:t>
            </a:r>
            <a:r>
              <a:rPr lang="de-DE" sz="1600" dirty="0" err="1">
                <a:ea typeface="Calibri"/>
                <a:cs typeface="Calibri"/>
              </a:rPr>
              <a:t>ύκνωμ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2FB4EF11-4A53-B33D-C2BE-7EB60E4CF986}"/>
              </a:ext>
            </a:extLst>
          </p:cNvPr>
          <p:cNvSpPr txBox="1"/>
          <p:nvPr/>
        </p:nvSpPr>
        <p:spPr>
          <a:xfrm>
            <a:off x="10711135" y="5173979"/>
            <a:ext cx="1248868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600" dirty="0" err="1">
                <a:ea typeface="Calibri"/>
                <a:cs typeface="Calibri"/>
              </a:rPr>
              <a:t>Διήθημ</a:t>
            </a:r>
            <a:r>
              <a:rPr lang="de-DE" sz="1600" dirty="0">
                <a:ea typeface="Calibri"/>
                <a:cs typeface="Calibri"/>
              </a:rPr>
              <a:t>α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DAA8BF6E-DC86-99BC-141F-D2D5484F757A}"/>
              </a:ext>
            </a:extLst>
          </p:cNvPr>
          <p:cNvSpPr txBox="1"/>
          <p:nvPr/>
        </p:nvSpPr>
        <p:spPr>
          <a:xfrm>
            <a:off x="8609172" y="5868649"/>
            <a:ext cx="1756062" cy="171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de-DE" sz="1600" dirty="0">
              <a:ea typeface="Calibri"/>
              <a:cs typeface="Calibri"/>
            </a:endParaRPr>
          </a:p>
        </p:txBody>
      </p:sp>
      <p:sp>
        <p:nvSpPr>
          <p:cNvPr id="28" name="Speech Bubble: Rectangle with Corners Rounded 27">
            <a:extLst>
              <a:ext uri="{FF2B5EF4-FFF2-40B4-BE49-F238E27FC236}">
                <a16:creationId xmlns:a16="http://schemas.microsoft.com/office/drawing/2014/main" id="{B07E733C-3A21-56AA-8A85-62FE917B4011}"/>
              </a:ext>
            </a:extLst>
          </p:cNvPr>
          <p:cNvSpPr/>
          <p:nvPr/>
        </p:nvSpPr>
        <p:spPr>
          <a:xfrm>
            <a:off x="9700311" y="4410953"/>
            <a:ext cx="1023569" cy="548777"/>
          </a:xfrm>
          <a:prstGeom prst="wedgeRoundRectCallo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ea typeface="Calibri"/>
                <a:cs typeface="Calibri"/>
              </a:rPr>
              <a:t>1579 kg/h, 19 °C</a:t>
            </a:r>
          </a:p>
        </p:txBody>
      </p:sp>
      <p:pic>
        <p:nvPicPr>
          <p:cNvPr id="6" name="Picture 12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8124059E-073A-32BD-7AFD-E904105732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429" t="42830" r="62952" b="55431"/>
          <a:stretch>
            <a:fillRect/>
          </a:stretch>
        </p:blipFill>
        <p:spPr>
          <a:xfrm>
            <a:off x="9028704" y="5867729"/>
            <a:ext cx="126214" cy="196645"/>
          </a:xfrm>
          <a:prstGeom prst="rect">
            <a:avLst/>
          </a:prstGeom>
        </p:spPr>
      </p:pic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C3C0EBFC-4483-2E27-D2A1-63B92023C0FC}"/>
              </a:ext>
            </a:extLst>
          </p:cNvPr>
          <p:cNvSpPr/>
          <p:nvPr/>
        </p:nvSpPr>
        <p:spPr>
          <a:xfrm>
            <a:off x="7486199" y="3675076"/>
            <a:ext cx="649757" cy="390627"/>
          </a:xfrm>
          <a:prstGeom prst="wedgeRoundRectCallo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76 °C</a:t>
            </a:r>
          </a:p>
        </p:txBody>
      </p:sp>
      <p:sp>
        <p:nvSpPr>
          <p:cNvPr id="25" name="Speech Bubble: Rectangle with Corners Rounded 24">
            <a:extLst>
              <a:ext uri="{FF2B5EF4-FFF2-40B4-BE49-F238E27FC236}">
                <a16:creationId xmlns:a16="http://schemas.microsoft.com/office/drawing/2014/main" id="{03C25572-0295-32EC-E892-ECA769344331}"/>
              </a:ext>
            </a:extLst>
          </p:cNvPr>
          <p:cNvSpPr/>
          <p:nvPr/>
        </p:nvSpPr>
        <p:spPr>
          <a:xfrm>
            <a:off x="6695444" y="4281555"/>
            <a:ext cx="649757" cy="390627"/>
          </a:xfrm>
          <a:prstGeom prst="wedgeRoundRectCallo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19 °C</a:t>
            </a: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87899073-33C4-901F-A66D-C6752590DF68}"/>
              </a:ext>
            </a:extLst>
          </p:cNvPr>
          <p:cNvSpPr/>
          <p:nvPr/>
        </p:nvSpPr>
        <p:spPr>
          <a:xfrm>
            <a:off x="4653858" y="5331102"/>
            <a:ext cx="649757" cy="390627"/>
          </a:xfrm>
          <a:prstGeom prst="wedgeRoundRectCallo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17 °C</a:t>
            </a:r>
          </a:p>
        </p:txBody>
      </p:sp>
      <p:sp>
        <p:nvSpPr>
          <p:cNvPr id="29" name="Speech Bubble: Rectangle with Corners Rounded 28">
            <a:extLst>
              <a:ext uri="{FF2B5EF4-FFF2-40B4-BE49-F238E27FC236}">
                <a16:creationId xmlns:a16="http://schemas.microsoft.com/office/drawing/2014/main" id="{77B23EFE-9BF5-DEFE-36A2-B55B05D09D09}"/>
              </a:ext>
            </a:extLst>
          </p:cNvPr>
          <p:cNvSpPr/>
          <p:nvPr/>
        </p:nvSpPr>
        <p:spPr>
          <a:xfrm>
            <a:off x="9333150" y="5893078"/>
            <a:ext cx="1270859" cy="653373"/>
          </a:xfrm>
          <a:prstGeom prst="wedgeRoundRectCallo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ea typeface="Calibri"/>
                <a:cs typeface="Calibri"/>
              </a:rPr>
              <a:t>347 kg/h, 19 °C, 20% </a:t>
            </a:r>
            <a:r>
              <a:rPr lang="en-US" sz="1400" dirty="0" err="1">
                <a:ea typeface="Calibri"/>
                <a:cs typeface="Calibri"/>
              </a:rPr>
              <a:t>στερεά</a:t>
            </a:r>
          </a:p>
        </p:txBody>
      </p:sp>
    </p:spTree>
    <p:extLst>
      <p:ext uri="{BB962C8B-B14F-4D97-AF65-F5344CB8AC3E}">
        <p14:creationId xmlns:p14="http://schemas.microsoft.com/office/powerpoint/2010/main" val="1996766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D98A9-6DF9-9099-6BD2-90C3E5E23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57162E-4888-31FA-EE54-4D16208BCB73}"/>
              </a:ext>
            </a:extLst>
          </p:cNvPr>
          <p:cNvSpPr txBox="1"/>
          <p:nvPr/>
        </p:nvSpPr>
        <p:spPr>
          <a:xfrm>
            <a:off x="596461" y="5984388"/>
            <a:ext cx="696207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err="1">
                <a:ea typeface="Calibri"/>
                <a:cs typeface="Calibri"/>
              </a:rPr>
              <a:t>Εικόν</a:t>
            </a:r>
            <a:r>
              <a:rPr lang="en-US" sz="2000" dirty="0">
                <a:ea typeface="Calibri"/>
                <a:cs typeface="Calibri"/>
              </a:rPr>
              <a:t>α 9: </a:t>
            </a:r>
            <a:r>
              <a:rPr lang="en-US" sz="2000" dirty="0" err="1">
                <a:ea typeface="Calibri"/>
                <a:cs typeface="Calibri"/>
              </a:rPr>
              <a:t>Συντελεστής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μετ</a:t>
            </a:r>
            <a:r>
              <a:rPr lang="en-US" sz="2000" dirty="0">
                <a:ea typeface="Calibri"/>
                <a:cs typeface="Calibri"/>
              </a:rPr>
              <a:t>α</a:t>
            </a:r>
            <a:r>
              <a:rPr lang="en-US" sz="2000" dirty="0" err="1">
                <a:ea typeface="Calibri"/>
                <a:cs typeface="Calibri"/>
              </a:rPr>
              <a:t>φοράς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θερμότητ</a:t>
            </a:r>
            <a:r>
              <a:rPr lang="en-US" sz="2000" dirty="0">
                <a:ea typeface="Calibri"/>
                <a:cs typeface="Calibri"/>
              </a:rPr>
              <a:t>ας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στο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κέλυφος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της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 ανα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γεννητικής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μονάδ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ας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στο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ολοκληρωμένο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μοντέλο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6FA3D65-33FC-3AA6-905C-7A7528BC5767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48529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4.3.2 </a:t>
            </a:r>
            <a:r>
              <a:rPr lang="en-US" sz="3100" dirty="0" err="1">
                <a:ea typeface="Calibri Light"/>
                <a:cs typeface="Calibri Light"/>
              </a:rPr>
              <a:t>Ολοκληρωμένο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Μοντέλο</a:t>
            </a:r>
            <a:r>
              <a:rPr lang="en-US" sz="3100" dirty="0">
                <a:ea typeface="Calibri Light"/>
                <a:cs typeface="Calibri Light"/>
              </a:rPr>
              <a:t>-Απ</a:t>
            </a:r>
            <a:r>
              <a:rPr lang="en-US" sz="3100" dirty="0" err="1">
                <a:ea typeface="Calibri Light"/>
                <a:cs typeface="Calibri Light"/>
              </a:rPr>
              <a:t>οτελέσμ</a:t>
            </a:r>
            <a:r>
              <a:rPr lang="en-US" sz="3100" dirty="0">
                <a:ea typeface="Calibri Light"/>
                <a:cs typeface="Calibri Light"/>
              </a:rPr>
              <a:t>ατα </a:t>
            </a:r>
            <a:r>
              <a:rPr lang="en-US" sz="3100" dirty="0" err="1">
                <a:ea typeface="Calibri Light"/>
                <a:cs typeface="Calibri Light"/>
              </a:rPr>
              <a:t>Προσομοίωσης</a:t>
            </a:r>
            <a:r>
              <a:rPr lang="en-US" sz="3100" dirty="0">
                <a:ea typeface="Calibri Light"/>
                <a:cs typeface="Calibri Light"/>
              </a:rPr>
              <a:t> (2/4)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13BBD2-C39E-FA0A-9B49-1788E32EE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21</a:t>
            </a:fld>
            <a:r>
              <a:rPr lang="en-US"/>
              <a:t>/39</a:t>
            </a:r>
            <a:endParaRPr lang="de-DE"/>
          </a:p>
        </p:txBody>
      </p:sp>
      <p:pic>
        <p:nvPicPr>
          <p:cNvPr id="2" name="Grafik 1" descr="Ein Bild, das Text, Screenshot, Reihe, parallel enthält.&#10;&#10;KI-generierte Inhalte können fehlerhaft sein.">
            <a:extLst>
              <a:ext uri="{FF2B5EF4-FFF2-40B4-BE49-F238E27FC236}">
                <a16:creationId xmlns:a16="http://schemas.microsoft.com/office/drawing/2014/main" id="{463DF08E-79D4-EC0C-3CE3-4BEBEB013B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7" t="743" r="2209" b="34621"/>
          <a:stretch>
            <a:fillRect/>
          </a:stretch>
        </p:blipFill>
        <p:spPr>
          <a:xfrm>
            <a:off x="105888" y="2810128"/>
            <a:ext cx="8492546" cy="3006217"/>
          </a:xfrm>
          <a:prstGeom prst="rect">
            <a:avLst/>
          </a:prstGeom>
        </p:spPr>
      </p:pic>
      <p:pic>
        <p:nvPicPr>
          <p:cNvPr id="4" name="Grafik 3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D019B684-73CB-6AB9-E88F-F9CB27B421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8" t="6801" r="43556" b="305"/>
          <a:stretch>
            <a:fillRect/>
          </a:stretch>
        </p:blipFill>
        <p:spPr>
          <a:xfrm>
            <a:off x="8072723" y="1138195"/>
            <a:ext cx="4021776" cy="3330059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AE2B4DBB-BB3E-CF27-2299-5833E648C31F}"/>
              </a:ext>
            </a:extLst>
          </p:cNvPr>
          <p:cNvSpPr txBox="1"/>
          <p:nvPr/>
        </p:nvSpPr>
        <p:spPr>
          <a:xfrm>
            <a:off x="8328266" y="4585784"/>
            <a:ext cx="408308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err="1">
                <a:ea typeface="Calibri"/>
                <a:cs typeface="Calibri"/>
              </a:rPr>
              <a:t>Εικόν</a:t>
            </a:r>
            <a:r>
              <a:rPr lang="en-US" sz="2000" dirty="0">
                <a:ea typeface="Calibri"/>
                <a:cs typeface="Calibri"/>
              </a:rPr>
              <a:t>α 5: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Μοντέλο</a:t>
            </a:r>
            <a:r>
              <a:rPr lang="en-US" sz="2000" dirty="0">
                <a:latin typeface="Calibri"/>
                <a:ea typeface="Calibri"/>
                <a:cs typeface="Calibri"/>
              </a:rPr>
              <a:t> Πα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στερίωσης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A43248E7-7FC4-51C9-4AD2-73999DA2BC34}"/>
              </a:ext>
            </a:extLst>
          </p:cNvPr>
          <p:cNvSpPr/>
          <p:nvPr/>
        </p:nvSpPr>
        <p:spPr>
          <a:xfrm>
            <a:off x="202510" y="5116458"/>
            <a:ext cx="805542" cy="69668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01E958C9-F60A-B82A-C0D2-7DAC9E972333}"/>
              </a:ext>
            </a:extLst>
          </p:cNvPr>
          <p:cNvSpPr/>
          <p:nvPr/>
        </p:nvSpPr>
        <p:spPr>
          <a:xfrm>
            <a:off x="8076510" y="3881095"/>
            <a:ext cx="666997" cy="56968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104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8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922EB-514E-5D0F-7194-D8FB4C53A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3CCC98D6-9084-443D-8B6F-4D98C6D505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32" t="10245" r="68927" b="46694"/>
          <a:stretch>
            <a:fillRect/>
          </a:stretch>
        </p:blipFill>
        <p:spPr>
          <a:xfrm>
            <a:off x="7702366" y="3125385"/>
            <a:ext cx="4248693" cy="2668516"/>
          </a:xfrm>
          <a:prstGeom prst="rect">
            <a:avLst/>
          </a:prstGeom>
        </p:spPr>
      </p:pic>
      <p:sp>
        <p:nvSpPr>
          <p:cNvPr id="24" name="TextBox 5">
            <a:extLst>
              <a:ext uri="{FF2B5EF4-FFF2-40B4-BE49-F238E27FC236}">
                <a16:creationId xmlns:a16="http://schemas.microsoft.com/office/drawing/2014/main" id="{9D950669-2260-5205-05BA-D61F4AFD6B9F}"/>
              </a:ext>
            </a:extLst>
          </p:cNvPr>
          <p:cNvSpPr txBox="1"/>
          <p:nvPr/>
        </p:nvSpPr>
        <p:spPr>
          <a:xfrm>
            <a:off x="766776" y="5269278"/>
            <a:ext cx="5511087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err="1">
                <a:ea typeface="Calibri"/>
                <a:cs typeface="Calibri"/>
              </a:rPr>
              <a:t>Εικόν</a:t>
            </a:r>
            <a:r>
              <a:rPr lang="en-US" sz="2000" dirty="0">
                <a:ea typeface="Calibri"/>
                <a:cs typeface="Calibri"/>
              </a:rPr>
              <a:t>α 10: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Συγκέντρωση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latin typeface="Calibri"/>
                <a:ea typeface="Calibri"/>
                <a:cs typeface="Calibri"/>
              </a:rPr>
              <a:t>S.thermophilus</a:t>
            </a:r>
            <a:r>
              <a:rPr lang="en-US" sz="2000" i="1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στ</a:t>
            </a:r>
            <a:r>
              <a:rPr lang="en-US" sz="2000" dirty="0">
                <a:latin typeface="Calibri"/>
                <a:ea typeface="Calibri"/>
                <a:cs typeface="Calibri"/>
              </a:rPr>
              <a:t>α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τοιχώμ</a:t>
            </a:r>
            <a:r>
              <a:rPr lang="en-US" sz="2000" dirty="0">
                <a:latin typeface="Calibri"/>
                <a:ea typeface="Calibri"/>
                <a:cs typeface="Calibri"/>
              </a:rPr>
              <a:t>ατα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της</a:t>
            </a:r>
            <a:r>
              <a:rPr lang="en-US" sz="2000" dirty="0">
                <a:latin typeface="Calibri"/>
                <a:ea typeface="Calibri"/>
                <a:cs typeface="Calibri"/>
              </a:rPr>
              <a:t> ανα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γεννητικής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μονάδ</a:t>
            </a:r>
            <a:r>
              <a:rPr lang="en-US" sz="2000" dirty="0">
                <a:latin typeface="Calibri"/>
                <a:ea typeface="Calibri"/>
                <a:cs typeface="Calibri"/>
              </a:rPr>
              <a:t>ας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ως</a:t>
            </a:r>
            <a:r>
              <a:rPr lang="en-US" sz="2000" dirty="0">
                <a:latin typeface="Calibri"/>
                <a:ea typeface="Calibri"/>
                <a:cs typeface="Calibri"/>
              </a:rPr>
              <a:t> π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ρος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τον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χρόνο</a:t>
            </a:r>
            <a:r>
              <a:rPr lang="en-US" sz="2000" dirty="0">
                <a:latin typeface="Calibri"/>
                <a:ea typeface="Calibri"/>
                <a:cs typeface="Calibri"/>
              </a:rPr>
              <a:t> παρα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μονής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στο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ολοκληρωμένο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μοντέλο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7BFE969-53D8-5C1D-9A6F-BB7008F2A2C2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362032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4.3.2  </a:t>
            </a:r>
            <a:r>
              <a:rPr lang="en-US" sz="3100" dirty="0" err="1">
                <a:ea typeface="Calibri Light"/>
                <a:cs typeface="Calibri Light"/>
              </a:rPr>
              <a:t>Ολοκληρωμένο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Μοντέλο</a:t>
            </a:r>
            <a:r>
              <a:rPr lang="en-US" sz="3100" dirty="0">
                <a:ea typeface="Calibri Light"/>
                <a:cs typeface="Calibri Light"/>
              </a:rPr>
              <a:t>-Απ</a:t>
            </a:r>
            <a:r>
              <a:rPr lang="en-US" sz="3100" dirty="0" err="1">
                <a:ea typeface="Calibri Light"/>
                <a:cs typeface="Calibri Light"/>
              </a:rPr>
              <a:t>οτελέσμ</a:t>
            </a:r>
            <a:r>
              <a:rPr lang="en-US" sz="3100" dirty="0">
                <a:ea typeface="Calibri Light"/>
                <a:cs typeface="Calibri Light"/>
              </a:rPr>
              <a:t>ατα </a:t>
            </a:r>
            <a:r>
              <a:rPr lang="en-US" sz="3100" dirty="0" err="1">
                <a:ea typeface="Calibri Light"/>
                <a:cs typeface="Calibri Light"/>
              </a:rPr>
              <a:t>Προσομοίωσης</a:t>
            </a:r>
            <a:r>
              <a:rPr lang="en-US" sz="3100" dirty="0">
                <a:ea typeface="Calibri Light"/>
                <a:cs typeface="Calibri Light"/>
              </a:rPr>
              <a:t> (3/4)</a:t>
            </a:r>
          </a:p>
        </p:txBody>
      </p:sp>
      <p:pic>
        <p:nvPicPr>
          <p:cNvPr id="2" name="Grafik 1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F35F048C-D534-13A4-2B86-C8DE83A791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25" r="1404" b="8505"/>
          <a:stretch>
            <a:fillRect/>
          </a:stretch>
        </p:blipFill>
        <p:spPr>
          <a:xfrm>
            <a:off x="217421" y="1218163"/>
            <a:ext cx="6296696" cy="3788363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57F8E1FA-A5F7-49D2-3BC6-30EA05D17CEA}"/>
              </a:ext>
            </a:extLst>
          </p:cNvPr>
          <p:cNvSpPr txBox="1"/>
          <p:nvPr/>
        </p:nvSpPr>
        <p:spPr>
          <a:xfrm>
            <a:off x="7871763" y="5836347"/>
            <a:ext cx="408308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err="1">
                <a:ea typeface="Calibri"/>
                <a:cs typeface="Calibri"/>
              </a:rPr>
              <a:t>Εικόν</a:t>
            </a:r>
            <a:r>
              <a:rPr lang="en-US" sz="2000" dirty="0">
                <a:ea typeface="Calibri"/>
                <a:cs typeface="Calibri"/>
              </a:rPr>
              <a:t>α 6: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Μοντέλο</a:t>
            </a:r>
            <a:r>
              <a:rPr lang="en-US" sz="2000" dirty="0">
                <a:latin typeface="Calibri"/>
                <a:ea typeface="Calibri"/>
                <a:cs typeface="Calibri"/>
              </a:rPr>
              <a:t> Πα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στερίωσης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1DD362B-94DF-7508-520C-FC61E9C581C3}"/>
              </a:ext>
            </a:extLst>
          </p:cNvPr>
          <p:cNvGrpSpPr/>
          <p:nvPr/>
        </p:nvGrpSpPr>
        <p:grpSpPr>
          <a:xfrm>
            <a:off x="7714478" y="3264015"/>
            <a:ext cx="4094695" cy="2517607"/>
            <a:chOff x="7818387" y="3789192"/>
            <a:chExt cx="4094695" cy="2517607"/>
          </a:xfrm>
        </p:grpSpPr>
        <p:pic>
          <p:nvPicPr>
            <p:cNvPr id="9" name="Grafik 8" descr="Ein Bild, das Text, Diagramm, Reihe, parallel enthält.&#10;&#10;KI-generierte Inhalte können fehlerhaft sein.">
              <a:extLst>
                <a:ext uri="{FF2B5EF4-FFF2-40B4-BE49-F238E27FC236}">
                  <a16:creationId xmlns:a16="http://schemas.microsoft.com/office/drawing/2014/main" id="{0BFB1914-18DE-14FE-B90A-8581C8BC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56" t="87055" r="83558" b="9061"/>
            <a:stretch>
              <a:fillRect/>
            </a:stretch>
          </p:blipFill>
          <p:spPr>
            <a:xfrm>
              <a:off x="7818387" y="3789503"/>
              <a:ext cx="4089140" cy="2513577"/>
            </a:xfrm>
            <a:prstGeom prst="rect">
              <a:avLst/>
            </a:prstGeom>
          </p:spPr>
        </p:pic>
        <p:pic>
          <p:nvPicPr>
            <p:cNvPr id="4" name="Grafik 3" descr="Ein Bild, das Text, Diagramm, Reihe, parallel enthält.&#10;&#10;KI-generierte Inhalte können fehlerhaft sein.">
              <a:extLst>
                <a:ext uri="{FF2B5EF4-FFF2-40B4-BE49-F238E27FC236}">
                  <a16:creationId xmlns:a16="http://schemas.microsoft.com/office/drawing/2014/main" id="{A85481EF-6B13-E3AC-4E0C-D7CE82244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112" r="1714" b="14550"/>
            <a:stretch>
              <a:fillRect/>
            </a:stretch>
          </p:blipFill>
          <p:spPr>
            <a:xfrm>
              <a:off x="7896330" y="3789192"/>
              <a:ext cx="4016752" cy="2388854"/>
            </a:xfrm>
            <a:prstGeom prst="rect">
              <a:avLst/>
            </a:prstGeom>
          </p:spPr>
        </p:pic>
        <p:pic>
          <p:nvPicPr>
            <p:cNvPr id="8" name="Grafik 7" descr="Ein Bild, das Text, Diagramm, Reihe, parallel enthält.&#10;&#10;KI-generierte Inhalte können fehlerhaft sein.">
              <a:extLst>
                <a:ext uri="{FF2B5EF4-FFF2-40B4-BE49-F238E27FC236}">
                  <a16:creationId xmlns:a16="http://schemas.microsoft.com/office/drawing/2014/main" id="{7F24A7B0-B43F-F0A5-9410-D54974092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1" t="87330" r="10758" b="8341"/>
            <a:stretch>
              <a:fillRect/>
            </a:stretch>
          </p:blipFill>
          <p:spPr>
            <a:xfrm>
              <a:off x="7900586" y="6174463"/>
              <a:ext cx="3911771" cy="132336"/>
            </a:xfrm>
            <a:prstGeom prst="rect">
              <a:avLst/>
            </a:prstGeom>
          </p:spPr>
        </p:pic>
      </p:grp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0DF5B6F-33EB-9FC5-5ED4-1E2DF3C31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22</a:t>
            </a:fld>
            <a:r>
              <a:rPr lang="en-US"/>
              <a:t>/39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365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9AE20-07E2-173C-EA3E-E884975D3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DA0B61-37FE-D43D-BB72-8319AC01E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23</a:t>
            </a:fld>
            <a:r>
              <a:rPr lang="en-US"/>
              <a:t>/39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959D692-91AF-910E-ACD0-8740DBCE5C9E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latin typeface="Calibri Light"/>
                <a:ea typeface="Calibri Light"/>
                <a:cs typeface="Calibri Light"/>
              </a:rPr>
              <a:t>4.3.2 </a:t>
            </a:r>
            <a:r>
              <a:rPr lang="en-US" sz="3100" dirty="0" err="1">
                <a:latin typeface="Calibri Light"/>
                <a:ea typeface="Calibri Light"/>
                <a:cs typeface="Calibri Light"/>
              </a:rPr>
              <a:t>Ολοκληρωμένο</a:t>
            </a:r>
            <a:r>
              <a:rPr lang="en-US" sz="3100" dirty="0">
                <a:latin typeface="Calibri Light"/>
                <a:ea typeface="Calibri Light"/>
                <a:cs typeface="Calibri Light"/>
              </a:rPr>
              <a:t> </a:t>
            </a:r>
            <a:r>
              <a:rPr lang="en-US" sz="3100" dirty="0" err="1">
                <a:latin typeface="Calibri Light"/>
                <a:ea typeface="Calibri Light"/>
                <a:cs typeface="Calibri Light"/>
              </a:rPr>
              <a:t>Μοντέλο</a:t>
            </a:r>
            <a:r>
              <a:rPr lang="en-US" sz="3100" dirty="0">
                <a:latin typeface="Calibri Light"/>
                <a:ea typeface="Calibri Light"/>
                <a:cs typeface="Calibri Light"/>
              </a:rPr>
              <a:t>-Απ</a:t>
            </a:r>
            <a:r>
              <a:rPr lang="en-US" sz="3100" dirty="0" err="1">
                <a:latin typeface="Calibri Light"/>
                <a:ea typeface="Calibri Light"/>
                <a:cs typeface="Calibri Light"/>
              </a:rPr>
              <a:t>οτελέσμ</a:t>
            </a:r>
            <a:r>
              <a:rPr lang="en-US" sz="3100" dirty="0">
                <a:latin typeface="Calibri Light"/>
                <a:ea typeface="Calibri Light"/>
                <a:cs typeface="Calibri Light"/>
              </a:rPr>
              <a:t>ατα </a:t>
            </a:r>
            <a:r>
              <a:rPr lang="en-US" sz="3100" dirty="0" err="1">
                <a:latin typeface="Calibri Light"/>
                <a:ea typeface="Calibri Light"/>
                <a:cs typeface="Calibri Light"/>
              </a:rPr>
              <a:t>Προσομοίωσης</a:t>
            </a:r>
            <a:r>
              <a:rPr lang="en-US" sz="3100" dirty="0">
                <a:latin typeface="Calibri Light"/>
                <a:ea typeface="Calibri Light"/>
                <a:cs typeface="Calibri Light"/>
              </a:rPr>
              <a:t> (4/4)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6BDCB27E-9385-F7B6-BE59-BD9AAF9E8EA5}"/>
              </a:ext>
            </a:extLst>
          </p:cNvPr>
          <p:cNvSpPr txBox="1"/>
          <p:nvPr/>
        </p:nvSpPr>
        <p:spPr>
          <a:xfrm>
            <a:off x="7230" y="5996247"/>
            <a:ext cx="741123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err="1">
                <a:ea typeface="Calibri"/>
                <a:cs typeface="Calibri"/>
              </a:rPr>
              <a:t>Εικόν</a:t>
            </a:r>
            <a:r>
              <a:rPr lang="en-US" sz="2000" dirty="0">
                <a:ea typeface="Calibri"/>
                <a:cs typeface="Calibri"/>
              </a:rPr>
              <a:t>α 11: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Συγκριτικό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διάγρ</a:t>
            </a:r>
            <a:r>
              <a:rPr lang="en-US" sz="2000" dirty="0">
                <a:latin typeface="Calibri"/>
                <a:ea typeface="Calibri"/>
                <a:cs typeface="Calibri"/>
              </a:rPr>
              <a:t>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μμ</a:t>
            </a:r>
            <a:r>
              <a:rPr lang="en-US" sz="2000" dirty="0">
                <a:latin typeface="Calibri"/>
                <a:ea typeface="Calibri"/>
                <a:cs typeface="Calibri"/>
              </a:rPr>
              <a:t>α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σύστ</a:t>
            </a:r>
            <a:r>
              <a:rPr lang="en-US" sz="2000" dirty="0">
                <a:latin typeface="Calibri"/>
                <a:ea typeface="Calibri"/>
                <a:cs typeface="Calibri"/>
              </a:rPr>
              <a:t>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σης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του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διηθήμ</a:t>
            </a:r>
            <a:r>
              <a:rPr lang="en-US" sz="2000" dirty="0">
                <a:latin typeface="Calibri"/>
                <a:ea typeface="Calibri"/>
                <a:cs typeface="Calibri"/>
              </a:rPr>
              <a:t>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τος</a:t>
            </a:r>
            <a:r>
              <a:rPr lang="en-US" sz="2000" dirty="0">
                <a:latin typeface="Calibri"/>
                <a:ea typeface="Calibri"/>
                <a:cs typeface="Calibri"/>
              </a:rPr>
              <a:t> και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του</a:t>
            </a:r>
            <a:r>
              <a:rPr lang="en-US" sz="2000" dirty="0">
                <a:latin typeface="Calibri"/>
                <a:ea typeface="Calibri"/>
                <a:cs typeface="Calibri"/>
              </a:rPr>
              <a:t> 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συμ</a:t>
            </a:r>
            <a:r>
              <a:rPr lang="en-US" sz="2000" dirty="0">
                <a:latin typeface="Calibri"/>
                <a:ea typeface="Calibri"/>
                <a:cs typeface="Calibri"/>
              </a:rPr>
              <a:t>π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υκνώμ</a:t>
            </a:r>
            <a:r>
              <a:rPr lang="en-US" sz="2000" dirty="0">
                <a:latin typeface="Calibri"/>
                <a:ea typeface="Calibri"/>
                <a:cs typeface="Calibri"/>
              </a:rPr>
              <a:t>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τος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σε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στερεά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στο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ολοκληρωμένο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μοντέλο</a:t>
            </a:r>
            <a:r>
              <a:rPr lang="en-US" sz="2000" dirty="0">
                <a:latin typeface="Calibri"/>
                <a:ea typeface="Calibri"/>
                <a:cs typeface="Calibri"/>
              </a:rPr>
              <a:t> 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3057DC7-11F0-5F5E-65E9-5FB9FD63B68E}"/>
              </a:ext>
            </a:extLst>
          </p:cNvPr>
          <p:cNvSpPr txBox="1"/>
          <p:nvPr/>
        </p:nvSpPr>
        <p:spPr>
          <a:xfrm>
            <a:off x="7651315" y="1235257"/>
            <a:ext cx="4540685" cy="16517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2800" u="sng" err="1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Νερό</a:t>
            </a:r>
            <a:endParaRPr lang="de-DE"/>
          </a:p>
          <a:p>
            <a:pPr algn="ctr">
              <a:lnSpc>
                <a:spcPts val="2025"/>
              </a:lnSpc>
            </a:pPr>
            <a:endParaRPr lang="en-US" sz="2800" u="sng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algn="ctr">
              <a:lnSpc>
                <a:spcPts val="2025"/>
              </a:lnSpc>
            </a:pPr>
            <a:r>
              <a:rPr lang="en-US" sz="2800">
                <a:solidFill>
                  <a:srgbClr val="000000"/>
                </a:solidFill>
                <a:latin typeface="Calibri"/>
                <a:cs typeface="Arial"/>
              </a:rPr>
              <a:t>79.8% </a:t>
            </a:r>
            <a:r>
              <a:rPr lang="en-US" sz="2800" err="1">
                <a:solidFill>
                  <a:srgbClr val="000000"/>
                </a:solidFill>
                <a:latin typeface="Calibri"/>
                <a:cs typeface="Arial"/>
              </a:rPr>
              <a:t>στο</a:t>
            </a:r>
            <a:r>
              <a:rPr lang="en-US" sz="2800">
                <a:solidFill>
                  <a:srgbClr val="000000"/>
                </a:solidFill>
                <a:latin typeface="Calibri"/>
                <a:cs typeface="Arial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cs typeface="Arial"/>
              </a:rPr>
              <a:t>συμ</a:t>
            </a:r>
            <a:r>
              <a:rPr lang="en-US" sz="2800">
                <a:solidFill>
                  <a:srgbClr val="000000"/>
                </a:solidFill>
                <a:latin typeface="Calibri"/>
                <a:cs typeface="Arial"/>
              </a:rPr>
              <a:t>π</a:t>
            </a:r>
            <a:r>
              <a:rPr lang="en-US" sz="2800" err="1">
                <a:solidFill>
                  <a:srgbClr val="000000"/>
                </a:solidFill>
                <a:latin typeface="Calibri"/>
                <a:cs typeface="Arial"/>
              </a:rPr>
              <a:t>ύκνωμ</a:t>
            </a:r>
            <a:r>
              <a:rPr lang="en-US" sz="2800">
                <a:solidFill>
                  <a:srgbClr val="000000"/>
                </a:solidFill>
                <a:latin typeface="Calibri"/>
                <a:cs typeface="Arial"/>
              </a:rPr>
              <a:t>α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algn="ctr">
              <a:lnSpc>
                <a:spcPts val="2025"/>
              </a:lnSpc>
            </a:pPr>
            <a:endParaRPr lang="en-US" sz="2800">
              <a:solidFill>
                <a:srgbClr val="000000"/>
              </a:solidFill>
              <a:latin typeface="Calibri"/>
              <a:ea typeface="Calibri"/>
              <a:cs typeface="Arial"/>
            </a:endParaRPr>
          </a:p>
          <a:p>
            <a:pPr algn="ctr">
              <a:lnSpc>
                <a:spcPts val="2025"/>
              </a:lnSpc>
            </a:pPr>
            <a:r>
              <a:rPr lang="en-US" sz="2800">
                <a:ea typeface="Calibri"/>
                <a:cs typeface="Arial"/>
              </a:rPr>
              <a:t>94.8% </a:t>
            </a:r>
            <a:r>
              <a:rPr lang="en-US" sz="2800" err="1">
                <a:ea typeface="Calibri"/>
                <a:cs typeface="Arial"/>
              </a:rPr>
              <a:t>στο</a:t>
            </a:r>
            <a:r>
              <a:rPr lang="en-US" sz="2800">
                <a:ea typeface="Calibri"/>
                <a:cs typeface="Arial"/>
              </a:rPr>
              <a:t> </a:t>
            </a:r>
            <a:r>
              <a:rPr lang="en-US" sz="2800" err="1">
                <a:ea typeface="Calibri"/>
                <a:cs typeface="Arial"/>
              </a:rPr>
              <a:t>διήθημ</a:t>
            </a:r>
            <a:r>
              <a:rPr lang="en-US" sz="2800">
                <a:ea typeface="Calibri"/>
                <a:cs typeface="Arial"/>
              </a:rPr>
              <a:t>α</a:t>
            </a:r>
          </a:p>
          <a:p>
            <a:pPr algn="ctr"/>
            <a:endParaRPr lang="de-DE"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75B97865-63C7-8C11-421F-B289CFDA8F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1549514"/>
              </p:ext>
            </p:extLst>
          </p:nvPr>
        </p:nvGraphicFramePr>
        <p:xfrm>
          <a:off x="642113" y="1230465"/>
          <a:ext cx="6768353" cy="45723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5">
            <a:extLst>
              <a:ext uri="{FF2B5EF4-FFF2-40B4-BE49-F238E27FC236}">
                <a16:creationId xmlns:a16="http://schemas.microsoft.com/office/drawing/2014/main" id="{4E68DFAD-F9FD-C3E9-0247-5F6AF278C2A0}"/>
              </a:ext>
            </a:extLst>
          </p:cNvPr>
          <p:cNvSpPr txBox="1"/>
          <p:nvPr/>
        </p:nvSpPr>
        <p:spPr>
          <a:xfrm>
            <a:off x="7428331" y="6003615"/>
            <a:ext cx="477432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err="1">
                <a:ea typeface="Calibri"/>
                <a:cs typeface="Calibri"/>
              </a:rPr>
              <a:t>Εικόν</a:t>
            </a:r>
            <a:r>
              <a:rPr lang="en-US" sz="2000" dirty="0">
                <a:ea typeface="Calibri"/>
                <a:cs typeface="Calibri"/>
              </a:rPr>
              <a:t>α 8: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Μοντέλο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Διήθησης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με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Μεμ</a:t>
            </a:r>
            <a:r>
              <a:rPr lang="en-US" sz="2000" dirty="0">
                <a:latin typeface="Calibri"/>
                <a:ea typeface="Calibri"/>
                <a:cs typeface="Calibri"/>
              </a:rPr>
              <a:t>β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ράνη</a:t>
            </a:r>
            <a:endParaRPr lang="en-US" sz="200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9" name="Diagramm 8">
            <a:extLst>
              <a:ext uri="{FF2B5EF4-FFF2-40B4-BE49-F238E27FC236}">
                <a16:creationId xmlns:a16="http://schemas.microsoft.com/office/drawing/2014/main" id="{2C2FC24E-5109-D58B-F58A-50E0D07A55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6147400"/>
              </p:ext>
            </p:extLst>
          </p:nvPr>
        </p:nvGraphicFramePr>
        <p:xfrm>
          <a:off x="7656535" y="2914471"/>
          <a:ext cx="4414828" cy="3099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27591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6B9FD-85E2-347B-6AFB-5920CB81D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35419" cy="16035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Global System Analysis </a:t>
            </a:r>
            <a:r>
              <a:rPr lang="en-US" err="1">
                <a:ea typeface="Calibri"/>
                <a:cs typeface="Calibri"/>
              </a:rPr>
              <a:t>εργ</a:t>
            </a:r>
            <a:r>
              <a:rPr lang="en-US">
                <a:ea typeface="Calibri"/>
                <a:cs typeface="Calibri"/>
              </a:rPr>
              <a:t>α</a:t>
            </a:r>
            <a:r>
              <a:rPr lang="en-US" err="1">
                <a:ea typeface="Calibri"/>
                <a:cs typeface="Calibri"/>
              </a:rPr>
              <a:t>λείο</a:t>
            </a:r>
            <a:endParaRPr lang="en-US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Ανάλυση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ευ</a:t>
            </a:r>
            <a:r>
              <a:rPr lang="en-US">
                <a:ea typeface="Calibri"/>
                <a:cs typeface="Calibri"/>
              </a:rPr>
              <a:t>α</a:t>
            </a:r>
            <a:r>
              <a:rPr lang="en-US" err="1">
                <a:ea typeface="Calibri"/>
                <a:cs typeface="Calibri"/>
              </a:rPr>
              <a:t>ισθησί</a:t>
            </a:r>
            <a:r>
              <a:rPr lang="en-US">
                <a:ea typeface="Calibri"/>
                <a:cs typeface="Calibri"/>
              </a:rPr>
              <a:t>ας</a:t>
            </a:r>
          </a:p>
          <a:p>
            <a:r>
              <a:rPr lang="en-US" err="1">
                <a:ea typeface="Calibri"/>
                <a:cs typeface="Calibri"/>
              </a:rPr>
              <a:t>Ανάλυση</a:t>
            </a:r>
            <a:r>
              <a:rPr lang="en-US">
                <a:ea typeface="Calibri"/>
                <a:cs typeface="Calibri"/>
              </a:rPr>
              <a:t> αβεβα</a:t>
            </a:r>
            <a:r>
              <a:rPr lang="en-US" err="1">
                <a:ea typeface="Calibri"/>
                <a:cs typeface="Calibri"/>
              </a:rPr>
              <a:t>ιότητ</a:t>
            </a:r>
            <a:r>
              <a:rPr lang="en-US">
                <a:ea typeface="Calibri"/>
                <a:cs typeface="Calibri"/>
              </a:rPr>
              <a:t>ας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0E4A3-F8AC-8A5F-33F3-B7781BB2C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24</a:t>
            </a:fld>
            <a:r>
              <a:rPr lang="en-US"/>
              <a:t>/39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2AF992-1C5D-0D94-AAFB-33F8743E425B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5.1 </a:t>
            </a:r>
            <a:r>
              <a:rPr lang="en-US" sz="3100" dirty="0" err="1">
                <a:ea typeface="Calibri Light"/>
                <a:cs typeface="Calibri Light"/>
              </a:rPr>
              <a:t>Ανάλυση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Συστήμ</a:t>
            </a:r>
            <a:r>
              <a:rPr lang="en-US" sz="3100" dirty="0">
                <a:ea typeface="Calibri Light"/>
                <a:cs typeface="Calibri Light"/>
              </a:rPr>
              <a:t>α</a:t>
            </a:r>
            <a:r>
              <a:rPr lang="en-US" sz="3100" dirty="0" err="1">
                <a:ea typeface="Calibri Light"/>
                <a:cs typeface="Calibri Light"/>
              </a:rPr>
              <a:t>τος</a:t>
            </a:r>
            <a:r>
              <a:rPr lang="en-US" sz="3100" dirty="0">
                <a:ea typeface="Calibri Light"/>
                <a:cs typeface="Calibri Light"/>
              </a:rPr>
              <a:t> και </a:t>
            </a:r>
            <a:r>
              <a:rPr lang="en-US" sz="3100" dirty="0" err="1">
                <a:ea typeface="Calibri Light"/>
                <a:cs typeface="Calibri Light"/>
              </a:rPr>
              <a:t>Ανάλυση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Κόστους</a:t>
            </a:r>
            <a:endParaRPr lang="en-US" sz="3100" dirty="0">
              <a:ea typeface="Calibri Light"/>
              <a:cs typeface="Calibri Light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73392C57-4E55-410C-CBA2-B83D1CF41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460686"/>
              </p:ext>
            </p:extLst>
          </p:nvPr>
        </p:nvGraphicFramePr>
        <p:xfrm>
          <a:off x="5561999" y="2849951"/>
          <a:ext cx="5791200" cy="23050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67125">
                  <a:extLst>
                    <a:ext uri="{9D8B030D-6E8A-4147-A177-3AD203B41FA5}">
                      <a16:colId xmlns:a16="http://schemas.microsoft.com/office/drawing/2014/main" val="1269927199"/>
                    </a:ext>
                  </a:extLst>
                </a:gridCol>
                <a:gridCol w="2124075">
                  <a:extLst>
                    <a:ext uri="{9D8B030D-6E8A-4147-A177-3AD203B41FA5}">
                      <a16:colId xmlns:a16="http://schemas.microsoft.com/office/drawing/2014/main" val="2874678490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400"/>
                        </a:lnSpc>
                        <a:buNone/>
                      </a:pPr>
                      <a:r>
                        <a:rPr lang="el-GR" sz="20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Κόστος νερού θέρμανσης</a:t>
                      </a:r>
                      <a:endParaRPr lang="el-GR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4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 USD/t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7657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400"/>
                        </a:lnSpc>
                        <a:buNone/>
                      </a:pPr>
                      <a:r>
                        <a:rPr lang="el-GR" sz="20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Κόστος νερού ψύξης</a:t>
                      </a:r>
                      <a:endParaRPr lang="el-G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4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 USD/t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33347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400"/>
                        </a:lnSpc>
                        <a:buNone/>
                      </a:pPr>
                      <a:r>
                        <a:rPr lang="el-GR" sz="20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Κόστος νερού διαδιήθησης</a:t>
                      </a:r>
                      <a:endParaRPr lang="el-G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4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 USD/t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71215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400"/>
                        </a:lnSpc>
                        <a:buNone/>
                      </a:pPr>
                      <a:r>
                        <a:rPr lang="el-GR" sz="20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Έσοδα από συμπυκνωμένο γάλα</a:t>
                      </a:r>
                      <a:endParaRPr lang="el-G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4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585 USD/t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5825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8CCF454-0D35-DBE7-AAAC-CD751EC02622}"/>
              </a:ext>
            </a:extLst>
          </p:cNvPr>
          <p:cNvSpPr txBox="1"/>
          <p:nvPr/>
        </p:nvSpPr>
        <p:spPr>
          <a:xfrm>
            <a:off x="5723334" y="5291210"/>
            <a:ext cx="5039728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 err="1">
                <a:ea typeface="Calibri"/>
                <a:cs typeface="Calibri"/>
              </a:rPr>
              <a:t>Πίν</a:t>
            </a:r>
            <a:r>
              <a:rPr lang="en-US" sz="2000" dirty="0">
                <a:ea typeface="Calibri"/>
                <a:cs typeface="Calibri"/>
              </a:rPr>
              <a:t>ακας 1: </a:t>
            </a:r>
            <a:r>
              <a:rPr lang="en-US" sz="2000" dirty="0" err="1">
                <a:ea typeface="Calibri"/>
                <a:cs typeface="Calibri"/>
              </a:rPr>
              <a:t>Κόστη</a:t>
            </a:r>
            <a:r>
              <a:rPr lang="en-US" sz="2000" dirty="0">
                <a:ea typeface="Calibri"/>
                <a:cs typeface="Calibri"/>
              </a:rPr>
              <a:t> και </a:t>
            </a:r>
            <a:r>
              <a:rPr lang="en-US" sz="2000" dirty="0" err="1">
                <a:ea typeface="Calibri"/>
                <a:cs typeface="Calibri"/>
              </a:rPr>
              <a:t>έσοδ</a:t>
            </a:r>
            <a:r>
              <a:rPr lang="en-US" sz="2000" dirty="0">
                <a:ea typeface="Calibri"/>
                <a:cs typeface="Calibri"/>
              </a:rPr>
              <a:t>α </a:t>
            </a:r>
            <a:r>
              <a:rPr lang="en-US" sz="2000" dirty="0" err="1">
                <a:ea typeface="Calibri"/>
                <a:cs typeface="Calibri"/>
              </a:rPr>
              <a:t>ρευμάτων</a:t>
            </a:r>
            <a:endParaRPr lang="en-US" sz="2000" dirty="0" err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4637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BB36D-A297-4ED6-EDF2-CEB88DB6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CEC7-CDCB-3F49-1E28-8CAEB47F6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25</a:t>
            </a:fld>
            <a:r>
              <a:rPr lang="en-US"/>
              <a:t>/39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8247624-51AB-C09B-7DD1-BA56C0CBFA49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5.2 </a:t>
            </a:r>
            <a:r>
              <a:rPr lang="en-US" sz="3100" dirty="0" err="1">
                <a:ea typeface="Calibri Light"/>
                <a:cs typeface="Calibri Light"/>
              </a:rPr>
              <a:t>Ανάλυση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Συστήμ</a:t>
            </a:r>
            <a:r>
              <a:rPr lang="en-US" sz="3100" dirty="0">
                <a:ea typeface="Calibri Light"/>
                <a:cs typeface="Calibri Light"/>
              </a:rPr>
              <a:t>α</a:t>
            </a:r>
            <a:r>
              <a:rPr lang="en-US" sz="3100" dirty="0" err="1">
                <a:ea typeface="Calibri Light"/>
                <a:cs typeface="Calibri Light"/>
              </a:rPr>
              <a:t>τος</a:t>
            </a:r>
            <a:r>
              <a:rPr lang="en-US" sz="3100" dirty="0">
                <a:ea typeface="Calibri Light"/>
                <a:cs typeface="Calibri Light"/>
              </a:rPr>
              <a:t>-Απ</a:t>
            </a:r>
            <a:r>
              <a:rPr lang="en-US" sz="3100" dirty="0" err="1">
                <a:ea typeface="Calibri Light"/>
                <a:cs typeface="Calibri Light"/>
              </a:rPr>
              <a:t>οκρίσεις</a:t>
            </a:r>
            <a:r>
              <a:rPr lang="en-US" sz="3100" dirty="0">
                <a:ea typeface="Calibri Light"/>
                <a:cs typeface="Calibri Light"/>
              </a:rPr>
              <a:t> 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7BDD0680-4A1D-F021-A598-2C78C9AFDB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269496"/>
              </p:ext>
            </p:extLst>
          </p:nvPr>
        </p:nvGraphicFramePr>
        <p:xfrm>
          <a:off x="413988" y="1547751"/>
          <a:ext cx="11376325" cy="3810641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3857625">
                  <a:extLst>
                    <a:ext uri="{9D8B030D-6E8A-4147-A177-3AD203B41FA5}">
                      <a16:colId xmlns:a16="http://schemas.microsoft.com/office/drawing/2014/main" val="1105387782"/>
                    </a:ext>
                  </a:extLst>
                </a:gridCol>
                <a:gridCol w="3952874">
                  <a:extLst>
                    <a:ext uri="{9D8B030D-6E8A-4147-A177-3AD203B41FA5}">
                      <a16:colId xmlns:a16="http://schemas.microsoft.com/office/drawing/2014/main" val="4248975382"/>
                    </a:ext>
                  </a:extLst>
                </a:gridCol>
                <a:gridCol w="3565826">
                  <a:extLst>
                    <a:ext uri="{9D8B030D-6E8A-4147-A177-3AD203B41FA5}">
                      <a16:colId xmlns:a16="http://schemas.microsoft.com/office/drawing/2014/main" val="687664231"/>
                    </a:ext>
                  </a:extLst>
                </a:gridCol>
              </a:tblGrid>
              <a:tr h="62081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1" dirty="0">
                          <a:solidFill>
                            <a:schemeClr val="bg1"/>
                          </a:solidFill>
                          <a:effectLst/>
                        </a:rPr>
                        <a:t>Πα</a:t>
                      </a:r>
                      <a:r>
                        <a:rPr lang="de-DE" sz="2000" b="1" dirty="0" err="1">
                          <a:solidFill>
                            <a:schemeClr val="bg1"/>
                          </a:solidFill>
                          <a:effectLst/>
                        </a:rPr>
                        <a:t>στερίωση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1" dirty="0" err="1">
                          <a:solidFill>
                            <a:schemeClr val="bg1"/>
                          </a:solidFill>
                          <a:effectLst/>
                        </a:rPr>
                        <a:t>Διήθηση</a:t>
                      </a:r>
                      <a:r>
                        <a:rPr lang="de-DE" sz="20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de-DE" sz="2000" b="1" dirty="0" err="1">
                          <a:solidFill>
                            <a:schemeClr val="bg1"/>
                          </a:solidFill>
                          <a:effectLst/>
                        </a:rPr>
                        <a:t>με</a:t>
                      </a:r>
                      <a:r>
                        <a:rPr lang="de-DE" sz="20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de-DE" sz="2000" b="1" dirty="0" err="1">
                          <a:solidFill>
                            <a:schemeClr val="bg1"/>
                          </a:solidFill>
                          <a:effectLst/>
                        </a:rPr>
                        <a:t>Μεμ</a:t>
                      </a:r>
                      <a:r>
                        <a:rPr lang="de-DE" sz="2000" b="1" dirty="0">
                          <a:solidFill>
                            <a:schemeClr val="bg1"/>
                          </a:solidFill>
                          <a:effectLst/>
                        </a:rPr>
                        <a:t>β</a:t>
                      </a:r>
                      <a:r>
                        <a:rPr lang="de-DE" sz="2000" b="1" dirty="0" err="1">
                          <a:solidFill>
                            <a:schemeClr val="bg1"/>
                          </a:solidFill>
                          <a:effectLst/>
                        </a:rPr>
                        <a:t>ράνη</a:t>
                      </a:r>
                    </a:p>
                  </a:txBody>
                  <a:tcPr marL="66675" marR="66675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dirty="0" err="1">
                          <a:solidFill>
                            <a:schemeClr val="bg1"/>
                          </a:solidFill>
                          <a:effectLst/>
                        </a:rPr>
                        <a:t>Ολοκληρωμένο</a:t>
                      </a:r>
                      <a:r>
                        <a:rPr lang="de-DE" sz="2000" b="1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de-DE" sz="2000" b="1" dirty="0" err="1">
                          <a:solidFill>
                            <a:schemeClr val="bg1"/>
                          </a:solidFill>
                          <a:effectLst/>
                        </a:rPr>
                        <a:t>Μοντέλο</a:t>
                      </a:r>
                    </a:p>
                  </a:txBody>
                  <a:tcPr marL="66675" marR="66675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661782"/>
                  </a:ext>
                </a:extLst>
              </a:tr>
              <a:tr h="90734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dirty="0" err="1">
                          <a:effectLst/>
                          <a:latin typeface="Calibri"/>
                        </a:rPr>
                        <a:t>συνολικά</a:t>
                      </a:r>
                      <a:r>
                        <a:rPr lang="de-DE" sz="2000" b="0" i="0" u="none" strike="noStrike" noProof="0" dirty="0">
                          <a:effectLst/>
                          <a:latin typeface="Calibri"/>
                        </a:rPr>
                        <a:t> κατανα</a:t>
                      </a:r>
                      <a:r>
                        <a:rPr lang="de-DE" sz="2000" b="0" i="0" u="none" strike="noStrike" noProof="0" dirty="0" err="1">
                          <a:effectLst/>
                          <a:latin typeface="Calibri"/>
                        </a:rPr>
                        <a:t>λισκόμενη</a:t>
                      </a:r>
                      <a:r>
                        <a:rPr lang="de-DE" sz="2000" b="0" i="0" u="none" strike="noStrike" noProof="0" dirty="0">
                          <a:effectLst/>
                          <a:latin typeface="Calibri"/>
                        </a:rPr>
                        <a:t> π</a:t>
                      </a:r>
                      <a:r>
                        <a:rPr lang="de-DE" sz="2000" b="0" i="0" u="none" strike="noStrike" noProof="0" dirty="0" err="1">
                          <a:effectLst/>
                          <a:latin typeface="Calibri"/>
                        </a:rPr>
                        <a:t>οσότητ</a:t>
                      </a:r>
                      <a:r>
                        <a:rPr lang="de-DE" sz="2000" b="0" i="0" u="none" strike="noStrike" noProof="0" dirty="0">
                          <a:effectLst/>
                          <a:latin typeface="Calibri"/>
                        </a:rPr>
                        <a:t>α </a:t>
                      </a:r>
                      <a:r>
                        <a:rPr lang="de-DE" sz="2000" b="0" i="0" u="none" strike="noStrike" noProof="0" dirty="0" err="1">
                          <a:effectLst/>
                          <a:latin typeface="Calibri"/>
                        </a:rPr>
                        <a:t>νερού</a:t>
                      </a:r>
                      <a:r>
                        <a:rPr lang="de-DE" sz="2000" b="0" i="0" u="none" strike="noStrike" noProof="0" dirty="0">
                          <a:effectLst/>
                          <a:latin typeface="Calibri"/>
                        </a:rPr>
                        <a:t> </a:t>
                      </a:r>
                      <a:r>
                        <a:rPr lang="de-DE" sz="2000" b="0" i="0" u="none" strike="noStrike" noProof="0" dirty="0" err="1">
                          <a:effectLst/>
                          <a:latin typeface="Calibri"/>
                        </a:rPr>
                        <a:t>θέρμ</a:t>
                      </a:r>
                      <a:r>
                        <a:rPr lang="de-DE" sz="2000" b="0" i="0" u="none" strike="noStrike" noProof="0" dirty="0">
                          <a:effectLst/>
                          <a:latin typeface="Calibri"/>
                        </a:rPr>
                        <a:t>α</a:t>
                      </a:r>
                      <a:r>
                        <a:rPr lang="de-DE" sz="2000" b="0" i="0" u="none" strike="noStrike" noProof="0" dirty="0" err="1">
                          <a:effectLst/>
                          <a:latin typeface="Calibri"/>
                        </a:rPr>
                        <a:t>νσης</a:t>
                      </a:r>
                      <a:r>
                        <a:rPr lang="de-DE" sz="2000" b="0" i="0" u="none" strike="noStrike" noProof="0" dirty="0">
                          <a:effectLst/>
                          <a:latin typeface="Calibri"/>
                        </a:rPr>
                        <a:t> (kg)</a:t>
                      </a:r>
                      <a:endParaRPr lang="de-DE" sz="2000" b="0" dirty="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ροή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του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κατανα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λισκόμενου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νερού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δι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α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διήθησης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(kg/h)</a:t>
                      </a:r>
                      <a:endParaRPr lang="de-DE" dirty="0"/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συγκέντρωση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του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de-DE" sz="2000" b="0" i="1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S.thermophilus</a:t>
                      </a:r>
                      <a:r>
                        <a:rPr lang="de-DE" sz="2000" b="0" i="1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στ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α 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τοιχώμ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ατα 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της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ανα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γεννητικής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μονάδ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ας (CFU/cm</a:t>
                      </a:r>
                      <a:r>
                        <a:rPr lang="de-DE" sz="2000" b="0" i="0" u="none" strike="noStrike" baseline="30000" noProof="0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endParaRPr lang="de-DE" dirty="0"/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248065"/>
                  </a:ext>
                </a:extLst>
              </a:tr>
              <a:tr h="136102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dirty="0" err="1">
                          <a:effectLst/>
                          <a:latin typeface="Calibri"/>
                        </a:rPr>
                        <a:t>συνολικά</a:t>
                      </a:r>
                      <a:r>
                        <a:rPr lang="de-DE" sz="2000" b="0" i="0" u="none" strike="noStrike" noProof="0" dirty="0">
                          <a:effectLst/>
                          <a:latin typeface="Calibri"/>
                        </a:rPr>
                        <a:t> κατανα</a:t>
                      </a:r>
                      <a:r>
                        <a:rPr lang="de-DE" sz="2000" b="0" i="0" u="none" strike="noStrike" noProof="0" dirty="0" err="1">
                          <a:effectLst/>
                          <a:latin typeface="Calibri"/>
                        </a:rPr>
                        <a:t>λισκόμενη</a:t>
                      </a:r>
                      <a:r>
                        <a:rPr lang="de-DE" sz="2000" b="0" i="0" u="none" strike="noStrike" noProof="0" dirty="0">
                          <a:effectLst/>
                          <a:latin typeface="Calibri"/>
                        </a:rPr>
                        <a:t> π</a:t>
                      </a:r>
                      <a:r>
                        <a:rPr lang="de-DE" sz="2000" b="0" i="0" u="none" strike="noStrike" noProof="0" dirty="0" err="1">
                          <a:effectLst/>
                          <a:latin typeface="Calibri"/>
                        </a:rPr>
                        <a:t>οσότητ</a:t>
                      </a:r>
                      <a:r>
                        <a:rPr lang="de-DE" sz="2000" b="0" i="0" u="none" strike="noStrike" noProof="0" dirty="0">
                          <a:effectLst/>
                          <a:latin typeface="Calibri"/>
                        </a:rPr>
                        <a:t>α </a:t>
                      </a:r>
                      <a:r>
                        <a:rPr lang="de-DE" sz="2000" b="0" i="0" u="none" strike="noStrike" noProof="0" dirty="0" err="1">
                          <a:effectLst/>
                          <a:latin typeface="Calibri"/>
                        </a:rPr>
                        <a:t>νερού</a:t>
                      </a:r>
                      <a:r>
                        <a:rPr lang="de-DE" sz="2000" b="0" i="0" u="none" strike="noStrike" noProof="0" dirty="0">
                          <a:effectLst/>
                          <a:latin typeface="Calibri"/>
                        </a:rPr>
                        <a:t> </a:t>
                      </a:r>
                      <a:r>
                        <a:rPr lang="de-DE" sz="2000" b="0" i="0" u="none" strike="noStrike" noProof="0" dirty="0" err="1">
                          <a:effectLst/>
                          <a:latin typeface="Calibri"/>
                        </a:rPr>
                        <a:t>ψύξης</a:t>
                      </a:r>
                      <a:r>
                        <a:rPr lang="de-DE" sz="2000" b="0" i="0" u="none" strike="noStrike" noProof="0" dirty="0">
                          <a:effectLst/>
                          <a:latin typeface="Calibri"/>
                        </a:rPr>
                        <a:t> (kg) 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ροή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του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παρα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γόμενου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συμ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π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υκνώμ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α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τος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(kg/h)</a:t>
                      </a:r>
                      <a:endParaRPr lang="de-DE" dirty="0"/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συγκέντρωση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του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συμ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π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υκνώμ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α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τος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σε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de-DE" sz="2000" b="0" i="1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S.thermophilus</a:t>
                      </a:r>
                      <a:r>
                        <a:rPr lang="de-DE" sz="2000" b="0" i="1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(CFU/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mL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de-DE" dirty="0"/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0072315"/>
                  </a:ext>
                </a:extLst>
              </a:tr>
              <a:tr h="453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de-DE" sz="2000" b="0" dirty="0" err="1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κλάσμ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 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μάζ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ας κα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ζεϊνης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στο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συμ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π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ύκνωμ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 (kg/kg)</a:t>
                      </a:r>
                      <a:endParaRPr lang="de-DE" sz="2000" b="0" i="0" u="none" strike="noStrike" noProof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de-DE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de-DE" sz="2000" b="0" dirty="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883232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32C142CE-60AB-32FC-3574-8E0B7D97A58A}"/>
              </a:ext>
            </a:extLst>
          </p:cNvPr>
          <p:cNvSpPr txBox="1"/>
          <p:nvPr/>
        </p:nvSpPr>
        <p:spPr>
          <a:xfrm>
            <a:off x="2125808" y="5761183"/>
            <a:ext cx="785090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0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Πίν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ακας 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2: Απ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οκρίσεις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κα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τά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τις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ανα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λύσεις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συστήμ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α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τος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των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μοντέλων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7400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C008E-8458-3A28-AF5B-784578A14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0F161-5EC0-1161-86FA-F093D0CB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26</a:t>
            </a:fld>
            <a:r>
              <a:rPr lang="en-US"/>
              <a:t>/39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2CCF1D-25F3-F7FD-AD29-4DBD297ECE2D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5.3 </a:t>
            </a:r>
            <a:r>
              <a:rPr lang="en-US" sz="3100" dirty="0" err="1">
                <a:ea typeface="Calibri Light"/>
                <a:cs typeface="Calibri Light"/>
              </a:rPr>
              <a:t>Ολοκληρωμένο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Μοντέλο-Ανάλυση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Ευ</a:t>
            </a:r>
            <a:r>
              <a:rPr lang="en-US" sz="3100" dirty="0">
                <a:ea typeface="Calibri Light"/>
                <a:cs typeface="Calibri Light"/>
              </a:rPr>
              <a:t>α</a:t>
            </a:r>
            <a:r>
              <a:rPr lang="en-US" sz="3100" dirty="0" err="1">
                <a:ea typeface="Calibri Light"/>
                <a:cs typeface="Calibri Light"/>
              </a:rPr>
              <a:t>ισθησί</a:t>
            </a:r>
            <a:r>
              <a:rPr lang="en-US" sz="3100" dirty="0">
                <a:ea typeface="Calibri Light"/>
                <a:cs typeface="Calibri Light"/>
              </a:rPr>
              <a:t>ας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7995078F-5CB9-FFFA-F648-DB26BFE1C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153596"/>
              </p:ext>
            </p:extLst>
          </p:nvPr>
        </p:nvGraphicFramePr>
        <p:xfrm>
          <a:off x="108856" y="1534886"/>
          <a:ext cx="11917184" cy="365760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5810249">
                  <a:extLst>
                    <a:ext uri="{9D8B030D-6E8A-4147-A177-3AD203B41FA5}">
                      <a16:colId xmlns:a16="http://schemas.microsoft.com/office/drawing/2014/main" val="3561239416"/>
                    </a:ext>
                  </a:extLst>
                </a:gridCol>
                <a:gridCol w="2889249">
                  <a:extLst>
                    <a:ext uri="{9D8B030D-6E8A-4147-A177-3AD203B41FA5}">
                      <a16:colId xmlns:a16="http://schemas.microsoft.com/office/drawing/2014/main" val="1381387246"/>
                    </a:ext>
                  </a:extLst>
                </a:gridCol>
                <a:gridCol w="1650731">
                  <a:extLst>
                    <a:ext uri="{9D8B030D-6E8A-4147-A177-3AD203B41FA5}">
                      <a16:colId xmlns:a16="http://schemas.microsoft.com/office/drawing/2014/main" val="926750066"/>
                    </a:ext>
                  </a:extLst>
                </a:gridCol>
                <a:gridCol w="1566955">
                  <a:extLst>
                    <a:ext uri="{9D8B030D-6E8A-4147-A177-3AD203B41FA5}">
                      <a16:colId xmlns:a16="http://schemas.microsoft.com/office/drawing/2014/main" val="2470511390"/>
                    </a:ext>
                  </a:extLst>
                </a:gridCol>
              </a:tblGrid>
              <a:tr h="3016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>
                          <a:effectLst/>
                        </a:rPr>
                        <a:t>Πα</a:t>
                      </a:r>
                      <a:r>
                        <a:rPr lang="de-DE" sz="2000" err="1">
                          <a:effectLst/>
                        </a:rPr>
                        <a:t>ράγοντ</a:t>
                      </a:r>
                      <a:r>
                        <a:rPr lang="de-DE" sz="2000">
                          <a:effectLst/>
                        </a:rPr>
                        <a:t>ας</a:t>
                      </a:r>
                      <a:endParaRPr lang="de-DE"/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err="1">
                          <a:effectLst/>
                        </a:rPr>
                        <a:t>Ομοιόμορφη</a:t>
                      </a:r>
                      <a:r>
                        <a:rPr lang="de-DE" sz="2000">
                          <a:effectLst/>
                        </a:rPr>
                        <a:t> κατα</a:t>
                      </a:r>
                      <a:r>
                        <a:rPr lang="de-DE" sz="2000" err="1">
                          <a:effectLst/>
                        </a:rPr>
                        <a:t>νομή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err="1">
                          <a:effectLst/>
                        </a:rPr>
                        <a:t>Αιτί</a:t>
                      </a:r>
                      <a:r>
                        <a:rPr lang="de-DE" sz="2000">
                          <a:effectLst/>
                        </a:rPr>
                        <a:t>α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7311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de-DE" sz="200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1" err="1">
                          <a:solidFill>
                            <a:schemeClr val="bg1"/>
                          </a:solidFill>
                          <a:effectLst/>
                        </a:rPr>
                        <a:t>Κάτω</a:t>
                      </a:r>
                      <a:r>
                        <a:rPr lang="de-DE" sz="2000" b="1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de-DE" sz="2000" b="1" err="1">
                          <a:solidFill>
                            <a:schemeClr val="bg1"/>
                          </a:solidFill>
                          <a:effectLst/>
                        </a:rPr>
                        <a:t>όριο</a:t>
                      </a:r>
                      <a:endParaRPr lang="de-DE" b="1">
                        <a:solidFill>
                          <a:schemeClr val="bg1"/>
                        </a:solidFill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err="1">
                          <a:solidFill>
                            <a:schemeClr val="bg1"/>
                          </a:solidFill>
                          <a:effectLst/>
                        </a:rPr>
                        <a:t>Άνω</a:t>
                      </a:r>
                      <a:r>
                        <a:rPr lang="de-DE" sz="2000" b="1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de-DE" sz="2000" b="1" err="1">
                          <a:solidFill>
                            <a:schemeClr val="bg1"/>
                          </a:solidFill>
                          <a:effectLst/>
                        </a:rPr>
                        <a:t>όριο</a:t>
                      </a:r>
                      <a:endParaRPr lang="de-DE" b="1">
                        <a:solidFill>
                          <a:schemeClr val="bg1"/>
                        </a:solidFill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de-DE" sz="200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2939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E</a:t>
                      </a:r>
                      <a:r>
                        <a:rPr lang="de-DE" sz="2000" baseline="-25000">
                          <a:effectLst/>
                        </a:rPr>
                        <a:t>a </a:t>
                      </a:r>
                      <a:r>
                        <a:rPr lang="de-DE" sz="2000" b="1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</a:t>
                      </a:r>
                      <a:r>
                        <a:rPr lang="de-DE" sz="2000" b="1" i="0" u="none" strike="noStrike" baseline="0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ντίδρ</a:t>
                      </a:r>
                      <a:r>
                        <a:rPr lang="de-DE" sz="2000" b="1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</a:t>
                      </a:r>
                      <a:r>
                        <a:rPr lang="de-DE" sz="2000" b="1" i="0" u="none" strike="noStrike" baseline="0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σης</a:t>
                      </a:r>
                      <a:r>
                        <a:rPr lang="de-DE" sz="2000" b="1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π</a:t>
                      </a:r>
                      <a:r>
                        <a:rPr lang="de-DE" sz="2000" b="1" i="0" u="none" strike="noStrike" baseline="0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ροσρόφησης</a:t>
                      </a:r>
                      <a:r>
                        <a:rPr lang="de-DE" sz="2000" b="1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de-DE" sz="2000">
                          <a:effectLst/>
                        </a:rPr>
                        <a:t>(kJ mol</a:t>
                      </a:r>
                      <a:r>
                        <a:rPr lang="de-DE" sz="2000" baseline="30000">
                          <a:effectLst/>
                        </a:rPr>
                        <a:t>-1</a:t>
                      </a:r>
                      <a:r>
                        <a:rPr lang="de-DE" sz="2000">
                          <a:effectLst/>
                        </a:rPr>
                        <a:t>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400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 rowSpan="8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Αβεβα</a:t>
                      </a:r>
                      <a:r>
                        <a:rPr lang="de-DE" sz="2000" err="1">
                          <a:effectLst/>
                        </a:rPr>
                        <a:t>ιότητ</a:t>
                      </a:r>
                      <a:r>
                        <a:rPr lang="de-DE" sz="2000">
                          <a:effectLst/>
                        </a:rPr>
                        <a:t>α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2446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E</a:t>
                      </a:r>
                      <a:r>
                        <a:rPr lang="de-DE" sz="2000" baseline="-25000">
                          <a:effectLst/>
                        </a:rPr>
                        <a:t>a </a:t>
                      </a:r>
                      <a:r>
                        <a:rPr lang="de-DE" sz="2000" baseline="0">
                          <a:effectLst/>
                        </a:rPr>
                        <a:t>α</a:t>
                      </a:r>
                      <a:r>
                        <a:rPr lang="de-DE" sz="2000" baseline="0" err="1">
                          <a:effectLst/>
                        </a:rPr>
                        <a:t>ντίδρ</a:t>
                      </a:r>
                      <a:r>
                        <a:rPr lang="de-DE" sz="2000" baseline="0">
                          <a:effectLst/>
                        </a:rPr>
                        <a:t>α</a:t>
                      </a:r>
                      <a:r>
                        <a:rPr lang="de-DE" sz="2000" baseline="0" err="1">
                          <a:effectLst/>
                        </a:rPr>
                        <a:t>σης</a:t>
                      </a:r>
                      <a:r>
                        <a:rPr lang="de-DE" sz="2000" baseline="0">
                          <a:effectLst/>
                        </a:rPr>
                        <a:t> κατα</a:t>
                      </a:r>
                      <a:r>
                        <a:rPr lang="de-DE" sz="2000" baseline="0" err="1">
                          <a:effectLst/>
                        </a:rPr>
                        <a:t>στροφής</a:t>
                      </a:r>
                      <a:r>
                        <a:rPr lang="de-DE" sz="2000">
                          <a:effectLst/>
                        </a:rPr>
                        <a:t>(kJ mol</a:t>
                      </a:r>
                      <a:r>
                        <a:rPr lang="de-DE" sz="2000" baseline="30000">
                          <a:effectLst/>
                        </a:rPr>
                        <a:t>-1</a:t>
                      </a:r>
                      <a:r>
                        <a:rPr lang="de-DE" sz="2000">
                          <a:effectLst/>
                        </a:rPr>
                        <a:t>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400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900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86985256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sz="2000">
                          <a:effectLst/>
                        </a:rPr>
                        <a:t>α</a:t>
                      </a:r>
                      <a:r>
                        <a:rPr lang="el-GR" sz="2000" baseline="-25000">
                          <a:effectLst/>
                        </a:rPr>
                        <a:t>0 </a:t>
                      </a:r>
                      <a:r>
                        <a:rPr lang="el-GR" sz="2000">
                          <a:effectLst/>
                        </a:rPr>
                        <a:t>(</a:t>
                      </a:r>
                      <a:r>
                        <a:rPr lang="de-DE" sz="2000">
                          <a:effectLst/>
                        </a:rPr>
                        <a:t>K</a:t>
                      </a:r>
                      <a:r>
                        <a:rPr lang="de-DE" sz="2000" baseline="30000">
                          <a:effectLst/>
                        </a:rPr>
                        <a:t>-1</a:t>
                      </a:r>
                      <a:r>
                        <a:rPr lang="de-DE" sz="2000">
                          <a:effectLst/>
                        </a:rPr>
                        <a:t> s</a:t>
                      </a:r>
                      <a:r>
                        <a:rPr lang="de-DE" sz="2000" baseline="30000">
                          <a:effectLst/>
                        </a:rPr>
                        <a:t>-0.5</a:t>
                      </a:r>
                      <a:r>
                        <a:rPr lang="de-DE" sz="2000">
                          <a:effectLst/>
                        </a:rPr>
                        <a:t>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0.0001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0.002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7549228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sz="2000">
                          <a:effectLst/>
                        </a:rPr>
                        <a:t>α</a:t>
                      </a:r>
                      <a:r>
                        <a:rPr lang="el-GR" sz="2000" baseline="-25000">
                          <a:effectLst/>
                        </a:rPr>
                        <a:t>1 </a:t>
                      </a:r>
                      <a:r>
                        <a:rPr lang="el-GR" sz="2000">
                          <a:effectLst/>
                        </a:rPr>
                        <a:t>(</a:t>
                      </a:r>
                      <a:r>
                        <a:rPr lang="de-DE" sz="2000">
                          <a:effectLst/>
                        </a:rPr>
                        <a:t>K</a:t>
                      </a:r>
                      <a:r>
                        <a:rPr lang="de-DE" sz="2000" baseline="30000">
                          <a:effectLst/>
                        </a:rPr>
                        <a:t>-1</a:t>
                      </a:r>
                      <a:r>
                        <a:rPr lang="de-DE" sz="2000">
                          <a:effectLst/>
                        </a:rPr>
                        <a:t>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0.01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0.2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36153946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err="1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r>
                        <a:rPr lang="de-DE" sz="2000" baseline="-25000" err="1">
                          <a:solidFill>
                            <a:srgbClr val="000000"/>
                          </a:solidFill>
                          <a:effectLst/>
                        </a:rPr>
                        <a:t>min</a:t>
                      </a:r>
                      <a:r>
                        <a:rPr lang="de-DE" sz="2000" baseline="-2500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</a:rPr>
                        <a:t>(°C)</a:t>
                      </a:r>
                      <a:endParaRPr lang="de-DE" sz="200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de-DE" sz="200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</a:rPr>
                        <a:t>25</a:t>
                      </a:r>
                      <a:endParaRPr lang="de-DE" sz="200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3408887257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err="1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r>
                        <a:rPr lang="de-DE" sz="2000" baseline="-25000" err="1">
                          <a:solidFill>
                            <a:srgbClr val="000000"/>
                          </a:solidFill>
                          <a:effectLst/>
                        </a:rPr>
                        <a:t>max</a:t>
                      </a:r>
                      <a:r>
                        <a:rPr lang="de-DE" sz="2000" baseline="-2500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</a:rPr>
                        <a:t>(°C)</a:t>
                      </a:r>
                      <a:endParaRPr lang="de-DE" sz="200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</a:rPr>
                        <a:t>50</a:t>
                      </a:r>
                      <a:endParaRPr lang="de-DE" sz="200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</a:rPr>
                        <a:t>60</a:t>
                      </a:r>
                      <a:endParaRPr lang="de-DE" sz="200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32722883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n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1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2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24400194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err="1">
                          <a:solidFill>
                            <a:srgbClr val="000000"/>
                          </a:solidFill>
                          <a:effectLst/>
                        </a:rPr>
                        <a:t>c</a:t>
                      </a:r>
                      <a:r>
                        <a:rPr lang="de-DE" sz="2000" baseline="-25000" err="1">
                          <a:solidFill>
                            <a:srgbClr val="000000"/>
                          </a:solidFill>
                          <a:effectLst/>
                        </a:rPr>
                        <a:t>b,feed</a:t>
                      </a:r>
                      <a:r>
                        <a:rPr lang="de-DE" sz="2000" baseline="-2500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</a:rPr>
                        <a:t>(CFU mL</a:t>
                      </a:r>
                      <a:r>
                        <a:rPr lang="de-DE" sz="2000" baseline="30000">
                          <a:solidFill>
                            <a:srgbClr val="000000"/>
                          </a:solidFill>
                          <a:effectLst/>
                        </a:rPr>
                        <a:t>-1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de-DE" sz="200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</a:rPr>
                        <a:t>500</a:t>
                      </a:r>
                      <a:endParaRPr lang="de-DE" sz="200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</a:rPr>
                        <a:t>1500</a:t>
                      </a:r>
                      <a:endParaRPr lang="de-DE" sz="200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2336970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err="1">
                          <a:solidFill>
                            <a:srgbClr val="000000"/>
                          </a:solidFill>
                          <a:effectLst/>
                        </a:rPr>
                        <a:t>Διάρκει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</a:rPr>
                        <a:t>α π</a:t>
                      </a:r>
                      <a:r>
                        <a:rPr lang="de-DE" sz="2000" err="1">
                          <a:solidFill>
                            <a:srgbClr val="000000"/>
                          </a:solidFill>
                          <a:effectLst/>
                        </a:rPr>
                        <a:t>ροσομοίωσης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</a:rPr>
                        <a:t> (h)</a:t>
                      </a:r>
                      <a:endParaRPr lang="de-DE" sz="200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de-DE" sz="200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de-DE" sz="200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err="1">
                          <a:solidFill>
                            <a:srgbClr val="000000"/>
                          </a:solidFill>
                          <a:effectLst/>
                        </a:rPr>
                        <a:t>Λειτουργική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</a:rPr>
                        <a:t> απ</a:t>
                      </a:r>
                      <a:r>
                        <a:rPr lang="de-DE" sz="2000" err="1">
                          <a:solidFill>
                            <a:srgbClr val="000000"/>
                          </a:solidFill>
                          <a:effectLst/>
                        </a:rPr>
                        <a:t>όφ</a:t>
                      </a:r>
                      <a:r>
                        <a:rPr lang="de-DE" sz="2000">
                          <a:solidFill>
                            <a:srgbClr val="000000"/>
                          </a:solidFill>
                          <a:effectLst/>
                        </a:rPr>
                        <a:t>α</a:t>
                      </a:r>
                      <a:r>
                        <a:rPr lang="de-DE" sz="2000" err="1">
                          <a:solidFill>
                            <a:srgbClr val="000000"/>
                          </a:solidFill>
                          <a:effectLst/>
                        </a:rPr>
                        <a:t>ση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4457525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66C2547C-36E7-36AB-586B-C65EB3FA670E}"/>
              </a:ext>
            </a:extLst>
          </p:cNvPr>
          <p:cNvSpPr txBox="1"/>
          <p:nvPr/>
        </p:nvSpPr>
        <p:spPr>
          <a:xfrm>
            <a:off x="1372347" y="5546197"/>
            <a:ext cx="9176656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aseline="0" dirty="0" err="1">
                <a:latin typeface="Calibri"/>
              </a:rPr>
              <a:t>Πίν</a:t>
            </a:r>
            <a:r>
              <a:rPr lang="en-US" sz="2000" baseline="0" dirty="0">
                <a:latin typeface="Calibri"/>
              </a:rPr>
              <a:t>ακας </a:t>
            </a:r>
            <a:r>
              <a:rPr lang="en-US" sz="2000" dirty="0">
                <a:latin typeface="Calibri"/>
              </a:rPr>
              <a:t>3</a:t>
            </a:r>
            <a:r>
              <a:rPr lang="en-US" sz="2000" baseline="0" dirty="0">
                <a:latin typeface="Calibri"/>
              </a:rPr>
              <a:t>: Πα</a:t>
            </a:r>
            <a:r>
              <a:rPr lang="en-US" sz="2000" baseline="0" dirty="0" err="1">
                <a:latin typeface="Calibri"/>
              </a:rPr>
              <a:t>ράγοντες</a:t>
            </a:r>
            <a:r>
              <a:rPr lang="en-US" sz="2000" dirty="0">
                <a:latin typeface="Calibri"/>
              </a:rPr>
              <a:t> π</a:t>
            </a:r>
            <a:r>
              <a:rPr lang="en-US" sz="2000" dirty="0" err="1">
                <a:latin typeface="Calibri"/>
              </a:rPr>
              <a:t>ου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εξετάζοντ</a:t>
            </a:r>
            <a:r>
              <a:rPr lang="en-US" sz="2000" dirty="0">
                <a:latin typeface="Calibri"/>
              </a:rPr>
              <a:t>αι  </a:t>
            </a:r>
            <a:r>
              <a:rPr lang="en-US" sz="2000" dirty="0" err="1">
                <a:latin typeface="Calibri"/>
              </a:rPr>
              <a:t>στην</a:t>
            </a:r>
            <a:r>
              <a:rPr lang="en-US" sz="2000" dirty="0">
                <a:latin typeface="Calibri"/>
              </a:rPr>
              <a:t> α</a:t>
            </a:r>
            <a:r>
              <a:rPr lang="en-US" sz="2000" dirty="0" err="1">
                <a:latin typeface="Calibri"/>
              </a:rPr>
              <a:t>νάλυση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ευ</a:t>
            </a:r>
            <a:r>
              <a:rPr lang="en-US" sz="2000" dirty="0">
                <a:latin typeface="Calibri"/>
              </a:rPr>
              <a:t>α</a:t>
            </a:r>
            <a:r>
              <a:rPr lang="en-US" sz="2000" dirty="0" err="1">
                <a:latin typeface="Calibri"/>
              </a:rPr>
              <a:t>ισθησί</a:t>
            </a:r>
            <a:r>
              <a:rPr lang="en-US" sz="2000" dirty="0">
                <a:latin typeface="Calibri"/>
              </a:rPr>
              <a:t>ας </a:t>
            </a:r>
            <a:r>
              <a:rPr lang="en-US" sz="2000" dirty="0" err="1">
                <a:latin typeface="Calibri"/>
              </a:rPr>
              <a:t>του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ολοκληρωμένου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μοντέλου</a:t>
            </a:r>
            <a:r>
              <a:rPr lang="en-US" sz="2000" dirty="0">
                <a:latin typeface="Calibri"/>
              </a:rPr>
              <a:t> και </a:t>
            </a:r>
            <a:r>
              <a:rPr lang="en-US" sz="2000" dirty="0" err="1">
                <a:latin typeface="Calibri"/>
              </a:rPr>
              <a:t>οι</a:t>
            </a:r>
            <a:r>
              <a:rPr lang="en-US" sz="2000" dirty="0">
                <a:latin typeface="Calibri"/>
              </a:rPr>
              <a:t> κατα</a:t>
            </a:r>
            <a:r>
              <a:rPr lang="en-US" sz="2000" dirty="0" err="1">
                <a:latin typeface="Calibri"/>
              </a:rPr>
              <a:t>νομές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τους</a:t>
            </a:r>
            <a:endParaRPr lang="de-DE" dirty="0" err="1">
              <a:ea typeface="Calibri" panose="020F0502020204030204"/>
              <a:cs typeface="Calibri" panose="020F0502020204030204"/>
            </a:endParaRPr>
          </a:p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0774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CB319-9791-C317-AC99-5B1212D5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2CF57-5A13-58F4-8DDE-30707589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27</a:t>
            </a:fld>
            <a:r>
              <a:rPr lang="en-US"/>
              <a:t>/39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1BA85B-1F2F-11AC-2A8A-E823999A52DA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5.4 </a:t>
            </a:r>
            <a:r>
              <a:rPr lang="en-US" sz="3100" dirty="0" err="1">
                <a:ea typeface="Calibri Light"/>
                <a:cs typeface="Calibri Light"/>
              </a:rPr>
              <a:t>Ολοκληρωμένο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Μοντέλο-Ανάλυση</a:t>
            </a:r>
            <a:r>
              <a:rPr lang="en-US" sz="3100" dirty="0">
                <a:ea typeface="Calibri Light"/>
                <a:cs typeface="Calibri Light"/>
              </a:rPr>
              <a:t> Αβεβα</a:t>
            </a:r>
            <a:r>
              <a:rPr lang="en-US" sz="3100" dirty="0" err="1">
                <a:ea typeface="Calibri Light"/>
                <a:cs typeface="Calibri Light"/>
              </a:rPr>
              <a:t>ιότητ</a:t>
            </a:r>
            <a:r>
              <a:rPr lang="en-US" sz="3100" dirty="0">
                <a:ea typeface="Calibri Light"/>
                <a:cs typeface="Calibri Light"/>
              </a:rPr>
              <a:t>ας 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B78FBD3F-4D00-0405-3EFB-A8E2B0A058F2}"/>
              </a:ext>
            </a:extLst>
          </p:cNvPr>
          <p:cNvSpPr txBox="1"/>
          <p:nvPr/>
        </p:nvSpPr>
        <p:spPr>
          <a:xfrm>
            <a:off x="103171" y="5390823"/>
            <a:ext cx="6146194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err="1">
                <a:ea typeface="Calibri"/>
                <a:cs typeface="Calibri"/>
              </a:rPr>
              <a:t>Εικόν</a:t>
            </a:r>
            <a:r>
              <a:rPr lang="en-US" sz="2000" dirty="0">
                <a:ea typeface="Calibri"/>
                <a:cs typeface="Calibri"/>
              </a:rPr>
              <a:t>α 12: </a:t>
            </a:r>
            <a:r>
              <a:rPr lang="en-US" sz="2000" dirty="0">
                <a:latin typeface="Calibri"/>
                <a:ea typeface="Calibri"/>
                <a:cs typeface="Calibri"/>
              </a:rPr>
              <a:t>Επ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ίδρ</a:t>
            </a:r>
            <a:r>
              <a:rPr lang="en-US" sz="2000" dirty="0">
                <a:latin typeface="Calibri"/>
                <a:ea typeface="Calibri"/>
                <a:cs typeface="Calibri"/>
              </a:rPr>
              <a:t>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ση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της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διάρκει</a:t>
            </a:r>
            <a:r>
              <a:rPr lang="en-US" sz="2000" dirty="0">
                <a:latin typeface="Calibri"/>
                <a:ea typeface="Calibri"/>
                <a:cs typeface="Calibri"/>
              </a:rPr>
              <a:t>ας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της</a:t>
            </a:r>
            <a:r>
              <a:rPr lang="en-US" sz="2000" dirty="0">
                <a:latin typeface="Calibri"/>
                <a:ea typeface="Calibri"/>
                <a:cs typeface="Calibri"/>
              </a:rPr>
              <a:t> π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ροσομοίωσης</a:t>
            </a:r>
            <a:r>
              <a:rPr lang="en-US" sz="2000" dirty="0">
                <a:latin typeface="Calibri"/>
                <a:ea typeface="Calibri"/>
                <a:cs typeface="Calibri"/>
              </a:rPr>
              <a:t> και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της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ελάχιστης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θερμοκρ</a:t>
            </a:r>
            <a:r>
              <a:rPr lang="en-US" sz="2000" dirty="0">
                <a:latin typeface="Calibri"/>
                <a:ea typeface="Calibri"/>
                <a:cs typeface="Calibri"/>
              </a:rPr>
              <a:t>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σί</a:t>
            </a:r>
            <a:r>
              <a:rPr lang="en-US" sz="2000" dirty="0">
                <a:latin typeface="Calibri"/>
                <a:ea typeface="Calibri"/>
                <a:cs typeface="Calibri"/>
              </a:rPr>
              <a:t>ας 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νά</a:t>
            </a:r>
            <a:r>
              <a:rPr lang="en-US" sz="2000" dirty="0">
                <a:latin typeface="Calibri"/>
                <a:ea typeface="Calibri"/>
                <a:cs typeface="Calibri"/>
              </a:rPr>
              <a:t>π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τυξης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του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latin typeface="Calibri"/>
                <a:ea typeface="Calibri"/>
                <a:cs typeface="Calibri"/>
              </a:rPr>
              <a:t>S.thermophilus</a:t>
            </a:r>
            <a:r>
              <a:rPr lang="en-US" sz="2000" i="1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στη</a:t>
            </a:r>
            <a:r>
              <a:rPr lang="en-US" sz="2000" dirty="0">
                <a:latin typeface="Calibri"/>
                <a:ea typeface="Calibri"/>
                <a:cs typeface="Calibri"/>
              </a:rPr>
              <a:t> 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συγκέντρωσή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του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στ</a:t>
            </a:r>
            <a:r>
              <a:rPr lang="en-US" sz="2000" dirty="0">
                <a:latin typeface="Calibri"/>
                <a:ea typeface="Calibri"/>
                <a:cs typeface="Calibri"/>
              </a:rPr>
              <a:t>α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τοιχώμ</a:t>
            </a:r>
            <a:r>
              <a:rPr lang="en-US" sz="2000" dirty="0">
                <a:latin typeface="Calibri"/>
                <a:ea typeface="Calibri"/>
                <a:cs typeface="Calibri"/>
              </a:rPr>
              <a:t>ατα 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της</a:t>
            </a:r>
            <a:r>
              <a:rPr lang="en-US" sz="2000" dirty="0">
                <a:latin typeface="Calibri"/>
                <a:ea typeface="Calibri"/>
                <a:cs typeface="Calibri"/>
              </a:rPr>
              <a:t> ανα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γεννητικής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μονάδ</a:t>
            </a:r>
            <a:r>
              <a:rPr lang="en-US" sz="2000" dirty="0">
                <a:latin typeface="Calibri"/>
                <a:ea typeface="Calibri"/>
                <a:cs typeface="Calibri"/>
              </a:rPr>
              <a:t>ας</a:t>
            </a:r>
          </a:p>
          <a:p>
            <a:pPr algn="ctr"/>
            <a:endParaRPr 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8991433F-ED31-8327-28A8-9D562017A888}"/>
              </a:ext>
            </a:extLst>
          </p:cNvPr>
          <p:cNvSpPr txBox="1"/>
          <p:nvPr/>
        </p:nvSpPr>
        <p:spPr>
          <a:xfrm>
            <a:off x="6199172" y="5390823"/>
            <a:ext cx="589567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err="1">
                <a:ea typeface="Calibri"/>
                <a:cs typeface="Calibri"/>
              </a:rPr>
              <a:t>Εικόν</a:t>
            </a:r>
            <a:r>
              <a:rPr lang="en-US" sz="2000" dirty="0">
                <a:ea typeface="Calibri"/>
                <a:cs typeface="Calibri"/>
              </a:rPr>
              <a:t>α 13: </a:t>
            </a:r>
            <a:r>
              <a:rPr lang="en-US" sz="2000" dirty="0">
                <a:latin typeface="Calibri"/>
                <a:ea typeface="Calibri"/>
                <a:cs typeface="Calibri"/>
              </a:rPr>
              <a:t>Επ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ίδρ</a:t>
            </a:r>
            <a:r>
              <a:rPr lang="en-US" sz="2000" dirty="0">
                <a:latin typeface="Calibri"/>
                <a:ea typeface="Calibri"/>
                <a:cs typeface="Calibri"/>
              </a:rPr>
              <a:t>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ση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της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διάρκει</a:t>
            </a:r>
            <a:r>
              <a:rPr lang="en-US" sz="2000" dirty="0">
                <a:latin typeface="Calibri"/>
                <a:ea typeface="Calibri"/>
                <a:cs typeface="Calibri"/>
              </a:rPr>
              <a:t>ας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της</a:t>
            </a:r>
            <a:r>
              <a:rPr lang="en-US" sz="2000" dirty="0">
                <a:latin typeface="Calibri"/>
                <a:ea typeface="Calibri"/>
                <a:cs typeface="Calibri"/>
              </a:rPr>
              <a:t> π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ροσομοίωσης</a:t>
            </a:r>
            <a:r>
              <a:rPr lang="en-US" sz="2000" dirty="0">
                <a:latin typeface="Calibri"/>
                <a:ea typeface="Calibri"/>
                <a:cs typeface="Calibri"/>
              </a:rPr>
              <a:t> και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της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ροής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της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τροφοδοσί</a:t>
            </a:r>
            <a:r>
              <a:rPr lang="en-US" sz="2000" dirty="0">
                <a:latin typeface="Calibri"/>
                <a:ea typeface="Calibri"/>
                <a:cs typeface="Calibri"/>
              </a:rPr>
              <a:t>ας 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στη</a:t>
            </a:r>
            <a:r>
              <a:rPr lang="en-US" sz="2000" dirty="0">
                <a:latin typeface="Calibri"/>
                <a:ea typeface="Calibri"/>
                <a:cs typeface="Calibri"/>
              </a:rPr>
              <a:t> 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συγκέντρωση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του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συμ</a:t>
            </a:r>
            <a:r>
              <a:rPr lang="en-US" sz="2000" dirty="0">
                <a:latin typeface="Calibri"/>
                <a:ea typeface="Calibri"/>
                <a:cs typeface="Calibri"/>
              </a:rPr>
              <a:t>π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υκνώμ</a:t>
            </a:r>
            <a:r>
              <a:rPr lang="en-US" sz="2000" dirty="0">
                <a:latin typeface="Calibri"/>
                <a:ea typeface="Calibri"/>
                <a:cs typeface="Calibri"/>
              </a:rPr>
              <a:t>α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τος</a:t>
            </a:r>
            <a:r>
              <a:rPr lang="en-US" sz="2000" dirty="0">
                <a:latin typeface="Calibri"/>
                <a:ea typeface="Calibri"/>
                <a:cs typeface="Calibri"/>
              </a:rPr>
              <a:t> </a:t>
            </a:r>
            <a:r>
              <a:rPr lang="en-US" sz="2000" dirty="0" err="1">
                <a:latin typeface="Calibri"/>
                <a:ea typeface="Calibri"/>
                <a:cs typeface="Calibri"/>
              </a:rPr>
              <a:t>σε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 i="1" dirty="0" err="1">
                <a:latin typeface="Calibri"/>
                <a:ea typeface="Calibri"/>
                <a:cs typeface="Calibri"/>
              </a:rPr>
              <a:t>S.thermophilus</a:t>
            </a:r>
            <a:endParaRPr lang="de-DE" i="1" dirty="0" err="1"/>
          </a:p>
        </p:txBody>
      </p:sp>
      <p:pic>
        <p:nvPicPr>
          <p:cNvPr id="5" name="Grafik 4" descr="Ein Bild, das Text, Screenshot, Farbigkeit, Grafiken enthält.&#10;&#10;KI-generierte Inhalte können fehlerhaft sein.">
            <a:extLst>
              <a:ext uri="{FF2B5EF4-FFF2-40B4-BE49-F238E27FC236}">
                <a16:creationId xmlns:a16="http://schemas.microsoft.com/office/drawing/2014/main" id="{8294620B-4CB4-E2A9-5B1B-50C6A22B4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397" y="831154"/>
            <a:ext cx="5991225" cy="4381500"/>
          </a:xfrm>
          <a:prstGeom prst="rect">
            <a:avLst/>
          </a:prstGeom>
        </p:spPr>
      </p:pic>
      <p:pic>
        <p:nvPicPr>
          <p:cNvPr id="2" name="Grafik 1" descr="Ein Bild, das Text, Karte, Screenshot, Farbigkeit enthält.&#10;&#10;KI-generierte Inhalte können fehlerhaft sein.">
            <a:extLst>
              <a:ext uri="{FF2B5EF4-FFF2-40B4-BE49-F238E27FC236}">
                <a16:creationId xmlns:a16="http://schemas.microsoft.com/office/drawing/2014/main" id="{C41EE605-E7B2-ED16-6AAE-3173258B4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2" y="831273"/>
            <a:ext cx="6001904" cy="437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073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21307-7EB9-B0F9-2657-BC5A7D983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CVP_SS επ</a:t>
            </a:r>
            <a:r>
              <a:rPr lang="en-US" dirty="0" err="1">
                <a:ea typeface="Calibri"/>
                <a:cs typeface="Calibri"/>
              </a:rPr>
              <a:t>ιλυτής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DAEBDF επ</a:t>
            </a:r>
            <a:r>
              <a:rPr lang="en-US" dirty="0" err="1">
                <a:ea typeface="Calibri"/>
                <a:cs typeface="Calibri"/>
              </a:rPr>
              <a:t>ιλυτής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γι</a:t>
            </a:r>
            <a:r>
              <a:rPr lang="en-US" dirty="0">
                <a:ea typeface="Calibri"/>
                <a:cs typeface="Calibri"/>
              </a:rPr>
              <a:t>α </a:t>
            </a:r>
            <a:r>
              <a:rPr lang="en-US" dirty="0" err="1">
                <a:ea typeface="Calibri"/>
                <a:cs typeface="Calibri"/>
              </a:rPr>
              <a:t>δι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φορικές</a:t>
            </a:r>
            <a:r>
              <a:rPr lang="en-US" dirty="0">
                <a:ea typeface="Calibri"/>
                <a:cs typeface="Calibri"/>
              </a:rPr>
              <a:t> α</a:t>
            </a:r>
            <a:r>
              <a:rPr lang="en-US" dirty="0" err="1">
                <a:ea typeface="Calibri"/>
                <a:cs typeface="Calibri"/>
              </a:rPr>
              <a:t>λγε</a:t>
            </a:r>
            <a:r>
              <a:rPr lang="en-US" dirty="0">
                <a:ea typeface="Calibri"/>
                <a:cs typeface="Calibri"/>
              </a:rPr>
              <a:t>β</a:t>
            </a:r>
            <a:r>
              <a:rPr lang="en-US" dirty="0" err="1">
                <a:ea typeface="Calibri"/>
                <a:cs typeface="Calibri"/>
              </a:rPr>
              <a:t>ρικές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εξισώσεις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max/min    f(x)     (27)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   subject to  h(x)=0   (28)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         g(x)≤0    (29)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9E33A-B25F-166A-3BAA-1690B523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28</a:t>
            </a:fld>
            <a:r>
              <a:rPr lang="en-US"/>
              <a:t>/39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73EF21A-5433-5582-D1C6-85166925C3E9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>
                <a:ea typeface="Calibri Light"/>
                <a:cs typeface="Calibri Light"/>
              </a:rPr>
              <a:t>6. </a:t>
            </a:r>
            <a:r>
              <a:rPr lang="en-US" sz="3100" err="1">
                <a:ea typeface="Calibri Light"/>
                <a:cs typeface="Calibri Light"/>
              </a:rPr>
              <a:t>Βελτιστο</a:t>
            </a:r>
            <a:r>
              <a:rPr lang="en-US" sz="3100">
                <a:ea typeface="Calibri Light"/>
                <a:cs typeface="Calibri Light"/>
              </a:rPr>
              <a:t>π</a:t>
            </a:r>
            <a:r>
              <a:rPr lang="en-US" sz="3100" err="1">
                <a:ea typeface="Calibri Light"/>
                <a:cs typeface="Calibri Light"/>
              </a:rPr>
              <a:t>οίηση</a:t>
            </a:r>
          </a:p>
        </p:txBody>
      </p:sp>
    </p:spTree>
    <p:extLst>
      <p:ext uri="{BB962C8B-B14F-4D97-AF65-F5344CB8AC3E}">
        <p14:creationId xmlns:p14="http://schemas.microsoft.com/office/powerpoint/2010/main" val="347491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323B8-B424-188B-66B3-4D5A2317F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A65A1-D13A-50F8-A224-F3A11DA01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29</a:t>
            </a:fld>
            <a:r>
              <a:rPr lang="en-US"/>
              <a:t>/39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90C67A-2D99-3556-D451-1A1C6162EEF2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6.1 </a:t>
            </a:r>
            <a:r>
              <a:rPr lang="en-US" sz="3100" dirty="0" err="1">
                <a:ea typeface="Calibri Light"/>
                <a:cs typeface="Calibri Light"/>
              </a:rPr>
              <a:t>Μοντέλο</a:t>
            </a:r>
            <a:r>
              <a:rPr lang="en-US" sz="3100" dirty="0">
                <a:ea typeface="Calibri Light"/>
                <a:cs typeface="Calibri Light"/>
              </a:rPr>
              <a:t> Πα</a:t>
            </a:r>
            <a:r>
              <a:rPr lang="en-US" sz="3100" dirty="0" err="1">
                <a:ea typeface="Calibri Light"/>
                <a:cs typeface="Calibri Light"/>
              </a:rPr>
              <a:t>στερίωσης-Βελτιστο</a:t>
            </a:r>
            <a:r>
              <a:rPr lang="en-US" sz="3100" dirty="0">
                <a:ea typeface="Calibri Light"/>
                <a:cs typeface="Calibri Light"/>
              </a:rPr>
              <a:t>π</a:t>
            </a:r>
            <a:r>
              <a:rPr lang="en-US" sz="3100" dirty="0" err="1">
                <a:ea typeface="Calibri Light"/>
                <a:cs typeface="Calibri Light"/>
              </a:rPr>
              <a:t>οίηση</a:t>
            </a:r>
            <a:endParaRPr lang="en-US" sz="3100" dirty="0">
              <a:ea typeface="Calibri Light"/>
              <a:cs typeface="Calibri Light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BC55B1C4-C864-B233-A9FF-831E79D16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702892"/>
              </p:ext>
            </p:extLst>
          </p:nvPr>
        </p:nvGraphicFramePr>
        <p:xfrm>
          <a:off x="206828" y="1055914"/>
          <a:ext cx="11801569" cy="4644925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3111499">
                  <a:extLst>
                    <a:ext uri="{9D8B030D-6E8A-4147-A177-3AD203B41FA5}">
                      <a16:colId xmlns:a16="http://schemas.microsoft.com/office/drawing/2014/main" val="1663565418"/>
                    </a:ext>
                  </a:extLst>
                </a:gridCol>
                <a:gridCol w="1603373">
                  <a:extLst>
                    <a:ext uri="{9D8B030D-6E8A-4147-A177-3AD203B41FA5}">
                      <a16:colId xmlns:a16="http://schemas.microsoft.com/office/drawing/2014/main" val="4271753242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1252835141"/>
                    </a:ext>
                  </a:extLst>
                </a:gridCol>
                <a:gridCol w="1048666">
                  <a:extLst>
                    <a:ext uri="{9D8B030D-6E8A-4147-A177-3AD203B41FA5}">
                      <a16:colId xmlns:a16="http://schemas.microsoft.com/office/drawing/2014/main" val="640501487"/>
                    </a:ext>
                  </a:extLst>
                </a:gridCol>
                <a:gridCol w="1970598">
                  <a:extLst>
                    <a:ext uri="{9D8B030D-6E8A-4147-A177-3AD203B41FA5}">
                      <a16:colId xmlns:a16="http://schemas.microsoft.com/office/drawing/2014/main" val="3932388530"/>
                    </a:ext>
                  </a:extLst>
                </a:gridCol>
                <a:gridCol w="1880876">
                  <a:extLst>
                    <a:ext uri="{9D8B030D-6E8A-4147-A177-3AD203B41FA5}">
                      <a16:colId xmlns:a16="http://schemas.microsoft.com/office/drawing/2014/main" val="1753384912"/>
                    </a:ext>
                  </a:extLst>
                </a:gridCol>
                <a:gridCol w="1472182">
                  <a:extLst>
                    <a:ext uri="{9D8B030D-6E8A-4147-A177-3AD203B41FA5}">
                      <a16:colId xmlns:a16="http://schemas.microsoft.com/office/drawing/2014/main" val="1821848347"/>
                    </a:ext>
                  </a:extLst>
                </a:gridCol>
              </a:tblGrid>
              <a:tr h="83318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err="1">
                          <a:effectLst/>
                        </a:rPr>
                        <a:t>Μετ</a:t>
                      </a:r>
                      <a:r>
                        <a:rPr lang="de-DE" sz="2000">
                          <a:effectLst/>
                        </a:rPr>
                        <a:t>αβ</a:t>
                      </a:r>
                      <a:r>
                        <a:rPr lang="de-DE" sz="2000" err="1">
                          <a:effectLst/>
                        </a:rPr>
                        <a:t>λητή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err="1">
                          <a:effectLst/>
                        </a:rPr>
                        <a:t>Τύ</a:t>
                      </a:r>
                      <a:r>
                        <a:rPr lang="de-DE" sz="2000">
                          <a:effectLst/>
                        </a:rPr>
                        <a:t>π</a:t>
                      </a:r>
                      <a:r>
                        <a:rPr lang="de-DE" sz="2000" err="1">
                          <a:effectLst/>
                        </a:rPr>
                        <a:t>ος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err="1">
                          <a:effectLst/>
                        </a:rPr>
                        <a:t>Κάτω</a:t>
                      </a:r>
                      <a:r>
                        <a:rPr lang="de-DE" sz="2000">
                          <a:effectLst/>
                        </a:rPr>
                        <a:t> </a:t>
                      </a:r>
                      <a:r>
                        <a:rPr lang="de-DE" sz="2000" err="1">
                          <a:effectLst/>
                        </a:rPr>
                        <a:t>όριο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err="1">
                          <a:effectLst/>
                        </a:rPr>
                        <a:t>Άνω</a:t>
                      </a:r>
                      <a:r>
                        <a:rPr lang="de-DE" sz="2000">
                          <a:effectLst/>
                        </a:rPr>
                        <a:t> </a:t>
                      </a:r>
                      <a:r>
                        <a:rPr lang="de-DE" sz="2000" err="1">
                          <a:effectLst/>
                        </a:rPr>
                        <a:t>όριο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err="1">
                          <a:effectLst/>
                        </a:rPr>
                        <a:t>Τιμή</a:t>
                      </a:r>
                      <a:r>
                        <a:rPr lang="de-DE" sz="2000">
                          <a:effectLst/>
                        </a:rPr>
                        <a:t> β</a:t>
                      </a:r>
                      <a:r>
                        <a:rPr lang="de-DE" sz="2000" err="1">
                          <a:effectLst/>
                        </a:rPr>
                        <a:t>ελτιστο</a:t>
                      </a:r>
                      <a:r>
                        <a:rPr lang="de-DE" sz="2000">
                          <a:effectLst/>
                        </a:rPr>
                        <a:t>π</a:t>
                      </a:r>
                      <a:r>
                        <a:rPr lang="de-DE" sz="2000" err="1">
                          <a:effectLst/>
                        </a:rPr>
                        <a:t>οίησης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err="1">
                          <a:effectLst/>
                        </a:rPr>
                        <a:t>Τιμή</a:t>
                      </a:r>
                      <a:r>
                        <a:rPr lang="de-DE" sz="2000">
                          <a:effectLst/>
                        </a:rPr>
                        <a:t> π</a:t>
                      </a:r>
                      <a:r>
                        <a:rPr lang="de-DE" sz="2000" err="1">
                          <a:effectLst/>
                        </a:rPr>
                        <a:t>ριν</a:t>
                      </a:r>
                      <a:r>
                        <a:rPr lang="de-DE" sz="2000">
                          <a:effectLst/>
                        </a:rPr>
                        <a:t> </a:t>
                      </a:r>
                      <a:r>
                        <a:rPr lang="de-DE" sz="2000" err="1">
                          <a:effectLst/>
                        </a:rPr>
                        <a:t>τη</a:t>
                      </a:r>
                      <a:r>
                        <a:rPr lang="de-DE" sz="2000">
                          <a:effectLst/>
                        </a:rPr>
                        <a:t> β</a:t>
                      </a:r>
                      <a:r>
                        <a:rPr lang="de-DE" sz="2000" err="1">
                          <a:effectLst/>
                        </a:rPr>
                        <a:t>ελτιστο</a:t>
                      </a:r>
                      <a:r>
                        <a:rPr lang="de-DE" sz="2000">
                          <a:effectLst/>
                        </a:rPr>
                        <a:t>π</a:t>
                      </a:r>
                      <a:r>
                        <a:rPr lang="de-DE" sz="2000" err="1">
                          <a:effectLst/>
                        </a:rPr>
                        <a:t>οίηση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err="1">
                          <a:effectLst/>
                        </a:rPr>
                        <a:t>Όφελος</a:t>
                      </a:r>
                      <a:endParaRPr lang="de-DE" err="1"/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985473"/>
                  </a:ext>
                </a:extLst>
              </a:tr>
              <a:tr h="833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>
                          <a:effectLst/>
                        </a:rPr>
                        <a:t>Κατανα</a:t>
                      </a:r>
                      <a:r>
                        <a:rPr lang="de-DE" sz="2000" b="1" err="1">
                          <a:effectLst/>
                        </a:rPr>
                        <a:t>λισκόμενο</a:t>
                      </a:r>
                      <a:r>
                        <a:rPr lang="de-DE" sz="2000" b="1">
                          <a:effectLst/>
                        </a:rPr>
                        <a:t> </a:t>
                      </a:r>
                      <a:r>
                        <a:rPr lang="de-DE" sz="2000" b="1" err="1">
                          <a:effectLst/>
                        </a:rPr>
                        <a:t>νερό</a:t>
                      </a:r>
                      <a:r>
                        <a:rPr lang="de-DE" sz="2000" b="1">
                          <a:effectLst/>
                        </a:rPr>
                        <a:t> </a:t>
                      </a:r>
                      <a:r>
                        <a:rPr lang="de-DE" sz="2000" b="1" err="1">
                          <a:effectLst/>
                        </a:rPr>
                        <a:t>θέρμ</a:t>
                      </a:r>
                      <a:r>
                        <a:rPr lang="de-DE" sz="2000" b="1">
                          <a:effectLst/>
                        </a:rPr>
                        <a:t>α</a:t>
                      </a:r>
                      <a:r>
                        <a:rPr lang="de-DE" sz="2000" b="1" err="1">
                          <a:effectLst/>
                        </a:rPr>
                        <a:t>νσης</a:t>
                      </a:r>
                      <a:r>
                        <a:rPr lang="de-DE" sz="2000" b="1">
                          <a:effectLst/>
                        </a:rPr>
                        <a:t> (kg)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 err="1">
                          <a:effectLst/>
                        </a:rPr>
                        <a:t>Αντικειμενική</a:t>
                      </a:r>
                      <a:r>
                        <a:rPr lang="de-DE" sz="2000" b="0">
                          <a:effectLst/>
                        </a:rPr>
                        <a:t> </a:t>
                      </a:r>
                      <a:r>
                        <a:rPr lang="de-DE" sz="2000" b="0" err="1">
                          <a:effectLst/>
                        </a:rPr>
                        <a:t>συνάρτηση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30948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66158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53%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959253"/>
                  </a:ext>
                </a:extLst>
              </a:tr>
              <a:tr h="5789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err="1">
                          <a:effectLst/>
                        </a:rPr>
                        <a:t>Κόστος</a:t>
                      </a:r>
                      <a:r>
                        <a:rPr lang="de-DE" sz="2000" b="1">
                          <a:effectLst/>
                        </a:rPr>
                        <a:t> </a:t>
                      </a:r>
                      <a:r>
                        <a:rPr lang="de-DE" sz="2000" b="1" err="1">
                          <a:effectLst/>
                        </a:rPr>
                        <a:t>νερού</a:t>
                      </a:r>
                      <a:r>
                        <a:rPr lang="de-DE" sz="2000" b="1">
                          <a:effectLst/>
                        </a:rPr>
                        <a:t> </a:t>
                      </a:r>
                      <a:r>
                        <a:rPr lang="de-DE" sz="2000" b="1" err="1">
                          <a:effectLst/>
                        </a:rPr>
                        <a:t>θέρμ</a:t>
                      </a:r>
                      <a:r>
                        <a:rPr lang="de-DE" sz="2000" b="1">
                          <a:effectLst/>
                        </a:rPr>
                        <a:t>α</a:t>
                      </a:r>
                      <a:r>
                        <a:rPr lang="de-DE" sz="2000" b="1" err="1">
                          <a:effectLst/>
                        </a:rPr>
                        <a:t>νσης</a:t>
                      </a:r>
                      <a:r>
                        <a:rPr lang="de-DE" sz="2000" b="1">
                          <a:effectLst/>
                        </a:rPr>
                        <a:t> (USD h</a:t>
                      </a:r>
                      <a:r>
                        <a:rPr lang="de-DE" sz="2000" b="1" baseline="30000">
                          <a:effectLst/>
                        </a:rPr>
                        <a:t>-1</a:t>
                      </a:r>
                      <a:r>
                        <a:rPr lang="de-DE" sz="2000" b="1" baseline="0">
                          <a:effectLst/>
                        </a:rPr>
                        <a:t>)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4.64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9.92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53%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024128"/>
                  </a:ext>
                </a:extLst>
              </a:tr>
              <a:tr h="833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err="1">
                          <a:effectLst/>
                        </a:rPr>
                        <a:t>Θερμοκρ</a:t>
                      </a:r>
                      <a:r>
                        <a:rPr lang="de-DE" sz="2000" b="1">
                          <a:effectLst/>
                        </a:rPr>
                        <a:t>α</a:t>
                      </a:r>
                      <a:r>
                        <a:rPr lang="de-DE" sz="2000" b="1" err="1">
                          <a:effectLst/>
                        </a:rPr>
                        <a:t>σί</a:t>
                      </a:r>
                      <a:r>
                        <a:rPr lang="de-DE" sz="2000" b="1">
                          <a:effectLst/>
                        </a:rPr>
                        <a:t>α </a:t>
                      </a:r>
                      <a:r>
                        <a:rPr lang="de-DE" sz="2000" b="1" err="1">
                          <a:effectLst/>
                        </a:rPr>
                        <a:t>εξόδου</a:t>
                      </a:r>
                      <a:r>
                        <a:rPr lang="de-DE" sz="2000" b="1">
                          <a:effectLst/>
                        </a:rPr>
                        <a:t> π</a:t>
                      </a:r>
                      <a:r>
                        <a:rPr lang="de-DE" sz="2000" b="1" err="1">
                          <a:effectLst/>
                        </a:rPr>
                        <a:t>ροθερμ</a:t>
                      </a:r>
                      <a:r>
                        <a:rPr lang="de-DE" sz="2000" b="1">
                          <a:effectLst/>
                        </a:rPr>
                        <a:t>α</a:t>
                      </a:r>
                      <a:r>
                        <a:rPr lang="de-DE" sz="2000" b="1" err="1">
                          <a:effectLst/>
                        </a:rPr>
                        <a:t>ντήρ</a:t>
                      </a:r>
                      <a:r>
                        <a:rPr lang="de-DE" sz="2000" b="1">
                          <a:effectLst/>
                        </a:rPr>
                        <a:t>α (°C)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 err="1">
                          <a:effectLst/>
                        </a:rPr>
                        <a:t>Μετ</a:t>
                      </a:r>
                      <a:r>
                        <a:rPr lang="de-DE" sz="2000" b="0">
                          <a:effectLst/>
                        </a:rPr>
                        <a:t>αβ</a:t>
                      </a:r>
                      <a:r>
                        <a:rPr lang="de-DE" sz="2000" b="0" err="1">
                          <a:effectLst/>
                        </a:rPr>
                        <a:t>λητή</a:t>
                      </a:r>
                      <a:r>
                        <a:rPr lang="de-DE" sz="2000" b="0">
                          <a:effectLst/>
                        </a:rPr>
                        <a:t> απ</a:t>
                      </a:r>
                      <a:r>
                        <a:rPr lang="de-DE" sz="2000" b="0" err="1">
                          <a:effectLst/>
                        </a:rPr>
                        <a:t>όφ</a:t>
                      </a:r>
                      <a:r>
                        <a:rPr lang="de-DE" sz="2000" b="0">
                          <a:effectLst/>
                        </a:rPr>
                        <a:t>α</a:t>
                      </a:r>
                      <a:r>
                        <a:rPr lang="de-DE" sz="2000" b="0" err="1">
                          <a:effectLst/>
                        </a:rPr>
                        <a:t>σης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72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80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72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75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834303"/>
                  </a:ext>
                </a:extLst>
              </a:tr>
              <a:tr h="8473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err="1">
                          <a:effectLst/>
                        </a:rPr>
                        <a:t>Συγκέντρωση</a:t>
                      </a:r>
                      <a:r>
                        <a:rPr lang="de-DE" sz="2000" b="1">
                          <a:effectLst/>
                        </a:rPr>
                        <a:t> </a:t>
                      </a:r>
                      <a:r>
                        <a:rPr lang="de-DE" sz="2000" b="1" err="1">
                          <a:effectLst/>
                        </a:rPr>
                        <a:t>φωσφ</a:t>
                      </a:r>
                      <a:r>
                        <a:rPr lang="de-DE" sz="2000" b="1">
                          <a:effectLst/>
                        </a:rPr>
                        <a:t>α</a:t>
                      </a:r>
                      <a:r>
                        <a:rPr lang="de-DE" sz="2000" b="1" err="1">
                          <a:effectLst/>
                        </a:rPr>
                        <a:t>τάσης</a:t>
                      </a:r>
                      <a:r>
                        <a:rPr lang="de-DE" sz="2000" b="1">
                          <a:effectLst/>
                        </a:rPr>
                        <a:t> </a:t>
                      </a:r>
                      <a:r>
                        <a:rPr lang="de-DE" sz="2000" b="1" err="1">
                          <a:effectLst/>
                        </a:rPr>
                        <a:t>στην</a:t>
                      </a:r>
                      <a:r>
                        <a:rPr lang="de-DE" sz="2000" b="1">
                          <a:effectLst/>
                        </a:rPr>
                        <a:t> </a:t>
                      </a:r>
                      <a:r>
                        <a:rPr lang="de-DE" sz="2000" b="1" err="1">
                          <a:effectLst/>
                        </a:rPr>
                        <a:t>έξοδο</a:t>
                      </a:r>
                      <a:r>
                        <a:rPr lang="de-DE" sz="2000" b="1">
                          <a:effectLst/>
                        </a:rPr>
                        <a:t> </a:t>
                      </a:r>
                      <a:r>
                        <a:rPr lang="de-DE" sz="2000" b="1" err="1">
                          <a:effectLst/>
                        </a:rPr>
                        <a:t>του</a:t>
                      </a:r>
                      <a:r>
                        <a:rPr lang="de-DE" sz="2000" b="1">
                          <a:effectLst/>
                        </a:rPr>
                        <a:t> </a:t>
                      </a:r>
                      <a:r>
                        <a:rPr lang="de-DE" sz="2000" b="1" err="1">
                          <a:effectLst/>
                        </a:rPr>
                        <a:t>ψύκτη</a:t>
                      </a:r>
                      <a:r>
                        <a:rPr lang="de-DE" sz="2000" b="1">
                          <a:effectLst/>
                        </a:rPr>
                        <a:t> (</a:t>
                      </a:r>
                      <a:r>
                        <a:rPr lang="de-DE" sz="2000" b="1" err="1">
                          <a:effectLst/>
                        </a:rPr>
                        <a:t>units</a:t>
                      </a:r>
                      <a:r>
                        <a:rPr lang="de-DE" sz="2000" b="1">
                          <a:effectLst/>
                        </a:rPr>
                        <a:t> mL</a:t>
                      </a:r>
                      <a:r>
                        <a:rPr lang="de-DE" sz="2000" b="1" baseline="30000">
                          <a:effectLst/>
                        </a:rPr>
                        <a:t>-1</a:t>
                      </a:r>
                      <a:r>
                        <a:rPr lang="de-DE" sz="2000" b="1">
                          <a:effectLst/>
                        </a:rPr>
                        <a:t>)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 err="1">
                          <a:effectLst/>
                        </a:rPr>
                        <a:t>Περιορισμός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0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3.5×10</a:t>
                      </a:r>
                      <a:r>
                        <a:rPr lang="de-DE" sz="2000" b="0" baseline="30000">
                          <a:effectLst/>
                        </a:rPr>
                        <a:t>-4</a:t>
                      </a:r>
                      <a:endParaRPr lang="de-DE" sz="2000" b="0">
                        <a:effectLst/>
                      </a:endParaRP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1.1×10</a:t>
                      </a:r>
                      <a:r>
                        <a:rPr lang="de-DE" sz="2000" b="0" baseline="30000">
                          <a:effectLst/>
                        </a:rPr>
                        <a:t>-6</a:t>
                      </a:r>
                      <a:endParaRPr lang="de-DE" sz="2000" b="0">
                        <a:effectLst/>
                      </a:endParaRP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4.8×10</a:t>
                      </a:r>
                      <a:r>
                        <a:rPr lang="de-DE" sz="2000" b="0" baseline="30000">
                          <a:effectLst/>
                        </a:rPr>
                        <a:t>-10</a:t>
                      </a:r>
                      <a:endParaRPr lang="de-DE" sz="2000" b="0">
                        <a:effectLst/>
                      </a:endParaRP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Επ</a:t>
                      </a:r>
                      <a:r>
                        <a:rPr lang="de-DE" sz="2000" b="0" err="1">
                          <a:effectLst/>
                        </a:rPr>
                        <a:t>ιτυχής</a:t>
                      </a:r>
                      <a:r>
                        <a:rPr lang="de-DE" sz="2000" b="0">
                          <a:effectLst/>
                        </a:rPr>
                        <a:t> πα</a:t>
                      </a:r>
                      <a:r>
                        <a:rPr lang="de-DE" sz="2000" b="0" err="1">
                          <a:effectLst/>
                        </a:rPr>
                        <a:t>στερίωση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0274913"/>
                  </a:ext>
                </a:extLst>
              </a:tr>
              <a:tr h="6213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err="1">
                          <a:effectLst/>
                        </a:rPr>
                        <a:t>Μετουσίωση</a:t>
                      </a:r>
                      <a:r>
                        <a:rPr lang="de-DE" sz="2000" b="1">
                          <a:effectLst/>
                        </a:rPr>
                        <a:t> </a:t>
                      </a:r>
                      <a:r>
                        <a:rPr lang="el-GR" sz="2000" b="1">
                          <a:effectLst/>
                        </a:rPr>
                        <a:t>β-</a:t>
                      </a:r>
                      <a:r>
                        <a:rPr lang="de-DE" sz="2000" b="1">
                          <a:effectLst/>
                        </a:rPr>
                        <a:t>LG </a:t>
                      </a:r>
                      <a:r>
                        <a:rPr lang="de-DE" sz="2000" b="1" err="1">
                          <a:effectLst/>
                        </a:rPr>
                        <a:t>στον</a:t>
                      </a:r>
                      <a:r>
                        <a:rPr lang="de-DE" sz="2000" b="1">
                          <a:effectLst/>
                        </a:rPr>
                        <a:t> </a:t>
                      </a:r>
                      <a:r>
                        <a:rPr lang="de-DE" sz="2000" b="1" err="1">
                          <a:effectLst/>
                        </a:rPr>
                        <a:t>θάλ</a:t>
                      </a:r>
                      <a:r>
                        <a:rPr lang="de-DE" sz="2000" b="1">
                          <a:effectLst/>
                        </a:rPr>
                        <a:t>α</a:t>
                      </a:r>
                      <a:r>
                        <a:rPr lang="de-DE" sz="2000" b="1" err="1">
                          <a:effectLst/>
                        </a:rPr>
                        <a:t>μο</a:t>
                      </a:r>
                      <a:r>
                        <a:rPr lang="de-DE" sz="2000" b="1">
                          <a:effectLst/>
                        </a:rPr>
                        <a:t> </a:t>
                      </a:r>
                      <a:r>
                        <a:rPr lang="de-DE" sz="2000" b="1" err="1">
                          <a:effectLst/>
                        </a:rPr>
                        <a:t>συγκράτησης</a:t>
                      </a:r>
                      <a:r>
                        <a:rPr lang="de-DE" sz="2000" b="1">
                          <a:effectLst/>
                        </a:rPr>
                        <a:t> (%)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 err="1">
                          <a:effectLst/>
                        </a:rPr>
                        <a:t>Περιορισμός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0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20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13.2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26.39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875419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0FCC7BEA-6AEF-4446-2B12-D396DD9C5A87}"/>
              </a:ext>
            </a:extLst>
          </p:cNvPr>
          <p:cNvSpPr txBox="1"/>
          <p:nvPr/>
        </p:nvSpPr>
        <p:spPr>
          <a:xfrm>
            <a:off x="2079918" y="5992512"/>
            <a:ext cx="832757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aseline="0" dirty="0" err="1">
                <a:latin typeface="Calibri"/>
              </a:rPr>
              <a:t>Πίν</a:t>
            </a:r>
            <a:r>
              <a:rPr lang="en-US" sz="2000" baseline="0" dirty="0">
                <a:latin typeface="Calibri"/>
              </a:rPr>
              <a:t>ακας </a:t>
            </a:r>
            <a:r>
              <a:rPr lang="en-US" sz="2000" dirty="0">
                <a:latin typeface="Calibri"/>
              </a:rPr>
              <a:t>4</a:t>
            </a:r>
            <a:r>
              <a:rPr lang="en-US" sz="2000" baseline="0" dirty="0">
                <a:latin typeface="Calibri"/>
              </a:rPr>
              <a:t>: </a:t>
            </a:r>
            <a:r>
              <a:rPr lang="en-US" sz="2000" dirty="0" err="1">
                <a:latin typeface="Calibri"/>
              </a:rPr>
              <a:t>Μετ</a:t>
            </a:r>
            <a:r>
              <a:rPr lang="en-US" sz="2000" dirty="0">
                <a:latin typeface="Calibri"/>
              </a:rPr>
              <a:t>αβ</a:t>
            </a:r>
            <a:r>
              <a:rPr lang="en-US" sz="2000" dirty="0" err="1">
                <a:latin typeface="Calibri"/>
              </a:rPr>
              <a:t>λητές</a:t>
            </a:r>
            <a:r>
              <a:rPr lang="en-US" sz="2000" dirty="0">
                <a:latin typeface="Calibri"/>
              </a:rPr>
              <a:t> κα</a:t>
            </a:r>
            <a:r>
              <a:rPr lang="en-US" sz="2000" dirty="0" err="1">
                <a:latin typeface="Calibri"/>
              </a:rPr>
              <a:t>τά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τη</a:t>
            </a:r>
            <a:r>
              <a:rPr lang="en-US" sz="2000" dirty="0">
                <a:latin typeface="Calibri"/>
              </a:rPr>
              <a:t> β</a:t>
            </a:r>
            <a:r>
              <a:rPr lang="en-US" sz="2000" dirty="0" err="1">
                <a:latin typeface="Calibri"/>
              </a:rPr>
              <a:t>ελτιστο</a:t>
            </a:r>
            <a:r>
              <a:rPr lang="en-US" sz="2000" dirty="0">
                <a:latin typeface="Calibri"/>
              </a:rPr>
              <a:t>π</a:t>
            </a:r>
            <a:r>
              <a:rPr lang="en-US" sz="2000" dirty="0" err="1">
                <a:latin typeface="Calibri"/>
              </a:rPr>
              <a:t>οίηση</a:t>
            </a:r>
            <a:r>
              <a:rPr lang="en-US" sz="2000" dirty="0">
                <a:latin typeface="Calibri"/>
              </a:rPr>
              <a:t> </a:t>
            </a:r>
            <a:r>
              <a:rPr lang="en-US" sz="2000" dirty="0" err="1">
                <a:latin typeface="Calibri"/>
              </a:rPr>
              <a:t>του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μοντέλου</a:t>
            </a:r>
            <a:r>
              <a:rPr lang="en-US" sz="2000" dirty="0">
                <a:latin typeface="Calibri"/>
              </a:rPr>
              <a:t> πα</a:t>
            </a:r>
            <a:r>
              <a:rPr lang="en-US" sz="2000" dirty="0" err="1">
                <a:latin typeface="Calibri"/>
              </a:rPr>
              <a:t>στερίωσης</a:t>
            </a:r>
            <a:r>
              <a:rPr lang="en-US" sz="2000" dirty="0">
                <a:latin typeface="Calibri"/>
              </a:rPr>
              <a:t>, </a:t>
            </a:r>
            <a:r>
              <a:rPr lang="en-US" sz="2000" dirty="0" err="1">
                <a:latin typeface="Calibri"/>
              </a:rPr>
              <a:t>οι</a:t>
            </a:r>
            <a:r>
              <a:rPr lang="en-US" sz="2000" dirty="0">
                <a:latin typeface="Calibri"/>
              </a:rPr>
              <a:t> κατα</a:t>
            </a:r>
            <a:r>
              <a:rPr lang="en-US" sz="2000" dirty="0" err="1">
                <a:latin typeface="Calibri"/>
              </a:rPr>
              <a:t>νομές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τους</a:t>
            </a:r>
            <a:r>
              <a:rPr lang="en-US" sz="2000" dirty="0">
                <a:latin typeface="Calibri"/>
              </a:rPr>
              <a:t>, </a:t>
            </a:r>
            <a:r>
              <a:rPr lang="en-US" sz="2000" dirty="0" err="1">
                <a:latin typeface="Calibri"/>
              </a:rPr>
              <a:t>οι</a:t>
            </a:r>
            <a:r>
              <a:rPr lang="en-US" sz="2000" dirty="0">
                <a:latin typeface="Calibri"/>
              </a:rPr>
              <a:t> α</a:t>
            </a:r>
            <a:r>
              <a:rPr lang="en-US" sz="2000" dirty="0" err="1">
                <a:latin typeface="Calibri"/>
              </a:rPr>
              <a:t>ρχικές</a:t>
            </a:r>
            <a:r>
              <a:rPr lang="en-US" sz="2000" dirty="0">
                <a:latin typeface="Calibri"/>
              </a:rPr>
              <a:t> και </a:t>
            </a:r>
            <a:r>
              <a:rPr lang="en-US" sz="2000" dirty="0" err="1">
                <a:latin typeface="Calibri"/>
              </a:rPr>
              <a:t>τελικές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τους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τιμές</a:t>
            </a:r>
            <a:endParaRPr lang="en-US" sz="200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41F055FA-26BF-ABC7-54E6-64EB40184E66}"/>
              </a:ext>
            </a:extLst>
          </p:cNvPr>
          <p:cNvSpPr/>
          <p:nvPr/>
        </p:nvSpPr>
        <p:spPr>
          <a:xfrm>
            <a:off x="10564720" y="1937500"/>
            <a:ext cx="1436913" cy="134982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14323E31-9197-1C47-5681-1F7999FEC1CE}"/>
              </a:ext>
            </a:extLst>
          </p:cNvPr>
          <p:cNvSpPr/>
          <p:nvPr/>
        </p:nvSpPr>
        <p:spPr>
          <a:xfrm>
            <a:off x="7268328" y="3384640"/>
            <a:ext cx="805542" cy="69668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20557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0F144-4CDA-529A-9821-D427D6C58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86166-B89D-A796-8709-D3E9D530B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30</a:t>
            </a:fld>
            <a:r>
              <a:rPr lang="en-US"/>
              <a:t>/39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30F035F-4512-21D6-541B-40157A69997D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6.2 </a:t>
            </a:r>
            <a:r>
              <a:rPr lang="en-US" sz="3100" dirty="0" err="1">
                <a:ea typeface="Calibri Light"/>
                <a:cs typeface="Calibri Light"/>
              </a:rPr>
              <a:t>Μοντέλο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Διήθησης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με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Μεμ</a:t>
            </a:r>
            <a:r>
              <a:rPr lang="en-US" sz="3100" dirty="0">
                <a:ea typeface="Calibri Light"/>
                <a:cs typeface="Calibri Light"/>
              </a:rPr>
              <a:t>β</a:t>
            </a:r>
            <a:r>
              <a:rPr lang="en-US" sz="3100" dirty="0" err="1">
                <a:ea typeface="Calibri Light"/>
                <a:cs typeface="Calibri Light"/>
              </a:rPr>
              <a:t>ράνη-Βελτιστο</a:t>
            </a:r>
            <a:r>
              <a:rPr lang="en-US" sz="3100" dirty="0">
                <a:ea typeface="Calibri Light"/>
                <a:cs typeface="Calibri Light"/>
              </a:rPr>
              <a:t>π</a:t>
            </a:r>
            <a:r>
              <a:rPr lang="en-US" sz="3100" dirty="0" err="1">
                <a:ea typeface="Calibri Light"/>
                <a:cs typeface="Calibri Light"/>
              </a:rPr>
              <a:t>οίηση</a:t>
            </a:r>
            <a:endParaRPr lang="en-US" sz="3100" dirty="0">
              <a:ea typeface="Calibri Light"/>
              <a:cs typeface="Calibri Light"/>
            </a:endParaRP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42705349-8240-8F6E-FD14-EEC2B9BF8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465951"/>
              </p:ext>
            </p:extLst>
          </p:nvPr>
        </p:nvGraphicFramePr>
        <p:xfrm>
          <a:off x="217714" y="1121228"/>
          <a:ext cx="11763290" cy="4707815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3032125">
                  <a:extLst>
                    <a:ext uri="{9D8B030D-6E8A-4147-A177-3AD203B41FA5}">
                      <a16:colId xmlns:a16="http://schemas.microsoft.com/office/drawing/2014/main" val="2699513667"/>
                    </a:ext>
                  </a:extLst>
                </a:gridCol>
                <a:gridCol w="2333617">
                  <a:extLst>
                    <a:ext uri="{9D8B030D-6E8A-4147-A177-3AD203B41FA5}">
                      <a16:colId xmlns:a16="http://schemas.microsoft.com/office/drawing/2014/main" val="2241873272"/>
                    </a:ext>
                  </a:extLst>
                </a:gridCol>
                <a:gridCol w="841375">
                  <a:extLst>
                    <a:ext uri="{9D8B030D-6E8A-4147-A177-3AD203B41FA5}">
                      <a16:colId xmlns:a16="http://schemas.microsoft.com/office/drawing/2014/main" val="1272545725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1565127070"/>
                    </a:ext>
                  </a:extLst>
                </a:gridCol>
                <a:gridCol w="1936745">
                  <a:extLst>
                    <a:ext uri="{9D8B030D-6E8A-4147-A177-3AD203B41FA5}">
                      <a16:colId xmlns:a16="http://schemas.microsoft.com/office/drawing/2014/main" val="3273910756"/>
                    </a:ext>
                  </a:extLst>
                </a:gridCol>
                <a:gridCol w="1835720">
                  <a:extLst>
                    <a:ext uri="{9D8B030D-6E8A-4147-A177-3AD203B41FA5}">
                      <a16:colId xmlns:a16="http://schemas.microsoft.com/office/drawing/2014/main" val="687457003"/>
                    </a:ext>
                  </a:extLst>
                </a:gridCol>
                <a:gridCol w="1101083">
                  <a:extLst>
                    <a:ext uri="{9D8B030D-6E8A-4147-A177-3AD203B41FA5}">
                      <a16:colId xmlns:a16="http://schemas.microsoft.com/office/drawing/2014/main" val="4294448758"/>
                    </a:ext>
                  </a:extLst>
                </a:gridCol>
              </a:tblGrid>
              <a:tr h="103568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err="1">
                          <a:effectLst/>
                        </a:rPr>
                        <a:t>Μετ</a:t>
                      </a:r>
                      <a:r>
                        <a:rPr lang="de-DE" sz="2000">
                          <a:effectLst/>
                        </a:rPr>
                        <a:t>αβ</a:t>
                      </a:r>
                      <a:r>
                        <a:rPr lang="de-DE" sz="2000" err="1">
                          <a:effectLst/>
                        </a:rPr>
                        <a:t>λητή</a:t>
                      </a:r>
                      <a:endParaRPr lang="de-DE" sz="2000">
                        <a:effectLst/>
                      </a:endParaRP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err="1">
                          <a:effectLst/>
                        </a:rPr>
                        <a:t>Τύ</a:t>
                      </a:r>
                      <a:r>
                        <a:rPr lang="de-DE" sz="2000">
                          <a:effectLst/>
                        </a:rPr>
                        <a:t>π</a:t>
                      </a:r>
                      <a:r>
                        <a:rPr lang="de-DE" sz="2000" err="1">
                          <a:effectLst/>
                        </a:rPr>
                        <a:t>ος</a:t>
                      </a:r>
                      <a:endParaRPr lang="de-DE" sz="2000">
                        <a:effectLst/>
                      </a:endParaRP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err="1">
                          <a:effectLst/>
                        </a:rPr>
                        <a:t>Κάτω</a:t>
                      </a:r>
                      <a:r>
                        <a:rPr lang="de-DE" sz="2000">
                          <a:effectLst/>
                        </a:rPr>
                        <a:t> </a:t>
                      </a:r>
                      <a:r>
                        <a:rPr lang="de-DE" sz="2000" err="1">
                          <a:effectLst/>
                        </a:rPr>
                        <a:t>όριο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err="1">
                          <a:effectLst/>
                        </a:rPr>
                        <a:t>Άνω</a:t>
                      </a:r>
                      <a:r>
                        <a:rPr lang="de-DE" sz="2000">
                          <a:effectLst/>
                        </a:rPr>
                        <a:t> </a:t>
                      </a:r>
                      <a:r>
                        <a:rPr lang="de-DE" sz="2000" err="1">
                          <a:effectLst/>
                        </a:rPr>
                        <a:t>όριο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err="1">
                          <a:effectLst/>
                        </a:rPr>
                        <a:t>Τιμή</a:t>
                      </a:r>
                      <a:r>
                        <a:rPr lang="de-DE" sz="2000">
                          <a:effectLst/>
                        </a:rPr>
                        <a:t> β</a:t>
                      </a:r>
                      <a:r>
                        <a:rPr lang="de-DE" sz="2000" err="1">
                          <a:effectLst/>
                        </a:rPr>
                        <a:t>ελτιστο</a:t>
                      </a:r>
                      <a:r>
                        <a:rPr lang="de-DE" sz="2000">
                          <a:effectLst/>
                        </a:rPr>
                        <a:t>π</a:t>
                      </a:r>
                      <a:r>
                        <a:rPr lang="de-DE" sz="2000" err="1">
                          <a:effectLst/>
                        </a:rPr>
                        <a:t>οίησης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err="1">
                          <a:effectLst/>
                        </a:rPr>
                        <a:t>Τιμή</a:t>
                      </a:r>
                      <a:r>
                        <a:rPr lang="de-DE" sz="2000">
                          <a:effectLst/>
                        </a:rPr>
                        <a:t> π</a:t>
                      </a:r>
                      <a:r>
                        <a:rPr lang="de-DE" sz="2000" err="1">
                          <a:effectLst/>
                        </a:rPr>
                        <a:t>ριν</a:t>
                      </a:r>
                      <a:r>
                        <a:rPr lang="de-DE" sz="2000">
                          <a:effectLst/>
                        </a:rPr>
                        <a:t> </a:t>
                      </a:r>
                      <a:r>
                        <a:rPr lang="de-DE" sz="2000" err="1">
                          <a:effectLst/>
                        </a:rPr>
                        <a:t>τη</a:t>
                      </a:r>
                      <a:r>
                        <a:rPr lang="de-DE" sz="2000">
                          <a:effectLst/>
                        </a:rPr>
                        <a:t> β</a:t>
                      </a:r>
                      <a:r>
                        <a:rPr lang="de-DE" sz="2000" err="1">
                          <a:effectLst/>
                        </a:rPr>
                        <a:t>ελτιστο</a:t>
                      </a:r>
                      <a:r>
                        <a:rPr lang="de-DE" sz="2000">
                          <a:effectLst/>
                        </a:rPr>
                        <a:t>π</a:t>
                      </a:r>
                      <a:r>
                        <a:rPr lang="de-DE" sz="2000" err="1">
                          <a:effectLst/>
                        </a:rPr>
                        <a:t>οίηση</a:t>
                      </a: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err="1">
                          <a:effectLst/>
                        </a:rPr>
                        <a:t>Όφελος</a:t>
                      </a:r>
                      <a:endParaRPr lang="de-DE"/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912668"/>
                  </a:ext>
                </a:extLst>
              </a:tr>
              <a:tr h="6132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Κατανα</a:t>
                      </a:r>
                      <a:r>
                        <a:rPr lang="de-DE" sz="2000" err="1">
                          <a:effectLst/>
                        </a:rPr>
                        <a:t>λισκόμενο</a:t>
                      </a:r>
                      <a:r>
                        <a:rPr lang="de-DE" sz="2000">
                          <a:effectLst/>
                        </a:rPr>
                        <a:t> </a:t>
                      </a:r>
                      <a:r>
                        <a:rPr lang="de-DE" sz="2000" err="1">
                          <a:effectLst/>
                        </a:rPr>
                        <a:t>νερό</a:t>
                      </a:r>
                      <a:r>
                        <a:rPr lang="de-DE" sz="2000">
                          <a:effectLst/>
                        </a:rPr>
                        <a:t> </a:t>
                      </a:r>
                      <a:r>
                        <a:rPr lang="de-DE" sz="2000" err="1">
                          <a:effectLst/>
                        </a:rPr>
                        <a:t>δι</a:t>
                      </a:r>
                      <a:r>
                        <a:rPr lang="de-DE" sz="2000">
                          <a:effectLst/>
                        </a:rPr>
                        <a:t>α</a:t>
                      </a:r>
                      <a:r>
                        <a:rPr lang="de-DE" sz="2000" err="1">
                          <a:effectLst/>
                        </a:rPr>
                        <a:t>διήθησης</a:t>
                      </a:r>
                      <a:r>
                        <a:rPr lang="de-DE" sz="2000">
                          <a:effectLst/>
                        </a:rPr>
                        <a:t> (kg)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err="1">
                          <a:effectLst/>
                        </a:rPr>
                        <a:t>Αντικειμενική</a:t>
                      </a:r>
                      <a:r>
                        <a:rPr lang="de-DE" sz="2000">
                          <a:effectLst/>
                        </a:rPr>
                        <a:t> </a:t>
                      </a:r>
                      <a:r>
                        <a:rPr lang="de-DE" sz="2000" err="1">
                          <a:effectLst/>
                        </a:rPr>
                        <a:t>συνάρτηση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2262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3776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40%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6498289"/>
                  </a:ext>
                </a:extLst>
              </a:tr>
              <a:tr h="3270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err="1">
                          <a:effectLst/>
                        </a:rPr>
                        <a:t>Κόστος</a:t>
                      </a:r>
                      <a:r>
                        <a:rPr lang="de-DE" sz="2000">
                          <a:effectLst/>
                        </a:rPr>
                        <a:t> </a:t>
                      </a:r>
                      <a:r>
                        <a:rPr lang="de-DE" sz="2000" err="1">
                          <a:effectLst/>
                        </a:rPr>
                        <a:t>νερού</a:t>
                      </a:r>
                      <a:r>
                        <a:rPr lang="de-DE" sz="2000">
                          <a:effectLst/>
                        </a:rPr>
                        <a:t> </a:t>
                      </a:r>
                      <a:r>
                        <a:rPr lang="de-DE" sz="2000" err="1">
                          <a:effectLst/>
                        </a:rPr>
                        <a:t>δι</a:t>
                      </a:r>
                      <a:r>
                        <a:rPr lang="de-DE" sz="2000">
                          <a:effectLst/>
                        </a:rPr>
                        <a:t>α</a:t>
                      </a:r>
                      <a:r>
                        <a:rPr lang="de-DE" sz="2000" err="1">
                          <a:effectLst/>
                        </a:rPr>
                        <a:t>διήθησης</a:t>
                      </a:r>
                      <a:r>
                        <a:rPr lang="de-DE" sz="2000">
                          <a:effectLst/>
                        </a:rPr>
                        <a:t> (USD h</a:t>
                      </a:r>
                      <a:r>
                        <a:rPr lang="de-DE" sz="2000" baseline="30000">
                          <a:effectLst/>
                        </a:rPr>
                        <a:t>-1</a:t>
                      </a:r>
                      <a:r>
                        <a:rPr lang="de-DE" sz="2000" baseline="0">
                          <a:effectLst/>
                        </a:rPr>
                        <a:t>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0.22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0.36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40%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605441"/>
                  </a:ext>
                </a:extLst>
              </a:tr>
              <a:tr h="6132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err="1">
                          <a:effectLst/>
                        </a:rPr>
                        <a:t>Κλάσμ</a:t>
                      </a:r>
                      <a:r>
                        <a:rPr lang="de-DE" sz="2000">
                          <a:effectLst/>
                        </a:rPr>
                        <a:t>α </a:t>
                      </a:r>
                      <a:r>
                        <a:rPr lang="de-DE" sz="2000" err="1">
                          <a:effectLst/>
                        </a:rPr>
                        <a:t>δι</a:t>
                      </a:r>
                      <a:r>
                        <a:rPr lang="de-DE" sz="2000">
                          <a:effectLst/>
                        </a:rPr>
                        <a:t>α</a:t>
                      </a:r>
                      <a:r>
                        <a:rPr lang="de-DE" sz="2000" err="1">
                          <a:effectLst/>
                        </a:rPr>
                        <a:t>χωρισμού</a:t>
                      </a:r>
                      <a:r>
                        <a:rPr lang="de-DE" sz="2000">
                          <a:effectLst/>
                        </a:rPr>
                        <a:t> </a:t>
                      </a:r>
                      <a:r>
                        <a:rPr lang="de-DE" sz="2000" err="1">
                          <a:effectLst/>
                        </a:rPr>
                        <a:t>στ</a:t>
                      </a:r>
                      <a:r>
                        <a:rPr lang="de-DE" sz="2000">
                          <a:effectLst/>
                        </a:rPr>
                        <a:t>α</a:t>
                      </a:r>
                      <a:r>
                        <a:rPr lang="de-DE" sz="2000" err="1">
                          <a:effectLst/>
                        </a:rPr>
                        <a:t>δίου</a:t>
                      </a:r>
                      <a:r>
                        <a:rPr lang="de-DE" sz="2000">
                          <a:effectLst/>
                        </a:rPr>
                        <a:t> 1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err="1">
                          <a:effectLst/>
                        </a:rPr>
                        <a:t>Μετ</a:t>
                      </a:r>
                      <a:r>
                        <a:rPr lang="de-DE" sz="2000">
                          <a:effectLst/>
                        </a:rPr>
                        <a:t>αβ</a:t>
                      </a:r>
                      <a:r>
                        <a:rPr lang="de-DE" sz="2000" err="1">
                          <a:effectLst/>
                        </a:rPr>
                        <a:t>λητή</a:t>
                      </a:r>
                      <a:r>
                        <a:rPr lang="de-DE" sz="2000">
                          <a:effectLst/>
                        </a:rPr>
                        <a:t> απ</a:t>
                      </a:r>
                      <a:r>
                        <a:rPr lang="de-DE" sz="2000" err="1">
                          <a:effectLst/>
                        </a:rPr>
                        <a:t>όφ</a:t>
                      </a:r>
                      <a:r>
                        <a:rPr lang="de-DE" sz="2000">
                          <a:effectLst/>
                        </a:rPr>
                        <a:t>α</a:t>
                      </a:r>
                      <a:r>
                        <a:rPr lang="de-DE" sz="2000" err="1">
                          <a:effectLst/>
                        </a:rPr>
                        <a:t>σης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1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0.33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96034"/>
                  </a:ext>
                </a:extLst>
              </a:tr>
              <a:tr h="61323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Κλάσμ</a:t>
                      </a:r>
                      <a:r>
                        <a:rPr lang="de-DE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 </a:t>
                      </a:r>
                      <a:r>
                        <a:rPr lang="de-DE" sz="20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δι</a:t>
                      </a:r>
                      <a:r>
                        <a:rPr lang="de-DE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</a:t>
                      </a:r>
                      <a:r>
                        <a:rPr lang="de-DE" sz="20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χωρισμού</a:t>
                      </a:r>
                      <a:r>
                        <a:rPr lang="de-DE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de-DE" sz="20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στ</a:t>
                      </a:r>
                      <a:r>
                        <a:rPr lang="de-DE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</a:t>
                      </a:r>
                      <a:r>
                        <a:rPr lang="de-DE" sz="20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δίου</a:t>
                      </a:r>
                      <a:r>
                        <a:rPr lang="de-DE" sz="2000">
                          <a:effectLst/>
                        </a:rPr>
                        <a:t> 2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Μετ</a:t>
                      </a:r>
                      <a:r>
                        <a:rPr lang="de-DE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αβ</a:t>
                      </a: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λητή</a:t>
                      </a:r>
                      <a:r>
                        <a:rPr lang="de-DE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απ</a:t>
                      </a: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όφ</a:t>
                      </a:r>
                      <a:r>
                        <a:rPr lang="de-DE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</a:t>
                      </a: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σης</a:t>
                      </a:r>
                      <a:endParaRPr lang="de-DE" sz="2000" err="1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1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0.33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691469"/>
                  </a:ext>
                </a:extLst>
              </a:tr>
              <a:tr h="61323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Κλάσμ</a:t>
                      </a:r>
                      <a:r>
                        <a:rPr lang="de-DE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 </a:t>
                      </a:r>
                      <a:r>
                        <a:rPr lang="de-DE" sz="20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δι</a:t>
                      </a:r>
                      <a:r>
                        <a:rPr lang="de-DE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</a:t>
                      </a:r>
                      <a:r>
                        <a:rPr lang="de-DE" sz="20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χωρισμού</a:t>
                      </a:r>
                      <a:r>
                        <a:rPr lang="de-DE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de-DE" sz="20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στ</a:t>
                      </a:r>
                      <a:r>
                        <a:rPr lang="de-DE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</a:t>
                      </a:r>
                      <a:r>
                        <a:rPr lang="de-DE" sz="20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δίου</a:t>
                      </a:r>
                      <a:r>
                        <a:rPr lang="de-DE" sz="2000">
                          <a:effectLst/>
                        </a:rPr>
                        <a:t> 3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Μετ</a:t>
                      </a:r>
                      <a:r>
                        <a:rPr lang="de-DE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αβ</a:t>
                      </a: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λητή</a:t>
                      </a:r>
                      <a:r>
                        <a:rPr lang="de-DE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απ</a:t>
                      </a: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όφ</a:t>
                      </a:r>
                      <a:r>
                        <a:rPr lang="de-DE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</a:t>
                      </a: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σης</a:t>
                      </a:r>
                      <a:endParaRPr lang="de-DE" sz="2000" err="1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1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1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0.33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88306"/>
                  </a:ext>
                </a:extLst>
              </a:tr>
              <a:tr h="31343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err="1">
                          <a:effectLst/>
                        </a:rPr>
                        <a:t>Κλάσμ</a:t>
                      </a:r>
                      <a:r>
                        <a:rPr lang="de-DE" sz="2000">
                          <a:effectLst/>
                        </a:rPr>
                        <a:t>α </a:t>
                      </a:r>
                      <a:r>
                        <a:rPr lang="de-DE" sz="2000" err="1">
                          <a:effectLst/>
                        </a:rPr>
                        <a:t>μάζ</a:t>
                      </a:r>
                      <a:r>
                        <a:rPr lang="de-DE" sz="2000">
                          <a:effectLst/>
                        </a:rPr>
                        <a:t>ας κα</a:t>
                      </a:r>
                      <a:r>
                        <a:rPr lang="de-DE" sz="2000" err="1">
                          <a:effectLst/>
                        </a:rPr>
                        <a:t>ζεϊνης</a:t>
                      </a:r>
                      <a:r>
                        <a:rPr lang="de-DE" sz="2000">
                          <a:effectLst/>
                        </a:rPr>
                        <a:t> </a:t>
                      </a:r>
                      <a:r>
                        <a:rPr lang="de-DE" sz="2000" err="1">
                          <a:effectLst/>
                        </a:rPr>
                        <a:t>στο</a:t>
                      </a:r>
                      <a:r>
                        <a:rPr lang="de-DE" sz="2000">
                          <a:effectLst/>
                        </a:rPr>
                        <a:t> </a:t>
                      </a:r>
                      <a:r>
                        <a:rPr lang="de-DE" sz="2000" err="1">
                          <a:effectLst/>
                        </a:rPr>
                        <a:t>συμ</a:t>
                      </a:r>
                      <a:r>
                        <a:rPr lang="de-DE" sz="2000">
                          <a:effectLst/>
                        </a:rPr>
                        <a:t>π</a:t>
                      </a:r>
                      <a:r>
                        <a:rPr lang="de-DE" sz="2000" err="1">
                          <a:effectLst/>
                        </a:rPr>
                        <a:t>ύκνωμ</a:t>
                      </a:r>
                      <a:r>
                        <a:rPr lang="de-DE" sz="2000">
                          <a:effectLst/>
                        </a:rPr>
                        <a:t>α</a:t>
                      </a:r>
                      <a:endParaRPr lang="de-DE"/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err="1">
                          <a:effectLst/>
                        </a:rPr>
                        <a:t>Περιορισμός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0.1 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1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0.129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0.128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8012104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8FDC9CE6-52A3-D02A-41A1-4D707F637E8E}"/>
              </a:ext>
            </a:extLst>
          </p:cNvPr>
          <p:cNvSpPr txBox="1"/>
          <p:nvPr/>
        </p:nvSpPr>
        <p:spPr>
          <a:xfrm>
            <a:off x="1666920" y="5997458"/>
            <a:ext cx="917665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aseline="0" dirty="0" err="1">
                <a:latin typeface="Calibri"/>
              </a:rPr>
              <a:t>Πίν</a:t>
            </a:r>
            <a:r>
              <a:rPr lang="en-US" sz="2000" baseline="0" dirty="0">
                <a:latin typeface="Calibri"/>
              </a:rPr>
              <a:t>ακας </a:t>
            </a:r>
            <a:r>
              <a:rPr lang="en-US" sz="2000" dirty="0">
                <a:latin typeface="Calibri"/>
              </a:rPr>
              <a:t>5</a:t>
            </a:r>
            <a:r>
              <a:rPr lang="en-US" sz="2000" baseline="0" dirty="0">
                <a:latin typeface="Calibri"/>
              </a:rPr>
              <a:t>: </a:t>
            </a:r>
            <a:r>
              <a:rPr lang="en-US" sz="2000" dirty="0" err="1">
                <a:latin typeface="Calibri"/>
              </a:rPr>
              <a:t>Μετ</a:t>
            </a:r>
            <a:r>
              <a:rPr lang="en-US" sz="2000" dirty="0">
                <a:latin typeface="Calibri"/>
              </a:rPr>
              <a:t>αβ</a:t>
            </a:r>
            <a:r>
              <a:rPr lang="en-US" sz="2000" dirty="0" err="1">
                <a:latin typeface="Calibri"/>
              </a:rPr>
              <a:t>λητές</a:t>
            </a:r>
            <a:r>
              <a:rPr lang="en-US" sz="2000" dirty="0">
                <a:latin typeface="Calibri"/>
              </a:rPr>
              <a:t> κα</a:t>
            </a:r>
            <a:r>
              <a:rPr lang="en-US" sz="2000" dirty="0" err="1">
                <a:latin typeface="Calibri"/>
              </a:rPr>
              <a:t>τά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τη</a:t>
            </a:r>
            <a:r>
              <a:rPr lang="en-US" sz="2000" dirty="0">
                <a:latin typeface="Calibri"/>
              </a:rPr>
              <a:t> β</a:t>
            </a:r>
            <a:r>
              <a:rPr lang="en-US" sz="2000" dirty="0" err="1">
                <a:latin typeface="Calibri"/>
              </a:rPr>
              <a:t>ελτιστο</a:t>
            </a:r>
            <a:r>
              <a:rPr lang="en-US" sz="2000" dirty="0">
                <a:latin typeface="Calibri"/>
              </a:rPr>
              <a:t>π</a:t>
            </a:r>
            <a:r>
              <a:rPr lang="en-US" sz="2000" dirty="0" err="1">
                <a:latin typeface="Calibri"/>
              </a:rPr>
              <a:t>οίηση</a:t>
            </a:r>
            <a:r>
              <a:rPr lang="en-US" sz="2000" dirty="0">
                <a:latin typeface="Calibri"/>
              </a:rPr>
              <a:t> </a:t>
            </a:r>
            <a:r>
              <a:rPr lang="en-US" sz="2000" dirty="0" err="1">
                <a:latin typeface="Calibri"/>
              </a:rPr>
              <a:t>του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μοντέλου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διήθησης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με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μεμ</a:t>
            </a:r>
            <a:r>
              <a:rPr lang="en-US" sz="2000" dirty="0">
                <a:latin typeface="Calibri"/>
              </a:rPr>
              <a:t>β</a:t>
            </a:r>
            <a:r>
              <a:rPr lang="en-US" sz="2000" dirty="0" err="1">
                <a:latin typeface="Calibri"/>
              </a:rPr>
              <a:t>ράνη</a:t>
            </a:r>
            <a:r>
              <a:rPr lang="en-US" sz="2000" dirty="0">
                <a:latin typeface="Calibri"/>
              </a:rPr>
              <a:t>, </a:t>
            </a:r>
            <a:r>
              <a:rPr lang="en-US" sz="2000" dirty="0" err="1">
                <a:latin typeface="Calibri"/>
              </a:rPr>
              <a:t>οι</a:t>
            </a:r>
            <a:r>
              <a:rPr lang="en-US" sz="2000" dirty="0">
                <a:latin typeface="Calibri"/>
              </a:rPr>
              <a:t> κατα</a:t>
            </a:r>
            <a:r>
              <a:rPr lang="en-US" sz="2000" dirty="0" err="1">
                <a:latin typeface="Calibri"/>
              </a:rPr>
              <a:t>νομές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τους</a:t>
            </a:r>
            <a:r>
              <a:rPr lang="en-US" sz="2000" dirty="0">
                <a:latin typeface="Calibri"/>
              </a:rPr>
              <a:t>, </a:t>
            </a:r>
            <a:r>
              <a:rPr lang="en-US" sz="2000" dirty="0" err="1">
                <a:latin typeface="Calibri"/>
              </a:rPr>
              <a:t>οι</a:t>
            </a:r>
            <a:r>
              <a:rPr lang="en-US" sz="2000" dirty="0">
                <a:latin typeface="Calibri"/>
              </a:rPr>
              <a:t> α</a:t>
            </a:r>
            <a:r>
              <a:rPr lang="en-US" sz="2000" dirty="0" err="1">
                <a:latin typeface="Calibri"/>
              </a:rPr>
              <a:t>ρχικές</a:t>
            </a:r>
            <a:r>
              <a:rPr lang="en-US" sz="2000" dirty="0">
                <a:latin typeface="Calibri"/>
              </a:rPr>
              <a:t> και </a:t>
            </a:r>
            <a:r>
              <a:rPr lang="en-US" sz="2000" dirty="0" err="1">
                <a:latin typeface="Calibri"/>
              </a:rPr>
              <a:t>τελικές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τους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τιμές</a:t>
            </a:r>
            <a:endParaRPr lang="en-US" sz="2000" dirty="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2E81B6CC-CE20-4B9D-DC05-563569D15DF4}"/>
              </a:ext>
            </a:extLst>
          </p:cNvPr>
          <p:cNvSpPr/>
          <p:nvPr/>
        </p:nvSpPr>
        <p:spPr>
          <a:xfrm>
            <a:off x="10864901" y="2191500"/>
            <a:ext cx="1113642" cy="109582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86542BC8-AE51-167C-EF23-47F235F0041E}"/>
              </a:ext>
            </a:extLst>
          </p:cNvPr>
          <p:cNvSpPr/>
          <p:nvPr/>
        </p:nvSpPr>
        <p:spPr>
          <a:xfrm>
            <a:off x="7747629" y="4627591"/>
            <a:ext cx="628732" cy="58782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24090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58B7B-2FE8-80FC-2DF0-2DB87E8EB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BEC00264-1969-DD60-B616-0C534E270194}"/>
              </a:ext>
            </a:extLst>
          </p:cNvPr>
          <p:cNvSpPr/>
          <p:nvPr/>
        </p:nvSpPr>
        <p:spPr>
          <a:xfrm>
            <a:off x="1255975" y="1684851"/>
            <a:ext cx="9476550" cy="3179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A2348-58CC-F77B-DEEE-45A655BD7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31</a:t>
            </a:fld>
            <a:r>
              <a:rPr lang="en-US"/>
              <a:t>/39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02198E-FAA7-829E-71BB-E0C8817DA6C2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6.3.1 </a:t>
            </a:r>
            <a:r>
              <a:rPr lang="en-US" sz="3100" dirty="0" err="1">
                <a:ea typeface="Calibri Light"/>
                <a:cs typeface="Calibri Light"/>
              </a:rPr>
              <a:t>Ολοκληρωμένο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Μοντέλο-Αντικειμενική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Συνάρτηση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Βελτιστο</a:t>
            </a:r>
            <a:r>
              <a:rPr lang="en-US" sz="3100" dirty="0">
                <a:ea typeface="Calibri Light"/>
                <a:cs typeface="Calibri Light"/>
              </a:rPr>
              <a:t>π</a:t>
            </a:r>
            <a:r>
              <a:rPr lang="en-US" sz="3100" dirty="0" err="1">
                <a:ea typeface="Calibri Light"/>
                <a:cs typeface="Calibri Light"/>
              </a:rPr>
              <a:t>οίησης</a:t>
            </a:r>
            <a:endParaRPr lang="en-US" sz="3100" dirty="0">
              <a:ea typeface="Calibri Light"/>
              <a:cs typeface="Calibri Light"/>
            </a:endParaRPr>
          </a:p>
        </p:txBody>
      </p:sp>
      <p:pic>
        <p:nvPicPr>
          <p:cNvPr id="5" name="Grafik 4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CB1CB1AF-5206-D2C8-E995-F2F03BD45F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0" t="410" r="948" b="269"/>
          <a:stretch>
            <a:fillRect/>
          </a:stretch>
        </p:blipFill>
        <p:spPr>
          <a:xfrm>
            <a:off x="1328165" y="1911805"/>
            <a:ext cx="8645295" cy="2635374"/>
          </a:xfrm>
          <a:prstGeom prst="rect">
            <a:avLst/>
          </a:prstGeom>
        </p:spPr>
      </p:pic>
      <p:pic>
        <p:nvPicPr>
          <p:cNvPr id="6" name="Grafik 5" descr="Ein Bild, das Schrift, Symbol, Grafiken, Typografie enthält.&#10;&#10;KI-generierte Inhalte können fehlerhaft sein.">
            <a:extLst>
              <a:ext uri="{FF2B5EF4-FFF2-40B4-BE49-F238E27FC236}">
                <a16:creationId xmlns:a16="http://schemas.microsoft.com/office/drawing/2014/main" id="{8139493B-41ED-DC40-500D-5B5B3FAD30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82" b="8108"/>
          <a:stretch>
            <a:fillRect/>
          </a:stretch>
        </p:blipFill>
        <p:spPr>
          <a:xfrm>
            <a:off x="10135282" y="4060300"/>
            <a:ext cx="590294" cy="33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9336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A8E94-02A3-DB6C-FF65-4550068AF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D99F3-B8AA-BDE5-FD42-BEA3029C8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32</a:t>
            </a:fld>
            <a:r>
              <a:rPr lang="en-US"/>
              <a:t>/39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40222E9-7139-AE88-D708-B4D9BFDA7623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6.3.2 </a:t>
            </a:r>
            <a:r>
              <a:rPr lang="en-US" sz="3100" dirty="0" err="1">
                <a:ea typeface="Calibri Light"/>
                <a:cs typeface="Calibri Light"/>
              </a:rPr>
              <a:t>Ολοκληρωμένο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Μοντέλο-Βελτιστο</a:t>
            </a:r>
            <a:r>
              <a:rPr lang="en-US" sz="3100" dirty="0">
                <a:ea typeface="Calibri Light"/>
                <a:cs typeface="Calibri Light"/>
              </a:rPr>
              <a:t>π</a:t>
            </a:r>
            <a:r>
              <a:rPr lang="en-US" sz="3100" dirty="0" err="1">
                <a:ea typeface="Calibri Light"/>
                <a:cs typeface="Calibri Light"/>
              </a:rPr>
              <a:t>οίηση</a:t>
            </a:r>
            <a:r>
              <a:rPr lang="en-US" sz="3100" dirty="0">
                <a:ea typeface="Calibri Light"/>
                <a:cs typeface="Calibri Light"/>
              </a:rPr>
              <a:t> (1/2)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B88F352-B96D-0121-19CF-5196FFA65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895183"/>
              </p:ext>
            </p:extLst>
          </p:nvPr>
        </p:nvGraphicFramePr>
        <p:xfrm>
          <a:off x="108857" y="827314"/>
          <a:ext cx="11928974" cy="4671286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3540124">
                  <a:extLst>
                    <a:ext uri="{9D8B030D-6E8A-4147-A177-3AD203B41FA5}">
                      <a16:colId xmlns:a16="http://schemas.microsoft.com/office/drawing/2014/main" val="1105387782"/>
                    </a:ext>
                  </a:extLst>
                </a:gridCol>
                <a:gridCol w="1784565">
                  <a:extLst>
                    <a:ext uri="{9D8B030D-6E8A-4147-A177-3AD203B41FA5}">
                      <a16:colId xmlns:a16="http://schemas.microsoft.com/office/drawing/2014/main" val="4248975382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687664231"/>
                    </a:ext>
                  </a:extLst>
                </a:gridCol>
                <a:gridCol w="857244">
                  <a:extLst>
                    <a:ext uri="{9D8B030D-6E8A-4147-A177-3AD203B41FA5}">
                      <a16:colId xmlns:a16="http://schemas.microsoft.com/office/drawing/2014/main" val="1873999438"/>
                    </a:ext>
                  </a:extLst>
                </a:gridCol>
                <a:gridCol w="2049850">
                  <a:extLst>
                    <a:ext uri="{9D8B030D-6E8A-4147-A177-3AD203B41FA5}">
                      <a16:colId xmlns:a16="http://schemas.microsoft.com/office/drawing/2014/main" val="2033022175"/>
                    </a:ext>
                  </a:extLst>
                </a:gridCol>
                <a:gridCol w="1901535">
                  <a:extLst>
                    <a:ext uri="{9D8B030D-6E8A-4147-A177-3AD203B41FA5}">
                      <a16:colId xmlns:a16="http://schemas.microsoft.com/office/drawing/2014/main" val="2501130996"/>
                    </a:ext>
                  </a:extLst>
                </a:gridCol>
                <a:gridCol w="1001906">
                  <a:extLst>
                    <a:ext uri="{9D8B030D-6E8A-4147-A177-3AD203B41FA5}">
                      <a16:colId xmlns:a16="http://schemas.microsoft.com/office/drawing/2014/main" val="2422951579"/>
                    </a:ext>
                  </a:extLst>
                </a:gridCol>
              </a:tblGrid>
              <a:tr h="82254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Μετ</a:t>
                      </a:r>
                      <a:r>
                        <a:rPr lang="de-DE" sz="2000" dirty="0">
                          <a:effectLst/>
                        </a:rPr>
                        <a:t>αβ</a:t>
                      </a:r>
                      <a:r>
                        <a:rPr lang="de-DE" sz="2000" dirty="0" err="1">
                          <a:effectLst/>
                        </a:rPr>
                        <a:t>λητή</a:t>
                      </a:r>
                      <a:endParaRPr lang="de-DE" sz="2000" dirty="0">
                        <a:effectLst/>
                      </a:endParaRP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Τύ</a:t>
                      </a:r>
                      <a:r>
                        <a:rPr lang="de-DE" sz="2000" dirty="0">
                          <a:effectLst/>
                        </a:rPr>
                        <a:t>π</a:t>
                      </a:r>
                      <a:r>
                        <a:rPr lang="de-DE" sz="2000" dirty="0" err="1">
                          <a:effectLst/>
                        </a:rPr>
                        <a:t>ος</a:t>
                      </a:r>
                      <a:endParaRPr lang="de-DE" sz="2000" dirty="0">
                        <a:effectLst/>
                      </a:endParaRP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Κάτω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όριο</a:t>
                      </a:r>
                      <a:endParaRPr lang="de-DE" sz="2000" dirty="0">
                        <a:effectLst/>
                      </a:endParaRP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Άνω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όριο</a:t>
                      </a:r>
                      <a:endParaRPr lang="de-DE" sz="2000" dirty="0">
                        <a:effectLst/>
                      </a:endParaRP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Τιμή</a:t>
                      </a:r>
                      <a:r>
                        <a:rPr lang="de-DE" sz="2000" dirty="0">
                          <a:effectLst/>
                        </a:rPr>
                        <a:t> β</a:t>
                      </a:r>
                      <a:r>
                        <a:rPr lang="de-DE" sz="2000" dirty="0" err="1">
                          <a:effectLst/>
                        </a:rPr>
                        <a:t>ελτιστο</a:t>
                      </a:r>
                      <a:r>
                        <a:rPr lang="de-DE" sz="2000" dirty="0">
                          <a:effectLst/>
                        </a:rPr>
                        <a:t>π</a:t>
                      </a:r>
                      <a:r>
                        <a:rPr lang="de-DE" sz="2000" dirty="0" err="1">
                          <a:effectLst/>
                        </a:rPr>
                        <a:t>οίησης</a:t>
                      </a:r>
                      <a:endParaRPr lang="de-DE" sz="2000" dirty="0">
                        <a:effectLst/>
                      </a:endParaRP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Τιμή</a:t>
                      </a:r>
                      <a:r>
                        <a:rPr lang="de-DE" sz="2000" dirty="0">
                          <a:effectLst/>
                        </a:rPr>
                        <a:t> π</a:t>
                      </a:r>
                      <a:r>
                        <a:rPr lang="de-DE" sz="2000" dirty="0" err="1">
                          <a:effectLst/>
                        </a:rPr>
                        <a:t>ριν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τη</a:t>
                      </a:r>
                      <a:r>
                        <a:rPr lang="de-DE" sz="2000" dirty="0">
                          <a:effectLst/>
                        </a:rPr>
                        <a:t> β</a:t>
                      </a:r>
                      <a:r>
                        <a:rPr lang="de-DE" sz="2000" dirty="0" err="1">
                          <a:effectLst/>
                        </a:rPr>
                        <a:t>ελτιστο</a:t>
                      </a:r>
                      <a:r>
                        <a:rPr lang="de-DE" sz="2000" dirty="0">
                          <a:effectLst/>
                        </a:rPr>
                        <a:t>π</a:t>
                      </a:r>
                      <a:r>
                        <a:rPr lang="de-DE" sz="2000" dirty="0" err="1">
                          <a:effectLst/>
                        </a:rPr>
                        <a:t>οίηση</a:t>
                      </a:r>
                      <a:endParaRPr lang="de-DE" sz="2000" dirty="0">
                        <a:effectLst/>
                      </a:endParaRPr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err="1">
                          <a:effectLst/>
                        </a:rPr>
                        <a:t>Όφελος</a:t>
                      </a:r>
                      <a:endParaRPr lang="de-DE"/>
                    </a:p>
                  </a:txBody>
                  <a:tcPr marL="66675" marR="66675" marT="0" marB="0" anchor="ctr">
                    <a:lnL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317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1765191"/>
                  </a:ext>
                </a:extLst>
              </a:tr>
              <a:tr h="4838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Αντικειμενική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συνάρτηση</a:t>
                      </a:r>
                      <a:r>
                        <a:rPr lang="de-DE" sz="2000" dirty="0">
                          <a:effectLst/>
                        </a:rPr>
                        <a:t> (USD) (</a:t>
                      </a:r>
                      <a:r>
                        <a:rPr lang="de-DE" sz="2000" dirty="0" err="1">
                          <a:effectLst/>
                        </a:rPr>
                        <a:t>Εξίσωση</a:t>
                      </a:r>
                      <a:r>
                        <a:rPr lang="de-DE" sz="2000" dirty="0">
                          <a:effectLst/>
                        </a:rPr>
                        <a:t> 30)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Αντικειμενική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συνάρτηση</a:t>
                      </a:r>
                      <a:endParaRPr lang="de-DE" dirty="0" err="1"/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2240.66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1985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12.9%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3175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7064412"/>
                  </a:ext>
                </a:extLst>
              </a:tr>
              <a:tr h="495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Ροή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συμ</a:t>
                      </a:r>
                      <a:r>
                        <a:rPr lang="de-DE" sz="2000" dirty="0">
                          <a:effectLst/>
                        </a:rPr>
                        <a:t>π</a:t>
                      </a:r>
                      <a:r>
                        <a:rPr lang="de-DE" sz="2000" dirty="0" err="1">
                          <a:effectLst/>
                        </a:rPr>
                        <a:t>υκνώμ</a:t>
                      </a:r>
                      <a:r>
                        <a:rPr lang="de-DE" sz="2000" dirty="0">
                          <a:effectLst/>
                        </a:rPr>
                        <a:t>α</a:t>
                      </a:r>
                      <a:r>
                        <a:rPr lang="de-DE" sz="2000" dirty="0" err="1">
                          <a:effectLst/>
                        </a:rPr>
                        <a:t>τος</a:t>
                      </a:r>
                      <a:r>
                        <a:rPr lang="de-DE" sz="2000" dirty="0">
                          <a:effectLst/>
                        </a:rPr>
                        <a:t> (kg h</a:t>
                      </a:r>
                      <a:r>
                        <a:rPr lang="de-DE" sz="2000" baseline="30000" dirty="0">
                          <a:effectLst/>
                        </a:rPr>
                        <a:t>-1</a:t>
                      </a:r>
                      <a:r>
                        <a:rPr lang="de-DE" sz="2000" dirty="0">
                          <a:effectLst/>
                        </a:rPr>
                        <a:t>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424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348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21.8%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4128811"/>
                  </a:ext>
                </a:extLst>
              </a:tr>
              <a:tr h="2419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Χρόνος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λειτουργί</a:t>
                      </a:r>
                      <a:r>
                        <a:rPr lang="de-DE" sz="2000" dirty="0">
                          <a:effectLst/>
                        </a:rPr>
                        <a:t>ας (h)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5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12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9.57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507286"/>
                  </a:ext>
                </a:extLst>
              </a:tr>
              <a:tr h="4838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Ροή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τροφοδοσί</a:t>
                      </a:r>
                      <a:r>
                        <a:rPr lang="de-DE" sz="2000" dirty="0">
                          <a:effectLst/>
                        </a:rPr>
                        <a:t>ας (kg h</a:t>
                      </a:r>
                      <a:r>
                        <a:rPr lang="de-DE" sz="2000" baseline="30000" dirty="0">
                          <a:effectLst/>
                        </a:rPr>
                        <a:t>-1</a:t>
                      </a:r>
                      <a:r>
                        <a:rPr lang="de-DE" sz="2000" dirty="0">
                          <a:effectLst/>
                        </a:rPr>
                        <a:t>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Μετ</a:t>
                      </a:r>
                      <a:r>
                        <a:rPr lang="de-DE" sz="2000" dirty="0">
                          <a:effectLst/>
                        </a:rPr>
                        <a:t>αβ</a:t>
                      </a:r>
                      <a:r>
                        <a:rPr lang="de-DE" sz="2000" dirty="0" err="1">
                          <a:effectLst/>
                        </a:rPr>
                        <a:t>λητή</a:t>
                      </a:r>
                      <a:r>
                        <a:rPr lang="de-DE" sz="2000" dirty="0">
                          <a:effectLst/>
                        </a:rPr>
                        <a:t> απ</a:t>
                      </a:r>
                      <a:r>
                        <a:rPr lang="de-DE" sz="2000" dirty="0" err="1">
                          <a:effectLst/>
                        </a:rPr>
                        <a:t>όφ</a:t>
                      </a:r>
                      <a:r>
                        <a:rPr lang="de-DE" sz="2000" dirty="0">
                          <a:effectLst/>
                        </a:rPr>
                        <a:t>α</a:t>
                      </a:r>
                      <a:r>
                        <a:rPr lang="de-DE" sz="2000" dirty="0" err="1">
                          <a:effectLst/>
                        </a:rPr>
                        <a:t>σης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500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2500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1930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1700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256653"/>
                  </a:ext>
                </a:extLst>
              </a:tr>
              <a:tr h="495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Ροή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νερού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θέρμ</a:t>
                      </a:r>
                      <a:r>
                        <a:rPr lang="de-DE" sz="2000" dirty="0">
                          <a:effectLst/>
                        </a:rPr>
                        <a:t>α</a:t>
                      </a:r>
                      <a:r>
                        <a:rPr lang="de-DE" sz="2000" dirty="0" err="1">
                          <a:effectLst/>
                        </a:rPr>
                        <a:t>νσης</a:t>
                      </a:r>
                      <a:r>
                        <a:rPr lang="de-DE" sz="2000" dirty="0">
                          <a:effectLst/>
                        </a:rPr>
                        <a:t> (kg h</a:t>
                      </a:r>
                      <a:r>
                        <a:rPr lang="de-DE" sz="2000" baseline="30000" dirty="0">
                          <a:effectLst/>
                        </a:rPr>
                        <a:t>-1</a:t>
                      </a:r>
                      <a:r>
                        <a:rPr lang="de-DE" sz="2000" dirty="0">
                          <a:effectLst/>
                        </a:rPr>
                        <a:t>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Μετ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αβ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λητή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απ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όφ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σης</a:t>
                      </a:r>
                      <a:endParaRPr lang="de-DE" sz="2000" dirty="0" err="1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2000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9000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9000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3095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8163168"/>
                  </a:ext>
                </a:extLst>
              </a:tr>
              <a:tr h="4838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Ροή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νερού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ψύξης</a:t>
                      </a:r>
                      <a:r>
                        <a:rPr lang="de-DE" sz="2000" dirty="0">
                          <a:effectLst/>
                        </a:rPr>
                        <a:t> (kg h</a:t>
                      </a:r>
                      <a:r>
                        <a:rPr lang="de-DE" sz="2000" baseline="30000" dirty="0">
                          <a:effectLst/>
                        </a:rPr>
                        <a:t>-1</a:t>
                      </a:r>
                      <a:r>
                        <a:rPr lang="de-DE" sz="2000" dirty="0">
                          <a:effectLst/>
                        </a:rPr>
                        <a:t>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Μετ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αβ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λητή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απ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όφ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σης</a:t>
                      </a:r>
                      <a:endParaRPr lang="de-DE" sz="2000" dirty="0" err="1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1500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4000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1854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2278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18.6%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431402"/>
                  </a:ext>
                </a:extLst>
              </a:tr>
              <a:tr h="495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Ροή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νερού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δι</a:t>
                      </a:r>
                      <a:r>
                        <a:rPr lang="de-DE" sz="2000" dirty="0">
                          <a:effectLst/>
                        </a:rPr>
                        <a:t>α</a:t>
                      </a:r>
                      <a:r>
                        <a:rPr lang="de-DE" sz="2000" dirty="0" err="1">
                          <a:effectLst/>
                        </a:rPr>
                        <a:t>διήθησης</a:t>
                      </a:r>
                      <a:r>
                        <a:rPr lang="de-DE" sz="2000" dirty="0">
                          <a:effectLst/>
                        </a:rPr>
                        <a:t> (kg h</a:t>
                      </a:r>
                      <a:r>
                        <a:rPr lang="de-DE" sz="2000" baseline="30000" dirty="0">
                          <a:effectLst/>
                        </a:rPr>
                        <a:t>-1</a:t>
                      </a:r>
                      <a:r>
                        <a:rPr lang="de-DE" sz="2000" dirty="0">
                          <a:effectLst/>
                        </a:rPr>
                        <a:t>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Μετ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αβ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λητή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απ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όφ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σης</a:t>
                      </a:r>
                      <a:endParaRPr lang="de-DE" sz="2000" dirty="0" err="1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100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1000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221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226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2.2%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300824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97A26DAE-125D-1085-478C-83FFA6CFF96D}"/>
              </a:ext>
            </a:extLst>
          </p:cNvPr>
          <p:cNvSpPr txBox="1"/>
          <p:nvPr/>
        </p:nvSpPr>
        <p:spPr>
          <a:xfrm>
            <a:off x="1479884" y="5874418"/>
            <a:ext cx="9176656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aseline="0" dirty="0" err="1">
                <a:latin typeface="Calibri"/>
              </a:rPr>
              <a:t>Πίν</a:t>
            </a:r>
            <a:r>
              <a:rPr lang="en-US" sz="2000" baseline="0" dirty="0">
                <a:latin typeface="Calibri"/>
              </a:rPr>
              <a:t>ακας </a:t>
            </a:r>
            <a:r>
              <a:rPr lang="en-US" sz="2000" dirty="0">
                <a:latin typeface="Calibri"/>
              </a:rPr>
              <a:t>6</a:t>
            </a:r>
            <a:r>
              <a:rPr lang="en-US" sz="2000" baseline="0" dirty="0">
                <a:latin typeface="Calibri"/>
              </a:rPr>
              <a:t>: </a:t>
            </a:r>
            <a:r>
              <a:rPr lang="en-US" sz="2000" dirty="0" err="1">
                <a:latin typeface="Calibri"/>
              </a:rPr>
              <a:t>Μετ</a:t>
            </a:r>
            <a:r>
              <a:rPr lang="en-US" sz="2000" dirty="0">
                <a:latin typeface="Calibri"/>
              </a:rPr>
              <a:t>αβ</a:t>
            </a:r>
            <a:r>
              <a:rPr lang="en-US" sz="2000" dirty="0" err="1">
                <a:latin typeface="Calibri"/>
              </a:rPr>
              <a:t>λητές</a:t>
            </a:r>
            <a:r>
              <a:rPr lang="en-US" sz="2000" dirty="0">
                <a:latin typeface="Calibri"/>
              </a:rPr>
              <a:t> κα</a:t>
            </a:r>
            <a:r>
              <a:rPr lang="en-US" sz="2000" dirty="0" err="1">
                <a:latin typeface="Calibri"/>
              </a:rPr>
              <a:t>τά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τη</a:t>
            </a:r>
            <a:r>
              <a:rPr lang="en-US" sz="2000" dirty="0">
                <a:latin typeface="Calibri"/>
              </a:rPr>
              <a:t> β</a:t>
            </a:r>
            <a:r>
              <a:rPr lang="en-US" sz="2000" dirty="0" err="1">
                <a:latin typeface="Calibri"/>
              </a:rPr>
              <a:t>ελτιστο</a:t>
            </a:r>
            <a:r>
              <a:rPr lang="en-US" sz="2000" dirty="0">
                <a:latin typeface="Calibri"/>
              </a:rPr>
              <a:t>π</a:t>
            </a:r>
            <a:r>
              <a:rPr lang="en-US" sz="2000" dirty="0" err="1">
                <a:latin typeface="Calibri"/>
              </a:rPr>
              <a:t>οίηση</a:t>
            </a:r>
            <a:r>
              <a:rPr lang="en-US" sz="2000" dirty="0">
                <a:latin typeface="Calibri"/>
              </a:rPr>
              <a:t> </a:t>
            </a:r>
            <a:r>
              <a:rPr lang="en-US" sz="2000" dirty="0" err="1">
                <a:latin typeface="Calibri"/>
              </a:rPr>
              <a:t>του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ολοκληρωμένου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μοντέλου</a:t>
            </a:r>
            <a:r>
              <a:rPr lang="en-US" sz="2000" dirty="0">
                <a:latin typeface="Calibri"/>
              </a:rPr>
              <a:t>, </a:t>
            </a:r>
            <a:r>
              <a:rPr lang="en-US" sz="2000" dirty="0" err="1">
                <a:latin typeface="Calibri"/>
              </a:rPr>
              <a:t>οι</a:t>
            </a:r>
            <a:r>
              <a:rPr lang="en-US" sz="2000" dirty="0">
                <a:latin typeface="Calibri"/>
              </a:rPr>
              <a:t> κατα</a:t>
            </a:r>
            <a:r>
              <a:rPr lang="en-US" sz="2000" dirty="0" err="1">
                <a:latin typeface="Calibri"/>
              </a:rPr>
              <a:t>νομές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τους</a:t>
            </a:r>
            <a:r>
              <a:rPr lang="en-US" sz="2000" dirty="0">
                <a:latin typeface="Calibri"/>
              </a:rPr>
              <a:t>, </a:t>
            </a:r>
            <a:r>
              <a:rPr lang="en-US" sz="2000" dirty="0" err="1">
                <a:latin typeface="Calibri"/>
              </a:rPr>
              <a:t>οι</a:t>
            </a:r>
            <a:r>
              <a:rPr lang="en-US" sz="2000" dirty="0">
                <a:latin typeface="Calibri"/>
              </a:rPr>
              <a:t> α</a:t>
            </a:r>
            <a:r>
              <a:rPr lang="en-US" sz="2000" dirty="0" err="1">
                <a:latin typeface="Calibri"/>
              </a:rPr>
              <a:t>ρχικές</a:t>
            </a:r>
            <a:r>
              <a:rPr lang="en-US" sz="2000" dirty="0">
                <a:latin typeface="Calibri"/>
              </a:rPr>
              <a:t> και </a:t>
            </a:r>
            <a:r>
              <a:rPr lang="en-US" sz="2000" dirty="0" err="1">
                <a:latin typeface="Calibri"/>
              </a:rPr>
              <a:t>τελικές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τους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τιμές</a:t>
            </a:r>
            <a:endParaRPr lang="en-US" sz="2000" dirty="0" err="1">
              <a:ea typeface="Calibri" panose="020F0502020204030204"/>
              <a:cs typeface="Calibri" panose="020F0502020204030204"/>
            </a:endParaRPr>
          </a:p>
          <a:p>
            <a:pPr algn="ctr"/>
            <a:endParaRPr lang="de-DE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A452145C-FA91-50A6-7019-3947744B8195}"/>
              </a:ext>
            </a:extLst>
          </p:cNvPr>
          <p:cNvSpPr/>
          <p:nvPr/>
        </p:nvSpPr>
        <p:spPr>
          <a:xfrm>
            <a:off x="11026538" y="1718137"/>
            <a:ext cx="1009732" cy="10381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7C1B9D22-5BB2-9466-3E30-98ABFA1778B3}"/>
              </a:ext>
            </a:extLst>
          </p:cNvPr>
          <p:cNvSpPr/>
          <p:nvPr/>
        </p:nvSpPr>
        <p:spPr>
          <a:xfrm>
            <a:off x="7424356" y="2745682"/>
            <a:ext cx="1436913" cy="27352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83876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0D6EB-EF09-6DDA-5BE4-14E12F8FC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ED649-9C18-3C35-5644-9BFCAA1D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33</a:t>
            </a:fld>
            <a:r>
              <a:rPr lang="en-US"/>
              <a:t>/39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B95072D-1538-B9C6-7F9D-AA5194011B74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6.3.2 </a:t>
            </a:r>
            <a:r>
              <a:rPr lang="en-US" sz="3100" dirty="0" err="1">
                <a:ea typeface="Calibri Light"/>
                <a:cs typeface="Calibri Light"/>
              </a:rPr>
              <a:t>Ολοκληρωμένο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Μοντέλο-Βελτιστο</a:t>
            </a:r>
            <a:r>
              <a:rPr lang="en-US" sz="3100" dirty="0">
                <a:ea typeface="Calibri Light"/>
                <a:cs typeface="Calibri Light"/>
              </a:rPr>
              <a:t>π</a:t>
            </a:r>
            <a:r>
              <a:rPr lang="en-US" sz="3100" dirty="0" err="1">
                <a:ea typeface="Calibri Light"/>
                <a:cs typeface="Calibri Light"/>
              </a:rPr>
              <a:t>οίηση</a:t>
            </a:r>
            <a:r>
              <a:rPr lang="en-US" sz="3100" dirty="0">
                <a:ea typeface="Calibri Light"/>
                <a:cs typeface="Calibri Light"/>
              </a:rPr>
              <a:t> (2/2)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5EF8587C-3FAB-7E6C-10DD-D3E79D30B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652837"/>
              </p:ext>
            </p:extLst>
          </p:nvPr>
        </p:nvGraphicFramePr>
        <p:xfrm>
          <a:off x="298533" y="982023"/>
          <a:ext cx="11604613" cy="487680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3778250">
                  <a:extLst>
                    <a:ext uri="{9D8B030D-6E8A-4147-A177-3AD203B41FA5}">
                      <a16:colId xmlns:a16="http://schemas.microsoft.com/office/drawing/2014/main" val="1105387782"/>
                    </a:ext>
                  </a:extLst>
                </a:gridCol>
                <a:gridCol w="1460499">
                  <a:extLst>
                    <a:ext uri="{9D8B030D-6E8A-4147-A177-3AD203B41FA5}">
                      <a16:colId xmlns:a16="http://schemas.microsoft.com/office/drawing/2014/main" val="4248975382"/>
                    </a:ext>
                  </a:extLst>
                </a:gridCol>
                <a:gridCol w="730241">
                  <a:extLst>
                    <a:ext uri="{9D8B030D-6E8A-4147-A177-3AD203B41FA5}">
                      <a16:colId xmlns:a16="http://schemas.microsoft.com/office/drawing/2014/main" val="687664231"/>
                    </a:ext>
                  </a:extLst>
                </a:gridCol>
                <a:gridCol w="1031874">
                  <a:extLst>
                    <a:ext uri="{9D8B030D-6E8A-4147-A177-3AD203B41FA5}">
                      <a16:colId xmlns:a16="http://schemas.microsoft.com/office/drawing/2014/main" val="1873999438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33022175"/>
                    </a:ext>
                  </a:extLst>
                </a:gridCol>
                <a:gridCol w="1841499">
                  <a:extLst>
                    <a:ext uri="{9D8B030D-6E8A-4147-A177-3AD203B41FA5}">
                      <a16:colId xmlns:a16="http://schemas.microsoft.com/office/drawing/2014/main" val="2501130996"/>
                    </a:ext>
                  </a:extLst>
                </a:gridCol>
                <a:gridCol w="1682750">
                  <a:extLst>
                    <a:ext uri="{9D8B030D-6E8A-4147-A177-3AD203B41FA5}">
                      <a16:colId xmlns:a16="http://schemas.microsoft.com/office/drawing/2014/main" val="2422951579"/>
                    </a:ext>
                  </a:extLst>
                </a:gridCol>
              </a:tblGrid>
              <a:tr h="39548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Μετ</a:t>
                      </a:r>
                      <a:r>
                        <a:rPr lang="de-DE" sz="2000" dirty="0">
                          <a:effectLst/>
                        </a:rPr>
                        <a:t>αβ</a:t>
                      </a:r>
                      <a:r>
                        <a:rPr lang="de-DE" sz="2000" dirty="0" err="1">
                          <a:effectLst/>
                        </a:rPr>
                        <a:t>λητή</a:t>
                      </a:r>
                      <a:endParaRPr lang="de-DE" sz="2000" dirty="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Τύ</a:t>
                      </a:r>
                      <a:r>
                        <a:rPr lang="de-DE" sz="2000" dirty="0">
                          <a:effectLst/>
                        </a:rPr>
                        <a:t>π</a:t>
                      </a:r>
                      <a:r>
                        <a:rPr lang="de-DE" sz="2000" dirty="0" err="1">
                          <a:effectLst/>
                        </a:rPr>
                        <a:t>ος</a:t>
                      </a:r>
                      <a:endParaRPr lang="de-DE" sz="2000" dirty="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Κάτω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όριο</a:t>
                      </a:r>
                      <a:endParaRPr lang="de-DE" sz="2000" dirty="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Άνω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όριο</a:t>
                      </a:r>
                      <a:endParaRPr lang="de-DE" sz="2000" dirty="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Τελική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τιμή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Τιμή</a:t>
                      </a:r>
                      <a:r>
                        <a:rPr lang="de-DE" sz="2000" dirty="0">
                          <a:effectLst/>
                        </a:rPr>
                        <a:t> π</a:t>
                      </a:r>
                      <a:r>
                        <a:rPr lang="de-DE" sz="2000" dirty="0" err="1">
                          <a:effectLst/>
                        </a:rPr>
                        <a:t>ριν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τη</a:t>
                      </a:r>
                      <a:r>
                        <a:rPr lang="de-DE" sz="2000" dirty="0">
                          <a:effectLst/>
                        </a:rPr>
                        <a:t> β</a:t>
                      </a:r>
                      <a:r>
                        <a:rPr lang="de-DE" sz="2000" dirty="0" err="1">
                          <a:effectLst/>
                        </a:rPr>
                        <a:t>ελτιστο</a:t>
                      </a:r>
                      <a:r>
                        <a:rPr lang="de-DE" sz="2000" dirty="0">
                          <a:effectLst/>
                        </a:rPr>
                        <a:t>π</a:t>
                      </a:r>
                      <a:r>
                        <a:rPr lang="de-DE" sz="2000" dirty="0" err="1">
                          <a:effectLst/>
                        </a:rPr>
                        <a:t>οίηση</a:t>
                      </a:r>
                      <a:endParaRPr lang="de-DE" sz="2000" dirty="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err="1">
                          <a:effectLst/>
                        </a:rPr>
                        <a:t>Όφελος</a:t>
                      </a:r>
                      <a:endParaRPr lang="de-DE"/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1765191"/>
                  </a:ext>
                </a:extLst>
              </a:tr>
              <a:tr h="4058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Συγκέντρωση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φωσφ</a:t>
                      </a:r>
                      <a:r>
                        <a:rPr lang="de-DE" sz="2000" dirty="0">
                          <a:effectLst/>
                        </a:rPr>
                        <a:t>α</a:t>
                      </a:r>
                      <a:r>
                        <a:rPr lang="de-DE" sz="2000" dirty="0" err="1">
                          <a:effectLst/>
                        </a:rPr>
                        <a:t>τάσης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στον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ψύκτη</a:t>
                      </a:r>
                      <a:r>
                        <a:rPr lang="de-DE" sz="2000" dirty="0">
                          <a:effectLst/>
                        </a:rPr>
                        <a:t> (</a:t>
                      </a:r>
                      <a:r>
                        <a:rPr lang="de-DE" sz="2000" dirty="0" err="1">
                          <a:effectLst/>
                        </a:rPr>
                        <a:t>units</a:t>
                      </a:r>
                      <a:r>
                        <a:rPr lang="de-DE" sz="2000" dirty="0">
                          <a:effectLst/>
                        </a:rPr>
                        <a:t> mL</a:t>
                      </a:r>
                      <a:r>
                        <a:rPr lang="de-DE" sz="2000" baseline="30000" dirty="0">
                          <a:effectLst/>
                        </a:rPr>
                        <a:t>-1</a:t>
                      </a:r>
                      <a:r>
                        <a:rPr lang="de-DE" sz="2000" dirty="0">
                          <a:effectLst/>
                        </a:rPr>
                        <a:t>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err="1">
                          <a:effectLst/>
                        </a:rPr>
                        <a:t>Περιορισμός</a:t>
                      </a:r>
                      <a:endParaRPr lang="de-DE" sz="2000" dirty="0" err="1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0 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3.5×10</a:t>
                      </a:r>
                      <a:r>
                        <a:rPr lang="de-DE" sz="2000" baseline="30000" dirty="0">
                          <a:effectLst/>
                        </a:rPr>
                        <a:t>-4</a:t>
                      </a:r>
                      <a:endParaRPr lang="de-DE" sz="2000" dirty="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3.8×10</a:t>
                      </a:r>
                      <a:r>
                        <a:rPr lang="de-DE" sz="2000" baseline="30000" dirty="0">
                          <a:effectLst/>
                        </a:rPr>
                        <a:t>-6</a:t>
                      </a:r>
                      <a:endParaRPr lang="de-DE" sz="2000" dirty="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1.2×10</a:t>
                      </a:r>
                      <a:r>
                        <a:rPr lang="de-DE" sz="2000" baseline="30000" dirty="0">
                          <a:effectLst/>
                        </a:rPr>
                        <a:t>-6</a:t>
                      </a:r>
                      <a:endParaRPr lang="de-DE" sz="2000" dirty="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Επ</a:t>
                      </a:r>
                      <a:r>
                        <a:rPr lang="de-DE" sz="2000" dirty="0" err="1">
                          <a:effectLst/>
                        </a:rPr>
                        <a:t>ιτυχής</a:t>
                      </a:r>
                      <a:r>
                        <a:rPr lang="de-DE" sz="2000" dirty="0">
                          <a:effectLst/>
                        </a:rPr>
                        <a:t> πα</a:t>
                      </a:r>
                      <a:r>
                        <a:rPr lang="de-DE" sz="2000" dirty="0" err="1">
                          <a:effectLst/>
                        </a:rPr>
                        <a:t>στερίωση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5661782"/>
                  </a:ext>
                </a:extLst>
              </a:tr>
              <a:tr h="3954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Στερεά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συμ</a:t>
                      </a:r>
                      <a:r>
                        <a:rPr lang="de-DE" sz="2000" dirty="0">
                          <a:effectLst/>
                        </a:rPr>
                        <a:t>π</a:t>
                      </a:r>
                      <a:r>
                        <a:rPr lang="de-DE" sz="2000" dirty="0" err="1">
                          <a:effectLst/>
                        </a:rPr>
                        <a:t>υκνώμ</a:t>
                      </a:r>
                      <a:r>
                        <a:rPr lang="de-DE" sz="2000" dirty="0">
                          <a:effectLst/>
                        </a:rPr>
                        <a:t>α</a:t>
                      </a:r>
                      <a:r>
                        <a:rPr lang="de-DE" sz="2000" dirty="0" err="1">
                          <a:effectLst/>
                        </a:rPr>
                        <a:t>τος</a:t>
                      </a:r>
                      <a:r>
                        <a:rPr lang="de-DE" sz="2000" dirty="0">
                          <a:effectLst/>
                        </a:rPr>
                        <a:t> (%)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Περιορισμός</a:t>
                      </a:r>
                      <a:endParaRPr lang="de-DE" err="1"/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19.5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20.5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19.5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Επ</a:t>
                      </a:r>
                      <a:r>
                        <a:rPr lang="de-DE" sz="2000" dirty="0" err="1">
                          <a:effectLst/>
                        </a:rPr>
                        <a:t>ιτυχής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συμ</a:t>
                      </a:r>
                      <a:r>
                        <a:rPr lang="de-DE" sz="2000" dirty="0">
                          <a:effectLst/>
                        </a:rPr>
                        <a:t>π</a:t>
                      </a:r>
                      <a:r>
                        <a:rPr lang="de-DE" sz="2000" dirty="0" err="1">
                          <a:effectLst/>
                        </a:rPr>
                        <a:t>ύκνωση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248065"/>
                  </a:ext>
                </a:extLst>
              </a:tr>
              <a:tr h="3954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Θερμοκρ</a:t>
                      </a:r>
                      <a:r>
                        <a:rPr lang="de-DE" sz="2000" dirty="0">
                          <a:effectLst/>
                        </a:rPr>
                        <a:t>α</a:t>
                      </a:r>
                      <a:r>
                        <a:rPr lang="de-DE" sz="2000" dirty="0" err="1">
                          <a:effectLst/>
                        </a:rPr>
                        <a:t>σί</a:t>
                      </a:r>
                      <a:r>
                        <a:rPr lang="de-DE" sz="2000" dirty="0">
                          <a:effectLst/>
                        </a:rPr>
                        <a:t>α </a:t>
                      </a:r>
                      <a:r>
                        <a:rPr lang="de-DE" sz="2000" dirty="0" err="1">
                          <a:effectLst/>
                        </a:rPr>
                        <a:t>εξόδου</a:t>
                      </a:r>
                      <a:r>
                        <a:rPr lang="de-DE" sz="2000" dirty="0">
                          <a:effectLst/>
                        </a:rPr>
                        <a:t> π</a:t>
                      </a:r>
                      <a:r>
                        <a:rPr lang="de-DE" sz="2000" dirty="0" err="1">
                          <a:effectLst/>
                        </a:rPr>
                        <a:t>ροθερμ</a:t>
                      </a:r>
                      <a:r>
                        <a:rPr lang="de-DE" sz="2000" dirty="0">
                          <a:effectLst/>
                        </a:rPr>
                        <a:t>α</a:t>
                      </a:r>
                      <a:r>
                        <a:rPr lang="de-DE" sz="2000" dirty="0" err="1">
                          <a:effectLst/>
                        </a:rPr>
                        <a:t>ντήρ</a:t>
                      </a:r>
                      <a:r>
                        <a:rPr lang="de-DE" sz="2000" dirty="0">
                          <a:effectLst/>
                        </a:rPr>
                        <a:t>α (°C)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Περιορισμός</a:t>
                      </a:r>
                      <a:endParaRPr lang="de-DE" sz="2000" err="1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72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72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72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72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0072315"/>
                  </a:ext>
                </a:extLst>
              </a:tr>
              <a:tr h="1977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 err="1">
                          <a:effectLst/>
                        </a:rPr>
                        <a:t>Θερμοκρ</a:t>
                      </a:r>
                      <a:r>
                        <a:rPr lang="de-DE" sz="2000" dirty="0">
                          <a:effectLst/>
                        </a:rPr>
                        <a:t>α</a:t>
                      </a:r>
                      <a:r>
                        <a:rPr lang="de-DE" sz="2000" dirty="0" err="1">
                          <a:effectLst/>
                        </a:rPr>
                        <a:t>σί</a:t>
                      </a:r>
                      <a:r>
                        <a:rPr lang="de-DE" sz="2000" dirty="0">
                          <a:effectLst/>
                        </a:rPr>
                        <a:t>α </a:t>
                      </a:r>
                      <a:r>
                        <a:rPr lang="de-DE" sz="2000" dirty="0" err="1">
                          <a:effectLst/>
                        </a:rPr>
                        <a:t>εξόδου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ψύκτη</a:t>
                      </a:r>
                      <a:r>
                        <a:rPr lang="de-DE" sz="2000" dirty="0">
                          <a:effectLst/>
                        </a:rPr>
                        <a:t> (°C)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Περιορισμός</a:t>
                      </a:r>
                      <a:endParaRPr lang="de-DE" sz="2000" err="1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25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22.5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19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883232"/>
                  </a:ext>
                </a:extLst>
              </a:tr>
              <a:tr h="3954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sz="2000" dirty="0">
                          <a:effectLst/>
                        </a:rPr>
                        <a:t>Μετουσίωση β-</a:t>
                      </a:r>
                      <a:r>
                        <a:rPr lang="de-DE" sz="2000" dirty="0">
                          <a:effectLst/>
                        </a:rPr>
                        <a:t>LG </a:t>
                      </a:r>
                      <a:r>
                        <a:rPr lang="de-DE" sz="2000" dirty="0" err="1">
                          <a:effectLst/>
                        </a:rPr>
                        <a:t>στον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θάλ</a:t>
                      </a:r>
                      <a:r>
                        <a:rPr lang="de-DE" sz="2000" dirty="0">
                          <a:effectLst/>
                        </a:rPr>
                        <a:t>α</a:t>
                      </a:r>
                      <a:r>
                        <a:rPr lang="de-DE" sz="2000" dirty="0" err="1">
                          <a:effectLst/>
                        </a:rPr>
                        <a:t>μο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συγκράτησης</a:t>
                      </a:r>
                      <a:r>
                        <a:rPr lang="de-DE" sz="2000" dirty="0">
                          <a:effectLst/>
                        </a:rPr>
                        <a:t> (%)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Περιορισμός</a:t>
                      </a:r>
                      <a:endParaRPr lang="de-DE" sz="2000" err="1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20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11.7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13.18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8768"/>
                  </a:ext>
                </a:extLst>
              </a:tr>
              <a:tr h="40588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u="none" strike="noStrike" noProof="0" dirty="0" err="1">
                          <a:effectLst/>
                        </a:rPr>
                        <a:t>Συγκέντρωση</a:t>
                      </a:r>
                      <a:r>
                        <a:rPr lang="de-DE" sz="2000" u="none" strike="noStrike" noProof="0" dirty="0">
                          <a:effectLst/>
                        </a:rPr>
                        <a:t> </a:t>
                      </a:r>
                      <a:r>
                        <a:rPr lang="de-DE" sz="2000" i="1" u="none" strike="noStrike" noProof="0" dirty="0" err="1">
                          <a:effectLst/>
                        </a:rPr>
                        <a:t>S.thermophilus</a:t>
                      </a:r>
                      <a:r>
                        <a:rPr lang="de-DE" sz="2000" i="1" dirty="0">
                          <a:effectLst/>
                        </a:rPr>
                        <a:t> </a:t>
                      </a:r>
                      <a:r>
                        <a:rPr lang="de-DE" sz="2000" dirty="0" err="1">
                          <a:effectLst/>
                        </a:rPr>
                        <a:t>στο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συμ</a:t>
                      </a:r>
                      <a:r>
                        <a:rPr lang="de-DE" sz="2000" dirty="0">
                          <a:effectLst/>
                        </a:rPr>
                        <a:t>π</a:t>
                      </a:r>
                      <a:r>
                        <a:rPr lang="de-DE" sz="2000" dirty="0" err="1">
                          <a:effectLst/>
                        </a:rPr>
                        <a:t>ύκνωμ</a:t>
                      </a:r>
                      <a:r>
                        <a:rPr lang="de-DE" sz="2000" dirty="0">
                          <a:effectLst/>
                        </a:rPr>
                        <a:t>α (CFU mL</a:t>
                      </a:r>
                      <a:r>
                        <a:rPr lang="de-DE" sz="2000" baseline="30000" dirty="0">
                          <a:effectLst/>
                        </a:rPr>
                        <a:t>-1</a:t>
                      </a:r>
                      <a:r>
                        <a:rPr lang="de-DE" sz="2000" dirty="0">
                          <a:effectLst/>
                        </a:rPr>
                        <a:t>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Περιορισμός</a:t>
                      </a:r>
                      <a:endParaRPr lang="de-DE" sz="2000" err="1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100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0.048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0.047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73813"/>
                  </a:ext>
                </a:extLst>
              </a:tr>
              <a:tr h="82218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u="none" strike="noStrike" noProof="0" dirty="0" err="1">
                          <a:effectLst/>
                        </a:rPr>
                        <a:t>Συγκέντρωση</a:t>
                      </a:r>
                      <a:r>
                        <a:rPr lang="de-DE" sz="2000" u="none" strike="noStrike" noProof="0" dirty="0">
                          <a:effectLst/>
                        </a:rPr>
                        <a:t> </a:t>
                      </a:r>
                      <a:r>
                        <a:rPr lang="de-DE" sz="2000" i="1" u="none" strike="noStrike" noProof="0" dirty="0" err="1">
                          <a:effectLst/>
                        </a:rPr>
                        <a:t>S.thermophilus</a:t>
                      </a:r>
                      <a:r>
                        <a:rPr lang="de-DE" sz="2000" i="1" u="none" strike="noStrike" noProof="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στ</a:t>
                      </a:r>
                      <a:r>
                        <a:rPr lang="de-DE" sz="2000" dirty="0">
                          <a:effectLst/>
                        </a:rPr>
                        <a:t>α </a:t>
                      </a:r>
                      <a:r>
                        <a:rPr lang="de-DE" sz="2000" dirty="0" err="1">
                          <a:effectLst/>
                        </a:rPr>
                        <a:t>τοιχώμ</a:t>
                      </a:r>
                      <a:r>
                        <a:rPr lang="de-DE" sz="2000" dirty="0">
                          <a:effectLst/>
                        </a:rPr>
                        <a:t>ατα </a:t>
                      </a:r>
                      <a:r>
                        <a:rPr lang="de-DE" sz="2000" dirty="0" err="1">
                          <a:effectLst/>
                        </a:rPr>
                        <a:t>της</a:t>
                      </a:r>
                      <a:r>
                        <a:rPr lang="de-DE" sz="2000" dirty="0">
                          <a:effectLst/>
                        </a:rPr>
                        <a:t> ανα</a:t>
                      </a:r>
                      <a:r>
                        <a:rPr lang="de-DE" sz="2000" dirty="0" err="1">
                          <a:effectLst/>
                        </a:rPr>
                        <a:t>γεννητικής</a:t>
                      </a:r>
                      <a:r>
                        <a:rPr lang="de-DE" sz="2000" dirty="0">
                          <a:effectLst/>
                        </a:rPr>
                        <a:t> </a:t>
                      </a:r>
                      <a:r>
                        <a:rPr lang="de-DE" sz="2000" dirty="0" err="1">
                          <a:effectLst/>
                        </a:rPr>
                        <a:t>μονάδ</a:t>
                      </a:r>
                      <a:r>
                        <a:rPr lang="de-DE" sz="2000" dirty="0">
                          <a:effectLst/>
                        </a:rPr>
                        <a:t>ας (CFU cm</a:t>
                      </a:r>
                      <a:r>
                        <a:rPr lang="de-DE" sz="2000" baseline="30000" dirty="0">
                          <a:effectLst/>
                        </a:rPr>
                        <a:t>-2</a:t>
                      </a:r>
                      <a:r>
                        <a:rPr lang="de-DE" sz="2000" dirty="0">
                          <a:effectLst/>
                        </a:rPr>
                        <a:t>)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Περιορισμός</a:t>
                      </a:r>
                      <a:endParaRPr lang="de-DE" sz="2000" err="1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0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10</a:t>
                      </a:r>
                      <a:r>
                        <a:rPr lang="de-DE" sz="2000" baseline="30000" dirty="0">
                          <a:effectLst/>
                        </a:rPr>
                        <a:t>9</a:t>
                      </a:r>
                      <a:endParaRPr lang="de-DE" sz="2000" dirty="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9.9×10</a:t>
                      </a:r>
                      <a:r>
                        <a:rPr lang="de-DE" sz="2000" baseline="30000" dirty="0">
                          <a:effectLst/>
                        </a:rPr>
                        <a:t>8</a:t>
                      </a:r>
                      <a:endParaRPr lang="de-DE" sz="2000" dirty="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10</a:t>
                      </a:r>
                      <a:r>
                        <a:rPr lang="de-DE" sz="2000" baseline="30000" dirty="0">
                          <a:effectLst/>
                        </a:rPr>
                        <a:t>9</a:t>
                      </a:r>
                      <a:endParaRPr lang="de-DE" sz="2000" dirty="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dirty="0">
                          <a:effectLst/>
                        </a:rPr>
                        <a:t>-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40391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A8A21313-6C30-7DF5-7047-F0A6C5002CC9}"/>
              </a:ext>
            </a:extLst>
          </p:cNvPr>
          <p:cNvSpPr txBox="1"/>
          <p:nvPr/>
        </p:nvSpPr>
        <p:spPr>
          <a:xfrm>
            <a:off x="1502975" y="6047930"/>
            <a:ext cx="9176656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aseline="0" dirty="0" err="1">
                <a:latin typeface="Calibri"/>
              </a:rPr>
              <a:t>Πίν</a:t>
            </a:r>
            <a:r>
              <a:rPr lang="en-US" sz="2000" baseline="0" dirty="0">
                <a:latin typeface="Calibri"/>
              </a:rPr>
              <a:t>ακας </a:t>
            </a:r>
            <a:r>
              <a:rPr lang="en-US" sz="2000" dirty="0">
                <a:latin typeface="Calibri"/>
              </a:rPr>
              <a:t>6 (</a:t>
            </a:r>
            <a:r>
              <a:rPr lang="en-US" sz="2000" dirty="0" err="1">
                <a:latin typeface="Calibri"/>
              </a:rPr>
              <a:t>συνέχει</a:t>
            </a:r>
            <a:r>
              <a:rPr lang="en-US" sz="2000" dirty="0">
                <a:latin typeface="Calibri"/>
              </a:rPr>
              <a:t>α):</a:t>
            </a:r>
            <a:r>
              <a:rPr lang="en-US" sz="2000" baseline="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Μετ</a:t>
            </a:r>
            <a:r>
              <a:rPr lang="en-US" sz="2000" dirty="0">
                <a:latin typeface="Calibri"/>
              </a:rPr>
              <a:t>αβ</a:t>
            </a:r>
            <a:r>
              <a:rPr lang="en-US" sz="2000" dirty="0" err="1">
                <a:latin typeface="Calibri"/>
              </a:rPr>
              <a:t>λητές</a:t>
            </a:r>
            <a:r>
              <a:rPr lang="en-US" sz="2000" dirty="0">
                <a:latin typeface="Calibri"/>
              </a:rPr>
              <a:t> κα</a:t>
            </a:r>
            <a:r>
              <a:rPr lang="en-US" sz="2000" dirty="0" err="1">
                <a:latin typeface="Calibri"/>
              </a:rPr>
              <a:t>τά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τη</a:t>
            </a:r>
            <a:r>
              <a:rPr lang="en-US" sz="2000" dirty="0">
                <a:latin typeface="Calibri"/>
              </a:rPr>
              <a:t> β</a:t>
            </a:r>
            <a:r>
              <a:rPr lang="en-US" sz="2000" dirty="0" err="1">
                <a:latin typeface="Calibri"/>
              </a:rPr>
              <a:t>ελτιστο</a:t>
            </a:r>
            <a:r>
              <a:rPr lang="en-US" sz="2000" dirty="0">
                <a:latin typeface="Calibri"/>
              </a:rPr>
              <a:t>π</a:t>
            </a:r>
            <a:r>
              <a:rPr lang="en-US" sz="2000" dirty="0" err="1">
                <a:latin typeface="Calibri"/>
              </a:rPr>
              <a:t>οίηση</a:t>
            </a:r>
            <a:r>
              <a:rPr lang="en-US" sz="2000" dirty="0">
                <a:latin typeface="Calibri"/>
              </a:rPr>
              <a:t> </a:t>
            </a:r>
            <a:r>
              <a:rPr lang="en-US" sz="2000" dirty="0" err="1">
                <a:latin typeface="Calibri"/>
              </a:rPr>
              <a:t>του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ολοκληρωμένου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μοντέλου</a:t>
            </a:r>
            <a:r>
              <a:rPr lang="en-US" sz="2000" dirty="0">
                <a:latin typeface="Calibri"/>
              </a:rPr>
              <a:t>, </a:t>
            </a:r>
            <a:r>
              <a:rPr lang="en-US" sz="2000" dirty="0" err="1">
                <a:latin typeface="Calibri"/>
              </a:rPr>
              <a:t>οι</a:t>
            </a:r>
            <a:r>
              <a:rPr lang="en-US" sz="2000" dirty="0">
                <a:latin typeface="Calibri"/>
              </a:rPr>
              <a:t> κατα</a:t>
            </a:r>
            <a:r>
              <a:rPr lang="en-US" sz="2000" dirty="0" err="1">
                <a:latin typeface="Calibri"/>
              </a:rPr>
              <a:t>νομές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τους</a:t>
            </a:r>
            <a:r>
              <a:rPr lang="en-US" sz="2000" dirty="0">
                <a:latin typeface="Calibri"/>
              </a:rPr>
              <a:t>, </a:t>
            </a:r>
            <a:r>
              <a:rPr lang="en-US" sz="2000" dirty="0" err="1">
                <a:latin typeface="Calibri"/>
              </a:rPr>
              <a:t>οι</a:t>
            </a:r>
            <a:r>
              <a:rPr lang="en-US" sz="2000" dirty="0">
                <a:latin typeface="Calibri"/>
              </a:rPr>
              <a:t> α</a:t>
            </a:r>
            <a:r>
              <a:rPr lang="en-US" sz="2000" dirty="0" err="1">
                <a:latin typeface="Calibri"/>
              </a:rPr>
              <a:t>ρχικές</a:t>
            </a:r>
            <a:r>
              <a:rPr lang="en-US" sz="2000" dirty="0">
                <a:latin typeface="Calibri"/>
              </a:rPr>
              <a:t> και </a:t>
            </a:r>
            <a:r>
              <a:rPr lang="en-US" sz="2000" dirty="0" err="1">
                <a:latin typeface="Calibri"/>
              </a:rPr>
              <a:t>τελικές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τους</a:t>
            </a:r>
            <a:r>
              <a:rPr lang="en-US" sz="2000" dirty="0">
                <a:latin typeface="Calibri"/>
              </a:rPr>
              <a:t> </a:t>
            </a:r>
            <a:r>
              <a:rPr lang="en-US" sz="2000" dirty="0" err="1">
                <a:latin typeface="Calibri"/>
              </a:rPr>
              <a:t>τιμές</a:t>
            </a:r>
            <a:endParaRPr lang="en-US" sz="2000" dirty="0" err="1">
              <a:ea typeface="Calibri" panose="020F0502020204030204"/>
              <a:cs typeface="Calibri" panose="020F0502020204030204"/>
            </a:endParaRPr>
          </a:p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4818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27822-6005-03CC-7753-C236FA3B8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34</a:t>
            </a:fld>
            <a:r>
              <a:rPr lang="en-US"/>
              <a:t>/39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E4DC2C-0F15-0AEF-E999-A7C74C3291C4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7.1.1 </a:t>
            </a:r>
            <a:r>
              <a:rPr lang="en-US" sz="3100" dirty="0" err="1">
                <a:ea typeface="Calibri Light"/>
                <a:cs typeface="Calibri Light"/>
              </a:rPr>
              <a:t>Συμ</a:t>
            </a:r>
            <a:r>
              <a:rPr lang="en-US" sz="3100" dirty="0">
                <a:ea typeface="Calibri Light"/>
                <a:cs typeface="Calibri Light"/>
              </a:rPr>
              <a:t>π</a:t>
            </a:r>
            <a:r>
              <a:rPr lang="en-US" sz="3100" dirty="0" err="1">
                <a:ea typeface="Calibri Light"/>
                <a:cs typeface="Calibri Light"/>
              </a:rPr>
              <a:t>εράσμ</a:t>
            </a:r>
            <a:r>
              <a:rPr lang="en-US" sz="3100" dirty="0">
                <a:ea typeface="Calibri Light"/>
                <a:cs typeface="Calibri Light"/>
              </a:rPr>
              <a:t>ατα-</a:t>
            </a:r>
            <a:r>
              <a:rPr lang="en-US" sz="3100" dirty="0" err="1">
                <a:ea typeface="Calibri Light"/>
                <a:cs typeface="Calibri Light"/>
              </a:rPr>
              <a:t>Περιορισμοί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Ολοκληρωμένης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Διεργ</a:t>
            </a:r>
            <a:r>
              <a:rPr lang="en-US" sz="3100" dirty="0">
                <a:ea typeface="Calibri Light"/>
                <a:cs typeface="Calibri Light"/>
              </a:rPr>
              <a:t>α</a:t>
            </a:r>
            <a:r>
              <a:rPr lang="en-US" sz="3100" dirty="0" err="1">
                <a:ea typeface="Calibri Light"/>
                <a:cs typeface="Calibri Light"/>
              </a:rPr>
              <a:t>σί</a:t>
            </a:r>
            <a:r>
              <a:rPr lang="en-US" sz="3100" dirty="0">
                <a:ea typeface="Calibri Light"/>
                <a:cs typeface="Calibri Light"/>
              </a:rPr>
              <a:t>ας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749B1983-4A52-F764-AE64-93845A936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789225"/>
              </p:ext>
            </p:extLst>
          </p:nvPr>
        </p:nvGraphicFramePr>
        <p:xfrm>
          <a:off x="413988" y="1709387"/>
          <a:ext cx="11376325" cy="409572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3857625">
                  <a:extLst>
                    <a:ext uri="{9D8B030D-6E8A-4147-A177-3AD203B41FA5}">
                      <a16:colId xmlns:a16="http://schemas.microsoft.com/office/drawing/2014/main" val="1105387782"/>
                    </a:ext>
                  </a:extLst>
                </a:gridCol>
                <a:gridCol w="3952874">
                  <a:extLst>
                    <a:ext uri="{9D8B030D-6E8A-4147-A177-3AD203B41FA5}">
                      <a16:colId xmlns:a16="http://schemas.microsoft.com/office/drawing/2014/main" val="4248975382"/>
                    </a:ext>
                  </a:extLst>
                </a:gridCol>
                <a:gridCol w="3565826">
                  <a:extLst>
                    <a:ext uri="{9D8B030D-6E8A-4147-A177-3AD203B41FA5}">
                      <a16:colId xmlns:a16="http://schemas.microsoft.com/office/drawing/2014/main" val="687664231"/>
                    </a:ext>
                  </a:extLst>
                </a:gridCol>
              </a:tblGrid>
              <a:tr h="62081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1" err="1">
                          <a:solidFill>
                            <a:schemeClr val="bg1"/>
                          </a:solidFill>
                          <a:effectLst/>
                        </a:rPr>
                        <a:t>Οικονομικοί</a:t>
                      </a:r>
                      <a:r>
                        <a:rPr lang="de-DE" sz="2000" b="1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de-DE" sz="2000" b="1" err="1">
                          <a:solidFill>
                            <a:schemeClr val="bg1"/>
                          </a:solidFill>
                          <a:effectLst/>
                        </a:rPr>
                        <a:t>Περι</a:t>
                      </a:r>
                      <a:r>
                        <a:rPr lang="de-DE" sz="2000" b="1" dirty="0">
                          <a:solidFill>
                            <a:schemeClr val="bg1"/>
                          </a:solidFill>
                          <a:effectLst/>
                        </a:rPr>
                        <a:t>βα</a:t>
                      </a:r>
                      <a:r>
                        <a:rPr lang="de-DE" sz="2000" b="1" err="1">
                          <a:solidFill>
                            <a:schemeClr val="bg1"/>
                          </a:solidFill>
                          <a:effectLst/>
                        </a:rPr>
                        <a:t>λλοντικοί</a:t>
                      </a:r>
                      <a:endParaRPr lang="de-DE" sz="2000" b="1" dirty="0" err="1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1" err="1">
                          <a:solidFill>
                            <a:schemeClr val="bg1"/>
                          </a:solidFill>
                          <a:effectLst/>
                        </a:rPr>
                        <a:t>Ασφάλει</a:t>
                      </a:r>
                      <a:r>
                        <a:rPr lang="de-DE" sz="2000" b="1" dirty="0">
                          <a:solidFill>
                            <a:schemeClr val="bg1"/>
                          </a:solidFill>
                          <a:effectLst/>
                        </a:rPr>
                        <a:t>ας</a:t>
                      </a:r>
                    </a:p>
                  </a:txBody>
                  <a:tcPr marL="66675" marR="66675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1" err="1">
                          <a:solidFill>
                            <a:schemeClr val="bg1"/>
                          </a:solidFill>
                          <a:effectLst/>
                        </a:rPr>
                        <a:t>Ποιότητ</a:t>
                      </a:r>
                      <a:r>
                        <a:rPr lang="de-DE" sz="2000" b="1" dirty="0">
                          <a:solidFill>
                            <a:schemeClr val="bg1"/>
                          </a:solidFill>
                          <a:effectLst/>
                        </a:rPr>
                        <a:t>ας </a:t>
                      </a:r>
                    </a:p>
                  </a:txBody>
                  <a:tcPr marL="66675" marR="66675" marT="0" marB="0" anchor="ctr">
                    <a:lnL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661782"/>
                  </a:ext>
                </a:extLst>
              </a:tr>
              <a:tr h="9073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 dirty="0">
                          <a:effectLst/>
                        </a:rPr>
                        <a:t>παρα</a:t>
                      </a:r>
                      <a:r>
                        <a:rPr lang="de-DE" sz="2000" b="0" err="1">
                          <a:effectLst/>
                        </a:rPr>
                        <a:t>γωγικότητ</a:t>
                      </a:r>
                      <a:r>
                        <a:rPr lang="de-DE" sz="2000" b="0" dirty="0">
                          <a:effectLst/>
                        </a:rPr>
                        <a:t>α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πα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στερίωση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φωσφ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τάση</a:t>
                      </a:r>
                      <a:endParaRPr lang="de-DE" dirty="0" err="1"/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συμ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π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ύκνωση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/20% </a:t>
                      </a:r>
                      <a:r>
                        <a:rPr lang="de-DE" sz="20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στερεά</a:t>
                      </a:r>
                      <a:endParaRPr lang="de-DE" dirty="0" err="1"/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248065"/>
                  </a:ext>
                </a:extLst>
              </a:tr>
              <a:tr h="1361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 err="1">
                          <a:effectLst/>
                        </a:rPr>
                        <a:t>χρόνος</a:t>
                      </a:r>
                      <a:r>
                        <a:rPr lang="de-DE" sz="2000" b="0" dirty="0">
                          <a:effectLst/>
                        </a:rPr>
                        <a:t> </a:t>
                      </a:r>
                      <a:r>
                        <a:rPr lang="de-DE" sz="2000" b="0" err="1">
                          <a:effectLst/>
                        </a:rPr>
                        <a:t>λειτουργί</a:t>
                      </a:r>
                      <a:r>
                        <a:rPr lang="de-DE" sz="2000" b="0" dirty="0">
                          <a:effectLst/>
                        </a:rPr>
                        <a:t>ας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1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S.thermophilus</a:t>
                      </a:r>
                      <a:endParaRPr lang="de-DE" i="1" dirty="0" err="1"/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μετουσίωση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π</a:t>
                      </a: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ρωτεϊνών</a:t>
                      </a:r>
                      <a:endParaRPr lang="de-DE" err="1"/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0072315"/>
                  </a:ext>
                </a:extLst>
              </a:tr>
              <a:tr h="453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 err="1">
                          <a:effectLst/>
                        </a:rPr>
                        <a:t>νερό</a:t>
                      </a:r>
                      <a:endParaRPr lang="de-DE" sz="2000" b="0" dirty="0" err="1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επ</a:t>
                      </a: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ικ</a:t>
                      </a:r>
                      <a:r>
                        <a:rPr lang="de-DE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α</a:t>
                      </a:r>
                      <a:r>
                        <a:rPr lang="de-DE" sz="20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θήσεις</a:t>
                      </a:r>
                      <a:endParaRPr lang="de-DE" sz="2000" b="0" i="0" u="none" strike="noStrike" noProof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de-DE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endParaRPr lang="de-DE" sz="2000" b="0" dirty="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883232"/>
                  </a:ext>
                </a:extLst>
              </a:tr>
              <a:tr h="5969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2000" b="0" err="1">
                          <a:effectLst/>
                        </a:rPr>
                        <a:t>ενέργει</a:t>
                      </a:r>
                      <a:r>
                        <a:rPr lang="de-DE" sz="2000" b="0" dirty="0">
                          <a:effectLst/>
                        </a:rPr>
                        <a:t>α</a:t>
                      </a: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e-DE" sz="2000" b="0" i="0" u="none" strike="noStrike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de-DE" sz="2000" b="0" dirty="0">
                        <a:effectLst/>
                      </a:endParaRPr>
                    </a:p>
                  </a:txBody>
                  <a:tcPr marL="66675" marR="66675" marT="0" marB="0" anchor="ctr">
                    <a:lnL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L>
                    <a:lnR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R>
                    <a:lnT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T>
                    <a:lnB w="127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8768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C300CCA7-4A67-E965-CBC2-3F47277ADAF1}"/>
              </a:ext>
            </a:extLst>
          </p:cNvPr>
          <p:cNvSpPr txBox="1"/>
          <p:nvPr/>
        </p:nvSpPr>
        <p:spPr>
          <a:xfrm>
            <a:off x="2828636" y="6003637"/>
            <a:ext cx="708890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0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Πίν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ακας 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7: 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Προδι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α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γρ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α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φές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και π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εριορισμοί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ολοκληρωμένης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διεργ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α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σί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ας πα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στερίωσης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και 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διήθησης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με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μεμ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β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ράνη</a:t>
            </a:r>
            <a:endParaRPr lang="en-US" sz="2000" dirty="0" err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50666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9A9D9-44D8-714A-5345-EF9411ECB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E5A86-3BD6-63D3-69FB-7D7CCFC1F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35</a:t>
            </a:fld>
            <a:r>
              <a:rPr lang="en-US"/>
              <a:t>/39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A1D65F7-1645-F2A6-CEC1-78477041B8CE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7.1.2 </a:t>
            </a:r>
            <a:r>
              <a:rPr lang="en-US" sz="3100" dirty="0" err="1">
                <a:ea typeface="Calibri Light"/>
                <a:cs typeface="Calibri Light"/>
              </a:rPr>
              <a:t>Συμ</a:t>
            </a:r>
            <a:r>
              <a:rPr lang="en-US" sz="3100" dirty="0">
                <a:ea typeface="Calibri Light"/>
                <a:cs typeface="Calibri Light"/>
              </a:rPr>
              <a:t>π</a:t>
            </a:r>
            <a:r>
              <a:rPr lang="en-US" sz="3100" dirty="0" err="1">
                <a:ea typeface="Calibri Light"/>
                <a:cs typeface="Calibri Light"/>
              </a:rPr>
              <a:t>εράσμ</a:t>
            </a:r>
            <a:r>
              <a:rPr lang="en-US" sz="3100" dirty="0">
                <a:ea typeface="Calibri Light"/>
                <a:cs typeface="Calibri Light"/>
              </a:rPr>
              <a:t>ατα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14282D-CDDE-2263-8E66-F4B89A64D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314" y="1427775"/>
            <a:ext cx="11517680" cy="44661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de-DE" b="1" dirty="0">
                <a:ea typeface="Calibri"/>
                <a:cs typeface="Calibri"/>
              </a:rPr>
              <a:t>Επ</a:t>
            </a:r>
            <a:r>
              <a:rPr lang="de-DE" b="1" dirty="0" err="1">
                <a:ea typeface="Calibri"/>
                <a:cs typeface="Calibri"/>
              </a:rPr>
              <a:t>ιδρ</a:t>
            </a:r>
            <a:r>
              <a:rPr lang="de-DE" b="1" dirty="0">
                <a:ea typeface="Calibri"/>
                <a:cs typeface="Calibri"/>
              </a:rPr>
              <a:t>αστικός παράγοντας</a:t>
            </a:r>
            <a:r>
              <a:rPr lang="de-DE" dirty="0">
                <a:ea typeface="Calibri"/>
                <a:cs typeface="Calibri"/>
              </a:rPr>
              <a:t>: Ροή τροφοδοσίας γάλακτος (1930 kg/h)</a:t>
            </a:r>
            <a:endParaRPr lang="de-DE" dirty="0"/>
          </a:p>
          <a:p>
            <a:pPr algn="just"/>
            <a:r>
              <a:rPr lang="de-DE" b="1" dirty="0" err="1">
                <a:ea typeface="Calibri"/>
                <a:cs typeface="Calibri"/>
              </a:rPr>
              <a:t>Κοστοφόρ</a:t>
            </a:r>
            <a:r>
              <a:rPr lang="de-DE" b="1" dirty="0">
                <a:ea typeface="Calibri"/>
                <a:cs typeface="Calibri"/>
              </a:rPr>
              <a:t>α </a:t>
            </a:r>
            <a:r>
              <a:rPr lang="de-DE" b="1" dirty="0" err="1">
                <a:ea typeface="Calibri"/>
                <a:cs typeface="Calibri"/>
              </a:rPr>
              <a:t>μετ</a:t>
            </a:r>
            <a:r>
              <a:rPr lang="de-DE" b="1" dirty="0">
                <a:ea typeface="Calibri"/>
                <a:cs typeface="Calibri"/>
              </a:rPr>
              <a:t>αβ</a:t>
            </a:r>
            <a:r>
              <a:rPr lang="de-DE" b="1" dirty="0" err="1">
                <a:ea typeface="Calibri"/>
                <a:cs typeface="Calibri"/>
              </a:rPr>
              <a:t>λητή</a:t>
            </a:r>
            <a:r>
              <a:rPr lang="de-DE" dirty="0">
                <a:ea typeface="Calibri"/>
                <a:cs typeface="Calibri"/>
              </a:rPr>
              <a:t>: </a:t>
            </a:r>
            <a:r>
              <a:rPr lang="de-DE" dirty="0" err="1">
                <a:ea typeface="Calibri"/>
                <a:cs typeface="Calibri"/>
              </a:rPr>
              <a:t>Νερό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θέρμ</a:t>
            </a:r>
            <a:r>
              <a:rPr lang="de-DE" dirty="0">
                <a:ea typeface="Calibri"/>
                <a:cs typeface="Calibri"/>
              </a:rPr>
              <a:t>α</a:t>
            </a:r>
            <a:r>
              <a:rPr lang="de-DE" dirty="0" err="1">
                <a:ea typeface="Calibri"/>
                <a:cs typeface="Calibri"/>
              </a:rPr>
              <a:t>νσης</a:t>
            </a:r>
            <a:r>
              <a:rPr lang="de-DE" dirty="0">
                <a:ea typeface="Calibri"/>
                <a:cs typeface="Calibri"/>
              </a:rPr>
              <a:t> (129 USD)</a:t>
            </a:r>
          </a:p>
          <a:p>
            <a:pPr algn="just"/>
            <a:r>
              <a:rPr lang="de-DE" b="1" dirty="0" err="1">
                <a:ea typeface="Calibri"/>
                <a:cs typeface="Calibri"/>
              </a:rPr>
              <a:t>Φωσφ</a:t>
            </a:r>
            <a:r>
              <a:rPr lang="de-DE" b="1" dirty="0">
                <a:ea typeface="Calibri"/>
                <a:cs typeface="Calibri"/>
              </a:rPr>
              <a:t>α</a:t>
            </a:r>
            <a:r>
              <a:rPr lang="de-DE" b="1" dirty="0" err="1">
                <a:ea typeface="Calibri"/>
                <a:cs typeface="Calibri"/>
              </a:rPr>
              <a:t>τάση</a:t>
            </a:r>
            <a:r>
              <a:rPr lang="de-DE" dirty="0">
                <a:ea typeface="Calibri"/>
                <a:cs typeface="Calibri"/>
              </a:rPr>
              <a:t>: απ</a:t>
            </a:r>
            <a:r>
              <a:rPr lang="de-DE" dirty="0" err="1">
                <a:ea typeface="Calibri"/>
                <a:cs typeface="Calibri"/>
              </a:rPr>
              <a:t>ενεργο</a:t>
            </a:r>
            <a:r>
              <a:rPr lang="de-DE" dirty="0">
                <a:ea typeface="Calibri"/>
                <a:cs typeface="Calibri"/>
              </a:rPr>
              <a:t>π</a:t>
            </a:r>
            <a:r>
              <a:rPr lang="de-DE" dirty="0" err="1">
                <a:ea typeface="Calibri"/>
                <a:cs typeface="Calibri"/>
              </a:rPr>
              <a:t>οίηση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κυρίως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στον</a:t>
            </a:r>
            <a:r>
              <a:rPr lang="de-DE" dirty="0">
                <a:ea typeface="Calibri"/>
                <a:cs typeface="Calibri"/>
              </a:rPr>
              <a:t> π</a:t>
            </a:r>
            <a:r>
              <a:rPr lang="de-DE" dirty="0" err="1">
                <a:ea typeface="Calibri"/>
                <a:cs typeface="Calibri"/>
              </a:rPr>
              <a:t>ροθερμ</a:t>
            </a:r>
            <a:r>
              <a:rPr lang="de-DE" dirty="0">
                <a:ea typeface="Calibri"/>
                <a:cs typeface="Calibri"/>
              </a:rPr>
              <a:t>α</a:t>
            </a:r>
            <a:r>
              <a:rPr lang="de-DE" dirty="0" err="1">
                <a:ea typeface="Calibri"/>
                <a:cs typeface="Calibri"/>
              </a:rPr>
              <a:t>ντήρ</a:t>
            </a:r>
            <a:r>
              <a:rPr lang="de-DE" dirty="0">
                <a:ea typeface="Calibri"/>
                <a:cs typeface="Calibri"/>
              </a:rPr>
              <a:t>α</a:t>
            </a:r>
          </a:p>
          <a:p>
            <a:pPr algn="just"/>
            <a:r>
              <a:rPr lang="de-DE" b="1" dirty="0" err="1">
                <a:ea typeface="Calibri"/>
                <a:cs typeface="Calibri"/>
              </a:rPr>
              <a:t>Πρωτεΐνες</a:t>
            </a:r>
            <a:r>
              <a:rPr lang="de-DE" dirty="0">
                <a:ea typeface="Calibri"/>
                <a:cs typeface="Calibri"/>
              </a:rPr>
              <a:t>: </a:t>
            </a:r>
            <a:r>
              <a:rPr lang="de-DE" dirty="0" err="1">
                <a:ea typeface="Calibri"/>
                <a:cs typeface="Calibri"/>
              </a:rPr>
              <a:t>μετουσίωση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κυρίως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στον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θάλ</a:t>
            </a:r>
            <a:r>
              <a:rPr lang="de-DE" dirty="0">
                <a:ea typeface="Calibri"/>
                <a:cs typeface="Calibri"/>
              </a:rPr>
              <a:t>α</a:t>
            </a:r>
            <a:r>
              <a:rPr lang="de-DE" dirty="0" err="1">
                <a:ea typeface="Calibri"/>
                <a:cs typeface="Calibri"/>
              </a:rPr>
              <a:t>μο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συγκράτησης</a:t>
            </a:r>
            <a:r>
              <a:rPr lang="de-DE" dirty="0">
                <a:ea typeface="Calibri"/>
                <a:cs typeface="Calibri"/>
              </a:rPr>
              <a:t> (11.7%) </a:t>
            </a:r>
          </a:p>
          <a:p>
            <a:pPr algn="just"/>
            <a:r>
              <a:rPr lang="de-DE" b="1" dirty="0">
                <a:ea typeface="Calibri"/>
                <a:cs typeface="Calibri"/>
              </a:rPr>
              <a:t>Επ</a:t>
            </a:r>
            <a:r>
              <a:rPr lang="de-DE" b="1" dirty="0" err="1">
                <a:ea typeface="Calibri"/>
                <a:cs typeface="Calibri"/>
              </a:rPr>
              <a:t>ικ</a:t>
            </a:r>
            <a:r>
              <a:rPr lang="de-DE" b="1" dirty="0">
                <a:ea typeface="Calibri"/>
                <a:cs typeface="Calibri"/>
              </a:rPr>
              <a:t>α</a:t>
            </a:r>
            <a:r>
              <a:rPr lang="de-DE" b="1" dirty="0" err="1">
                <a:ea typeface="Calibri"/>
                <a:cs typeface="Calibri"/>
              </a:rPr>
              <a:t>θήσεις</a:t>
            </a:r>
            <a:r>
              <a:rPr lang="de-DE" dirty="0">
                <a:ea typeface="Calibri"/>
                <a:cs typeface="Calibri"/>
              </a:rPr>
              <a:t>: α</a:t>
            </a:r>
            <a:r>
              <a:rPr lang="de-DE" dirty="0" err="1">
                <a:ea typeface="Calibri"/>
                <a:cs typeface="Calibri"/>
              </a:rPr>
              <a:t>μελητέες</a:t>
            </a:r>
            <a:r>
              <a:rPr lang="de-DE" dirty="0">
                <a:ea typeface="Calibri"/>
                <a:cs typeface="Calibri"/>
              </a:rPr>
              <a:t>, </a:t>
            </a:r>
            <a:r>
              <a:rPr lang="de-DE" dirty="0" err="1">
                <a:ea typeface="Calibri"/>
                <a:cs typeface="Calibri"/>
              </a:rPr>
              <a:t>κυρίως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στην</a:t>
            </a:r>
            <a:r>
              <a:rPr lang="de-DE" dirty="0">
                <a:ea typeface="Calibri"/>
                <a:cs typeface="Calibri"/>
              </a:rPr>
              <a:t> ανα</a:t>
            </a:r>
            <a:r>
              <a:rPr lang="de-DE" dirty="0" err="1">
                <a:ea typeface="Calibri"/>
                <a:cs typeface="Calibri"/>
              </a:rPr>
              <a:t>γεννητική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μονάδ</a:t>
            </a:r>
            <a:r>
              <a:rPr lang="de-DE" dirty="0">
                <a:ea typeface="Calibri"/>
                <a:cs typeface="Calibri"/>
              </a:rPr>
              <a:t>α</a:t>
            </a:r>
          </a:p>
          <a:p>
            <a:pPr algn="just"/>
            <a:r>
              <a:rPr lang="de-DE" b="1" i="1" dirty="0">
                <a:ea typeface="Calibri"/>
                <a:cs typeface="Calibri"/>
              </a:rPr>
              <a:t>Streptococcus </a:t>
            </a:r>
            <a:r>
              <a:rPr lang="de-DE" b="1" i="1" dirty="0" err="1">
                <a:ea typeface="Calibri"/>
                <a:cs typeface="Calibri"/>
              </a:rPr>
              <a:t>thermophilus</a:t>
            </a:r>
            <a:r>
              <a:rPr lang="de-DE" dirty="0">
                <a:ea typeface="Calibri"/>
                <a:cs typeface="Calibri"/>
              </a:rPr>
              <a:t>: α</a:t>
            </a:r>
            <a:r>
              <a:rPr lang="de-DE" dirty="0" err="1">
                <a:ea typeface="Calibri"/>
                <a:cs typeface="Calibri"/>
              </a:rPr>
              <a:t>νά</a:t>
            </a:r>
            <a:r>
              <a:rPr lang="de-DE" dirty="0">
                <a:ea typeface="Calibri"/>
                <a:cs typeface="Calibri"/>
              </a:rPr>
              <a:t>π</a:t>
            </a:r>
            <a:r>
              <a:rPr lang="de-DE" dirty="0" err="1">
                <a:ea typeface="Calibri"/>
                <a:cs typeface="Calibri"/>
              </a:rPr>
              <a:t>τυξη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κυρίως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στ</a:t>
            </a:r>
            <a:r>
              <a:rPr lang="de-DE" dirty="0">
                <a:ea typeface="Calibri"/>
                <a:cs typeface="Calibri"/>
              </a:rPr>
              <a:t>α </a:t>
            </a:r>
            <a:r>
              <a:rPr lang="de-DE" dirty="0" err="1">
                <a:ea typeface="Calibri"/>
                <a:cs typeface="Calibri"/>
              </a:rPr>
              <a:t>τοιχώμ</a:t>
            </a:r>
            <a:r>
              <a:rPr lang="de-DE" dirty="0">
                <a:ea typeface="Calibri"/>
                <a:cs typeface="Calibri"/>
              </a:rPr>
              <a:t>ατα </a:t>
            </a:r>
            <a:r>
              <a:rPr lang="de-DE" dirty="0" err="1">
                <a:ea typeface="Calibri"/>
                <a:cs typeface="Calibri"/>
              </a:rPr>
              <a:t>της</a:t>
            </a:r>
            <a:r>
              <a:rPr lang="de-DE" dirty="0">
                <a:ea typeface="Calibri"/>
                <a:cs typeface="Calibri"/>
              </a:rPr>
              <a:t> ανα</a:t>
            </a:r>
            <a:r>
              <a:rPr lang="de-DE" dirty="0" err="1">
                <a:ea typeface="Calibri"/>
                <a:cs typeface="Calibri"/>
              </a:rPr>
              <a:t>γεννητικής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μονάδ</a:t>
            </a:r>
            <a:r>
              <a:rPr lang="de-DE" dirty="0">
                <a:ea typeface="Calibri"/>
                <a:cs typeface="Calibri"/>
              </a:rPr>
              <a:t>ας, </a:t>
            </a:r>
            <a:r>
              <a:rPr lang="de-DE" dirty="0" err="1">
                <a:ea typeface="Calibri"/>
                <a:cs typeface="Calibri"/>
              </a:rPr>
              <a:t>δι</a:t>
            </a:r>
            <a:r>
              <a:rPr lang="de-DE" dirty="0">
                <a:ea typeface="Calibri"/>
                <a:cs typeface="Calibri"/>
              </a:rPr>
              <a:t>α</a:t>
            </a:r>
            <a:r>
              <a:rPr lang="de-DE" dirty="0" err="1">
                <a:ea typeface="Calibri"/>
                <a:cs typeface="Calibri"/>
              </a:rPr>
              <a:t>κο</a:t>
            </a:r>
            <a:r>
              <a:rPr lang="de-DE" dirty="0">
                <a:ea typeface="Calibri"/>
                <a:cs typeface="Calibri"/>
              </a:rPr>
              <a:t>πή </a:t>
            </a:r>
            <a:r>
              <a:rPr lang="de-DE" dirty="0" err="1">
                <a:ea typeface="Calibri"/>
                <a:cs typeface="Calibri"/>
              </a:rPr>
              <a:t>λειτουργί</a:t>
            </a:r>
            <a:r>
              <a:rPr lang="de-DE" dirty="0">
                <a:ea typeface="Calibri"/>
                <a:cs typeface="Calibri"/>
              </a:rPr>
              <a:t>ας </a:t>
            </a:r>
            <a:r>
              <a:rPr lang="de-DE" dirty="0" err="1">
                <a:ea typeface="Calibri"/>
                <a:cs typeface="Calibri"/>
              </a:rPr>
              <a:t>μονάδ</a:t>
            </a:r>
            <a:r>
              <a:rPr lang="de-DE" dirty="0">
                <a:ea typeface="Calibri"/>
                <a:cs typeface="Calibri"/>
              </a:rPr>
              <a:t>ας </a:t>
            </a:r>
            <a:r>
              <a:rPr lang="de-DE" dirty="0" err="1">
                <a:ea typeface="Calibri"/>
                <a:cs typeface="Calibri"/>
              </a:rPr>
              <a:t>στις</a:t>
            </a:r>
            <a:r>
              <a:rPr lang="de-DE" dirty="0">
                <a:ea typeface="Calibri"/>
                <a:cs typeface="Calibri"/>
              </a:rPr>
              <a:t> 9.57 h</a:t>
            </a:r>
          </a:p>
          <a:p>
            <a:pPr algn="just"/>
            <a:r>
              <a:rPr lang="de-DE" dirty="0" err="1">
                <a:ea typeface="Calibri"/>
                <a:cs typeface="Calibri"/>
              </a:rPr>
              <a:t>Βελτιστο</a:t>
            </a:r>
            <a:r>
              <a:rPr lang="de-DE" dirty="0">
                <a:ea typeface="Calibri"/>
                <a:cs typeface="Calibri"/>
              </a:rPr>
              <a:t>π</a:t>
            </a:r>
            <a:r>
              <a:rPr lang="de-DE" dirty="0" err="1">
                <a:ea typeface="Calibri"/>
                <a:cs typeface="Calibri"/>
              </a:rPr>
              <a:t>οίηση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b="1" dirty="0" err="1">
                <a:ea typeface="Calibri"/>
                <a:cs typeface="Calibri"/>
              </a:rPr>
              <a:t>ολοκληρωμένου</a:t>
            </a:r>
            <a:r>
              <a:rPr lang="de-DE" b="1" dirty="0">
                <a:ea typeface="Calibri"/>
                <a:cs typeface="Calibri"/>
              </a:rPr>
              <a:t> </a:t>
            </a:r>
            <a:r>
              <a:rPr lang="de-DE" b="1" dirty="0" err="1">
                <a:ea typeface="Calibri"/>
                <a:cs typeface="Calibri"/>
              </a:rPr>
              <a:t>μοντέλου</a:t>
            </a:r>
            <a:r>
              <a:rPr lang="de-DE" dirty="0">
                <a:ea typeface="Calibri"/>
                <a:cs typeface="Calibri"/>
              </a:rPr>
              <a:t>: 13% α</a:t>
            </a:r>
            <a:r>
              <a:rPr lang="de-DE" dirty="0" err="1">
                <a:ea typeface="Calibri"/>
                <a:cs typeface="Calibri"/>
              </a:rPr>
              <a:t>ύξηση</a:t>
            </a:r>
            <a:r>
              <a:rPr lang="de-DE" dirty="0">
                <a:ea typeface="Calibri"/>
                <a:cs typeface="Calibri"/>
              </a:rPr>
              <a:t> </a:t>
            </a:r>
            <a:r>
              <a:rPr lang="de-DE" dirty="0" err="1">
                <a:ea typeface="Calibri"/>
                <a:cs typeface="Calibri"/>
              </a:rPr>
              <a:t>κέρδους</a:t>
            </a:r>
            <a:endParaRPr lang="de-DE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752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3F4E2-9665-B914-4925-599062923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359D1-FF4D-AD51-9144-125CAEE80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36</a:t>
            </a:fld>
            <a:r>
              <a:rPr lang="en-US"/>
              <a:t>/39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852A9A-7E12-0126-7AAE-FB5A015F5AAE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ea typeface="Calibri Light"/>
                <a:cs typeface="Calibri Light"/>
              </a:rPr>
              <a:t>7.2 </a:t>
            </a:r>
            <a:r>
              <a:rPr lang="en-US" sz="3100" dirty="0" err="1">
                <a:ea typeface="Calibri Light"/>
                <a:cs typeface="Calibri Light"/>
              </a:rPr>
              <a:t>Προτάσεις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γι</a:t>
            </a:r>
            <a:r>
              <a:rPr lang="en-US" sz="3100" dirty="0">
                <a:ea typeface="Calibri Light"/>
                <a:cs typeface="Calibri Light"/>
              </a:rPr>
              <a:t>α </a:t>
            </a:r>
            <a:r>
              <a:rPr lang="en-US" sz="3100" dirty="0" err="1">
                <a:ea typeface="Calibri Light"/>
                <a:cs typeface="Calibri Light"/>
              </a:rPr>
              <a:t>Μελλοντική</a:t>
            </a:r>
            <a:r>
              <a:rPr lang="en-US" sz="3100" dirty="0">
                <a:ea typeface="Calibri Light"/>
                <a:cs typeface="Calibri Light"/>
              </a:rPr>
              <a:t> </a:t>
            </a:r>
            <a:r>
              <a:rPr lang="en-US" sz="3100" dirty="0" err="1">
                <a:ea typeface="Calibri Light"/>
                <a:cs typeface="Calibri Light"/>
              </a:rPr>
              <a:t>Έρευν</a:t>
            </a:r>
            <a:r>
              <a:rPr lang="en-US" sz="3100" dirty="0">
                <a:ea typeface="Calibri Light"/>
                <a:cs typeface="Calibri Light"/>
              </a:rPr>
              <a:t>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A49C5-8442-04B8-79E7-93A6456B5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19" y="1825625"/>
            <a:ext cx="1126637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Calibri"/>
                <a:cs typeface="Calibri"/>
              </a:rPr>
              <a:t>Αξιολόγηση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του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μοντέλου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με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χρήση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δεδομένων</a:t>
            </a:r>
            <a:r>
              <a:rPr lang="en-US" dirty="0">
                <a:ea typeface="Calibri"/>
                <a:cs typeface="Calibri"/>
              </a:rPr>
              <a:t> π</a:t>
            </a:r>
            <a:r>
              <a:rPr lang="en-US" dirty="0" err="1">
                <a:ea typeface="Calibri"/>
                <a:cs typeface="Calibri"/>
              </a:rPr>
              <a:t>ιλοτικής</a:t>
            </a:r>
            <a:r>
              <a:rPr lang="en-US" dirty="0">
                <a:ea typeface="Calibri"/>
                <a:cs typeface="Calibri"/>
              </a:rPr>
              <a:t> ή β</a:t>
            </a:r>
            <a:r>
              <a:rPr lang="en-US" dirty="0" err="1">
                <a:ea typeface="Calibri"/>
                <a:cs typeface="Calibri"/>
              </a:rPr>
              <a:t>ιομηχ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νικής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κλίμ</a:t>
            </a:r>
            <a:r>
              <a:rPr lang="en-US" dirty="0">
                <a:ea typeface="Calibri"/>
                <a:cs typeface="Calibri"/>
              </a:rPr>
              <a:t>ακας</a:t>
            </a:r>
          </a:p>
          <a:p>
            <a:r>
              <a:rPr lang="en-US" dirty="0" err="1">
                <a:ea typeface="Calibri"/>
                <a:cs typeface="Calibri"/>
              </a:rPr>
              <a:t>Πολιτική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ελέγχου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θερμοκρ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σί</a:t>
            </a:r>
            <a:r>
              <a:rPr lang="en-US" dirty="0">
                <a:ea typeface="Calibri"/>
                <a:cs typeface="Calibri"/>
              </a:rPr>
              <a:t>ας πα</a:t>
            </a:r>
            <a:r>
              <a:rPr lang="en-US" dirty="0" err="1">
                <a:ea typeface="Calibri"/>
                <a:cs typeface="Calibri"/>
              </a:rPr>
              <a:t>στερίωσης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Χρονο</a:t>
            </a:r>
            <a:r>
              <a:rPr lang="en-US" dirty="0">
                <a:ea typeface="Calibri"/>
                <a:cs typeface="Calibri"/>
              </a:rPr>
              <a:t>π</a:t>
            </a:r>
            <a:r>
              <a:rPr lang="en-US" dirty="0" err="1">
                <a:ea typeface="Calibri"/>
                <a:cs typeface="Calibri"/>
              </a:rPr>
              <a:t>ρογρ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μμ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τισμός</a:t>
            </a:r>
            <a:r>
              <a:rPr lang="en-US" dirty="0">
                <a:ea typeface="Calibri"/>
                <a:cs typeface="Calibri"/>
              </a:rPr>
              <a:t> καθα</a:t>
            </a:r>
            <a:r>
              <a:rPr lang="en-US" dirty="0" err="1">
                <a:ea typeface="Calibri"/>
                <a:cs typeface="Calibri"/>
              </a:rPr>
              <a:t>ρισμού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Επ</a:t>
            </a:r>
            <a:r>
              <a:rPr lang="en-US" dirty="0" err="1">
                <a:ea typeface="Calibri"/>
                <a:cs typeface="Calibri"/>
              </a:rPr>
              <a:t>ίδρ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ση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ροής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τροφοδοσί</a:t>
            </a:r>
            <a:r>
              <a:rPr lang="en-US" dirty="0">
                <a:ea typeface="Calibri"/>
                <a:cs typeface="Calibri"/>
              </a:rPr>
              <a:t>ας </a:t>
            </a:r>
            <a:r>
              <a:rPr lang="en-US" dirty="0" err="1">
                <a:ea typeface="Calibri"/>
                <a:cs typeface="Calibri"/>
              </a:rPr>
              <a:t>στην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ολοκληρωμένη</a:t>
            </a:r>
            <a:r>
              <a:rPr lang="en-US" dirty="0">
                <a:ea typeface="Calibri"/>
                <a:cs typeface="Calibri"/>
              </a:rPr>
              <a:t> α</a:t>
            </a:r>
            <a:r>
              <a:rPr lang="en-US" dirty="0" err="1">
                <a:ea typeface="Calibri"/>
                <a:cs typeface="Calibri"/>
              </a:rPr>
              <a:t>λυσίδ</a:t>
            </a:r>
            <a:r>
              <a:rPr lang="en-US" dirty="0">
                <a:ea typeface="Calibri"/>
                <a:cs typeface="Calibri"/>
              </a:rPr>
              <a:t>α παρα</a:t>
            </a:r>
            <a:r>
              <a:rPr lang="en-US" dirty="0" err="1">
                <a:ea typeface="Calibri"/>
                <a:cs typeface="Calibri"/>
              </a:rPr>
              <a:t>γωγής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Επ</a:t>
            </a:r>
            <a:r>
              <a:rPr lang="en-US" dirty="0" err="1">
                <a:ea typeface="Calibri"/>
                <a:cs typeface="Calibri"/>
              </a:rPr>
              <a:t>ίδρ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ση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σχεδι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στικών</a:t>
            </a:r>
            <a:r>
              <a:rPr lang="en-US" dirty="0">
                <a:ea typeface="Calibri"/>
                <a:cs typeface="Calibri"/>
              </a:rPr>
              <a:t> παρα</a:t>
            </a:r>
            <a:r>
              <a:rPr lang="en-US" dirty="0" err="1">
                <a:ea typeface="Calibri"/>
                <a:cs typeface="Calibri"/>
              </a:rPr>
              <a:t>μέτρων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73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9F157-5E29-8686-FFDB-99FEA55C8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Μα</a:t>
            </a:r>
            <a:r>
              <a:rPr lang="en-US" dirty="0" err="1">
                <a:ea typeface="Calibri"/>
                <a:cs typeface="Calibri"/>
              </a:rPr>
              <a:t>θημ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τική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μοντελο</a:t>
            </a:r>
            <a:r>
              <a:rPr lang="en-US" dirty="0">
                <a:ea typeface="Calibri"/>
                <a:cs typeface="Calibri"/>
              </a:rPr>
              <a:t>π</a:t>
            </a:r>
            <a:r>
              <a:rPr lang="en-US" dirty="0" err="1">
                <a:ea typeface="Calibri"/>
                <a:cs typeface="Calibri"/>
              </a:rPr>
              <a:t>οίηση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μοντελο</a:t>
            </a:r>
            <a:r>
              <a:rPr lang="en-US" dirty="0">
                <a:ea typeface="Calibri"/>
                <a:cs typeface="Calibri"/>
              </a:rPr>
              <a:t>π</a:t>
            </a:r>
            <a:r>
              <a:rPr lang="en-US" dirty="0" err="1">
                <a:ea typeface="Calibri"/>
                <a:cs typeface="Calibri"/>
              </a:rPr>
              <a:t>οίηση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διεργ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σιών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Ανάλυση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συστήμ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τος</a:t>
            </a:r>
            <a:r>
              <a:rPr lang="en-US" dirty="0">
                <a:ea typeface="Calibri"/>
                <a:cs typeface="Calibri"/>
              </a:rPr>
              <a:t>, β</a:t>
            </a:r>
            <a:r>
              <a:rPr lang="en-US" dirty="0" err="1">
                <a:ea typeface="Calibri"/>
                <a:cs typeface="Calibri"/>
              </a:rPr>
              <a:t>ελτιστο</a:t>
            </a:r>
            <a:r>
              <a:rPr lang="en-US" dirty="0">
                <a:ea typeface="Calibri"/>
                <a:cs typeface="Calibri"/>
              </a:rPr>
              <a:t>π</a:t>
            </a:r>
            <a:r>
              <a:rPr lang="en-US" dirty="0" err="1">
                <a:ea typeface="Calibri"/>
                <a:cs typeface="Calibri"/>
              </a:rPr>
              <a:t>οίηση</a:t>
            </a:r>
            <a:endParaRPr lang="en-US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Λογισμικό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gPROMS</a:t>
            </a:r>
            <a:r>
              <a:rPr lang="en-US" dirty="0">
                <a:ea typeface="Calibri"/>
                <a:cs typeface="Calibri"/>
              </a:rPr>
              <a:t>™ </a:t>
            </a:r>
            <a:r>
              <a:rPr lang="en-US" dirty="0" err="1">
                <a:ea typeface="Calibri"/>
                <a:cs typeface="Calibri"/>
              </a:rPr>
              <a:t>FormulatedProducts</a:t>
            </a:r>
            <a:r>
              <a:rPr lang="en-US" dirty="0">
                <a:ea typeface="Calibri"/>
                <a:cs typeface="Calibri"/>
              </a:rPr>
              <a:t> v2015.1.0</a:t>
            </a:r>
          </a:p>
          <a:p>
            <a:r>
              <a:rPr lang="en-US" dirty="0" err="1">
                <a:ea typeface="Calibri"/>
                <a:cs typeface="Calibri"/>
              </a:rPr>
              <a:t>Κινητικές</a:t>
            </a:r>
            <a:r>
              <a:rPr lang="en-US" dirty="0">
                <a:ea typeface="Calibri"/>
                <a:cs typeface="Calibri"/>
              </a:rPr>
              <a:t> α</a:t>
            </a:r>
            <a:r>
              <a:rPr lang="en-US" dirty="0" err="1">
                <a:ea typeface="Calibri"/>
                <a:cs typeface="Calibri"/>
              </a:rPr>
              <a:t>ντιδράσεων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φυσικοχημικών</a:t>
            </a:r>
            <a:r>
              <a:rPr lang="en-US" dirty="0">
                <a:ea typeface="Calibri"/>
                <a:cs typeface="Calibri"/>
              </a:rPr>
              <a:t>/β</a:t>
            </a:r>
            <a:r>
              <a:rPr lang="en-US" dirty="0" err="1">
                <a:ea typeface="Calibri"/>
                <a:cs typeface="Calibri"/>
              </a:rPr>
              <a:t>ιολογικών</a:t>
            </a:r>
            <a:r>
              <a:rPr lang="en-US" dirty="0">
                <a:ea typeface="Calibri"/>
                <a:cs typeface="Calibri"/>
              </a:rPr>
              <a:t> φα</a:t>
            </a:r>
            <a:r>
              <a:rPr lang="en-US" dirty="0" err="1">
                <a:ea typeface="Calibri"/>
                <a:cs typeface="Calibri"/>
              </a:rPr>
              <a:t>ινομένων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Βι</a:t>
            </a:r>
            <a:r>
              <a:rPr lang="en-US" dirty="0">
                <a:ea typeface="Calibri"/>
                <a:cs typeface="Calibri"/>
              </a:rPr>
              <a:t>β</a:t>
            </a:r>
            <a:r>
              <a:rPr lang="en-US" dirty="0" err="1">
                <a:ea typeface="Calibri"/>
                <a:cs typeface="Calibri"/>
              </a:rPr>
              <a:t>λιογρ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φική</a:t>
            </a:r>
            <a:r>
              <a:rPr lang="en-US" dirty="0">
                <a:ea typeface="Calibri"/>
                <a:cs typeface="Calibri"/>
              </a:rPr>
              <a:t> ανα</a:t>
            </a:r>
            <a:r>
              <a:rPr lang="en-US" dirty="0" err="1">
                <a:ea typeface="Calibri"/>
                <a:cs typeface="Calibri"/>
              </a:rPr>
              <a:t>σκό</a:t>
            </a:r>
            <a:r>
              <a:rPr lang="en-US" dirty="0">
                <a:ea typeface="Calibri"/>
                <a:cs typeface="Calibri"/>
              </a:rPr>
              <a:t>π</a:t>
            </a:r>
            <a:r>
              <a:rPr lang="en-US" dirty="0" err="1">
                <a:ea typeface="Calibri"/>
                <a:cs typeface="Calibri"/>
              </a:rPr>
              <a:t>ηση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Συγγρ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φή</a:t>
            </a:r>
            <a:r>
              <a:rPr lang="en-US" dirty="0">
                <a:ea typeface="Calibri"/>
                <a:cs typeface="Calibri"/>
              </a:rPr>
              <a:t> και πα</a:t>
            </a:r>
            <a:r>
              <a:rPr lang="en-US" dirty="0" err="1">
                <a:ea typeface="Calibri"/>
                <a:cs typeface="Calibri"/>
              </a:rPr>
              <a:t>ρουσί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ση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δι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τρι</a:t>
            </a:r>
            <a:r>
              <a:rPr lang="en-US" dirty="0">
                <a:ea typeface="Calibri"/>
                <a:cs typeface="Calibri"/>
              </a:rPr>
              <a:t>β</a:t>
            </a:r>
            <a:r>
              <a:rPr lang="en-US" dirty="0" err="1">
                <a:ea typeface="Calibri"/>
                <a:cs typeface="Calibri"/>
              </a:rPr>
              <a:t>ής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Συνεργ</a:t>
            </a:r>
            <a:r>
              <a:rPr lang="en-US" dirty="0">
                <a:ea typeface="Calibri"/>
                <a:cs typeface="Calibri"/>
              </a:rPr>
              <a:t>α</a:t>
            </a:r>
            <a:r>
              <a:rPr lang="en-US" dirty="0" err="1">
                <a:ea typeface="Calibri"/>
                <a:cs typeface="Calibri"/>
              </a:rPr>
              <a:t>σί</a:t>
            </a:r>
            <a:r>
              <a:rPr lang="en-US" dirty="0">
                <a:ea typeface="Calibri"/>
                <a:cs typeface="Calibri"/>
              </a:rPr>
              <a:t>α </a:t>
            </a:r>
            <a:r>
              <a:rPr lang="en-US" dirty="0" err="1">
                <a:ea typeface="Calibri"/>
                <a:cs typeface="Calibri"/>
              </a:rPr>
              <a:t>με</a:t>
            </a:r>
            <a:r>
              <a:rPr lang="en-US" dirty="0">
                <a:ea typeface="Calibri"/>
                <a:cs typeface="Calibri"/>
              </a:rPr>
              <a:t> Siemens Digital Industries Software</a:t>
            </a: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E01B0-3DA5-8F27-8F61-6668886B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37</a:t>
            </a:fld>
            <a:r>
              <a:rPr lang="en-US"/>
              <a:t>/39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A26A0D2-DD84-6328-748F-B8DCBAE3ED5D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err="1">
                <a:ea typeface="Calibri Light"/>
                <a:cs typeface="Calibri Light"/>
              </a:rPr>
              <a:t>Οφέλη</a:t>
            </a:r>
            <a:r>
              <a:rPr lang="en-US" sz="3100">
                <a:ea typeface="Calibri Light"/>
                <a:cs typeface="Calibri Light"/>
              </a:rPr>
              <a:t> </a:t>
            </a:r>
            <a:r>
              <a:rPr lang="en-US" sz="3100" err="1">
                <a:ea typeface="Calibri Light"/>
                <a:cs typeface="Calibri Light"/>
              </a:rPr>
              <a:t>Εκ</a:t>
            </a:r>
            <a:r>
              <a:rPr lang="en-US" sz="3100">
                <a:ea typeface="Calibri Light"/>
                <a:cs typeface="Calibri Light"/>
              </a:rPr>
              <a:t>π</a:t>
            </a:r>
            <a:r>
              <a:rPr lang="en-US" sz="3100" err="1">
                <a:ea typeface="Calibri Light"/>
                <a:cs typeface="Calibri Light"/>
              </a:rPr>
              <a:t>όνησης</a:t>
            </a:r>
            <a:r>
              <a:rPr lang="en-US" sz="3100">
                <a:ea typeface="Calibri Light"/>
                <a:cs typeface="Calibri Light"/>
              </a:rPr>
              <a:t> </a:t>
            </a:r>
            <a:r>
              <a:rPr lang="en-US" sz="3100" err="1">
                <a:ea typeface="Calibri Light"/>
                <a:cs typeface="Calibri Light"/>
              </a:rPr>
              <a:t>Δι</a:t>
            </a:r>
            <a:r>
              <a:rPr lang="en-US" sz="3100">
                <a:ea typeface="Calibri Light"/>
                <a:cs typeface="Calibri Light"/>
              </a:rPr>
              <a:t>π</a:t>
            </a:r>
            <a:r>
              <a:rPr lang="en-US" sz="3100" err="1">
                <a:ea typeface="Calibri Light"/>
                <a:cs typeface="Calibri Light"/>
              </a:rPr>
              <a:t>λωμ</a:t>
            </a:r>
            <a:r>
              <a:rPr lang="en-US" sz="3100">
                <a:ea typeface="Calibri Light"/>
                <a:cs typeface="Calibri Light"/>
              </a:rPr>
              <a:t>α</a:t>
            </a:r>
            <a:r>
              <a:rPr lang="en-US" sz="3100" err="1">
                <a:ea typeface="Calibri Light"/>
                <a:cs typeface="Calibri Light"/>
              </a:rPr>
              <a:t>τικής</a:t>
            </a:r>
            <a:r>
              <a:rPr lang="en-US" sz="3100">
                <a:ea typeface="Calibri Light"/>
                <a:cs typeface="Calibri Light"/>
              </a:rPr>
              <a:t> </a:t>
            </a:r>
            <a:r>
              <a:rPr lang="en-US" sz="3100" err="1">
                <a:ea typeface="Calibri Light"/>
                <a:cs typeface="Calibri Light"/>
              </a:rPr>
              <a:t>Εργ</a:t>
            </a:r>
            <a:r>
              <a:rPr lang="en-US" sz="3100">
                <a:ea typeface="Calibri Light"/>
                <a:cs typeface="Calibri Light"/>
              </a:rPr>
              <a:t>α</a:t>
            </a:r>
            <a:r>
              <a:rPr lang="en-US" sz="3100" err="1">
                <a:ea typeface="Calibri Light"/>
                <a:cs typeface="Calibri Light"/>
              </a:rPr>
              <a:t>σί</a:t>
            </a:r>
            <a:r>
              <a:rPr lang="en-US" sz="3100">
                <a:ea typeface="Calibri Light"/>
                <a:cs typeface="Calibri Light"/>
              </a:rPr>
              <a:t>ας</a:t>
            </a:r>
          </a:p>
        </p:txBody>
      </p:sp>
    </p:spTree>
    <p:extLst>
      <p:ext uri="{BB962C8B-B14F-4D97-AF65-F5344CB8AC3E}">
        <p14:creationId xmlns:p14="http://schemas.microsoft.com/office/powerpoint/2010/main" val="42006935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78559-A8BB-57D9-AD75-2AB67165D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u="sng" dirty="0" err="1">
                <a:ea typeface="Calibri" panose="020F0502020204030204"/>
                <a:cs typeface="Calibri" panose="020F0502020204030204"/>
              </a:rPr>
              <a:t>Μιχ</a:t>
            </a:r>
            <a:r>
              <a:rPr lang="en-US" u="sng" dirty="0">
                <a:ea typeface="Calibri" panose="020F0502020204030204"/>
                <a:cs typeface="Calibri" panose="020F0502020204030204"/>
              </a:rPr>
              <a:t>αήλ Γεωργιάδης</a:t>
            </a:r>
          </a:p>
          <a:p>
            <a:pPr marL="0" indent="0" algn="ctr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Κα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θηγητής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dirty="0" err="1">
                <a:ea typeface="Calibri" panose="020F0502020204030204"/>
                <a:cs typeface="Calibri" panose="020F0502020204030204"/>
              </a:rPr>
              <a:t>Τμήμ</a:t>
            </a:r>
            <a:r>
              <a:rPr lang="en-US" dirty="0">
                <a:ea typeface="Calibri" panose="020F0502020204030204"/>
                <a:cs typeface="Calibri" panose="020F0502020204030204"/>
              </a:rPr>
              <a:t>α Χημικών Μηχανικών</a:t>
            </a:r>
          </a:p>
          <a:p>
            <a:pPr marL="0" indent="0" algn="ctr">
              <a:buNone/>
            </a:pPr>
            <a:r>
              <a:rPr lang="en-US" dirty="0" err="1">
                <a:ea typeface="Calibri" panose="020F0502020204030204"/>
                <a:cs typeface="Calibri" panose="020F0502020204030204"/>
              </a:rPr>
              <a:t>Αριστοτέλειο</a:t>
            </a:r>
            <a:r>
              <a:rPr lang="en-US" dirty="0">
                <a:ea typeface="Calibri" panose="020F0502020204030204"/>
                <a:cs typeface="Calibri" panose="020F0502020204030204"/>
              </a:rPr>
              <a:t> Πα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νε</a:t>
            </a:r>
            <a:r>
              <a:rPr lang="en-US" dirty="0">
                <a:ea typeface="Calibri" panose="020F0502020204030204"/>
                <a:cs typeface="Calibri" panose="020F0502020204030204"/>
              </a:rPr>
              <a:t>πιστήμιο Θεσσαλονίκης</a:t>
            </a:r>
          </a:p>
          <a:p>
            <a:pPr marL="0" indent="0" algn="ctr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u="sng" dirty="0">
                <a:ea typeface="Calibri" panose="020F0502020204030204"/>
                <a:cs typeface="Calibri" panose="020F0502020204030204"/>
              </a:rPr>
              <a:t>Lefteris </a:t>
            </a:r>
            <a:r>
              <a:rPr lang="en-US" u="sng" dirty="0" err="1">
                <a:ea typeface="Calibri" panose="020F0502020204030204"/>
                <a:cs typeface="Calibri" panose="020F0502020204030204"/>
              </a:rPr>
              <a:t>Charakleias</a:t>
            </a:r>
            <a:endParaRPr lang="en-US" u="sng" dirty="0"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Senior Applications Engineer</a:t>
            </a:r>
          </a:p>
          <a:p>
            <a:pPr marL="0" indent="0" algn="ctr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Siemens Industry Software</a:t>
            </a:r>
          </a:p>
          <a:p>
            <a:pPr marL="0" indent="0" algn="ctr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78B7D-8201-CC17-F641-A8A3B179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38</a:t>
            </a:fld>
            <a:r>
              <a:rPr lang="en-US"/>
              <a:t>/39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56EB36-B384-78F8-4C0D-F815FACED2B3}"/>
              </a:ext>
            </a:extLst>
          </p:cNvPr>
          <p:cNvSpPr txBox="1">
            <a:spLocks/>
          </p:cNvSpPr>
          <p:nvPr/>
        </p:nvSpPr>
        <p:spPr>
          <a:xfrm>
            <a:off x="103898" y="138893"/>
            <a:ext cx="12541326" cy="686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err="1">
                <a:ea typeface="Calibri Light"/>
                <a:cs typeface="Calibri Light"/>
              </a:rPr>
              <a:t>Ευχ</a:t>
            </a:r>
            <a:r>
              <a:rPr lang="en-US" sz="3100">
                <a:ea typeface="Calibri Light"/>
                <a:cs typeface="Calibri Light"/>
              </a:rPr>
              <a:t>α</a:t>
            </a:r>
            <a:r>
              <a:rPr lang="en-US" sz="3100" err="1">
                <a:ea typeface="Calibri Light"/>
                <a:cs typeface="Calibri Light"/>
              </a:rPr>
              <a:t>ριστίες</a:t>
            </a:r>
          </a:p>
        </p:txBody>
      </p:sp>
    </p:spTree>
    <p:extLst>
      <p:ext uri="{BB962C8B-B14F-4D97-AF65-F5344CB8AC3E}">
        <p14:creationId xmlns:p14="http://schemas.microsoft.com/office/powerpoint/2010/main" val="22741062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B3362-4E23-7F2A-EE97-F0C1FF743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6555-8D22-886A-9662-5B18FE7C0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528" y="1525914"/>
            <a:ext cx="11861320" cy="287544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err="1">
                <a:ea typeface="Calibri Light"/>
                <a:cs typeface="Calibri Light"/>
              </a:rPr>
              <a:t>Ευχ</a:t>
            </a:r>
            <a:r>
              <a:rPr lang="en-US">
                <a:ea typeface="Calibri Light"/>
                <a:cs typeface="Calibri Light"/>
              </a:rPr>
              <a:t>α</a:t>
            </a:r>
            <a:r>
              <a:rPr lang="en-US" err="1">
                <a:ea typeface="Calibri Light"/>
                <a:cs typeface="Calibri Light"/>
              </a:rPr>
              <a:t>ριστώ</a:t>
            </a:r>
            <a:r>
              <a:rPr lang="en-US">
                <a:ea typeface="Calibri Light"/>
                <a:cs typeface="Calibri Light"/>
              </a:rPr>
              <a:t> </a:t>
            </a:r>
            <a:r>
              <a:rPr lang="en-US" err="1">
                <a:ea typeface="Calibri Light"/>
                <a:cs typeface="Calibri Light"/>
              </a:rPr>
              <a:t>γι</a:t>
            </a:r>
            <a:r>
              <a:rPr lang="en-US">
                <a:ea typeface="Calibri Light"/>
                <a:cs typeface="Calibri Light"/>
              </a:rPr>
              <a:t>α </a:t>
            </a:r>
            <a:r>
              <a:rPr lang="en-US" err="1">
                <a:ea typeface="Calibri Light"/>
                <a:cs typeface="Calibri Light"/>
              </a:rPr>
              <a:t>την</a:t>
            </a:r>
            <a:r>
              <a:rPr lang="en-US">
                <a:ea typeface="Calibri Light"/>
                <a:cs typeface="Calibri Light"/>
              </a:rPr>
              <a:t> π</a:t>
            </a:r>
            <a:r>
              <a:rPr lang="en-US" err="1">
                <a:ea typeface="Calibri Light"/>
                <a:cs typeface="Calibri Light"/>
              </a:rPr>
              <a:t>ροσοχή</a:t>
            </a:r>
            <a:r>
              <a:rPr lang="en-US">
                <a:ea typeface="Calibri Light"/>
                <a:cs typeface="Calibri Light"/>
              </a:rPr>
              <a:t> σας!</a:t>
            </a:r>
            <a:br>
              <a:rPr lang="en-US">
                <a:ea typeface="Calibri Light"/>
                <a:cs typeface="Calibri Light"/>
              </a:rPr>
            </a:br>
            <a:r>
              <a:rPr lang="en-US" err="1">
                <a:ea typeface="Calibri Light"/>
                <a:cs typeface="Calibri Light"/>
              </a:rPr>
              <a:t>Ερωτήσεις</a:t>
            </a:r>
            <a:r>
              <a:rPr lang="en-US">
                <a:ea typeface="Calibri Light"/>
                <a:cs typeface="Calibri Light"/>
              </a:rPr>
              <a:t>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3569C-A5FD-DE41-BCDB-D7592C7A4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54151"/>
            <a:ext cx="9144000" cy="13217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 err="1">
                <a:ea typeface="Calibri"/>
                <a:cs typeface="Calibri"/>
              </a:rPr>
              <a:t>Αθηνά</a:t>
            </a:r>
            <a:r>
              <a:rPr lang="en-US" sz="2800" dirty="0">
                <a:ea typeface="Calibri"/>
                <a:cs typeface="Calibri"/>
              </a:rPr>
              <a:t> Μπαμπ</a:t>
            </a:r>
            <a:r>
              <a:rPr lang="en-US" sz="2800" dirty="0" err="1">
                <a:ea typeface="Calibri"/>
                <a:cs typeface="Calibri"/>
              </a:rPr>
              <a:t>ζέλη</a:t>
            </a:r>
            <a:endParaRPr lang="en-US" sz="2800" dirty="0">
              <a:ea typeface="Calibri"/>
              <a:cs typeface="Calibri"/>
            </a:endParaRPr>
          </a:p>
          <a:p>
            <a:r>
              <a:rPr lang="en-US" sz="2800" dirty="0">
                <a:ea typeface="Calibri"/>
                <a:cs typeface="Calibri"/>
              </a:rPr>
              <a:t>athbabzeli@gmail.com</a:t>
            </a:r>
          </a:p>
        </p:txBody>
      </p:sp>
    </p:spTree>
    <p:extLst>
      <p:ext uri="{BB962C8B-B14F-4D97-AF65-F5344CB8AC3E}">
        <p14:creationId xmlns:p14="http://schemas.microsoft.com/office/powerpoint/2010/main" val="3311839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2130</Words>
  <Application>Microsoft Office PowerPoint</Application>
  <PresentationFormat>Ευρεία οθόνη</PresentationFormat>
  <Paragraphs>628</Paragraphs>
  <Slides>39</Slides>
  <Notes>3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39</vt:i4>
      </vt:variant>
    </vt:vector>
  </HeadingPairs>
  <TitlesOfParts>
    <vt:vector size="44" baseType="lpstr">
      <vt:lpstr>Aptos</vt:lpstr>
      <vt:lpstr>Arial</vt:lpstr>
      <vt:lpstr>Calibri</vt:lpstr>
      <vt:lpstr>Calibri Light</vt:lpstr>
      <vt:lpstr>Office Theme</vt:lpstr>
      <vt:lpstr>Μοντελοποίηση, Προσομοίωση και Βελτιστοποίηση Ολοκληρωμένων Διεργασιών Παστερίωσης Γάλακτος και Διήθησης με Μεμβράνη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4.1.3 Μοντέλο Παστερίωσης-Αποτελέσματα Προσομοίωσης (1/5)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Ευχαριστώ για την προσοχή σας! Ερωτήσεις;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Georgios Bampzelis</cp:lastModifiedBy>
  <cp:revision>949</cp:revision>
  <dcterms:created xsi:type="dcterms:W3CDTF">2025-11-16T11:27:38Z</dcterms:created>
  <dcterms:modified xsi:type="dcterms:W3CDTF">2026-07-10T20:12:13Z</dcterms:modified>
</cp:coreProperties>
</file>