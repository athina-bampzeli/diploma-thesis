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8"/>
  </p:notesMasterIdLst>
  <p:sldIdLst>
    <p:sldId id="256" r:id="rId2"/>
    <p:sldId id="257" r:id="rId3"/>
    <p:sldId id="289" r:id="rId4"/>
    <p:sldId id="259" r:id="rId5"/>
    <p:sldId id="313" r:id="rId6"/>
    <p:sldId id="310" r:id="rId7"/>
    <p:sldId id="263" r:id="rId8"/>
    <p:sldId id="282" r:id="rId9"/>
    <p:sldId id="276" r:id="rId10"/>
    <p:sldId id="277" r:id="rId11"/>
    <p:sldId id="284" r:id="rId12"/>
    <p:sldId id="315" r:id="rId13"/>
    <p:sldId id="291" r:id="rId14"/>
    <p:sldId id="302" r:id="rId15"/>
    <p:sldId id="281" r:id="rId16"/>
    <p:sldId id="272" r:id="rId17"/>
    <p:sldId id="279" r:id="rId18"/>
    <p:sldId id="294" r:id="rId19"/>
    <p:sldId id="270" r:id="rId20"/>
    <p:sldId id="278" r:id="rId21"/>
    <p:sldId id="301" r:id="rId22"/>
    <p:sldId id="283" r:id="rId23"/>
    <p:sldId id="300" r:id="rId24"/>
    <p:sldId id="261" r:id="rId25"/>
    <p:sldId id="316" r:id="rId26"/>
    <p:sldId id="305" r:id="rId27"/>
    <p:sldId id="298" r:id="rId28"/>
    <p:sldId id="262" r:id="rId29"/>
    <p:sldId id="306" r:id="rId30"/>
    <p:sldId id="307" r:id="rId31"/>
    <p:sldId id="308" r:id="rId32"/>
    <p:sldId id="309" r:id="rId33"/>
    <p:sldId id="314" r:id="rId34"/>
    <p:sldId id="264" r:id="rId35"/>
    <p:sldId id="311" r:id="rId36"/>
    <p:sldId id="29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B9A919-7796-3DF3-DA1E-3ABEBCEADF1C}" name="Athina Bampzeli" initials="AB" userId="S::athinamn@office365.auth.gr::e4d35ae8-c5da-4975-ade8-f2775be00f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F4F3F3"/>
    <a:srgbClr val="FAF8F8"/>
    <a:srgbClr val="FFFFFF"/>
    <a:srgbClr val="4472C4"/>
    <a:srgbClr val="DAE3F3"/>
    <a:srgbClr val="ECECEC"/>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78C81-DCE5-2055-B443-EB299F3E4F3C}" v="90" dt="2025-12-02T10:58:17.785"/>
    <p1510:client id="{521D5805-24D5-A25C-D3E9-B118334C51CD}" v="97" dt="2025-12-04T06:37:10.271"/>
    <p1510:client id="{9AAF744C-06C5-E803-1BC8-11D026B6339D}" v="137" dt="2025-12-03T18:15:08.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177" autoAdjust="0"/>
  </p:normalViewPr>
  <p:slideViewPr>
    <p:cSldViewPr snapToGrid="0">
      <p:cViewPr varScale="1">
        <p:scale>
          <a:sx n="87" d="100"/>
          <a:sy n="87" d="100"/>
        </p:scale>
        <p:origin x="14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https://aristotleuniversity-my.sharepoint.com/personal/athinamn_office365_auth_gr/Documents/Diploma%20Thesis%20Publication%20Athina%20Bampzeli/Diploma%20Thesis%20Presentation_ColumnStacked10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aristotleuniversity-my.sharepoint.com/personal/athinamn_office365_auth_gr/Documents/Diploma%20Thesis%20Publication%20Athina%20Bampzeli/Diploma%20Thesis%20Presentation_ColumnStacked100%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aristotleuniversity-my.sharepoint.com/personal/athinamn_office365_auth_gr/Documents/Diploma%20Thesis%20Publication%20Athina%20Bampzeli/Diploma%20Thesis%20Presentation_ColumnStacked100.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Retentate</c:v>
                </c:pt>
              </c:strCache>
            </c:strRef>
          </c:tx>
          <c:spPr>
            <a:solidFill>
              <a:schemeClr val="accent1"/>
            </a:solidFill>
            <a:ln>
              <a:noFill/>
            </a:ln>
            <a:effectLst/>
          </c:spPr>
          <c:invertIfNegative val="0"/>
          <c:cat>
            <c:strRef>
              <c:f>Sheet1!$A$2:$A$15</c:f>
              <c:strCache>
                <c:ptCount val="14"/>
                <c:pt idx="0">
                  <c:v>sugar</c:v>
                </c:pt>
                <c:pt idx="1">
                  <c:v>fat</c:v>
                </c:pt>
                <c:pt idx="2">
                  <c:v>salts</c:v>
                </c:pt>
                <c:pt idx="3">
                  <c:v>casein</c:v>
                </c:pt>
                <c:pt idx="4">
                  <c:v>α-LA</c:v>
                </c:pt>
                <c:pt idx="5">
                  <c:v>β-LG</c:v>
                </c:pt>
                <c:pt idx="6">
                  <c:v>BSA</c:v>
                </c:pt>
                <c:pt idx="7">
                  <c:v>Ig</c:v>
                </c:pt>
                <c:pt idx="8">
                  <c:v>denatured α-LA</c:v>
                </c:pt>
                <c:pt idx="9">
                  <c:v>denatured β-LG</c:v>
                </c:pt>
                <c:pt idx="10">
                  <c:v>denatured Ig</c:v>
                </c:pt>
                <c:pt idx="11">
                  <c:v>aggregated β-LG</c:v>
                </c:pt>
                <c:pt idx="12">
                  <c:v>total protein</c:v>
                </c:pt>
                <c:pt idx="13">
                  <c:v>solids</c:v>
                </c:pt>
              </c:strCache>
            </c:strRef>
          </c:cat>
          <c:val>
            <c:numRef>
              <c:f>Sheet1!$B$2:$B$15</c:f>
              <c:numCache>
                <c:formatCode>General</c:formatCode>
                <c:ptCount val="14"/>
                <c:pt idx="0">
                  <c:v>2.8000000000000001E-2</c:v>
                </c:pt>
                <c:pt idx="1">
                  <c:v>3.0000000000000001E-3</c:v>
                </c:pt>
                <c:pt idx="2">
                  <c:v>0.02</c:v>
                </c:pt>
                <c:pt idx="3">
                  <c:v>0.128</c:v>
                </c:pt>
                <c:pt idx="4">
                  <c:v>3.0000000000000001E-3</c:v>
                </c:pt>
                <c:pt idx="5">
                  <c:v>6.0000000000000001E-3</c:v>
                </c:pt>
                <c:pt idx="6">
                  <c:v>2E-3</c:v>
                </c:pt>
                <c:pt idx="7">
                  <c:v>3.0000000000000001E-3</c:v>
                </c:pt>
                <c:pt idx="8">
                  <c:v>3.0000000000000004E-5</c:v>
                </c:pt>
                <c:pt idx="9">
                  <c:v>5.0000000000000001E-3</c:v>
                </c:pt>
                <c:pt idx="10">
                  <c:v>6.0000000000000008E-5</c:v>
                </c:pt>
                <c:pt idx="11">
                  <c:v>7.9999999999999996E-6</c:v>
                </c:pt>
                <c:pt idx="12">
                  <c:v>0.14799999999999999</c:v>
                </c:pt>
                <c:pt idx="13">
                  <c:v>0.2</c:v>
                </c:pt>
              </c:numCache>
            </c:numRef>
          </c:val>
          <c:extLst>
            <c:ext xmlns:c16="http://schemas.microsoft.com/office/drawing/2014/chart" uri="{C3380CC4-5D6E-409C-BE32-E72D297353CC}">
              <c16:uniqueId val="{00000000-B583-4FFE-9E00-15E9D40489B4}"/>
            </c:ext>
          </c:extLst>
        </c:ser>
        <c:ser>
          <c:idx val="1"/>
          <c:order val="1"/>
          <c:tx>
            <c:strRef>
              <c:f>Sheet1!$C$1</c:f>
              <c:strCache>
                <c:ptCount val="1"/>
                <c:pt idx="0">
                  <c:v>Permeate</c:v>
                </c:pt>
              </c:strCache>
            </c:strRef>
          </c:tx>
          <c:spPr>
            <a:solidFill>
              <a:schemeClr val="accent2"/>
            </a:solidFill>
            <a:ln>
              <a:noFill/>
            </a:ln>
            <a:effectLst/>
          </c:spPr>
          <c:invertIfNegative val="0"/>
          <c:cat>
            <c:strRef>
              <c:f>Sheet1!$A$2:$A$15</c:f>
              <c:strCache>
                <c:ptCount val="14"/>
                <c:pt idx="0">
                  <c:v>sugar</c:v>
                </c:pt>
                <c:pt idx="1">
                  <c:v>fat</c:v>
                </c:pt>
                <c:pt idx="2">
                  <c:v>salts</c:v>
                </c:pt>
                <c:pt idx="3">
                  <c:v>casein</c:v>
                </c:pt>
                <c:pt idx="4">
                  <c:v>α-LA</c:v>
                </c:pt>
                <c:pt idx="5">
                  <c:v>β-LG</c:v>
                </c:pt>
                <c:pt idx="6">
                  <c:v>BSA</c:v>
                </c:pt>
                <c:pt idx="7">
                  <c:v>Ig</c:v>
                </c:pt>
                <c:pt idx="8">
                  <c:v>denatured α-LA</c:v>
                </c:pt>
                <c:pt idx="9">
                  <c:v>denatured β-LG</c:v>
                </c:pt>
                <c:pt idx="10">
                  <c:v>denatured Ig</c:v>
                </c:pt>
                <c:pt idx="11">
                  <c:v>aggregated β-LG</c:v>
                </c:pt>
                <c:pt idx="12">
                  <c:v>total protein</c:v>
                </c:pt>
                <c:pt idx="13">
                  <c:v>solids</c:v>
                </c:pt>
              </c:strCache>
            </c:strRef>
          </c:cat>
          <c:val>
            <c:numRef>
              <c:f>Sheet1!$C$2:$C$15</c:f>
              <c:numCache>
                <c:formatCode>General</c:formatCode>
                <c:ptCount val="14"/>
                <c:pt idx="0">
                  <c:v>4.2000000000000003E-2</c:v>
                </c:pt>
                <c:pt idx="1">
                  <c:v>4.0000000000000002E-4</c:v>
                </c:pt>
                <c:pt idx="2">
                  <c:v>3.0000000000000001E-3</c:v>
                </c:pt>
                <c:pt idx="3">
                  <c:v>0</c:v>
                </c:pt>
                <c:pt idx="4">
                  <c:v>5.0000000000000001E-4</c:v>
                </c:pt>
                <c:pt idx="5">
                  <c:v>8.9999999999999998E-4</c:v>
                </c:pt>
                <c:pt idx="6">
                  <c:v>0</c:v>
                </c:pt>
                <c:pt idx="7">
                  <c:v>0</c:v>
                </c:pt>
                <c:pt idx="8">
                  <c:v>0</c:v>
                </c:pt>
                <c:pt idx="9">
                  <c:v>0</c:v>
                </c:pt>
                <c:pt idx="10">
                  <c:v>0</c:v>
                </c:pt>
                <c:pt idx="11">
                  <c:v>1.0000000000000001E-5</c:v>
                </c:pt>
                <c:pt idx="12">
                  <c:v>1E-3</c:v>
                </c:pt>
                <c:pt idx="13">
                  <c:v>4.7E-2</c:v>
                </c:pt>
              </c:numCache>
            </c:numRef>
          </c:val>
          <c:extLst>
            <c:ext xmlns:c16="http://schemas.microsoft.com/office/drawing/2014/chart" uri="{C3380CC4-5D6E-409C-BE32-E72D297353CC}">
              <c16:uniqueId val="{00000001-B583-4FFE-9E00-15E9D40489B4}"/>
            </c:ext>
          </c:extLst>
        </c:ser>
        <c:dLbls>
          <c:showLegendKey val="0"/>
          <c:showVal val="0"/>
          <c:showCatName val="0"/>
          <c:showSerName val="0"/>
          <c:showPercent val="0"/>
          <c:showBubbleSize val="0"/>
        </c:dLbls>
        <c:gapWidth val="150"/>
        <c:axId val="1781480847"/>
        <c:axId val="1781481807"/>
      </c:barChart>
      <c:catAx>
        <c:axId val="1781480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781481807"/>
        <c:crosses val="autoZero"/>
        <c:auto val="1"/>
        <c:lblAlgn val="ctr"/>
        <c:lblOffset val="100"/>
        <c:noMultiLvlLbl val="0"/>
      </c:catAx>
      <c:valAx>
        <c:axId val="17814818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Mass</a:t>
                </a:r>
                <a:r>
                  <a:rPr lang="en-US" baseline="0" dirty="0"/>
                  <a:t> fraction </a:t>
                </a:r>
                <a:r>
                  <a:rPr lang="el-GR" dirty="0"/>
                  <a:t>(</a:t>
                </a:r>
                <a:r>
                  <a:rPr lang="en-US" dirty="0"/>
                  <a:t>kg/kg)</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781480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Retentate</c:v>
                </c:pt>
              </c:strCache>
            </c:strRef>
          </c:tx>
          <c:spPr>
            <a:solidFill>
              <a:schemeClr val="accent1"/>
            </a:solidFill>
            <a:ln>
              <a:noFill/>
            </a:ln>
            <a:effectLst/>
          </c:spPr>
          <c:invertIfNegative val="0"/>
          <c:cat>
            <c:strRef>
              <c:f>Sheet1!$A$2:$A$16</c:f>
              <c:strCache>
                <c:ptCount val="14"/>
                <c:pt idx="0">
                  <c:v>sugar</c:v>
                </c:pt>
                <c:pt idx="1">
                  <c:v>fat</c:v>
                </c:pt>
                <c:pt idx="2">
                  <c:v>salts</c:v>
                </c:pt>
                <c:pt idx="3">
                  <c:v>casein</c:v>
                </c:pt>
                <c:pt idx="4">
                  <c:v>α-LA</c:v>
                </c:pt>
                <c:pt idx="5">
                  <c:v>β-LG</c:v>
                </c:pt>
                <c:pt idx="6">
                  <c:v>BSA</c:v>
                </c:pt>
                <c:pt idx="7">
                  <c:v>Ig</c:v>
                </c:pt>
                <c:pt idx="8">
                  <c:v>denatured α-LA</c:v>
                </c:pt>
                <c:pt idx="9">
                  <c:v>denatured β-LG</c:v>
                </c:pt>
                <c:pt idx="10">
                  <c:v>denatured Ig</c:v>
                </c:pt>
                <c:pt idx="11">
                  <c:v>aggregated β-LG</c:v>
                </c:pt>
                <c:pt idx="12">
                  <c:v>total protein</c:v>
                </c:pt>
                <c:pt idx="13">
                  <c:v>solids</c:v>
                </c:pt>
              </c:strCache>
            </c:strRef>
          </c:cat>
          <c:val>
            <c:numRef>
              <c:f>Sheet1!$B$2:$B$16</c:f>
              <c:numCache>
                <c:formatCode>General</c:formatCode>
                <c:ptCount val="15"/>
                <c:pt idx="0">
                  <c:v>2.8000000000000001E-2</c:v>
                </c:pt>
                <c:pt idx="1">
                  <c:v>3.0000000000000001E-3</c:v>
                </c:pt>
                <c:pt idx="2">
                  <c:v>0.02</c:v>
                </c:pt>
                <c:pt idx="3">
                  <c:v>0.13200000000000001</c:v>
                </c:pt>
                <c:pt idx="4">
                  <c:v>3.0000000000000001E-3</c:v>
                </c:pt>
                <c:pt idx="5">
                  <c:v>8.0000000000000002E-3</c:v>
                </c:pt>
                <c:pt idx="6">
                  <c:v>2E-3</c:v>
                </c:pt>
                <c:pt idx="7">
                  <c:v>3.0000000000000001E-3</c:v>
                </c:pt>
                <c:pt idx="8">
                  <c:v>1.5000000000000002E-5</c:v>
                </c:pt>
                <c:pt idx="9">
                  <c:v>3.0000000000000001E-3</c:v>
                </c:pt>
                <c:pt idx="10">
                  <c:v>2.0000000000000002E-5</c:v>
                </c:pt>
                <c:pt idx="11">
                  <c:v>6.9999999999999999E-6</c:v>
                </c:pt>
                <c:pt idx="12">
                  <c:v>0.151</c:v>
                </c:pt>
                <c:pt idx="13">
                  <c:v>0.20200000000000001</c:v>
                </c:pt>
              </c:numCache>
            </c:numRef>
          </c:val>
          <c:extLst>
            <c:ext xmlns:c16="http://schemas.microsoft.com/office/drawing/2014/chart" uri="{C3380CC4-5D6E-409C-BE32-E72D297353CC}">
              <c16:uniqueId val="{00000001-59CB-445B-B92E-A8BA800449BD}"/>
            </c:ext>
          </c:extLst>
        </c:ser>
        <c:ser>
          <c:idx val="1"/>
          <c:order val="1"/>
          <c:tx>
            <c:strRef>
              <c:f>Sheet1!$C$1</c:f>
              <c:strCache>
                <c:ptCount val="1"/>
                <c:pt idx="0">
                  <c:v>Permeate</c:v>
                </c:pt>
              </c:strCache>
            </c:strRef>
          </c:tx>
          <c:spPr>
            <a:solidFill>
              <a:schemeClr val="accent2"/>
            </a:solidFill>
            <a:ln>
              <a:noFill/>
            </a:ln>
            <a:effectLst/>
          </c:spPr>
          <c:invertIfNegative val="0"/>
          <c:cat>
            <c:strRef>
              <c:f>Sheet1!$A$2:$A$16</c:f>
              <c:strCache>
                <c:ptCount val="14"/>
                <c:pt idx="0">
                  <c:v>sugar</c:v>
                </c:pt>
                <c:pt idx="1">
                  <c:v>fat</c:v>
                </c:pt>
                <c:pt idx="2">
                  <c:v>salts</c:v>
                </c:pt>
                <c:pt idx="3">
                  <c:v>casein</c:v>
                </c:pt>
                <c:pt idx="4">
                  <c:v>α-LA</c:v>
                </c:pt>
                <c:pt idx="5">
                  <c:v>β-LG</c:v>
                </c:pt>
                <c:pt idx="6">
                  <c:v>BSA</c:v>
                </c:pt>
                <c:pt idx="7">
                  <c:v>Ig</c:v>
                </c:pt>
                <c:pt idx="8">
                  <c:v>denatured α-LA</c:v>
                </c:pt>
                <c:pt idx="9">
                  <c:v>denatured β-LG</c:v>
                </c:pt>
                <c:pt idx="10">
                  <c:v>denatured Ig</c:v>
                </c:pt>
                <c:pt idx="11">
                  <c:v>aggregated β-LG</c:v>
                </c:pt>
                <c:pt idx="12">
                  <c:v>total protein</c:v>
                </c:pt>
                <c:pt idx="13">
                  <c:v>solids</c:v>
                </c:pt>
              </c:strCache>
            </c:strRef>
          </c:cat>
          <c:val>
            <c:numRef>
              <c:f>Sheet1!$C$2:$C$16</c:f>
              <c:numCache>
                <c:formatCode>General</c:formatCode>
                <c:ptCount val="15"/>
                <c:pt idx="0">
                  <c:v>4.7E-2</c:v>
                </c:pt>
                <c:pt idx="1">
                  <c:v>4.0000000000000002E-4</c:v>
                </c:pt>
                <c:pt idx="2">
                  <c:v>3.0000000000000001E-3</c:v>
                </c:pt>
                <c:pt idx="3">
                  <c:v>0</c:v>
                </c:pt>
                <c:pt idx="4">
                  <c:v>5.0000000000000001E-4</c:v>
                </c:pt>
                <c:pt idx="5">
                  <c:v>1E-3</c:v>
                </c:pt>
                <c:pt idx="6">
                  <c:v>0</c:v>
                </c:pt>
                <c:pt idx="7">
                  <c:v>0</c:v>
                </c:pt>
                <c:pt idx="8">
                  <c:v>0</c:v>
                </c:pt>
                <c:pt idx="9">
                  <c:v>0</c:v>
                </c:pt>
                <c:pt idx="10">
                  <c:v>0</c:v>
                </c:pt>
                <c:pt idx="11">
                  <c:v>6.0000000000000002E-6</c:v>
                </c:pt>
                <c:pt idx="12">
                  <c:v>1.5E-3</c:v>
                </c:pt>
                <c:pt idx="13">
                  <c:v>5.1900000000000002E-2</c:v>
                </c:pt>
              </c:numCache>
            </c:numRef>
          </c:val>
          <c:extLst>
            <c:ext xmlns:c16="http://schemas.microsoft.com/office/drawing/2014/chart" uri="{C3380CC4-5D6E-409C-BE32-E72D297353CC}">
              <c16:uniqueId val="{00000003-59CB-445B-B92E-A8BA800449BD}"/>
            </c:ext>
          </c:extLst>
        </c:ser>
        <c:dLbls>
          <c:showLegendKey val="0"/>
          <c:showVal val="0"/>
          <c:showCatName val="0"/>
          <c:showSerName val="0"/>
          <c:showPercent val="0"/>
          <c:showBubbleSize val="0"/>
        </c:dLbls>
        <c:gapWidth val="150"/>
        <c:axId val="1767977824"/>
        <c:axId val="1767982144"/>
      </c:barChart>
      <c:catAx>
        <c:axId val="1767977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767982144"/>
        <c:crosses val="autoZero"/>
        <c:auto val="1"/>
        <c:lblAlgn val="ctr"/>
        <c:lblOffset val="100"/>
        <c:noMultiLvlLbl val="0"/>
      </c:catAx>
      <c:valAx>
        <c:axId val="176798214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Mass fraction</a:t>
                </a:r>
                <a:r>
                  <a:rPr lang="el-GR" dirty="0"/>
                  <a:t> (</a:t>
                </a:r>
                <a:r>
                  <a:rPr lang="en-US" dirty="0"/>
                  <a:t>kg/kg)</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7679778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l-G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Retentate</c:v>
                </c:pt>
              </c:strCache>
            </c:strRef>
          </c:tx>
          <c:spPr>
            <a:solidFill>
              <a:schemeClr val="accent1"/>
            </a:solidFill>
            <a:ln>
              <a:noFill/>
            </a:ln>
            <a:effectLst/>
          </c:spPr>
          <c:invertIfNegative val="0"/>
          <c:cat>
            <c:strRef>
              <c:f>Sheet1!$A$2:$A$15</c:f>
              <c:strCache>
                <c:ptCount val="14"/>
                <c:pt idx="0">
                  <c:v>sugar</c:v>
                </c:pt>
                <c:pt idx="1">
                  <c:v>fat</c:v>
                </c:pt>
                <c:pt idx="2">
                  <c:v>salts</c:v>
                </c:pt>
                <c:pt idx="3">
                  <c:v>casein</c:v>
                </c:pt>
                <c:pt idx="4">
                  <c:v>α-LA</c:v>
                </c:pt>
                <c:pt idx="5">
                  <c:v>β-LG</c:v>
                </c:pt>
                <c:pt idx="6">
                  <c:v>BSA</c:v>
                </c:pt>
                <c:pt idx="7">
                  <c:v>Ig</c:v>
                </c:pt>
                <c:pt idx="8">
                  <c:v>denatured α-LA</c:v>
                </c:pt>
                <c:pt idx="9">
                  <c:v>denatured β-LG</c:v>
                </c:pt>
                <c:pt idx="10">
                  <c:v>denatured Ig</c:v>
                </c:pt>
                <c:pt idx="11">
                  <c:v>aggregated β-LG</c:v>
                </c:pt>
                <c:pt idx="12">
                  <c:v>total protein</c:v>
                </c:pt>
                <c:pt idx="13">
                  <c:v>solids</c:v>
                </c:pt>
              </c:strCache>
            </c:strRef>
          </c:cat>
          <c:val>
            <c:numRef>
              <c:f>Sheet1!$B$2:$B$15</c:f>
              <c:numCache>
                <c:formatCode>General</c:formatCode>
                <c:ptCount val="14"/>
                <c:pt idx="0">
                  <c:v>2.8000000000000001E-2</c:v>
                </c:pt>
                <c:pt idx="1">
                  <c:v>3.0000000000000001E-3</c:v>
                </c:pt>
                <c:pt idx="2">
                  <c:v>0.02</c:v>
                </c:pt>
                <c:pt idx="3">
                  <c:v>0.128</c:v>
                </c:pt>
                <c:pt idx="4">
                  <c:v>3.0000000000000001E-3</c:v>
                </c:pt>
                <c:pt idx="5">
                  <c:v>6.0000000000000001E-3</c:v>
                </c:pt>
                <c:pt idx="6">
                  <c:v>2E-3</c:v>
                </c:pt>
                <c:pt idx="7">
                  <c:v>3.0000000000000001E-3</c:v>
                </c:pt>
                <c:pt idx="8">
                  <c:v>3.0000000000000004E-5</c:v>
                </c:pt>
                <c:pt idx="9">
                  <c:v>5.0000000000000001E-3</c:v>
                </c:pt>
                <c:pt idx="10">
                  <c:v>6.0000000000000008E-5</c:v>
                </c:pt>
                <c:pt idx="11">
                  <c:v>7.9999999999999996E-6</c:v>
                </c:pt>
                <c:pt idx="12">
                  <c:v>0.14799999999999999</c:v>
                </c:pt>
                <c:pt idx="13">
                  <c:v>0.2</c:v>
                </c:pt>
              </c:numCache>
            </c:numRef>
          </c:val>
          <c:extLst>
            <c:ext xmlns:c16="http://schemas.microsoft.com/office/drawing/2014/chart" uri="{C3380CC4-5D6E-409C-BE32-E72D297353CC}">
              <c16:uniqueId val="{00000000-335F-43B8-9DBB-7C56E62E65A9}"/>
            </c:ext>
          </c:extLst>
        </c:ser>
        <c:ser>
          <c:idx val="1"/>
          <c:order val="1"/>
          <c:tx>
            <c:strRef>
              <c:f>Sheet1!$C$1</c:f>
              <c:strCache>
                <c:ptCount val="1"/>
                <c:pt idx="0">
                  <c:v>Permeate</c:v>
                </c:pt>
              </c:strCache>
            </c:strRef>
          </c:tx>
          <c:spPr>
            <a:solidFill>
              <a:schemeClr val="accent2"/>
            </a:solidFill>
            <a:ln>
              <a:noFill/>
            </a:ln>
            <a:effectLst/>
          </c:spPr>
          <c:invertIfNegative val="0"/>
          <c:cat>
            <c:strRef>
              <c:f>Sheet1!$A$2:$A$15</c:f>
              <c:strCache>
                <c:ptCount val="14"/>
                <c:pt idx="0">
                  <c:v>sugar</c:v>
                </c:pt>
                <c:pt idx="1">
                  <c:v>fat</c:v>
                </c:pt>
                <c:pt idx="2">
                  <c:v>salts</c:v>
                </c:pt>
                <c:pt idx="3">
                  <c:v>casein</c:v>
                </c:pt>
                <c:pt idx="4">
                  <c:v>α-LA</c:v>
                </c:pt>
                <c:pt idx="5">
                  <c:v>β-LG</c:v>
                </c:pt>
                <c:pt idx="6">
                  <c:v>BSA</c:v>
                </c:pt>
                <c:pt idx="7">
                  <c:v>Ig</c:v>
                </c:pt>
                <c:pt idx="8">
                  <c:v>denatured α-LA</c:v>
                </c:pt>
                <c:pt idx="9">
                  <c:v>denatured β-LG</c:v>
                </c:pt>
                <c:pt idx="10">
                  <c:v>denatured Ig</c:v>
                </c:pt>
                <c:pt idx="11">
                  <c:v>aggregated β-LG</c:v>
                </c:pt>
                <c:pt idx="12">
                  <c:v>total protein</c:v>
                </c:pt>
                <c:pt idx="13">
                  <c:v>solids</c:v>
                </c:pt>
              </c:strCache>
            </c:strRef>
          </c:cat>
          <c:val>
            <c:numRef>
              <c:f>Sheet1!$C$2:$C$15</c:f>
              <c:numCache>
                <c:formatCode>General</c:formatCode>
                <c:ptCount val="14"/>
                <c:pt idx="0">
                  <c:v>4.2000000000000003E-2</c:v>
                </c:pt>
                <c:pt idx="1">
                  <c:v>4.0000000000000002E-4</c:v>
                </c:pt>
                <c:pt idx="2">
                  <c:v>3.0000000000000001E-3</c:v>
                </c:pt>
                <c:pt idx="3">
                  <c:v>0</c:v>
                </c:pt>
                <c:pt idx="4">
                  <c:v>5.0000000000000001E-4</c:v>
                </c:pt>
                <c:pt idx="5">
                  <c:v>8.9999999999999998E-4</c:v>
                </c:pt>
                <c:pt idx="6">
                  <c:v>0</c:v>
                </c:pt>
                <c:pt idx="7">
                  <c:v>0</c:v>
                </c:pt>
                <c:pt idx="8">
                  <c:v>0</c:v>
                </c:pt>
                <c:pt idx="9">
                  <c:v>0</c:v>
                </c:pt>
                <c:pt idx="10">
                  <c:v>0</c:v>
                </c:pt>
                <c:pt idx="11">
                  <c:v>1.0000000000000001E-5</c:v>
                </c:pt>
                <c:pt idx="12">
                  <c:v>1E-3</c:v>
                </c:pt>
                <c:pt idx="13">
                  <c:v>4.7E-2</c:v>
                </c:pt>
              </c:numCache>
            </c:numRef>
          </c:val>
          <c:extLst>
            <c:ext xmlns:c16="http://schemas.microsoft.com/office/drawing/2014/chart" uri="{C3380CC4-5D6E-409C-BE32-E72D297353CC}">
              <c16:uniqueId val="{00000001-335F-43B8-9DBB-7C56E62E65A9}"/>
            </c:ext>
          </c:extLst>
        </c:ser>
        <c:dLbls>
          <c:showLegendKey val="0"/>
          <c:showVal val="0"/>
          <c:showCatName val="0"/>
          <c:showSerName val="0"/>
          <c:showPercent val="0"/>
          <c:showBubbleSize val="0"/>
        </c:dLbls>
        <c:gapWidth val="150"/>
        <c:axId val="1781480847"/>
        <c:axId val="1781481807"/>
      </c:barChart>
      <c:catAx>
        <c:axId val="1781480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781481807"/>
        <c:crosses val="autoZero"/>
        <c:auto val="1"/>
        <c:lblAlgn val="ctr"/>
        <c:lblOffset val="100"/>
        <c:noMultiLvlLbl val="0"/>
      </c:catAx>
      <c:valAx>
        <c:axId val="17814818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Mass fraction</a:t>
                </a:r>
                <a:r>
                  <a:rPr lang="el-GR" dirty="0"/>
                  <a:t> (</a:t>
                </a:r>
                <a:r>
                  <a:rPr lang="en-US" dirty="0"/>
                  <a:t>kg/kg)</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17814808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5AFEE9-7572-4558-BA01-41D384680A9C}" type="datetimeFigureOut">
              <a:rPr lang="en-US" smtClean="0"/>
              <a:t>7/10/2026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2334AA-4D4D-45C0-8BB5-7FAFE88CFB81}" type="slidenum">
              <a:rPr lang="en-US" smtClean="0"/>
              <a:t>‹#›</a:t>
            </a:fld>
            <a:endParaRPr lang="en-US"/>
          </a:p>
        </p:txBody>
      </p:sp>
    </p:spTree>
    <p:extLst>
      <p:ext uri="{BB962C8B-B14F-4D97-AF65-F5344CB8AC3E}">
        <p14:creationId xmlns:p14="http://schemas.microsoft.com/office/powerpoint/2010/main" val="228711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Hello. My name is Athina </a:t>
            </a:r>
            <a:r>
              <a:rPr lang="en-US" sz="1200" kern="1200" dirty="0" err="1">
                <a:solidFill>
                  <a:schemeClr val="tx1"/>
                </a:solidFill>
                <a:effectLst/>
                <a:latin typeface="+mn-lt"/>
                <a:ea typeface="+mn-ea"/>
                <a:cs typeface="+mn-cs"/>
              </a:rPr>
              <a:t>Bampzeli</a:t>
            </a:r>
            <a:r>
              <a:rPr lang="en-US" sz="1200" kern="1200" dirty="0">
                <a:solidFill>
                  <a:schemeClr val="tx1"/>
                </a:solidFill>
                <a:effectLst/>
                <a:latin typeface="+mn-lt"/>
                <a:ea typeface="+mn-ea"/>
                <a:cs typeface="+mn-cs"/>
              </a:rPr>
              <a:t>, I hold an integrated Master’s degree in Chemical Engineering from Aristotle University of Thessaloniki, and I will present my diploma thesis entitled “Modeling, Simulation and Optimization of Integrated Milk Pasteurization and Membrane Filtration Processes”. The supervising professor was Michael Georgiadis, and the thesis was conducted in collaboration with Siemens, in communication with Lefteris </a:t>
            </a:r>
            <a:r>
              <a:rPr lang="en-US" sz="1200" kern="1200" dirty="0" err="1">
                <a:solidFill>
                  <a:schemeClr val="tx1"/>
                </a:solidFill>
                <a:effectLst/>
                <a:latin typeface="+mn-lt"/>
                <a:ea typeface="+mn-ea"/>
                <a:cs typeface="+mn-cs"/>
              </a:rPr>
              <a:t>Charakleias</a:t>
            </a:r>
            <a:r>
              <a:rPr lang="en-US" sz="1200" kern="1200" dirty="0">
                <a:solidFill>
                  <a:schemeClr val="tx1"/>
                </a:solidFill>
                <a:effectLst/>
                <a:latin typeface="+mn-lt"/>
                <a:ea typeface="+mn-ea"/>
                <a:cs typeface="+mn-cs"/>
              </a:rPr>
              <a:t>, Senior Applications Engineer.</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a:t>
            </a:fld>
            <a:endParaRPr lang="en-US"/>
          </a:p>
        </p:txBody>
      </p:sp>
    </p:spTree>
    <p:extLst>
      <p:ext uri="{BB962C8B-B14F-4D97-AF65-F5344CB8AC3E}">
        <p14:creationId xmlns:p14="http://schemas.microsoft.com/office/powerpoint/2010/main" val="3353718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presentation briefly consists of an introduction, the objectives and methodology followed in this work, the theoretical background of the processes, modeling, system analysis, optimization, and conclusions.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a:t>
            </a:fld>
            <a:endParaRPr lang="en-US"/>
          </a:p>
        </p:txBody>
      </p:sp>
    </p:spTree>
    <p:extLst>
      <p:ext uri="{BB962C8B-B14F-4D97-AF65-F5344CB8AC3E}">
        <p14:creationId xmlns:p14="http://schemas.microsoft.com/office/powerpoint/2010/main" val="3923163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dairy industry includes processes with high energy and water consumption, which leads to increased operating costs. Since the selling price of milk remains low, the current trend is a shift toward high value-added products such as cheeses, yogurts, concentrates, and milk powders. Milk powder occupies a smaller volume and can be stored outside refrigeration for a longer period compared to liquid milk. The figure presents the processes involved in milk powder production. Pasteurization aims at the inactivation of enzymes harmful to human health. This is followed by milk concentration processes that require heating. Membrane filtration can precede evaporation and drying, allowing part of the concentration to be achieved with lower energy consumption, while producing a concentrate enriched in proteins.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a:t>
            </a:fld>
            <a:endParaRPr lang="en-US"/>
          </a:p>
        </p:txBody>
      </p:sp>
    </p:spTree>
    <p:extLst>
      <p:ext uri="{BB962C8B-B14F-4D97-AF65-F5344CB8AC3E}">
        <p14:creationId xmlns:p14="http://schemas.microsoft.com/office/powerpoint/2010/main" val="1694507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US" sz="1200" kern="1200" dirty="0">
                <a:solidFill>
                  <a:schemeClr val="tx1"/>
                </a:solidFill>
                <a:effectLst/>
                <a:latin typeface="+mn-lt"/>
                <a:ea typeface="+mn-ea"/>
                <a:cs typeface="+mn-cs"/>
              </a:rPr>
              <a:t>The objectives of this thesis are:</a:t>
            </a:r>
            <a:endParaRPr lang="el-G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l-GR"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model and simulate the integrated pasteurization and membrane filtration process for the production of concentrated milk with 20% total solids.</a:t>
            </a:r>
            <a:endParaRPr lang="el-GR"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 evaluate how physicochemical and biological phenomena, operating conditions, and model parameters affect overall performance. This contributes to reducing the impact of parameter uncertainty, focusing control and experiments on the most influential factors, and supporting better-informed operational decisions.</a:t>
            </a:r>
            <a:endParaRPr lang="el-GR"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Another objective is to economically optimize both process stages individually as well as the integrated process, while satisfying quality and safety constraints.</a:t>
            </a:r>
            <a:endParaRPr lang="el-G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l-G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important to emphasize the novelty of this study, as no prior work in the literature addresses the modeling, simulation, optimization, and sensitivity and uncertainty analysis of the integrated pasteurization and membrane filtration process.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4</a:t>
            </a:fld>
            <a:endParaRPr lang="en-US"/>
          </a:p>
        </p:txBody>
      </p:sp>
    </p:spTree>
    <p:extLst>
      <p:ext uri="{BB962C8B-B14F-4D97-AF65-F5344CB8AC3E}">
        <p14:creationId xmlns:p14="http://schemas.microsoft.com/office/powerpoint/2010/main" val="3583183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Regarding the methodology, two dynamic state models are initially developed, one for each process, and subsequently simulated. Exploration of the design space is performed using Global System Analysis through sensitivity and uncertainty analyses. Then, optimization of the pasteurization and membrane filtration models is carried out. The results and decisions from the optimization of the individual models are incorporated into the integrated dynamic model, which is then simulated. Corresponding sensitivity and uncertainty analyses follow. Finally, optimization of the integrated processes is performed. All of the above are implemented in the </a:t>
            </a:r>
            <a:r>
              <a:rPr lang="en-US" sz="1200" kern="1200" dirty="0" err="1">
                <a:solidFill>
                  <a:schemeClr val="tx1"/>
                </a:solidFill>
                <a:effectLst/>
                <a:latin typeface="+mn-lt"/>
                <a:ea typeface="+mn-ea"/>
                <a:cs typeface="+mn-cs"/>
              </a:rPr>
              <a:t>gPROMS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FormulatedProducts</a:t>
            </a:r>
            <a:r>
              <a:rPr lang="en-US" sz="1200" kern="1200" dirty="0">
                <a:solidFill>
                  <a:schemeClr val="tx1"/>
                </a:solidFill>
                <a:effectLst/>
                <a:latin typeface="+mn-lt"/>
                <a:ea typeface="+mn-ea"/>
                <a:cs typeface="+mn-cs"/>
              </a:rPr>
              <a:t> environment of Siemens Digital Industries Software.</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5</a:t>
            </a:fld>
            <a:endParaRPr lang="en-US"/>
          </a:p>
        </p:txBody>
      </p:sp>
    </p:spTree>
    <p:extLst>
      <p:ext uri="{BB962C8B-B14F-4D97-AF65-F5344CB8AC3E}">
        <p14:creationId xmlns:p14="http://schemas.microsoft.com/office/powerpoint/2010/main" val="2727154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US" sz="1200" kern="1200" dirty="0">
                <a:solidFill>
                  <a:schemeClr val="tx1"/>
                </a:solidFill>
                <a:effectLst/>
                <a:latin typeface="+mn-lt"/>
                <a:ea typeface="+mn-ea"/>
                <a:cs typeface="+mn-cs"/>
              </a:rPr>
              <a:t>Milk pasteurization can be performed using plate heat exchangers and shell-and-tube heat exchangers. Corrugated plates and narrow channels promote turbulent flow and improved heat transfer, but also result in higher pressure drops. Plate heat exchangers are preferred over shell-and-tube exchangers because they heat milk gradually, reducing protein denaturation and fouling. Their modular design also allows additional exchangers to be used in series or in parallel. Shell-and-tube exchangers operate for longer periods and require less frequent cleaning when they are larger; however, increased size leads to higher capital cost.</a:t>
            </a:r>
            <a:endParaRPr lang="el-G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l-GR"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During membrane filtration, the feed is separated into two outlet streams: the retentate -concentrate- and the permeate -filtrate-. The driving force for separation is the pressure difference between the feed and the permeate, which allows substances smaller than the membrane pore size to pass through. Ultrafiltration membranes have a molecular weight cut-off of 1 to 800 </a:t>
            </a:r>
            <a:r>
              <a:rPr lang="en-US" sz="1200" kern="1200" dirty="0" err="1">
                <a:solidFill>
                  <a:schemeClr val="tx1"/>
                </a:solidFill>
                <a:effectLst/>
                <a:latin typeface="+mn-lt"/>
                <a:ea typeface="+mn-ea"/>
                <a:cs typeface="+mn-cs"/>
              </a:rPr>
              <a:t>kDa</a:t>
            </a:r>
            <a:r>
              <a:rPr lang="en-US" sz="1200" kern="1200" dirty="0">
                <a:solidFill>
                  <a:schemeClr val="tx1"/>
                </a:solidFill>
                <a:effectLst/>
                <a:latin typeface="+mn-lt"/>
                <a:ea typeface="+mn-ea"/>
                <a:cs typeface="+mn-cs"/>
              </a:rPr>
              <a:t>. Milk proteins, which are larger than other solids, remain in the retentate, which is the main product. Membranes operate at moderate temperatures and pressures, resulting in low energy consumption, and do not require additional chemicals for separation. Depending on the membrane material, selectivity can be improved. Moreover, adding stages and combining different membrane types can enhance separation performance, although this simultaneously increases capital and operating costs.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6</a:t>
            </a:fld>
            <a:endParaRPr lang="en-US"/>
          </a:p>
        </p:txBody>
      </p:sp>
    </p:spTree>
    <p:extLst>
      <p:ext uri="{BB962C8B-B14F-4D97-AF65-F5344CB8AC3E}">
        <p14:creationId xmlns:p14="http://schemas.microsoft.com/office/powerpoint/2010/main" val="2148069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During pasteurization, milk undergoes thermal stress. Phosphatase is an indicator enzyme for pasteurization success, as its thermal inactivation signifies product safety. However, protein denaturation also occurs in parallel, mainly affecting </a:t>
            </a:r>
            <a:r>
              <a:rPr lang="el-GR" sz="1200"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-lactoglobulin, </a:t>
            </a:r>
            <a:r>
              <a:rPr lang="el-GR" sz="1200" kern="1200" dirty="0">
                <a:solidFill>
                  <a:schemeClr val="tx1"/>
                </a:solidFill>
                <a:effectLst/>
                <a:latin typeface="+mn-lt"/>
                <a:ea typeface="+mn-ea"/>
                <a:cs typeface="+mn-cs"/>
              </a:rPr>
              <a:t>α</a:t>
            </a:r>
            <a:r>
              <a:rPr lang="en-US" sz="1200" kern="1200" dirty="0">
                <a:solidFill>
                  <a:schemeClr val="tx1"/>
                </a:solidFill>
                <a:effectLst/>
                <a:latin typeface="+mn-lt"/>
                <a:ea typeface="+mn-ea"/>
                <a:cs typeface="+mn-cs"/>
              </a:rPr>
              <a:t>-lactalbumin, and immunoglobulins, which degrades product quality. Fouling and the growth of microorganisms such as Streptococcus thermophilus make strict monitoring of pasteurization conditions and regular equipment cleaning critical. Fouling impedes heat transfer and raises safety concerns if substances enter the bulk milk. During membrane filtration, solids deposit on membrane pores, forming a layer that hinders separation.</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7</a:t>
            </a:fld>
            <a:endParaRPr lang="en-US"/>
          </a:p>
        </p:txBody>
      </p:sp>
    </p:spTree>
    <p:extLst>
      <p:ext uri="{BB962C8B-B14F-4D97-AF65-F5344CB8AC3E}">
        <p14:creationId xmlns:p14="http://schemas.microsoft.com/office/powerpoint/2010/main" val="2753678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key equations of the pasteurization model are presented below. On the left are equations describing protein denaturation kinetics, phosphatase inactivation kinetics, fouling formation, and their effect on the heat transfer coefficient. The pasteurization unit (PU) represents the degree of pasteurization due to overall thermal exposure. On the right are equations describing the growth, destruction, and adsorption kinetics of Streptococcus thermophilus, as well as overall mass balances in the bulk milk and on the exchanger walls.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8</a:t>
            </a:fld>
            <a:endParaRPr lang="en-US"/>
          </a:p>
        </p:txBody>
      </p:sp>
    </p:spTree>
    <p:extLst>
      <p:ext uri="{BB962C8B-B14F-4D97-AF65-F5344CB8AC3E}">
        <p14:creationId xmlns:p14="http://schemas.microsoft.com/office/powerpoint/2010/main" val="40638262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pasteurization model includes three plate heat exchangers -regenerative unit, preheater, and cooler-, one holding tube, and two controllers. Milk at a flow rate of 1700 kg/h enters the regenerative unit at 5°C, where it is heated by recycled pasteurized milk. It is then heated in the preheater to the pasteurization temperature of 75°C, which is the setpoint of the first controller. The controller adjusts the hot water flow at 90°C entering the shell side of the preheater. The milk then remains in the holding tube at the pasteurization temperature and subsequently flows through the shell side of the regenerative unit, where it is cooled by the incoming cold milk. Finally, the milk is further cooled in the cooler to 20°C, which is the setpoint of the second controller, regulating the cooling water flow at 5°C.</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9</a:t>
            </a:fld>
            <a:endParaRPr lang="en-US"/>
          </a:p>
        </p:txBody>
      </p:sp>
    </p:spTree>
    <p:extLst>
      <p:ext uri="{BB962C8B-B14F-4D97-AF65-F5344CB8AC3E}">
        <p14:creationId xmlns:p14="http://schemas.microsoft.com/office/powerpoint/2010/main" val="3257244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simulated variable values are shown in red. High hot and cold utilities flow rates of approximately 6600 kg/h and 2300 kg/h are observed compared to the milk flow of 1700 kg/h.</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10</a:t>
            </a:fld>
            <a:endParaRPr lang="en-US"/>
          </a:p>
        </p:txBody>
      </p:sp>
    </p:spTree>
    <p:extLst>
      <p:ext uri="{BB962C8B-B14F-4D97-AF65-F5344CB8AC3E}">
        <p14:creationId xmlns:p14="http://schemas.microsoft.com/office/powerpoint/2010/main" val="1497744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Milk temperature along the heat exchangers is shown in red. The yellow line represents the auxiliary streams’ temperature, and the blue line corresponds to wall temperature, which always lies between the other two.</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11</a:t>
            </a:fld>
            <a:endParaRPr lang="en-US"/>
          </a:p>
        </p:txBody>
      </p:sp>
    </p:spTree>
    <p:extLst>
      <p:ext uri="{BB962C8B-B14F-4D97-AF65-F5344CB8AC3E}">
        <p14:creationId xmlns:p14="http://schemas.microsoft.com/office/powerpoint/2010/main" val="178615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Phosphatase inactivation mainly occurs in the preheater, while protein denaturation primarily takes place in the holding tube. This highlights optimization potential. Among the three whey proteins studied, </a:t>
            </a:r>
            <a:r>
              <a:rPr lang="el-GR" sz="1200"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-lactoglobulin shows the highest tendency for denaturation and deposition.</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12</a:t>
            </a:fld>
            <a:endParaRPr lang="en-US"/>
          </a:p>
        </p:txBody>
      </p:sp>
    </p:spTree>
    <p:extLst>
      <p:ext uri="{BB962C8B-B14F-4D97-AF65-F5344CB8AC3E}">
        <p14:creationId xmlns:p14="http://schemas.microsoft.com/office/powerpoint/2010/main" val="3232089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Fouling occurs mainly on the shell side of the regenerative unit but does not significantly affect heat transfer. The heat transfer coefficient decreases primarily at the inlet section of the shell, from 1200 to 1182 W/(m²·K).</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13</a:t>
            </a:fld>
            <a:endParaRPr lang="en-US"/>
          </a:p>
        </p:txBody>
      </p:sp>
    </p:spTree>
    <p:extLst>
      <p:ext uri="{BB962C8B-B14F-4D97-AF65-F5344CB8AC3E}">
        <p14:creationId xmlns:p14="http://schemas.microsoft.com/office/powerpoint/2010/main" val="3535133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presence of Streptococcus thermophilus on the walls of the regenerative unit is more critical than its concentration in the bulk milk. At the midpoint of the exchanger, the surface concentration reaches approximately 1×10⁹ CFU/cm².</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14</a:t>
            </a:fld>
            <a:endParaRPr lang="en-US"/>
          </a:p>
        </p:txBody>
      </p:sp>
    </p:spTree>
    <p:extLst>
      <p:ext uri="{BB962C8B-B14F-4D97-AF65-F5344CB8AC3E}">
        <p14:creationId xmlns:p14="http://schemas.microsoft.com/office/powerpoint/2010/main" val="25784447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equations of the membrane filtration model include mass balances, static and dynamic flow resistance due to membrane characteristics and fouling, and the retention factor that determines solids rejection.</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15</a:t>
            </a:fld>
            <a:endParaRPr lang="en-US"/>
          </a:p>
        </p:txBody>
      </p:sp>
    </p:spTree>
    <p:extLst>
      <p:ext uri="{BB962C8B-B14F-4D97-AF65-F5344CB8AC3E}">
        <p14:creationId xmlns:p14="http://schemas.microsoft.com/office/powerpoint/2010/main" val="7191294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Milk enters the filtration model at 1700 kg/h and 20°C, matching the outlet temperature of the pasteurization model. Diafiltration water also enters at 20°C. The goal is to separate the feed into two outlet streams, with the retentate containing 20% total solids, mainly proteins. This solids concentration is the controller setpoint regulating diafiltration water flow.  </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16</a:t>
            </a:fld>
            <a:endParaRPr lang="en-US"/>
          </a:p>
        </p:txBody>
      </p:sp>
    </p:spTree>
    <p:extLst>
      <p:ext uri="{BB962C8B-B14F-4D97-AF65-F5344CB8AC3E}">
        <p14:creationId xmlns:p14="http://schemas.microsoft.com/office/powerpoint/2010/main" val="2413345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permeate flow is 4.8 times higher than the retentate flow, due to milk’s high water content and the addition of 377 kg/h of diafiltration water.</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17</a:t>
            </a:fld>
            <a:endParaRPr lang="en-US"/>
          </a:p>
        </p:txBody>
      </p:sp>
    </p:spTree>
    <p:extLst>
      <p:ext uri="{BB962C8B-B14F-4D97-AF65-F5344CB8AC3E}">
        <p14:creationId xmlns:p14="http://schemas.microsoft.com/office/powerpoint/2010/main" val="38116076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composition of solids in the retentate and permeate is compared. The retentate shows higher protein and total solids content, while water remains the dominant component in both streams.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18</a:t>
            </a:fld>
            <a:endParaRPr lang="en-US"/>
          </a:p>
        </p:txBody>
      </p:sp>
    </p:spTree>
    <p:extLst>
      <p:ext uri="{BB962C8B-B14F-4D97-AF65-F5344CB8AC3E}">
        <p14:creationId xmlns:p14="http://schemas.microsoft.com/office/powerpoint/2010/main" val="2508963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integrated model uses the equipment presented in the previous two models, excluding controllers. The flow rates of the hot and cold utilities are set based on the optimization results of the individual models. </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19</a:t>
            </a:fld>
            <a:endParaRPr lang="en-US"/>
          </a:p>
        </p:txBody>
      </p:sp>
    </p:spTree>
    <p:extLst>
      <p:ext uri="{BB962C8B-B14F-4D97-AF65-F5344CB8AC3E}">
        <p14:creationId xmlns:p14="http://schemas.microsoft.com/office/powerpoint/2010/main" val="1305817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Pasteurization temperature is reduced from 75°C to 72°C. The permeate-to-retentate flow ratio is 4.6, compared to 4.8 previously.</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20</a:t>
            </a:fld>
            <a:endParaRPr lang="en-US"/>
          </a:p>
        </p:txBody>
      </p:sp>
    </p:spTree>
    <p:extLst>
      <p:ext uri="{BB962C8B-B14F-4D97-AF65-F5344CB8AC3E}">
        <p14:creationId xmlns:p14="http://schemas.microsoft.com/office/powerpoint/2010/main" val="3905833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heat transfer coefficient decreases in the regenerative unit shell. At the shell inlet, it decreases from 2000 to 1195 W/(m²·K) compared to 1182 W/(m²·K) in the pasteurization model, due to reduced protein denaturation at the lower pasteurization temperature.</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21</a:t>
            </a:fld>
            <a:endParaRPr lang="en-US"/>
          </a:p>
        </p:txBody>
      </p:sp>
    </p:spTree>
    <p:extLst>
      <p:ext uri="{BB962C8B-B14F-4D97-AF65-F5344CB8AC3E}">
        <p14:creationId xmlns:p14="http://schemas.microsoft.com/office/powerpoint/2010/main" val="33523587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S. thermophilus concentration profile on the regenerative unit walls remains similar.</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22</a:t>
            </a:fld>
            <a:endParaRPr lang="en-US"/>
          </a:p>
        </p:txBody>
      </p:sp>
    </p:spTree>
    <p:extLst>
      <p:ext uri="{BB962C8B-B14F-4D97-AF65-F5344CB8AC3E}">
        <p14:creationId xmlns:p14="http://schemas.microsoft.com/office/powerpoint/2010/main" val="3682457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 major differences are observed in the solid compositions of permeate and retentate between the integrated and membrane filtration model. Proteins and total solids remain proportionally higher in the retentate. </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23</a:t>
            </a:fld>
            <a:endParaRPr lang="en-US"/>
          </a:p>
        </p:txBody>
      </p:sp>
    </p:spTree>
    <p:extLst>
      <p:ext uri="{BB962C8B-B14F-4D97-AF65-F5344CB8AC3E}">
        <p14:creationId xmlns:p14="http://schemas.microsoft.com/office/powerpoint/2010/main" val="4189327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System analysis is conducted using Global System Analysis. Sensitivity analysis identifies parameters with the greatest impact on key performance indicators, while uncertainty analysis quantifies their effect due to parameter uncertainty. Economic quantification includes auxiliary utility costs and revenues from concentrated milk production.</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24</a:t>
            </a:fld>
            <a:endParaRPr lang="en-US"/>
          </a:p>
        </p:txBody>
      </p:sp>
    </p:spTree>
    <p:extLst>
      <p:ext uri="{BB962C8B-B14F-4D97-AF65-F5344CB8AC3E}">
        <p14:creationId xmlns:p14="http://schemas.microsoft.com/office/powerpoint/2010/main" val="1928219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table presents system analysis responses for the three models. In the pasteurization model, total heating and cooling water consumption is considered. In the membrane filtration model, diafiltration water flow, retentate flow, and casein mass fraction in the retentate are evaluated. In the integrated model, S. thermophilus concentrations on exchanger walls and in bulk milk are examined.</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25</a:t>
            </a:fld>
            <a:endParaRPr lang="en-US"/>
          </a:p>
        </p:txBody>
      </p:sp>
    </p:spTree>
    <p:extLst>
      <p:ext uri="{BB962C8B-B14F-4D97-AF65-F5344CB8AC3E}">
        <p14:creationId xmlns:p14="http://schemas.microsoft.com/office/powerpoint/2010/main" val="25282154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For time efficiency, only the integrated model sensitivity and uncertainty analysis are presented. The table lists examined factors, their distributions, and the reasons for their selection.</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26</a:t>
            </a:fld>
            <a:endParaRPr lang="en-US"/>
          </a:p>
        </p:txBody>
      </p:sp>
    </p:spTree>
    <p:extLst>
      <p:ext uri="{BB962C8B-B14F-4D97-AF65-F5344CB8AC3E}">
        <p14:creationId xmlns:p14="http://schemas.microsoft.com/office/powerpoint/2010/main" val="25996789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Key factors affecting S. thermophilus concentration on regenerative unit walls and in the retentate are presented. Increased simulation duration and lower minimum growth temperature lead to higher surface concentration, while longer duration and higher feed flow increase retentate concentration. </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27</a:t>
            </a:fld>
            <a:endParaRPr lang="en-US"/>
          </a:p>
        </p:txBody>
      </p:sp>
    </p:spTree>
    <p:extLst>
      <p:ext uri="{BB962C8B-B14F-4D97-AF65-F5344CB8AC3E}">
        <p14:creationId xmlns:p14="http://schemas.microsoft.com/office/powerpoint/2010/main" val="15614288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Optimization involves maximizing or minimizing the objective function subject to equality constraints, mainly model equations, and inequality constraints related to quality and safety standards.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28</a:t>
            </a:fld>
            <a:endParaRPr lang="en-US"/>
          </a:p>
        </p:txBody>
      </p:sp>
    </p:spTree>
    <p:extLst>
      <p:ext uri="{BB962C8B-B14F-4D97-AF65-F5344CB8AC3E}">
        <p14:creationId xmlns:p14="http://schemas.microsoft.com/office/powerpoint/2010/main" val="38404823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Optimization of the pasteurization model reduces heating water consumption by approximately 53% due to lowering pasteurization temperature from 75°C to 72°C.</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29</a:t>
            </a:fld>
            <a:endParaRPr lang="en-US"/>
          </a:p>
        </p:txBody>
      </p:sp>
    </p:spTree>
    <p:extLst>
      <p:ext uri="{BB962C8B-B14F-4D97-AF65-F5344CB8AC3E}">
        <p14:creationId xmlns:p14="http://schemas.microsoft.com/office/powerpoint/2010/main" val="27312903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After optimizing the membrane filtration model, diafiltration water is introduced entirely in the third and final membrane stage, reducing water consumption by 40%.</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30</a:t>
            </a:fld>
            <a:endParaRPr lang="en-US"/>
          </a:p>
        </p:txBody>
      </p:sp>
    </p:spTree>
    <p:extLst>
      <p:ext uri="{BB962C8B-B14F-4D97-AF65-F5344CB8AC3E}">
        <p14:creationId xmlns:p14="http://schemas.microsoft.com/office/powerpoint/2010/main" val="36659533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objective function used in the optimization of the integrated model equals revenue from concentrated milk minus costs of heating, cooling, and diafiltration water, effectively approximating process profit.</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31</a:t>
            </a:fld>
            <a:endParaRPr lang="en-US"/>
          </a:p>
        </p:txBody>
      </p:sp>
    </p:spTree>
    <p:extLst>
      <p:ext uri="{BB962C8B-B14F-4D97-AF65-F5344CB8AC3E}">
        <p14:creationId xmlns:p14="http://schemas.microsoft.com/office/powerpoint/2010/main" val="22392448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results show that operating time is reduced to 9.57 h from 10 h, and the profit objective function increases by 13%.</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32</a:t>
            </a:fld>
            <a:endParaRPr lang="en-US"/>
          </a:p>
        </p:txBody>
      </p:sp>
    </p:spTree>
    <p:extLst>
      <p:ext uri="{BB962C8B-B14F-4D97-AF65-F5344CB8AC3E}">
        <p14:creationId xmlns:p14="http://schemas.microsoft.com/office/powerpoint/2010/main" val="9592920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Constraints include achieving pasteurization and concentration targets, heating and cooling temperatures, </a:t>
            </a:r>
            <a:r>
              <a:rPr lang="el-GR" sz="1200"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-lactoglobulin denaturation, and S. thermophilus concentration.</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33</a:t>
            </a:fld>
            <a:endParaRPr lang="en-US"/>
          </a:p>
        </p:txBody>
      </p:sp>
    </p:spTree>
    <p:extLst>
      <p:ext uri="{BB962C8B-B14F-4D97-AF65-F5344CB8AC3E}">
        <p14:creationId xmlns:p14="http://schemas.microsoft.com/office/powerpoint/2010/main" val="8724576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r>
              <a:rPr lang="en-US" sz="1200" kern="1200" dirty="0">
                <a:solidFill>
                  <a:schemeClr val="tx1"/>
                </a:solidFill>
                <a:effectLst/>
                <a:latin typeface="+mn-lt"/>
                <a:ea typeface="+mn-ea"/>
                <a:cs typeface="+mn-cs"/>
              </a:rPr>
              <a:t>Proceeding to the conclusions, this is a summary of the economic, environmental, safety, and quality constraints of the integrated process.</a:t>
            </a:r>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34</a:t>
            </a:fld>
            <a:endParaRPr lang="en-US"/>
          </a:p>
        </p:txBody>
      </p:sp>
    </p:spTree>
    <p:extLst>
      <p:ext uri="{BB962C8B-B14F-4D97-AF65-F5344CB8AC3E}">
        <p14:creationId xmlns:p14="http://schemas.microsoft.com/office/powerpoint/2010/main" val="23467405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most influential factor is milk feed flow rate. The most costly variable is heating water. Phosphatase is mainly inactivated in the preheater, while protein denaturation, especially of </a:t>
            </a:r>
            <a:r>
              <a:rPr lang="el-GR" sz="1200" kern="1200" dirty="0">
                <a:solidFill>
                  <a:schemeClr val="tx1"/>
                </a:solidFill>
                <a:effectLst/>
                <a:latin typeface="+mn-lt"/>
                <a:ea typeface="+mn-ea"/>
                <a:cs typeface="+mn-cs"/>
              </a:rPr>
              <a:t>β</a:t>
            </a:r>
            <a:r>
              <a:rPr lang="en-US" sz="1200" kern="1200" dirty="0">
                <a:solidFill>
                  <a:schemeClr val="tx1"/>
                </a:solidFill>
                <a:effectLst/>
                <a:latin typeface="+mn-lt"/>
                <a:ea typeface="+mn-ea"/>
                <a:cs typeface="+mn-cs"/>
              </a:rPr>
              <a:t>-lactoglobulin, occurs mainly in the holding tube. Fouling is negligible and mainly appears in the regenerative unit. S. thermophilus grows primarily in the regenerative unit and leads to process shutdown at 9.57 h. Optimization of the integrated model increases profit by 13%.</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35</a:t>
            </a:fld>
            <a:endParaRPr lang="en-US"/>
          </a:p>
        </p:txBody>
      </p:sp>
    </p:spTree>
    <p:extLst>
      <p:ext uri="{BB962C8B-B14F-4D97-AF65-F5344CB8AC3E}">
        <p14:creationId xmlns:p14="http://schemas.microsoft.com/office/powerpoint/2010/main" val="38333428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Future research could include evaluation of the model using pilot or industrial-scale data. Another suggestion is the development of a control policy for pasteurization temperature and the scheduling of cleaning operations based on the integrated model. Finally, the effect of the feed flow rate on the integrated production chain could be studied, as well as the impact of design parameters on key performance indicators.</a:t>
            </a:r>
            <a:endParaRPr lang="el-GR" sz="1200" kern="1200" dirty="0">
              <a:solidFill>
                <a:schemeClr val="tx1"/>
              </a:solidFill>
              <a:effectLst/>
              <a:latin typeface="+mn-lt"/>
              <a:ea typeface="+mn-ea"/>
              <a:cs typeface="+mn-cs"/>
            </a:endParaRPr>
          </a:p>
          <a:p>
            <a:endParaRPr lang="el-GR" dirty="0"/>
          </a:p>
        </p:txBody>
      </p:sp>
      <p:sp>
        <p:nvSpPr>
          <p:cNvPr id="4" name="Θέση αριθμού διαφάνειας 3"/>
          <p:cNvSpPr>
            <a:spLocks noGrp="1"/>
          </p:cNvSpPr>
          <p:nvPr>
            <p:ph type="sldNum" sz="quarter" idx="5"/>
          </p:nvPr>
        </p:nvSpPr>
        <p:spPr/>
        <p:txBody>
          <a:bodyPr/>
          <a:lstStyle/>
          <a:p>
            <a:fld id="{B92334AA-4D4D-45C0-8BB5-7FAFE88CFB81}" type="slidenum">
              <a:rPr lang="en-US" smtClean="0"/>
              <a:t>36</a:t>
            </a:fld>
            <a:endParaRPr lang="en-US"/>
          </a:p>
        </p:txBody>
      </p:sp>
    </p:spTree>
    <p:extLst>
      <p:ext uri="{BB962C8B-B14F-4D97-AF65-F5344CB8AC3E}">
        <p14:creationId xmlns:p14="http://schemas.microsoft.com/office/powerpoint/2010/main" val="1757374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40527455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250840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57092427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7/10/2026</a:t>
            </a:fld>
            <a:endParaRPr lang="en-US"/>
          </a:p>
        </p:txBody>
      </p:sp>
      <p:sp>
        <p:nvSpPr>
          <p:cNvPr id="6" name="Footer Placeholder 5"/>
          <p:cNvSpPr>
            <a:spLocks noGrp="1"/>
          </p:cNvSpPr>
          <p:nvPr>
            <p:ph type="ftr" sz="quarter" idx="11"/>
          </p:nvPr>
        </p:nvSpPr>
        <p:spPr/>
        <p:txBody>
          <a:bodyPr/>
          <a:lstStyle/>
          <a:p>
            <a:r>
              <a:rPr lang="en-US"/>
              <a:t>dds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00439775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7/10/2026</a:t>
            </a:fld>
            <a:endParaRPr lang="en-US"/>
          </a:p>
        </p:txBody>
      </p:sp>
      <p:sp>
        <p:nvSpPr>
          <p:cNvPr id="8" name="Footer Placeholder 7"/>
          <p:cNvSpPr>
            <a:spLocks noGrp="1"/>
          </p:cNvSpPr>
          <p:nvPr>
            <p:ph type="ftr" sz="quarter" idx="11"/>
          </p:nvPr>
        </p:nvSpPr>
        <p:spPr/>
        <p:txBody>
          <a:bodyPr/>
          <a:lstStyle/>
          <a:p>
            <a:r>
              <a:rPr lang="en-US"/>
              <a:t>dds</a:t>
            </a:r>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3424269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7/10/2026</a:t>
            </a:fld>
            <a:endParaRPr lang="en-US"/>
          </a:p>
        </p:txBody>
      </p:sp>
      <p:sp>
        <p:nvSpPr>
          <p:cNvPr id="4" name="Footer Placeholder 3"/>
          <p:cNvSpPr>
            <a:spLocks noGrp="1"/>
          </p:cNvSpPr>
          <p:nvPr>
            <p:ph type="ftr" sz="quarter" idx="11"/>
          </p:nvPr>
        </p:nvSpPr>
        <p:spPr/>
        <p:txBody>
          <a:bodyPr/>
          <a:lstStyle/>
          <a:p>
            <a:r>
              <a:rPr lang="en-US"/>
              <a:t>dds</a:t>
            </a:r>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14842184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7/10/2026</a:t>
            </a:fld>
            <a:endParaRPr lang="en-US"/>
          </a:p>
        </p:txBody>
      </p:sp>
      <p:sp>
        <p:nvSpPr>
          <p:cNvPr id="3" name="Footer Placeholder 2"/>
          <p:cNvSpPr>
            <a:spLocks noGrp="1"/>
          </p:cNvSpPr>
          <p:nvPr>
            <p:ph type="ftr" sz="quarter" idx="11"/>
          </p:nvPr>
        </p:nvSpPr>
        <p:spPr/>
        <p:txBody>
          <a:bodyPr/>
          <a:lstStyle/>
          <a:p>
            <a:r>
              <a:rPr lang="en-US"/>
              <a:t>dds</a:t>
            </a:r>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57702579"/>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7/10/2026</a:t>
            </a:fld>
            <a:endParaRPr lang="en-US"/>
          </a:p>
        </p:txBody>
      </p:sp>
      <p:sp>
        <p:nvSpPr>
          <p:cNvPr id="6" name="Footer Placeholder 5"/>
          <p:cNvSpPr>
            <a:spLocks noGrp="1"/>
          </p:cNvSpPr>
          <p:nvPr>
            <p:ph type="ftr" sz="quarter" idx="11"/>
          </p:nvPr>
        </p:nvSpPr>
        <p:spPr/>
        <p:txBody>
          <a:bodyPr/>
          <a:lstStyle/>
          <a:p>
            <a:r>
              <a:rPr lang="en-US"/>
              <a:t>dds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4265489514"/>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7/10/2026</a:t>
            </a:fld>
            <a:endParaRPr lang="en-US"/>
          </a:p>
        </p:txBody>
      </p:sp>
      <p:sp>
        <p:nvSpPr>
          <p:cNvPr id="6" name="Footer Placeholder 5"/>
          <p:cNvSpPr>
            <a:spLocks noGrp="1"/>
          </p:cNvSpPr>
          <p:nvPr>
            <p:ph type="ftr" sz="quarter" idx="11"/>
          </p:nvPr>
        </p:nvSpPr>
        <p:spPr/>
        <p:txBody>
          <a:bodyPr/>
          <a:lstStyle/>
          <a:p>
            <a:r>
              <a:rPr lang="en-US"/>
              <a:t>dds</a:t>
            </a:r>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5003681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1395005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7/10/2026</a:t>
            </a:fld>
            <a:endParaRPr lang="en-US"/>
          </a:p>
        </p:txBody>
      </p:sp>
      <p:sp>
        <p:nvSpPr>
          <p:cNvPr id="5" name="Footer Placeholder 4"/>
          <p:cNvSpPr>
            <a:spLocks noGrp="1"/>
          </p:cNvSpPr>
          <p:nvPr>
            <p:ph type="ftr" sz="quarter" idx="11"/>
          </p:nvPr>
        </p:nvSpPr>
        <p:spPr/>
        <p:txBody>
          <a:bodyPr/>
          <a:lstStyle/>
          <a:p>
            <a:r>
              <a:rPr lang="en-US"/>
              <a:t>dds</a:t>
            </a:r>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36462364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7/10/2026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dds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407835339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roquest.com/dissertations-theses/redesign-milk-powder-production-chain-assessment/docview/2518745891/se-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 Id="rId9"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5340" y="699961"/>
            <a:ext cx="11861320" cy="2301336"/>
          </a:xfrm>
        </p:spPr>
        <p:txBody>
          <a:bodyPr vert="horz" lIns="91440" tIns="45720" rIns="91440" bIns="45720" rtlCol="0" anchor="b">
            <a:noAutofit/>
          </a:bodyPr>
          <a:lstStyle/>
          <a:p>
            <a:r>
              <a:rPr lang="en-US" sz="4800" dirty="0">
                <a:ea typeface="Calibri Light"/>
                <a:cs typeface="Calibri Light"/>
              </a:rPr>
              <a:t>Modeling, simulation and optimization of integrated milk pasteurization and membrane filtration processes</a:t>
            </a:r>
          </a:p>
        </p:txBody>
      </p:sp>
      <p:sp>
        <p:nvSpPr>
          <p:cNvPr id="3" name="Subtitle 2"/>
          <p:cNvSpPr>
            <a:spLocks noGrp="1"/>
          </p:cNvSpPr>
          <p:nvPr>
            <p:ph type="subTitle" idx="1"/>
          </p:nvPr>
        </p:nvSpPr>
        <p:spPr>
          <a:xfrm>
            <a:off x="1524000" y="3613355"/>
            <a:ext cx="9144000" cy="2109019"/>
          </a:xfrm>
        </p:spPr>
        <p:txBody>
          <a:bodyPr vert="horz" lIns="91440" tIns="45720" rIns="91440" bIns="45720" rtlCol="0" anchor="t">
            <a:normAutofit/>
          </a:bodyPr>
          <a:lstStyle/>
          <a:p>
            <a:r>
              <a:rPr lang="en-US" sz="2800" dirty="0">
                <a:ea typeface="Calibri"/>
                <a:cs typeface="Calibri"/>
              </a:rPr>
              <a:t>Athina Bampzeli</a:t>
            </a:r>
          </a:p>
          <a:p>
            <a:r>
              <a:rPr lang="en-US" sz="2800" dirty="0">
                <a:ea typeface="Calibri"/>
                <a:cs typeface="Calibri"/>
              </a:rPr>
              <a:t>Academic supervisor: Michael Georgiadis</a:t>
            </a:r>
          </a:p>
          <a:p>
            <a:r>
              <a:rPr lang="en-US" sz="2800" dirty="0">
                <a:ea typeface="Calibri"/>
                <a:cs typeface="Calibri"/>
              </a:rPr>
              <a:t>Siemens Industry Software: Lefteris </a:t>
            </a:r>
            <a:r>
              <a:rPr lang="en-US" sz="2800" dirty="0" err="1">
                <a:ea typeface="Calibri"/>
                <a:cs typeface="Calibri"/>
              </a:rPr>
              <a:t>Charakleias</a:t>
            </a:r>
            <a:endParaRPr lang="en-US" sz="2800" dirty="0">
              <a:ea typeface="Calibri"/>
              <a:cs typeface="Calibri"/>
            </a:endParaRPr>
          </a:p>
          <a:p>
            <a:r>
              <a:rPr lang="en-US" sz="2800" dirty="0">
                <a:ea typeface="Calibri"/>
                <a:cs typeface="Calibri"/>
              </a:rPr>
              <a:t>Diploma Thesis</a:t>
            </a:r>
          </a:p>
        </p:txBody>
      </p:sp>
      <p:pic>
        <p:nvPicPr>
          <p:cNvPr id="4" name="Picture 3">
            <a:extLst>
              <a:ext uri="{FF2B5EF4-FFF2-40B4-BE49-F238E27FC236}">
                <a16:creationId xmlns:a16="http://schemas.microsoft.com/office/drawing/2014/main" id="{BF52ABD3-3480-9FA3-9E6A-7AE207D9F939}"/>
              </a:ext>
            </a:extLst>
          </p:cNvPr>
          <p:cNvPicPr>
            <a:picLocks noChangeAspect="1"/>
          </p:cNvPicPr>
          <p:nvPr/>
        </p:nvPicPr>
        <p:blipFill>
          <a:blip r:embed="rId3"/>
          <a:stretch>
            <a:fillRect/>
          </a:stretch>
        </p:blipFill>
        <p:spPr>
          <a:xfrm>
            <a:off x="3435176" y="6011020"/>
            <a:ext cx="768233" cy="768233"/>
          </a:xfrm>
          <a:prstGeom prst="rect">
            <a:avLst/>
          </a:prstGeom>
        </p:spPr>
      </p:pic>
      <p:sp>
        <p:nvSpPr>
          <p:cNvPr id="5" name="Subtitle 2">
            <a:extLst>
              <a:ext uri="{FF2B5EF4-FFF2-40B4-BE49-F238E27FC236}">
                <a16:creationId xmlns:a16="http://schemas.microsoft.com/office/drawing/2014/main" id="{F371AEB6-D962-726E-B0C4-25166F5CED8F}"/>
              </a:ext>
            </a:extLst>
          </p:cNvPr>
          <p:cNvSpPr txBox="1">
            <a:spLocks/>
          </p:cNvSpPr>
          <p:nvPr/>
        </p:nvSpPr>
        <p:spPr>
          <a:xfrm>
            <a:off x="4022770" y="6011020"/>
            <a:ext cx="4316361" cy="1201993"/>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ea typeface="Calibri"/>
                <a:cs typeface="Calibri"/>
              </a:rPr>
              <a:t>Chemical Engineering Department</a:t>
            </a:r>
          </a:p>
          <a:p>
            <a:r>
              <a:rPr lang="en-US" sz="2000" dirty="0">
                <a:ea typeface="Calibri"/>
                <a:cs typeface="Calibri"/>
              </a:rPr>
              <a:t>Aristotle University of Thessaloniki</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1532E7-4CE0-796F-4B2F-0C853914A987}"/>
              </a:ext>
            </a:extLst>
          </p:cNvPr>
          <p:cNvSpPr>
            <a:spLocks noGrp="1"/>
          </p:cNvSpPr>
          <p:nvPr>
            <p:ph idx="1"/>
          </p:nvPr>
        </p:nvSpPr>
        <p:spPr>
          <a:xfrm>
            <a:off x="838200" y="1825625"/>
            <a:ext cx="10515600" cy="3813878"/>
          </a:xfrm>
        </p:spPr>
        <p:txBody>
          <a:bodyPr vert="horz" lIns="91440" tIns="45720" rIns="91440" bIns="45720" rtlCol="0" anchor="t">
            <a:normAutofit/>
          </a:bodyPr>
          <a:lstStyle/>
          <a:p>
            <a:pPr marL="514350" indent="-514350">
              <a:buAutoNum type="arabicPeriod"/>
            </a:pPr>
            <a:r>
              <a:rPr lang="en-US" dirty="0">
                <a:ea typeface="Calibri"/>
                <a:cs typeface="Calibri"/>
              </a:rPr>
              <a:t>Introduction</a:t>
            </a:r>
            <a:endParaRPr lang="en-US" dirty="0"/>
          </a:p>
          <a:p>
            <a:pPr marL="514350" indent="-514350">
              <a:buAutoNum type="arabicPeriod"/>
            </a:pPr>
            <a:r>
              <a:rPr lang="en-US" dirty="0">
                <a:ea typeface="Calibri"/>
                <a:cs typeface="Calibri"/>
              </a:rPr>
              <a:t>Objectives-Methodology</a:t>
            </a:r>
          </a:p>
          <a:p>
            <a:pPr marL="514350" indent="-514350">
              <a:buAutoNum type="arabicPeriod"/>
            </a:pPr>
            <a:r>
              <a:rPr lang="en-US" dirty="0">
                <a:ea typeface="Calibri"/>
                <a:cs typeface="Calibri"/>
              </a:rPr>
              <a:t>Theoretical Background</a:t>
            </a:r>
          </a:p>
          <a:p>
            <a:pPr marL="514350" indent="-514350">
              <a:buAutoNum type="arabicPeriod"/>
            </a:pPr>
            <a:r>
              <a:rPr lang="en-US" dirty="0">
                <a:ea typeface="Calibri"/>
                <a:cs typeface="Calibri"/>
              </a:rPr>
              <a:t>Dynamic Modeling and Simulation</a:t>
            </a:r>
          </a:p>
          <a:p>
            <a:pPr marL="514350" indent="-514350">
              <a:buAutoNum type="arabicPeriod"/>
            </a:pPr>
            <a:r>
              <a:rPr lang="en-US" dirty="0">
                <a:ea typeface="Calibri"/>
                <a:cs typeface="Calibri"/>
              </a:rPr>
              <a:t>Global System Analysis</a:t>
            </a:r>
          </a:p>
          <a:p>
            <a:pPr marL="514350" indent="-514350">
              <a:buAutoNum type="arabicPeriod"/>
            </a:pPr>
            <a:r>
              <a:rPr lang="en-US" dirty="0">
                <a:ea typeface="Calibri"/>
                <a:cs typeface="Calibri"/>
              </a:rPr>
              <a:t>Optimization</a:t>
            </a:r>
          </a:p>
          <a:p>
            <a:pPr marL="514350" indent="-514350">
              <a:buAutoNum type="arabicPeriod"/>
            </a:pPr>
            <a:r>
              <a:rPr lang="en-US" dirty="0">
                <a:ea typeface="Calibri"/>
                <a:cs typeface="Calibri"/>
              </a:rPr>
              <a:t>Conclusions</a:t>
            </a:r>
          </a:p>
        </p:txBody>
      </p:sp>
      <p:sp>
        <p:nvSpPr>
          <p:cNvPr id="4" name="Slide Number Placeholder 3">
            <a:extLst>
              <a:ext uri="{FF2B5EF4-FFF2-40B4-BE49-F238E27FC236}">
                <a16:creationId xmlns:a16="http://schemas.microsoft.com/office/drawing/2014/main" id="{CDD16C85-8CF8-B83E-6CC1-97C00E59007B}"/>
              </a:ext>
            </a:extLst>
          </p:cNvPr>
          <p:cNvSpPr>
            <a:spLocks noGrp="1"/>
          </p:cNvSpPr>
          <p:nvPr>
            <p:ph type="sldNum" sz="quarter" idx="12"/>
          </p:nvPr>
        </p:nvSpPr>
        <p:spPr/>
        <p:txBody>
          <a:bodyPr/>
          <a:lstStyle/>
          <a:p>
            <a:r>
              <a:rPr lang="en-US" dirty="0"/>
              <a:t>2/36</a:t>
            </a:r>
            <a:endParaRPr lang="en-US" dirty="0">
              <a:ea typeface="Calibri"/>
              <a:cs typeface="Calibri"/>
            </a:endParaRPr>
          </a:p>
        </p:txBody>
      </p:sp>
      <p:sp>
        <p:nvSpPr>
          <p:cNvPr id="7" name="Title 1">
            <a:extLst>
              <a:ext uri="{FF2B5EF4-FFF2-40B4-BE49-F238E27FC236}">
                <a16:creationId xmlns:a16="http://schemas.microsoft.com/office/drawing/2014/main" id="{8B42318E-3915-980A-159A-A4C249F57F4B}"/>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Table of Contents </a:t>
            </a:r>
          </a:p>
        </p:txBody>
      </p:sp>
    </p:spTree>
    <p:extLst>
      <p:ext uri="{BB962C8B-B14F-4D97-AF65-F5344CB8AC3E}">
        <p14:creationId xmlns:p14="http://schemas.microsoft.com/office/powerpoint/2010/main" val="3139192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635F58-59D5-915C-3860-D87EC9738195}"/>
              </a:ext>
            </a:extLst>
          </p:cNvPr>
          <p:cNvSpPr txBox="1"/>
          <p:nvPr/>
        </p:nvSpPr>
        <p:spPr>
          <a:xfrm>
            <a:off x="75659" y="5817054"/>
            <a:ext cx="11990716" cy="1077218"/>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just"/>
            <a:r>
              <a:rPr lang="en-US" sz="1600" baseline="0" dirty="0" err="1">
                <a:latin typeface="Calibri"/>
              </a:rPr>
              <a:t>Moejes</a:t>
            </a:r>
            <a:r>
              <a:rPr lang="en-US" sz="1600" baseline="0" dirty="0">
                <a:latin typeface="Calibri"/>
              </a:rPr>
              <a:t>, S. N. (2019). Redesign of the milk powder production chain: Assessment of innovative technologies [Doctoral dissertation, ProQuest Dissertations &amp; Theses Global] </a:t>
            </a:r>
            <a:r>
              <a:rPr lang="en-US" sz="1600" u="sng" strike="noStrike" baseline="0" dirty="0">
                <a:solidFill>
                  <a:srgbClr val="0563C1"/>
                </a:solidFill>
                <a:latin typeface="Calibri"/>
                <a:ea typeface="Segoe UI"/>
                <a:cs typeface="Segoe UI"/>
                <a:hlinkClick r:id="rId3"/>
              </a:rPr>
              <a:t>https://www.proquest.com/dissertations-theses/redesign-milk-powder-production-chain-assessment/docview/2518745891/se-2</a:t>
            </a:r>
            <a:r>
              <a:rPr sz="1600" dirty="0">
                <a:latin typeface="Calibri"/>
                <a:ea typeface="Calibri"/>
                <a:cs typeface="Calibri"/>
              </a:rPr>
              <a:t>​</a:t>
            </a:r>
            <a:endParaRPr lang="en-US" sz="1600" dirty="0">
              <a:ea typeface="Calibri"/>
              <a:cs typeface="Calibri"/>
            </a:endParaRPr>
          </a:p>
          <a:p>
            <a:pPr algn="ctr"/>
            <a:endParaRPr lang="en-US" sz="1600" dirty="0">
              <a:ea typeface="Calibri"/>
              <a:cs typeface="Calibri"/>
            </a:endParaRPr>
          </a:p>
        </p:txBody>
      </p:sp>
      <p:sp>
        <p:nvSpPr>
          <p:cNvPr id="4" name="Foliennummernplatzhalter 3">
            <a:extLst>
              <a:ext uri="{FF2B5EF4-FFF2-40B4-BE49-F238E27FC236}">
                <a16:creationId xmlns:a16="http://schemas.microsoft.com/office/drawing/2014/main" id="{28616CF7-A35D-0957-9A8A-84BB20088825}"/>
              </a:ext>
            </a:extLst>
          </p:cNvPr>
          <p:cNvSpPr>
            <a:spLocks noGrp="1"/>
          </p:cNvSpPr>
          <p:nvPr>
            <p:ph type="sldNum" sz="quarter" idx="12"/>
          </p:nvPr>
        </p:nvSpPr>
        <p:spPr/>
        <p:txBody>
          <a:bodyPr/>
          <a:lstStyle/>
          <a:p>
            <a:fld id="{48F63A3B-78C7-47BE-AE5E-E10140E04643}" type="slidenum">
              <a:rPr lang="en-US" smtClean="0"/>
              <a:t>3</a:t>
            </a:fld>
            <a:r>
              <a:rPr lang="en-US" dirty="0"/>
              <a:t>/36</a:t>
            </a:r>
          </a:p>
        </p:txBody>
      </p:sp>
      <p:sp>
        <p:nvSpPr>
          <p:cNvPr id="6" name="Pfeil: Fünfeck 5">
            <a:extLst>
              <a:ext uri="{FF2B5EF4-FFF2-40B4-BE49-F238E27FC236}">
                <a16:creationId xmlns:a16="http://schemas.microsoft.com/office/drawing/2014/main" id="{F7D20BDA-4053-6F3C-D2F0-2831C1A478E2}"/>
              </a:ext>
            </a:extLst>
          </p:cNvPr>
          <p:cNvSpPr/>
          <p:nvPr/>
        </p:nvSpPr>
        <p:spPr>
          <a:xfrm>
            <a:off x="1720821" y="1947130"/>
            <a:ext cx="2991555" cy="65694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TextBox 5">
            <a:extLst>
              <a:ext uri="{FF2B5EF4-FFF2-40B4-BE49-F238E27FC236}">
                <a16:creationId xmlns:a16="http://schemas.microsoft.com/office/drawing/2014/main" id="{ED15BF12-E588-30D1-0AF8-7E2453154A0C}"/>
              </a:ext>
            </a:extLst>
          </p:cNvPr>
          <p:cNvSpPr txBox="1"/>
          <p:nvPr/>
        </p:nvSpPr>
        <p:spPr>
          <a:xfrm>
            <a:off x="711861" y="5053545"/>
            <a:ext cx="1060106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1: Main processes during milk powder production (Moejes, 2019)</a:t>
            </a:r>
          </a:p>
        </p:txBody>
      </p:sp>
      <p:sp>
        <p:nvSpPr>
          <p:cNvPr id="8" name="Pfeil: Fünfeck 7">
            <a:extLst>
              <a:ext uri="{FF2B5EF4-FFF2-40B4-BE49-F238E27FC236}">
                <a16:creationId xmlns:a16="http://schemas.microsoft.com/office/drawing/2014/main" id="{BD470582-E164-D906-085F-3DD3FFAA997F}"/>
              </a:ext>
            </a:extLst>
          </p:cNvPr>
          <p:cNvSpPr/>
          <p:nvPr/>
        </p:nvSpPr>
        <p:spPr>
          <a:xfrm>
            <a:off x="3211205" y="1073072"/>
            <a:ext cx="1478761" cy="67935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Pfeil: Fünfeck 17">
            <a:extLst>
              <a:ext uri="{FF2B5EF4-FFF2-40B4-BE49-F238E27FC236}">
                <a16:creationId xmlns:a16="http://schemas.microsoft.com/office/drawing/2014/main" id="{FCB0362D-374B-0897-64F9-33197FD8D03D}"/>
              </a:ext>
            </a:extLst>
          </p:cNvPr>
          <p:cNvSpPr/>
          <p:nvPr/>
        </p:nvSpPr>
        <p:spPr>
          <a:xfrm>
            <a:off x="1720823" y="1073073"/>
            <a:ext cx="1859760" cy="679357"/>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Textfeld 19">
            <a:extLst>
              <a:ext uri="{FF2B5EF4-FFF2-40B4-BE49-F238E27FC236}">
                <a16:creationId xmlns:a16="http://schemas.microsoft.com/office/drawing/2014/main" id="{BD3A3601-7C8E-D01B-01EC-FF862B285181}"/>
              </a:ext>
            </a:extLst>
          </p:cNvPr>
          <p:cNvSpPr txBox="1"/>
          <p:nvPr/>
        </p:nvSpPr>
        <p:spPr>
          <a:xfrm>
            <a:off x="1715263" y="1211134"/>
            <a:ext cx="294905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dirty="0">
                <a:solidFill>
                  <a:schemeClr val="bg1"/>
                </a:solidFill>
                <a:latin typeface="Calibri"/>
                <a:ea typeface="Calibri"/>
                <a:cs typeface="Calibri"/>
              </a:rPr>
              <a:t>Energy, Water</a:t>
            </a:r>
          </a:p>
        </p:txBody>
      </p:sp>
      <p:sp>
        <p:nvSpPr>
          <p:cNvPr id="22" name="Textfeld 21">
            <a:extLst>
              <a:ext uri="{FF2B5EF4-FFF2-40B4-BE49-F238E27FC236}">
                <a16:creationId xmlns:a16="http://schemas.microsoft.com/office/drawing/2014/main" id="{5D4B92F0-4FE0-4CAE-E3CE-A1B222546BBC}"/>
              </a:ext>
            </a:extLst>
          </p:cNvPr>
          <p:cNvSpPr txBox="1"/>
          <p:nvPr/>
        </p:nvSpPr>
        <p:spPr>
          <a:xfrm>
            <a:off x="3553025" y="1211134"/>
            <a:ext cx="108887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dirty="0">
                <a:solidFill>
                  <a:schemeClr val="bg1"/>
                </a:solidFill>
                <a:ea typeface="Calibri"/>
                <a:cs typeface="Calibri"/>
              </a:rPr>
              <a:t>Cost</a:t>
            </a:r>
            <a:endParaRPr lang="de-DE" sz="2000" dirty="0">
              <a:solidFill>
                <a:schemeClr val="bg1"/>
              </a:solidFill>
            </a:endParaRPr>
          </a:p>
        </p:txBody>
      </p:sp>
      <p:sp>
        <p:nvSpPr>
          <p:cNvPr id="24" name="Textfeld 23">
            <a:extLst>
              <a:ext uri="{FF2B5EF4-FFF2-40B4-BE49-F238E27FC236}">
                <a16:creationId xmlns:a16="http://schemas.microsoft.com/office/drawing/2014/main" id="{23B7D2C6-7389-4168-F2BB-CD1348660A0B}"/>
              </a:ext>
            </a:extLst>
          </p:cNvPr>
          <p:cNvSpPr txBox="1"/>
          <p:nvPr/>
        </p:nvSpPr>
        <p:spPr>
          <a:xfrm>
            <a:off x="1715264" y="2073985"/>
            <a:ext cx="264649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Low milk price</a:t>
            </a:r>
          </a:p>
        </p:txBody>
      </p:sp>
      <p:sp>
        <p:nvSpPr>
          <p:cNvPr id="26" name="Pfeil: Fünfeck 25">
            <a:extLst>
              <a:ext uri="{FF2B5EF4-FFF2-40B4-BE49-F238E27FC236}">
                <a16:creationId xmlns:a16="http://schemas.microsoft.com/office/drawing/2014/main" id="{34F7ABCA-DCA3-D795-531E-F43BEB6B3BB0}"/>
              </a:ext>
            </a:extLst>
          </p:cNvPr>
          <p:cNvSpPr/>
          <p:nvPr/>
        </p:nvSpPr>
        <p:spPr>
          <a:xfrm>
            <a:off x="5015351" y="1487689"/>
            <a:ext cx="3574260" cy="634535"/>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Textfeld 27">
            <a:extLst>
              <a:ext uri="{FF2B5EF4-FFF2-40B4-BE49-F238E27FC236}">
                <a16:creationId xmlns:a16="http://schemas.microsoft.com/office/drawing/2014/main" id="{5174EC5E-C460-ED86-C350-468A99380140}"/>
              </a:ext>
            </a:extLst>
          </p:cNvPr>
          <p:cNvSpPr txBox="1"/>
          <p:nvPr/>
        </p:nvSpPr>
        <p:spPr>
          <a:xfrm>
            <a:off x="4852910" y="1614545"/>
            <a:ext cx="374466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Value-added products</a:t>
            </a:r>
          </a:p>
        </p:txBody>
      </p:sp>
      <p:sp>
        <p:nvSpPr>
          <p:cNvPr id="30" name="Pfeil: Fünfeck 29">
            <a:extLst>
              <a:ext uri="{FF2B5EF4-FFF2-40B4-BE49-F238E27FC236}">
                <a16:creationId xmlns:a16="http://schemas.microsoft.com/office/drawing/2014/main" id="{352546A4-A576-8489-D039-3766A8E38DB9}"/>
              </a:ext>
            </a:extLst>
          </p:cNvPr>
          <p:cNvSpPr/>
          <p:nvPr/>
        </p:nvSpPr>
        <p:spPr>
          <a:xfrm>
            <a:off x="8903791" y="1487691"/>
            <a:ext cx="2027851" cy="63453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Textfeld 31">
            <a:extLst>
              <a:ext uri="{FF2B5EF4-FFF2-40B4-BE49-F238E27FC236}">
                <a16:creationId xmlns:a16="http://schemas.microsoft.com/office/drawing/2014/main" id="{C2E0E327-B943-1FE6-F890-54547205A067}"/>
              </a:ext>
            </a:extLst>
          </p:cNvPr>
          <p:cNvSpPr txBox="1"/>
          <p:nvPr/>
        </p:nvSpPr>
        <p:spPr>
          <a:xfrm>
            <a:off x="8898233" y="1614545"/>
            <a:ext cx="1895700" cy="411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Milk powder</a:t>
            </a:r>
          </a:p>
        </p:txBody>
      </p:sp>
      <p:sp>
        <p:nvSpPr>
          <p:cNvPr id="3" name="Title 1">
            <a:extLst>
              <a:ext uri="{FF2B5EF4-FFF2-40B4-BE49-F238E27FC236}">
                <a16:creationId xmlns:a16="http://schemas.microsoft.com/office/drawing/2014/main" id="{9E261F99-4810-81C5-2058-642C5ADE182B}"/>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1. Introduction to Dairy Industry</a:t>
            </a:r>
            <a:endParaRPr lang="de-DE" sz="3100" dirty="0">
              <a:latin typeface="Calibri Light"/>
              <a:ea typeface="Calibri Light"/>
              <a:cs typeface="Calibri Light"/>
            </a:endParaRPr>
          </a:p>
        </p:txBody>
      </p:sp>
      <p:pic>
        <p:nvPicPr>
          <p:cNvPr id="37" name="Picture 36" descr="A diagram of a process&#10;&#10;AI-generated content may be incorrect.">
            <a:extLst>
              <a:ext uri="{FF2B5EF4-FFF2-40B4-BE49-F238E27FC236}">
                <a16:creationId xmlns:a16="http://schemas.microsoft.com/office/drawing/2014/main" id="{CD13A372-F37A-C348-AF7D-0F74596CB4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5928" y="3123444"/>
            <a:ext cx="10267002" cy="1790915"/>
          </a:xfrm>
          <a:prstGeom prst="rect">
            <a:avLst/>
          </a:prstGeom>
          <a:gradFill>
            <a:gsLst>
              <a:gs pos="0">
                <a:srgbClr val="F4F3F3"/>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pic>
      <p:sp>
        <p:nvSpPr>
          <p:cNvPr id="7" name="TextBox 6">
            <a:extLst>
              <a:ext uri="{FF2B5EF4-FFF2-40B4-BE49-F238E27FC236}">
                <a16:creationId xmlns:a16="http://schemas.microsoft.com/office/drawing/2014/main" id="{E72C3C06-B90D-1B63-74EA-E649F5BFBCC5}"/>
              </a:ext>
            </a:extLst>
          </p:cNvPr>
          <p:cNvSpPr txBox="1"/>
          <p:nvPr/>
        </p:nvSpPr>
        <p:spPr>
          <a:xfrm>
            <a:off x="5015351" y="4225514"/>
            <a:ext cx="1387249" cy="646331"/>
          </a:xfrm>
          <a:prstGeom prst="rect">
            <a:avLst/>
          </a:prstGeom>
          <a:solidFill>
            <a:srgbClr val="EFEFEF"/>
          </a:solidFill>
          <a:ln>
            <a:solidFill>
              <a:schemeClr val="tx1">
                <a:lumMod val="50000"/>
                <a:lumOff val="50000"/>
              </a:schemeClr>
            </a:solidFill>
          </a:ln>
        </p:spPr>
        <p:txBody>
          <a:bodyPr wrap="square" rtlCol="0">
            <a:spAutoFit/>
          </a:bodyPr>
          <a:lstStyle/>
          <a:p>
            <a:pPr algn="ctr"/>
            <a:r>
              <a:rPr lang="en-US" dirty="0"/>
              <a:t>Membrane filtration</a:t>
            </a:r>
          </a:p>
        </p:txBody>
      </p:sp>
    </p:spTree>
    <p:extLst>
      <p:ext uri="{BB962C8B-B14F-4D97-AF65-F5344CB8AC3E}">
        <p14:creationId xmlns:p14="http://schemas.microsoft.com/office/powerpoint/2010/main" val="442801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BD66B-C6A0-05A1-CDD6-040D92C478D8}"/>
              </a:ext>
            </a:extLst>
          </p:cNvPr>
          <p:cNvSpPr>
            <a:spLocks noGrp="1"/>
          </p:cNvSpPr>
          <p:nvPr>
            <p:ph idx="1"/>
          </p:nvPr>
        </p:nvSpPr>
        <p:spPr>
          <a:xfrm>
            <a:off x="838200" y="1432719"/>
            <a:ext cx="10944224" cy="5280025"/>
          </a:xfrm>
        </p:spPr>
        <p:txBody>
          <a:bodyPr vert="horz" lIns="91440" tIns="45720" rIns="91440" bIns="45720" rtlCol="0" anchor="t">
            <a:normAutofit/>
          </a:bodyPr>
          <a:lstStyle/>
          <a:p>
            <a:pPr algn="just"/>
            <a:r>
              <a:rPr lang="en-US" dirty="0">
                <a:ea typeface="Calibri"/>
                <a:cs typeface="Calibri"/>
              </a:rPr>
              <a:t>Modeling and simulation of the integrated process</a:t>
            </a:r>
            <a:endParaRPr lang="de-DE" dirty="0"/>
          </a:p>
          <a:p>
            <a:pPr algn="just"/>
            <a:r>
              <a:rPr lang="en-US" dirty="0">
                <a:ea typeface="Calibri"/>
                <a:cs typeface="Calibri"/>
              </a:rPr>
              <a:t>Concentrated milk with 20% solids</a:t>
            </a:r>
          </a:p>
          <a:p>
            <a:pPr algn="just"/>
            <a:r>
              <a:rPr lang="en-US" dirty="0">
                <a:ea typeface="Calibri"/>
                <a:cs typeface="Calibri"/>
              </a:rPr>
              <a:t>Physicochemical, biological phenomena</a:t>
            </a:r>
          </a:p>
          <a:p>
            <a:pPr algn="just"/>
            <a:r>
              <a:rPr lang="en-US" dirty="0">
                <a:ea typeface="Calibri"/>
                <a:cs typeface="Calibri"/>
              </a:rPr>
              <a:t>Operating conditions, parameters</a:t>
            </a:r>
          </a:p>
          <a:p>
            <a:pPr algn="just"/>
            <a:r>
              <a:rPr lang="en-US" dirty="0">
                <a:ea typeface="Calibri"/>
                <a:cs typeface="Calibri"/>
              </a:rPr>
              <a:t>Uncertainty reduction, control, optimal decisions</a:t>
            </a:r>
          </a:p>
          <a:p>
            <a:pPr algn="just"/>
            <a:r>
              <a:rPr lang="en-US" dirty="0">
                <a:ea typeface="Calibri"/>
                <a:cs typeface="Calibri"/>
              </a:rPr>
              <a:t>Optimization of the integrated process</a:t>
            </a:r>
          </a:p>
          <a:p>
            <a:pPr algn="just"/>
            <a:endParaRPr lang="en-US" dirty="0">
              <a:ea typeface="Calibri"/>
              <a:cs typeface="Calibri"/>
            </a:endParaRPr>
          </a:p>
          <a:p>
            <a:pPr marL="0" indent="0" algn="just">
              <a:buNone/>
            </a:pPr>
            <a:r>
              <a:rPr lang="en-US" dirty="0"/>
              <a:t>To the best of our knowledge, no previous work in the literature has addressed the modeling, simulation, optimization, and sensitivity/uncertainty analysis of the integrated milk pasteurization and membrane filtration process.</a:t>
            </a:r>
            <a:endParaRPr lang="en-US" dirty="0">
              <a:ea typeface="Calibri"/>
              <a:cs typeface="Calibri"/>
            </a:endParaRPr>
          </a:p>
        </p:txBody>
      </p:sp>
      <p:sp>
        <p:nvSpPr>
          <p:cNvPr id="4" name="Slide Number Placeholder 3">
            <a:extLst>
              <a:ext uri="{FF2B5EF4-FFF2-40B4-BE49-F238E27FC236}">
                <a16:creationId xmlns:a16="http://schemas.microsoft.com/office/drawing/2014/main" id="{DD394501-4878-48AE-9211-C773128D68CE}"/>
              </a:ext>
            </a:extLst>
          </p:cNvPr>
          <p:cNvSpPr>
            <a:spLocks noGrp="1"/>
          </p:cNvSpPr>
          <p:nvPr>
            <p:ph type="sldNum" sz="quarter" idx="12"/>
          </p:nvPr>
        </p:nvSpPr>
        <p:spPr/>
        <p:txBody>
          <a:bodyPr/>
          <a:lstStyle/>
          <a:p>
            <a:fld id="{48F63A3B-78C7-47BE-AE5E-E10140E04643}" type="slidenum">
              <a:rPr lang="en-US" smtClean="0"/>
              <a:t>4</a:t>
            </a:fld>
            <a:r>
              <a:rPr lang="en-US" dirty="0"/>
              <a:t>/36</a:t>
            </a:r>
          </a:p>
        </p:txBody>
      </p:sp>
      <p:sp>
        <p:nvSpPr>
          <p:cNvPr id="8" name="Title 1">
            <a:extLst>
              <a:ext uri="{FF2B5EF4-FFF2-40B4-BE49-F238E27FC236}">
                <a16:creationId xmlns:a16="http://schemas.microsoft.com/office/drawing/2014/main" id="{9404DCD3-1A88-C909-2B6C-EC35DC1B635C}"/>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2.1 Objectives of the Study</a:t>
            </a:r>
          </a:p>
        </p:txBody>
      </p:sp>
    </p:spTree>
    <p:extLst>
      <p:ext uri="{BB962C8B-B14F-4D97-AF65-F5344CB8AC3E}">
        <p14:creationId xmlns:p14="http://schemas.microsoft.com/office/powerpoint/2010/main" val="1354234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27F53-178F-C23C-8EB5-DD83D74134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C13B80-9062-A39C-8CC4-744A9626FD7F}"/>
              </a:ext>
            </a:extLst>
          </p:cNvPr>
          <p:cNvSpPr>
            <a:spLocks noGrp="1"/>
          </p:cNvSpPr>
          <p:nvPr>
            <p:ph idx="1"/>
          </p:nvPr>
        </p:nvSpPr>
        <p:spPr>
          <a:xfrm>
            <a:off x="60001" y="1549142"/>
            <a:ext cx="2004205" cy="704565"/>
          </a:xfrm>
        </p:spPr>
        <p:txBody>
          <a:bodyPr vert="horz" lIns="91440" tIns="45720" rIns="91440" bIns="45720" rtlCol="0" anchor="t">
            <a:normAutofit/>
          </a:bodyPr>
          <a:lstStyle/>
          <a:p>
            <a:pPr marL="0" indent="0" algn="ctr">
              <a:buNone/>
            </a:pPr>
            <a:r>
              <a:rPr lang="en-US" sz="2000" dirty="0">
                <a:ea typeface="Calibri" panose="020F0502020204030204"/>
                <a:cs typeface="Calibri" panose="020F0502020204030204"/>
              </a:rPr>
              <a:t>Pasteurization Model</a:t>
            </a:r>
          </a:p>
        </p:txBody>
      </p:sp>
      <p:sp>
        <p:nvSpPr>
          <p:cNvPr id="4" name="Slide Number Placeholder 3">
            <a:extLst>
              <a:ext uri="{FF2B5EF4-FFF2-40B4-BE49-F238E27FC236}">
                <a16:creationId xmlns:a16="http://schemas.microsoft.com/office/drawing/2014/main" id="{E062AFFC-2056-352B-6A73-374AB834F07F}"/>
              </a:ext>
            </a:extLst>
          </p:cNvPr>
          <p:cNvSpPr>
            <a:spLocks noGrp="1"/>
          </p:cNvSpPr>
          <p:nvPr>
            <p:ph type="sldNum" sz="quarter" idx="12"/>
          </p:nvPr>
        </p:nvSpPr>
        <p:spPr/>
        <p:txBody>
          <a:bodyPr/>
          <a:lstStyle/>
          <a:p>
            <a:fld id="{48F63A3B-78C7-47BE-AE5E-E10140E04643}" type="slidenum">
              <a:rPr lang="en-US" smtClean="0"/>
              <a:t>5</a:t>
            </a:fld>
            <a:r>
              <a:rPr lang="en-US" dirty="0"/>
              <a:t>/36</a:t>
            </a:r>
          </a:p>
        </p:txBody>
      </p:sp>
      <p:sp>
        <p:nvSpPr>
          <p:cNvPr id="6" name="Rectangle: Rounded Corners 5">
            <a:extLst>
              <a:ext uri="{FF2B5EF4-FFF2-40B4-BE49-F238E27FC236}">
                <a16:creationId xmlns:a16="http://schemas.microsoft.com/office/drawing/2014/main" id="{2BFAF75D-E003-9208-624F-EA9F4546CBC1}"/>
              </a:ext>
            </a:extLst>
          </p:cNvPr>
          <p:cNvSpPr/>
          <p:nvPr/>
        </p:nvSpPr>
        <p:spPr>
          <a:xfrm>
            <a:off x="2086352" y="1509164"/>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Simulation</a:t>
            </a:r>
            <a:endParaRPr lang="en-US" sz="2000" dirty="0"/>
          </a:p>
        </p:txBody>
      </p:sp>
      <p:sp>
        <p:nvSpPr>
          <p:cNvPr id="7" name="Rectangle: Rounded Corners 6">
            <a:extLst>
              <a:ext uri="{FF2B5EF4-FFF2-40B4-BE49-F238E27FC236}">
                <a16:creationId xmlns:a16="http://schemas.microsoft.com/office/drawing/2014/main" id="{E3681F84-0118-A741-05FC-038947413EA5}"/>
              </a:ext>
            </a:extLst>
          </p:cNvPr>
          <p:cNvSpPr/>
          <p:nvPr/>
        </p:nvSpPr>
        <p:spPr>
          <a:xfrm>
            <a:off x="9044993" y="1509165"/>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Optimization</a:t>
            </a:r>
          </a:p>
        </p:txBody>
      </p:sp>
      <p:sp>
        <p:nvSpPr>
          <p:cNvPr id="8" name="Rectangle: Rounded Corners 7">
            <a:extLst>
              <a:ext uri="{FF2B5EF4-FFF2-40B4-BE49-F238E27FC236}">
                <a16:creationId xmlns:a16="http://schemas.microsoft.com/office/drawing/2014/main" id="{C2F0457C-BB42-EDD0-6818-F5731B65DBCD}"/>
              </a:ext>
            </a:extLst>
          </p:cNvPr>
          <p:cNvSpPr/>
          <p:nvPr/>
        </p:nvSpPr>
        <p:spPr>
          <a:xfrm>
            <a:off x="4458616" y="1509165"/>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Sensitivity Analysis</a:t>
            </a:r>
          </a:p>
        </p:txBody>
      </p:sp>
      <p:sp>
        <p:nvSpPr>
          <p:cNvPr id="9" name="Rectangle: Rounded Corners 8">
            <a:extLst>
              <a:ext uri="{FF2B5EF4-FFF2-40B4-BE49-F238E27FC236}">
                <a16:creationId xmlns:a16="http://schemas.microsoft.com/office/drawing/2014/main" id="{98C6898D-DA1C-E8B8-9DF1-017F64C65810}"/>
              </a:ext>
            </a:extLst>
          </p:cNvPr>
          <p:cNvSpPr/>
          <p:nvPr/>
        </p:nvSpPr>
        <p:spPr>
          <a:xfrm>
            <a:off x="6787747" y="1509164"/>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Uncertainty Analysis</a:t>
            </a:r>
          </a:p>
        </p:txBody>
      </p:sp>
      <p:sp>
        <p:nvSpPr>
          <p:cNvPr id="11" name="Content Placeholder 2">
            <a:extLst>
              <a:ext uri="{FF2B5EF4-FFF2-40B4-BE49-F238E27FC236}">
                <a16:creationId xmlns:a16="http://schemas.microsoft.com/office/drawing/2014/main" id="{3ADF838C-1A7C-64FD-4FEA-9F06FF3285E7}"/>
              </a:ext>
            </a:extLst>
          </p:cNvPr>
          <p:cNvSpPr txBox="1">
            <a:spLocks/>
          </p:cNvSpPr>
          <p:nvPr/>
        </p:nvSpPr>
        <p:spPr>
          <a:xfrm>
            <a:off x="65796" y="2817408"/>
            <a:ext cx="2018582" cy="111516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ea typeface="Calibri" panose="020F0502020204030204"/>
                <a:cs typeface="Calibri" panose="020F0502020204030204"/>
              </a:rPr>
              <a:t>Membrane Filtration Model</a:t>
            </a:r>
          </a:p>
        </p:txBody>
      </p:sp>
      <p:sp>
        <p:nvSpPr>
          <p:cNvPr id="12" name="Rectangle: Rounded Corners 11">
            <a:extLst>
              <a:ext uri="{FF2B5EF4-FFF2-40B4-BE49-F238E27FC236}">
                <a16:creationId xmlns:a16="http://schemas.microsoft.com/office/drawing/2014/main" id="{B28058C7-0B08-7786-98A8-5ED0D56DED1A}"/>
              </a:ext>
            </a:extLst>
          </p:cNvPr>
          <p:cNvSpPr/>
          <p:nvPr/>
        </p:nvSpPr>
        <p:spPr>
          <a:xfrm>
            <a:off x="2086351" y="2831880"/>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Simulation</a:t>
            </a:r>
            <a:endParaRPr lang="en-US" sz="2000" dirty="0"/>
          </a:p>
        </p:txBody>
      </p:sp>
      <p:sp>
        <p:nvSpPr>
          <p:cNvPr id="13" name="Rectangle: Rounded Corners 12">
            <a:extLst>
              <a:ext uri="{FF2B5EF4-FFF2-40B4-BE49-F238E27FC236}">
                <a16:creationId xmlns:a16="http://schemas.microsoft.com/office/drawing/2014/main" id="{7B16974C-4D6E-4B07-4D85-A415AA8AAD03}"/>
              </a:ext>
            </a:extLst>
          </p:cNvPr>
          <p:cNvSpPr/>
          <p:nvPr/>
        </p:nvSpPr>
        <p:spPr>
          <a:xfrm>
            <a:off x="9044992" y="2831881"/>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Optimization</a:t>
            </a:r>
          </a:p>
        </p:txBody>
      </p:sp>
      <p:sp>
        <p:nvSpPr>
          <p:cNvPr id="14" name="Rectangle: Rounded Corners 13">
            <a:extLst>
              <a:ext uri="{FF2B5EF4-FFF2-40B4-BE49-F238E27FC236}">
                <a16:creationId xmlns:a16="http://schemas.microsoft.com/office/drawing/2014/main" id="{FBC4E5FF-E115-78DC-DF4A-5C4AD5A54AC6}"/>
              </a:ext>
            </a:extLst>
          </p:cNvPr>
          <p:cNvSpPr/>
          <p:nvPr/>
        </p:nvSpPr>
        <p:spPr>
          <a:xfrm>
            <a:off x="4458615" y="2831881"/>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Sensitivity Analysis</a:t>
            </a:r>
          </a:p>
        </p:txBody>
      </p:sp>
      <p:sp>
        <p:nvSpPr>
          <p:cNvPr id="15" name="Rectangle: Rounded Corners 14">
            <a:extLst>
              <a:ext uri="{FF2B5EF4-FFF2-40B4-BE49-F238E27FC236}">
                <a16:creationId xmlns:a16="http://schemas.microsoft.com/office/drawing/2014/main" id="{49A2896F-2783-EC5A-8A7E-BF4333160C9D}"/>
              </a:ext>
            </a:extLst>
          </p:cNvPr>
          <p:cNvSpPr/>
          <p:nvPr/>
        </p:nvSpPr>
        <p:spPr>
          <a:xfrm>
            <a:off x="6787746" y="2831880"/>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Uncertainty Analysis</a:t>
            </a:r>
          </a:p>
        </p:txBody>
      </p:sp>
      <p:sp>
        <p:nvSpPr>
          <p:cNvPr id="20" name="Content Placeholder 2">
            <a:extLst>
              <a:ext uri="{FF2B5EF4-FFF2-40B4-BE49-F238E27FC236}">
                <a16:creationId xmlns:a16="http://schemas.microsoft.com/office/drawing/2014/main" id="{9A294DAC-EBBC-AF17-1AE8-5910CF76BA0F}"/>
              </a:ext>
            </a:extLst>
          </p:cNvPr>
          <p:cNvSpPr txBox="1">
            <a:spLocks/>
          </p:cNvSpPr>
          <p:nvPr/>
        </p:nvSpPr>
        <p:spPr>
          <a:xfrm>
            <a:off x="130574" y="4346559"/>
            <a:ext cx="1889026" cy="96229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ea typeface="Calibri" panose="020F0502020204030204"/>
                <a:cs typeface="Calibri" panose="020F0502020204030204"/>
              </a:rPr>
              <a:t>Integrated Model</a:t>
            </a:r>
          </a:p>
        </p:txBody>
      </p:sp>
      <p:sp>
        <p:nvSpPr>
          <p:cNvPr id="26" name="Minus Sign 25">
            <a:extLst>
              <a:ext uri="{FF2B5EF4-FFF2-40B4-BE49-F238E27FC236}">
                <a16:creationId xmlns:a16="http://schemas.microsoft.com/office/drawing/2014/main" id="{CE05DB12-59FB-0181-20C7-9C53F4229C5F}"/>
              </a:ext>
            </a:extLst>
          </p:cNvPr>
          <p:cNvSpPr/>
          <p:nvPr/>
        </p:nvSpPr>
        <p:spPr>
          <a:xfrm>
            <a:off x="11163998" y="2921802"/>
            <a:ext cx="585558" cy="325463"/>
          </a:xfrm>
          <a:prstGeom prst="mathMinus">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feld 4">
            <a:extLst>
              <a:ext uri="{FF2B5EF4-FFF2-40B4-BE49-F238E27FC236}">
                <a16:creationId xmlns:a16="http://schemas.microsoft.com/office/drawing/2014/main" id="{4B35F03B-07A2-ED70-AE6B-DC90FD6C0BDB}"/>
              </a:ext>
            </a:extLst>
          </p:cNvPr>
          <p:cNvSpPr txBox="1"/>
          <p:nvPr/>
        </p:nvSpPr>
        <p:spPr>
          <a:xfrm>
            <a:off x="3092824" y="5625353"/>
            <a:ext cx="6264088"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err="1">
                <a:solidFill>
                  <a:srgbClr val="000000"/>
                </a:solidFill>
                <a:ea typeface="+mn-lt"/>
                <a:cs typeface="+mn-lt"/>
              </a:rPr>
              <a:t>gPROMS</a:t>
            </a:r>
            <a:r>
              <a:rPr lang="en-US" sz="2800">
                <a:solidFill>
                  <a:srgbClr val="000000"/>
                </a:solidFill>
                <a:ea typeface="+mn-lt"/>
                <a:cs typeface="+mn-lt"/>
              </a:rPr>
              <a:t>™ </a:t>
            </a:r>
            <a:r>
              <a:rPr lang="en-US" sz="2800" err="1">
                <a:solidFill>
                  <a:srgbClr val="000000"/>
                </a:solidFill>
                <a:ea typeface="+mn-lt"/>
                <a:cs typeface="+mn-lt"/>
              </a:rPr>
              <a:t>FormulatedProducts</a:t>
            </a:r>
            <a:r>
              <a:rPr lang="en-US" sz="2800">
                <a:solidFill>
                  <a:srgbClr val="000000"/>
                </a:solidFill>
                <a:ea typeface="+mn-lt"/>
                <a:cs typeface="+mn-lt"/>
              </a:rPr>
              <a:t> v2015.1.0 (Siemens Digital Industries Software)</a:t>
            </a:r>
            <a:endParaRPr lang="de-DE">
              <a:ea typeface="Calibri" panose="020F0502020204030204"/>
              <a:cs typeface="Calibri" panose="020F0502020204030204"/>
            </a:endParaRPr>
          </a:p>
          <a:p>
            <a:pPr algn="ctr"/>
            <a:endParaRPr lang="de-DE"/>
          </a:p>
        </p:txBody>
      </p:sp>
      <p:sp>
        <p:nvSpPr>
          <p:cNvPr id="16" name="Title 1">
            <a:extLst>
              <a:ext uri="{FF2B5EF4-FFF2-40B4-BE49-F238E27FC236}">
                <a16:creationId xmlns:a16="http://schemas.microsoft.com/office/drawing/2014/main" id="{8E9E80EF-0F53-1492-2D09-78E10B833277}"/>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2.2 Methodology</a:t>
            </a:r>
          </a:p>
        </p:txBody>
      </p:sp>
      <p:sp>
        <p:nvSpPr>
          <p:cNvPr id="2" name="Rectangle: Rounded Corners 11">
            <a:extLst>
              <a:ext uri="{FF2B5EF4-FFF2-40B4-BE49-F238E27FC236}">
                <a16:creationId xmlns:a16="http://schemas.microsoft.com/office/drawing/2014/main" id="{D11E188D-CFCA-76E0-4476-C4A7A6CFE55D}"/>
              </a:ext>
            </a:extLst>
          </p:cNvPr>
          <p:cNvSpPr/>
          <p:nvPr/>
        </p:nvSpPr>
        <p:spPr>
          <a:xfrm>
            <a:off x="2062538"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Simulation</a:t>
            </a:r>
            <a:endParaRPr lang="en-US" sz="2000" dirty="0"/>
          </a:p>
        </p:txBody>
      </p:sp>
      <p:sp>
        <p:nvSpPr>
          <p:cNvPr id="10" name="Rectangle: Rounded Corners 12">
            <a:extLst>
              <a:ext uri="{FF2B5EF4-FFF2-40B4-BE49-F238E27FC236}">
                <a16:creationId xmlns:a16="http://schemas.microsoft.com/office/drawing/2014/main" id="{48982667-3DE9-1398-9D53-610A520009C3}"/>
              </a:ext>
            </a:extLst>
          </p:cNvPr>
          <p:cNvSpPr/>
          <p:nvPr/>
        </p:nvSpPr>
        <p:spPr>
          <a:xfrm>
            <a:off x="9021180"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Optimization</a:t>
            </a:r>
          </a:p>
        </p:txBody>
      </p:sp>
      <p:sp>
        <p:nvSpPr>
          <p:cNvPr id="17" name="Rectangle: Rounded Corners 13">
            <a:extLst>
              <a:ext uri="{FF2B5EF4-FFF2-40B4-BE49-F238E27FC236}">
                <a16:creationId xmlns:a16="http://schemas.microsoft.com/office/drawing/2014/main" id="{558B2F68-334C-F144-566D-26618D4004E2}"/>
              </a:ext>
            </a:extLst>
          </p:cNvPr>
          <p:cNvSpPr/>
          <p:nvPr/>
        </p:nvSpPr>
        <p:spPr>
          <a:xfrm>
            <a:off x="4434802"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Sensitivity Analysis</a:t>
            </a:r>
          </a:p>
        </p:txBody>
      </p:sp>
      <p:sp>
        <p:nvSpPr>
          <p:cNvPr id="18" name="Rectangle: Rounded Corners 14">
            <a:extLst>
              <a:ext uri="{FF2B5EF4-FFF2-40B4-BE49-F238E27FC236}">
                <a16:creationId xmlns:a16="http://schemas.microsoft.com/office/drawing/2014/main" id="{B35EB886-2011-8B45-F130-5E536689E44A}"/>
              </a:ext>
            </a:extLst>
          </p:cNvPr>
          <p:cNvSpPr/>
          <p:nvPr/>
        </p:nvSpPr>
        <p:spPr>
          <a:xfrm>
            <a:off x="6763933" y="4284443"/>
            <a:ext cx="2013417" cy="702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dirty="0">
                <a:ea typeface="Calibri"/>
                <a:cs typeface="Calibri"/>
              </a:rPr>
              <a:t>Uncertainty Analysis</a:t>
            </a:r>
          </a:p>
        </p:txBody>
      </p:sp>
      <p:sp>
        <p:nvSpPr>
          <p:cNvPr id="27" name="Pfeil: nach oben gebogen 26">
            <a:extLst>
              <a:ext uri="{FF2B5EF4-FFF2-40B4-BE49-F238E27FC236}">
                <a16:creationId xmlns:a16="http://schemas.microsoft.com/office/drawing/2014/main" id="{07E85420-9DF4-B838-416C-90DCA82C480A}"/>
              </a:ext>
            </a:extLst>
          </p:cNvPr>
          <p:cNvSpPr/>
          <p:nvPr/>
        </p:nvSpPr>
        <p:spPr>
          <a:xfrm rot="10800000">
            <a:off x="3034327" y="3829272"/>
            <a:ext cx="8673399" cy="378130"/>
          </a:xfrm>
          <a:prstGeom prst="bentUp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DE857B3D-8DDC-BE6A-DE52-A3B623B30E19}"/>
              </a:ext>
            </a:extLst>
          </p:cNvPr>
          <p:cNvSpPr/>
          <p:nvPr/>
        </p:nvSpPr>
        <p:spPr>
          <a:xfrm>
            <a:off x="11603921" y="1768677"/>
            <a:ext cx="98262" cy="213203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Minus Sign 25">
            <a:extLst>
              <a:ext uri="{FF2B5EF4-FFF2-40B4-BE49-F238E27FC236}">
                <a16:creationId xmlns:a16="http://schemas.microsoft.com/office/drawing/2014/main" id="{DC8FD5E2-68C4-614D-DC41-07A73C9782A8}"/>
              </a:ext>
            </a:extLst>
          </p:cNvPr>
          <p:cNvSpPr/>
          <p:nvPr/>
        </p:nvSpPr>
        <p:spPr>
          <a:xfrm>
            <a:off x="11163997" y="1671645"/>
            <a:ext cx="585558" cy="325463"/>
          </a:xfrm>
          <a:prstGeom prst="mathMinus">
            <a:avLst/>
          </a:pr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Minus Sign 24">
            <a:extLst>
              <a:ext uri="{FF2B5EF4-FFF2-40B4-BE49-F238E27FC236}">
                <a16:creationId xmlns:a16="http://schemas.microsoft.com/office/drawing/2014/main" id="{DBE8E486-7153-E08B-520A-F2C22CB67A1D}"/>
              </a:ext>
            </a:extLst>
          </p:cNvPr>
          <p:cNvSpPr/>
          <p:nvPr/>
        </p:nvSpPr>
        <p:spPr>
          <a:xfrm>
            <a:off x="11080656" y="1675014"/>
            <a:ext cx="1049901" cy="230215"/>
          </a:xfrm>
          <a:prstGeom prst="mathMinus">
            <a:avLst/>
          </a:prstGeom>
          <a:solidFill>
            <a:srgbClr val="DAE3F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8463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6" grpId="0" animBg="1"/>
      <p:bldP spid="5" grpId="0"/>
      <p:bldP spid="2" grpId="0" animBg="1"/>
      <p:bldP spid="10" grpId="0" animBg="1"/>
      <p:bldP spid="17" grpId="0" animBg="1"/>
      <p:bldP spid="18" grpId="0" animBg="1"/>
      <p:bldP spid="27"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32336-E3A2-BAFB-482B-1305C5F662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C73D0F-A85E-6516-E302-89D185C8A5CF}"/>
              </a:ext>
            </a:extLst>
          </p:cNvPr>
          <p:cNvSpPr>
            <a:spLocks noGrp="1"/>
          </p:cNvSpPr>
          <p:nvPr>
            <p:ph idx="1"/>
          </p:nvPr>
        </p:nvSpPr>
        <p:spPr>
          <a:xfrm>
            <a:off x="504173" y="1710803"/>
            <a:ext cx="5588696" cy="4643611"/>
          </a:xfrm>
        </p:spPr>
        <p:txBody>
          <a:bodyPr vert="horz" lIns="91440" tIns="45720" rIns="91440" bIns="45720" rtlCol="0" anchor="t">
            <a:normAutofit/>
          </a:bodyPr>
          <a:lstStyle/>
          <a:p>
            <a:pPr marL="0" indent="0" algn="ctr">
              <a:buNone/>
            </a:pPr>
            <a:r>
              <a:rPr lang="en-US" u="sng" dirty="0">
                <a:ea typeface="Calibri"/>
                <a:cs typeface="Calibri"/>
              </a:rPr>
              <a:t>Heat exchangers</a:t>
            </a:r>
          </a:p>
          <a:p>
            <a:pPr marL="0" indent="0" algn="ctr">
              <a:buNone/>
            </a:pPr>
            <a:r>
              <a:rPr lang="en-US" dirty="0">
                <a:ea typeface="Calibri"/>
                <a:cs typeface="Calibri"/>
              </a:rPr>
              <a:t>Plate, shell-and-tube</a:t>
            </a:r>
          </a:p>
          <a:p>
            <a:pPr marL="0" indent="0" algn="ctr">
              <a:buNone/>
            </a:pPr>
            <a:r>
              <a:rPr lang="en-US" dirty="0">
                <a:ea typeface="Calibri"/>
                <a:cs typeface="Calibri"/>
              </a:rPr>
              <a:t>Corrugated plates</a:t>
            </a:r>
          </a:p>
          <a:p>
            <a:pPr marL="0" indent="0" algn="ctr">
              <a:buNone/>
            </a:pPr>
            <a:r>
              <a:rPr lang="en-US" dirty="0">
                <a:ea typeface="Calibri"/>
                <a:cs typeface="Calibri"/>
              </a:rPr>
              <a:t>Narrow channels</a:t>
            </a:r>
            <a:endParaRPr lang="en-US" dirty="0"/>
          </a:p>
          <a:p>
            <a:pPr marL="0" indent="0" algn="ctr">
              <a:buNone/>
            </a:pPr>
            <a:r>
              <a:rPr lang="en-US" dirty="0">
                <a:ea typeface="Calibri"/>
                <a:cs typeface="Calibri"/>
              </a:rPr>
              <a:t>Heat transfer, pressure drop, fouling</a:t>
            </a:r>
          </a:p>
          <a:p>
            <a:pPr marL="0" indent="0" algn="ctr">
              <a:buNone/>
            </a:pPr>
            <a:r>
              <a:rPr lang="en-US" dirty="0">
                <a:ea typeface="Calibri"/>
                <a:cs typeface="Calibri"/>
              </a:rPr>
              <a:t>Modular design</a:t>
            </a:r>
          </a:p>
          <a:p>
            <a:pPr marL="0" indent="0" algn="ctr">
              <a:buNone/>
            </a:pPr>
            <a:r>
              <a:rPr lang="en-US" dirty="0">
                <a:ea typeface="Calibri"/>
                <a:cs typeface="Calibri"/>
              </a:rPr>
              <a:t>Size</a:t>
            </a:r>
          </a:p>
          <a:p>
            <a:pPr marL="0" indent="0" algn="ctr">
              <a:buNone/>
            </a:pPr>
            <a:r>
              <a:rPr lang="en-US" dirty="0">
                <a:ea typeface="Calibri"/>
                <a:cs typeface="Calibri"/>
              </a:rPr>
              <a:t>Cleaning, operating time</a:t>
            </a:r>
          </a:p>
        </p:txBody>
      </p:sp>
      <p:sp>
        <p:nvSpPr>
          <p:cNvPr id="4" name="Slide Number Placeholder 3">
            <a:extLst>
              <a:ext uri="{FF2B5EF4-FFF2-40B4-BE49-F238E27FC236}">
                <a16:creationId xmlns:a16="http://schemas.microsoft.com/office/drawing/2014/main" id="{4A95BA71-A571-57E3-C09B-678945C453F1}"/>
              </a:ext>
            </a:extLst>
          </p:cNvPr>
          <p:cNvSpPr>
            <a:spLocks noGrp="1"/>
          </p:cNvSpPr>
          <p:nvPr>
            <p:ph type="sldNum" sz="quarter" idx="12"/>
          </p:nvPr>
        </p:nvSpPr>
        <p:spPr/>
        <p:txBody>
          <a:bodyPr/>
          <a:lstStyle/>
          <a:p>
            <a:fld id="{48F63A3B-78C7-47BE-AE5E-E10140E04643}" type="slidenum">
              <a:rPr lang="en-US" smtClean="0"/>
              <a:t>6</a:t>
            </a:fld>
            <a:r>
              <a:rPr lang="en-US" dirty="0"/>
              <a:t>/36</a:t>
            </a:r>
          </a:p>
        </p:txBody>
      </p:sp>
      <p:sp>
        <p:nvSpPr>
          <p:cNvPr id="7" name="Content Placeholder 2">
            <a:extLst>
              <a:ext uri="{FF2B5EF4-FFF2-40B4-BE49-F238E27FC236}">
                <a16:creationId xmlns:a16="http://schemas.microsoft.com/office/drawing/2014/main" id="{6D4175D1-8AE8-420A-A5AB-D81BB4DCD420}"/>
              </a:ext>
            </a:extLst>
          </p:cNvPr>
          <p:cNvSpPr txBox="1">
            <a:spLocks/>
          </p:cNvSpPr>
          <p:nvPr/>
        </p:nvSpPr>
        <p:spPr>
          <a:xfrm>
            <a:off x="6100017" y="1710803"/>
            <a:ext cx="5588696"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u="sng" dirty="0">
                <a:ea typeface="Calibri"/>
                <a:cs typeface="Calibri"/>
              </a:rPr>
              <a:t>Ultrafiltration membrane</a:t>
            </a:r>
            <a:endParaRPr lang="de-DE" dirty="0" err="1">
              <a:ea typeface="Calibri"/>
              <a:cs typeface="Calibri"/>
            </a:endParaRPr>
          </a:p>
          <a:p>
            <a:pPr marL="0" indent="0" algn="ctr">
              <a:buNone/>
            </a:pPr>
            <a:r>
              <a:rPr lang="en-US" dirty="0">
                <a:ea typeface="Calibri"/>
                <a:cs typeface="Calibri"/>
              </a:rPr>
              <a:t>Retentate, permeate</a:t>
            </a:r>
          </a:p>
          <a:p>
            <a:pPr marL="0" indent="0" algn="ctr">
              <a:buNone/>
            </a:pPr>
            <a:r>
              <a:rPr lang="de-DE" dirty="0">
                <a:ea typeface="Calibri"/>
                <a:cs typeface="Calibri"/>
              </a:rPr>
              <a:t>1-800 kDa </a:t>
            </a:r>
            <a:r>
              <a:rPr lang="en-US" dirty="0">
                <a:ea typeface="Calibri"/>
                <a:cs typeface="Calibri"/>
              </a:rPr>
              <a:t>cut-off</a:t>
            </a:r>
            <a:endParaRPr lang="de-DE" dirty="0">
              <a:ea typeface="Calibri"/>
              <a:cs typeface="Calibri"/>
            </a:endParaRPr>
          </a:p>
          <a:p>
            <a:pPr marL="0" indent="0" algn="ctr">
              <a:buNone/>
            </a:pPr>
            <a:r>
              <a:rPr lang="de-DE" dirty="0">
                <a:ea typeface="Calibri"/>
                <a:cs typeface="Calibri"/>
              </a:rPr>
              <a:t>Milk concentration</a:t>
            </a:r>
          </a:p>
          <a:p>
            <a:pPr marL="0" indent="0" algn="ctr">
              <a:buNone/>
            </a:pPr>
            <a:r>
              <a:rPr lang="de-DE" dirty="0">
                <a:ea typeface="Calibri"/>
                <a:cs typeface="Calibri"/>
              </a:rPr>
              <a:t>Temperature, pressure</a:t>
            </a:r>
          </a:p>
          <a:p>
            <a:pPr marL="0" indent="0" algn="ctr">
              <a:buNone/>
            </a:pPr>
            <a:r>
              <a:rPr lang="de-DE" dirty="0">
                <a:ea typeface="Calibri"/>
                <a:cs typeface="Calibri"/>
              </a:rPr>
              <a:t>Membrane material</a:t>
            </a:r>
          </a:p>
          <a:p>
            <a:pPr marL="0" indent="0" algn="ctr">
              <a:buNone/>
            </a:pPr>
            <a:r>
              <a:rPr lang="de-DE" dirty="0">
                <a:ea typeface="Calibri"/>
                <a:cs typeface="Calibri"/>
              </a:rPr>
              <a:t>Adding stages</a:t>
            </a:r>
          </a:p>
          <a:p>
            <a:pPr marL="0" indent="0" algn="ctr">
              <a:buNone/>
            </a:pPr>
            <a:r>
              <a:rPr lang="de-DE" dirty="0">
                <a:ea typeface="Calibri"/>
                <a:cs typeface="Calibri"/>
              </a:rPr>
              <a:t>Membrane types combination</a:t>
            </a:r>
          </a:p>
        </p:txBody>
      </p:sp>
      <p:sp>
        <p:nvSpPr>
          <p:cNvPr id="6" name="Title 1">
            <a:extLst>
              <a:ext uri="{FF2B5EF4-FFF2-40B4-BE49-F238E27FC236}">
                <a16:creationId xmlns:a16="http://schemas.microsoft.com/office/drawing/2014/main" id="{035B61C8-2431-E300-65E1-17E1C2198A8F}"/>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3.1 Technical description of main process equipment</a:t>
            </a:r>
          </a:p>
        </p:txBody>
      </p:sp>
    </p:spTree>
    <p:extLst>
      <p:ext uri="{BB962C8B-B14F-4D97-AF65-F5344CB8AC3E}">
        <p14:creationId xmlns:p14="http://schemas.microsoft.com/office/powerpoint/2010/main" val="232582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17E5D-6EB6-0CB5-8BA7-D5371F768BCE}"/>
              </a:ext>
            </a:extLst>
          </p:cNvPr>
          <p:cNvSpPr>
            <a:spLocks noGrp="1"/>
          </p:cNvSpPr>
          <p:nvPr>
            <p:ph idx="1"/>
          </p:nvPr>
        </p:nvSpPr>
        <p:spPr>
          <a:xfrm>
            <a:off x="1287945" y="1818020"/>
            <a:ext cx="9605970" cy="2598739"/>
          </a:xfrm>
        </p:spPr>
        <p:txBody>
          <a:bodyPr vert="horz" lIns="91440" tIns="45720" rIns="91440" bIns="45720" rtlCol="0" anchor="t">
            <a:normAutofit/>
          </a:bodyPr>
          <a:lstStyle/>
          <a:p>
            <a:pPr marL="0" indent="0" algn="ctr">
              <a:buNone/>
            </a:pPr>
            <a:r>
              <a:rPr lang="en-US" u="sng" dirty="0">
                <a:ea typeface="Calibri"/>
                <a:cs typeface="Calibri"/>
              </a:rPr>
              <a:t>Pasteurization</a:t>
            </a:r>
          </a:p>
          <a:p>
            <a:pPr marL="0" indent="0" algn="ctr">
              <a:buNone/>
            </a:pPr>
            <a:r>
              <a:rPr lang="en-US" dirty="0">
                <a:ea typeface="Calibri"/>
                <a:cs typeface="Calibri"/>
              </a:rPr>
              <a:t>Enzyme inactivation (phosphatase)</a:t>
            </a:r>
          </a:p>
          <a:p>
            <a:pPr marL="0" indent="0" algn="ctr">
              <a:buNone/>
            </a:pPr>
            <a:r>
              <a:rPr lang="en-US" dirty="0">
                <a:ea typeface="Calibri"/>
                <a:cs typeface="Calibri"/>
              </a:rPr>
              <a:t>Protein denaturation (β-LG, α-LA, Ig)</a:t>
            </a:r>
          </a:p>
          <a:p>
            <a:pPr marL="0" indent="0" algn="ctr">
              <a:buNone/>
            </a:pPr>
            <a:r>
              <a:rPr lang="en-US" dirty="0">
                <a:ea typeface="Calibri"/>
                <a:cs typeface="Calibri"/>
              </a:rPr>
              <a:t>Fouling</a:t>
            </a:r>
          </a:p>
          <a:p>
            <a:pPr marL="0" indent="0" algn="ctr">
              <a:buNone/>
            </a:pPr>
            <a:r>
              <a:rPr lang="en-US" sz="2600" dirty="0">
                <a:ea typeface="Calibri"/>
                <a:cs typeface="Calibri"/>
              </a:rPr>
              <a:t>Microorganism growth (</a:t>
            </a:r>
            <a:r>
              <a:rPr lang="en-US" sz="2600" i="1" dirty="0">
                <a:ea typeface="Calibri"/>
                <a:cs typeface="Calibri"/>
              </a:rPr>
              <a:t>Streptococcus thermophilus</a:t>
            </a:r>
            <a:r>
              <a:rPr lang="en-US" sz="2600" dirty="0">
                <a:ea typeface="Calibri"/>
                <a:cs typeface="Calibri"/>
              </a:rPr>
              <a:t>)</a:t>
            </a:r>
            <a:endParaRPr lang="en-US" dirty="0">
              <a:ea typeface="Calibri"/>
              <a:cs typeface="Calibri"/>
            </a:endParaRPr>
          </a:p>
        </p:txBody>
      </p:sp>
      <p:sp>
        <p:nvSpPr>
          <p:cNvPr id="4" name="Slide Number Placeholder 3">
            <a:extLst>
              <a:ext uri="{FF2B5EF4-FFF2-40B4-BE49-F238E27FC236}">
                <a16:creationId xmlns:a16="http://schemas.microsoft.com/office/drawing/2014/main" id="{ECCD77C2-722A-1AF4-B670-10B79F9194DC}"/>
              </a:ext>
            </a:extLst>
          </p:cNvPr>
          <p:cNvSpPr>
            <a:spLocks noGrp="1"/>
          </p:cNvSpPr>
          <p:nvPr>
            <p:ph type="sldNum" sz="quarter" idx="12"/>
          </p:nvPr>
        </p:nvSpPr>
        <p:spPr/>
        <p:txBody>
          <a:bodyPr/>
          <a:lstStyle/>
          <a:p>
            <a:fld id="{48F63A3B-78C7-47BE-AE5E-E10140E04643}" type="slidenum">
              <a:rPr lang="en-US" smtClean="0"/>
              <a:t>7</a:t>
            </a:fld>
            <a:r>
              <a:rPr lang="en-US" dirty="0"/>
              <a:t>/36</a:t>
            </a:r>
          </a:p>
        </p:txBody>
      </p:sp>
      <p:sp>
        <p:nvSpPr>
          <p:cNvPr id="7" name="Content Placeholder 2">
            <a:extLst>
              <a:ext uri="{FF2B5EF4-FFF2-40B4-BE49-F238E27FC236}">
                <a16:creationId xmlns:a16="http://schemas.microsoft.com/office/drawing/2014/main" id="{4110F219-DC26-D6C6-21E2-1BBBA92F51B0}"/>
              </a:ext>
            </a:extLst>
          </p:cNvPr>
          <p:cNvSpPr txBox="1">
            <a:spLocks/>
          </p:cNvSpPr>
          <p:nvPr/>
        </p:nvSpPr>
        <p:spPr>
          <a:xfrm>
            <a:off x="3308215" y="5068674"/>
            <a:ext cx="5588696" cy="129245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u="sng" dirty="0">
                <a:ea typeface="Calibri"/>
                <a:cs typeface="Calibri"/>
              </a:rPr>
              <a:t>Membrane filtration</a:t>
            </a:r>
          </a:p>
          <a:p>
            <a:pPr marL="0" indent="0" algn="ctr">
              <a:buNone/>
            </a:pPr>
            <a:r>
              <a:rPr lang="en-US" dirty="0">
                <a:ea typeface="Calibri"/>
                <a:cs typeface="Calibri"/>
              </a:rPr>
              <a:t>Fouling</a:t>
            </a:r>
          </a:p>
        </p:txBody>
      </p:sp>
      <p:sp>
        <p:nvSpPr>
          <p:cNvPr id="6" name="Title 1">
            <a:extLst>
              <a:ext uri="{FF2B5EF4-FFF2-40B4-BE49-F238E27FC236}">
                <a16:creationId xmlns:a16="http://schemas.microsoft.com/office/drawing/2014/main" id="{E95BE654-6327-C0FC-4213-80BA265A6889}"/>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3.2 Theoretical background-Phenomena studied </a:t>
            </a:r>
          </a:p>
        </p:txBody>
      </p:sp>
    </p:spTree>
    <p:extLst>
      <p:ext uri="{BB962C8B-B14F-4D97-AF65-F5344CB8AC3E}">
        <p14:creationId xmlns:p14="http://schemas.microsoft.com/office/powerpoint/2010/main" val="88387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7A34D-692A-0631-24DE-6B6828FA1508}"/>
            </a:ext>
          </a:extLst>
        </p:cNvPr>
        <p:cNvGrpSpPr/>
        <p:nvPr/>
      </p:nvGrpSpPr>
      <p:grpSpPr>
        <a:xfrm>
          <a:off x="0" y="0"/>
          <a:ext cx="0" cy="0"/>
          <a:chOff x="0" y="0"/>
          <a:chExt cx="0" cy="0"/>
        </a:xfrm>
      </p:grpSpPr>
      <p:grpSp>
        <p:nvGrpSpPr>
          <p:cNvPr id="27" name="Gruppieren 26">
            <a:extLst>
              <a:ext uri="{FF2B5EF4-FFF2-40B4-BE49-F238E27FC236}">
                <a16:creationId xmlns:a16="http://schemas.microsoft.com/office/drawing/2014/main" id="{8FA08EDF-4226-6D02-1BA7-84944DED775E}"/>
              </a:ext>
            </a:extLst>
          </p:cNvPr>
          <p:cNvGrpSpPr/>
          <p:nvPr/>
        </p:nvGrpSpPr>
        <p:grpSpPr>
          <a:xfrm>
            <a:off x="390073" y="1595648"/>
            <a:ext cx="4321927" cy="4616005"/>
            <a:chOff x="296127" y="1595648"/>
            <a:chExt cx="4321927" cy="4616005"/>
          </a:xfrm>
        </p:grpSpPr>
        <p:sp>
          <p:nvSpPr>
            <p:cNvPr id="2" name="Rechteck 1">
              <a:extLst>
                <a:ext uri="{FF2B5EF4-FFF2-40B4-BE49-F238E27FC236}">
                  <a16:creationId xmlns:a16="http://schemas.microsoft.com/office/drawing/2014/main" id="{A68C94F0-6ECD-A1F9-CC24-B64989C615EE}"/>
                </a:ext>
              </a:extLst>
            </p:cNvPr>
            <p:cNvSpPr/>
            <p:nvPr/>
          </p:nvSpPr>
          <p:spPr>
            <a:xfrm>
              <a:off x="296127" y="1595648"/>
              <a:ext cx="4321927" cy="461600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descr="Ein Bild, das Text, Schrift, Screenshot, Diagramm enthält.&#10;&#10;KI-generierte Inhalte können fehlerhaft sein.">
              <a:extLst>
                <a:ext uri="{FF2B5EF4-FFF2-40B4-BE49-F238E27FC236}">
                  <a16:creationId xmlns:a16="http://schemas.microsoft.com/office/drawing/2014/main" id="{6C549D0C-BFE1-6E6A-AE8A-CE15706267F4}"/>
                </a:ext>
              </a:extLst>
            </p:cNvPr>
            <p:cNvPicPr>
              <a:picLocks noChangeAspect="1"/>
            </p:cNvPicPr>
            <p:nvPr/>
          </p:nvPicPr>
          <p:blipFill>
            <a:blip r:embed="rId3"/>
            <a:srcRect l="2505" t="130" r="29901" b="4082"/>
            <a:stretch>
              <a:fillRect/>
            </a:stretch>
          </p:blipFill>
          <p:spPr>
            <a:xfrm>
              <a:off x="480331" y="2834959"/>
              <a:ext cx="3129029" cy="2627655"/>
            </a:xfrm>
            <a:prstGeom prst="rect">
              <a:avLst/>
            </a:prstGeom>
          </p:spPr>
        </p:pic>
        <p:pic>
          <p:nvPicPr>
            <p:cNvPr id="13" name="Grafik 12" descr="Ein Bild, das Text, Schrift, Handschrift, weiß enthält.&#10;&#10;KI-generierte Inhalte können fehlerhaft sein.">
              <a:extLst>
                <a:ext uri="{FF2B5EF4-FFF2-40B4-BE49-F238E27FC236}">
                  <a16:creationId xmlns:a16="http://schemas.microsoft.com/office/drawing/2014/main" id="{77330F0A-88D5-5C89-AD35-CFFF453DB2AB}"/>
                </a:ext>
              </a:extLst>
            </p:cNvPr>
            <p:cNvPicPr>
              <a:picLocks noChangeAspect="1"/>
            </p:cNvPicPr>
            <p:nvPr/>
          </p:nvPicPr>
          <p:blipFill>
            <a:blip r:embed="rId4"/>
            <a:srcRect l="5824" t="9734" r="14332" b="-4845"/>
            <a:stretch>
              <a:fillRect/>
            </a:stretch>
          </p:blipFill>
          <p:spPr>
            <a:xfrm>
              <a:off x="477865" y="1718921"/>
              <a:ext cx="2745438" cy="1204876"/>
            </a:xfrm>
            <a:prstGeom prst="rect">
              <a:avLst/>
            </a:prstGeom>
          </p:spPr>
        </p:pic>
        <p:pic>
          <p:nvPicPr>
            <p:cNvPr id="3" name="Grafik 2" descr="Ein Bild, das Text, Schrift, weiß, Typografie enthält.&#10;&#10;KI-generierte Inhalte können fehlerhaft sein.">
              <a:extLst>
                <a:ext uri="{FF2B5EF4-FFF2-40B4-BE49-F238E27FC236}">
                  <a16:creationId xmlns:a16="http://schemas.microsoft.com/office/drawing/2014/main" id="{FC71C879-8951-535E-8695-1E9DE66C8478}"/>
                </a:ext>
              </a:extLst>
            </p:cNvPr>
            <p:cNvPicPr>
              <a:picLocks noChangeAspect="1"/>
            </p:cNvPicPr>
            <p:nvPr/>
          </p:nvPicPr>
          <p:blipFill>
            <a:blip r:embed="rId5"/>
            <a:srcRect l="1199" t="3772" r="51079" b="22727"/>
            <a:stretch>
              <a:fillRect/>
            </a:stretch>
          </p:blipFill>
          <p:spPr>
            <a:xfrm>
              <a:off x="484420" y="5647578"/>
              <a:ext cx="2231845" cy="546076"/>
            </a:xfrm>
            <a:prstGeom prst="rect">
              <a:avLst/>
            </a:prstGeom>
          </p:spPr>
        </p:pic>
        <p:pic>
          <p:nvPicPr>
            <p:cNvPr id="4" name="Grafik 3" descr="Ein Bild, das Text, Schrift, Handschrift, weiß enthält.&#10;&#10;KI-generierte Inhalte können fehlerhaft sein.">
              <a:extLst>
                <a:ext uri="{FF2B5EF4-FFF2-40B4-BE49-F238E27FC236}">
                  <a16:creationId xmlns:a16="http://schemas.microsoft.com/office/drawing/2014/main" id="{BAA36A61-4FAF-575C-E5AE-945DCB40C88E}"/>
                </a:ext>
              </a:extLst>
            </p:cNvPr>
            <p:cNvPicPr>
              <a:picLocks noChangeAspect="1"/>
            </p:cNvPicPr>
            <p:nvPr/>
          </p:nvPicPr>
          <p:blipFill>
            <a:blip r:embed="rId4"/>
            <a:srcRect l="84365" t="9957" r="3583" b="12531"/>
            <a:stretch>
              <a:fillRect/>
            </a:stretch>
          </p:blipFill>
          <p:spPr>
            <a:xfrm>
              <a:off x="4002932" y="1719738"/>
              <a:ext cx="414419" cy="981954"/>
            </a:xfrm>
            <a:prstGeom prst="rect">
              <a:avLst/>
            </a:prstGeom>
          </p:spPr>
        </p:pic>
        <p:pic>
          <p:nvPicPr>
            <p:cNvPr id="5" name="Grafik 4" descr="Ein Bild, das Text, Schrift, Screenshot, Diagramm enthält.&#10;&#10;KI-generierte Inhalte können fehlerhaft sein.">
              <a:extLst>
                <a:ext uri="{FF2B5EF4-FFF2-40B4-BE49-F238E27FC236}">
                  <a16:creationId xmlns:a16="http://schemas.microsoft.com/office/drawing/2014/main" id="{D0758E88-082C-EF0C-D700-A20508B763F6}"/>
                </a:ext>
              </a:extLst>
            </p:cNvPr>
            <p:cNvPicPr>
              <a:picLocks noChangeAspect="1"/>
            </p:cNvPicPr>
            <p:nvPr/>
          </p:nvPicPr>
          <p:blipFill>
            <a:blip r:embed="rId3"/>
            <a:srcRect l="89588" t="750" r="484" b="4315"/>
            <a:stretch>
              <a:fillRect/>
            </a:stretch>
          </p:blipFill>
          <p:spPr>
            <a:xfrm>
              <a:off x="3961486" y="2840767"/>
              <a:ext cx="459560" cy="2604240"/>
            </a:xfrm>
            <a:prstGeom prst="rect">
              <a:avLst/>
            </a:prstGeom>
          </p:spPr>
        </p:pic>
        <p:pic>
          <p:nvPicPr>
            <p:cNvPr id="22" name="Grafik 21" descr="Ein Bild, das Text, Schrift, Handschrift, weiß enthält.&#10;&#10;KI-generierte Inhalte können fehlerhaft sein.">
              <a:extLst>
                <a:ext uri="{FF2B5EF4-FFF2-40B4-BE49-F238E27FC236}">
                  <a16:creationId xmlns:a16="http://schemas.microsoft.com/office/drawing/2014/main" id="{A5C395F3-B9B1-AD00-BAE7-F8D908AD1E74}"/>
                </a:ext>
              </a:extLst>
            </p:cNvPr>
            <p:cNvPicPr>
              <a:picLocks noChangeAspect="1"/>
            </p:cNvPicPr>
            <p:nvPr/>
          </p:nvPicPr>
          <p:blipFill>
            <a:blip r:embed="rId6"/>
            <a:srcRect l="89744" r="1442" b="68750"/>
            <a:stretch>
              <a:fillRect/>
            </a:stretch>
          </p:blipFill>
          <p:spPr>
            <a:xfrm>
              <a:off x="3998633" y="5647579"/>
              <a:ext cx="616203" cy="559594"/>
            </a:xfrm>
            <a:prstGeom prst="rect">
              <a:avLst/>
            </a:prstGeom>
          </p:spPr>
        </p:pic>
      </p:grpSp>
      <p:grpSp>
        <p:nvGrpSpPr>
          <p:cNvPr id="28" name="Gruppieren 27">
            <a:extLst>
              <a:ext uri="{FF2B5EF4-FFF2-40B4-BE49-F238E27FC236}">
                <a16:creationId xmlns:a16="http://schemas.microsoft.com/office/drawing/2014/main" id="{A173742F-579C-C271-50C4-2857A598506D}"/>
              </a:ext>
            </a:extLst>
          </p:cNvPr>
          <p:cNvGrpSpPr/>
          <p:nvPr/>
        </p:nvGrpSpPr>
        <p:grpSpPr>
          <a:xfrm>
            <a:off x="5117309" y="1108324"/>
            <a:ext cx="6670556" cy="5252743"/>
            <a:chOff x="5358733" y="1595646"/>
            <a:chExt cx="6670556" cy="5252743"/>
          </a:xfrm>
        </p:grpSpPr>
        <p:sp>
          <p:nvSpPr>
            <p:cNvPr id="26" name="Rechteck 25">
              <a:extLst>
                <a:ext uri="{FF2B5EF4-FFF2-40B4-BE49-F238E27FC236}">
                  <a16:creationId xmlns:a16="http://schemas.microsoft.com/office/drawing/2014/main" id="{A697EE26-8A99-8549-F79C-A17D111DD12B}"/>
                </a:ext>
              </a:extLst>
            </p:cNvPr>
            <p:cNvSpPr/>
            <p:nvPr/>
          </p:nvSpPr>
          <p:spPr>
            <a:xfrm>
              <a:off x="5358733" y="1595646"/>
              <a:ext cx="6670556" cy="525274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descr="Ein Bild, das Text, Schrift, weiß, Typografie enthält.&#10;&#10;KI-generierte Inhalte können fehlerhaft sein.">
              <a:extLst>
                <a:ext uri="{FF2B5EF4-FFF2-40B4-BE49-F238E27FC236}">
                  <a16:creationId xmlns:a16="http://schemas.microsoft.com/office/drawing/2014/main" id="{5A600CBB-E0FE-BC07-A686-E1769A36E21B}"/>
                </a:ext>
              </a:extLst>
            </p:cNvPr>
            <p:cNvPicPr>
              <a:picLocks noChangeAspect="1"/>
            </p:cNvPicPr>
            <p:nvPr/>
          </p:nvPicPr>
          <p:blipFill>
            <a:blip r:embed="rId5"/>
            <a:srcRect l="87530" t="24242" r="-240" b="19697"/>
            <a:stretch>
              <a:fillRect/>
            </a:stretch>
          </p:blipFill>
          <p:spPr>
            <a:xfrm>
              <a:off x="11406318" y="6212824"/>
              <a:ext cx="594419" cy="416505"/>
            </a:xfrm>
            <a:prstGeom prst="rect">
              <a:avLst/>
            </a:prstGeom>
          </p:spPr>
        </p:pic>
        <p:pic>
          <p:nvPicPr>
            <p:cNvPr id="10" name="Grafik 9" descr="Ein Bild, das Text, Schrift, Handschrift, weiß enthält.&#10;&#10;KI-generierte Inhalte können fehlerhaft sein.">
              <a:extLst>
                <a:ext uri="{FF2B5EF4-FFF2-40B4-BE49-F238E27FC236}">
                  <a16:creationId xmlns:a16="http://schemas.microsoft.com/office/drawing/2014/main" id="{E0D62CFB-AC69-BD8A-D8BC-3EEBE148228F}"/>
                </a:ext>
              </a:extLst>
            </p:cNvPr>
            <p:cNvPicPr>
              <a:picLocks noChangeAspect="1"/>
            </p:cNvPicPr>
            <p:nvPr/>
          </p:nvPicPr>
          <p:blipFill>
            <a:blip r:embed="rId6"/>
            <a:srcRect l="1502" t="5135" r="13782" b="1714"/>
            <a:stretch>
              <a:fillRect/>
            </a:stretch>
          </p:blipFill>
          <p:spPr>
            <a:xfrm>
              <a:off x="5481986" y="1761557"/>
              <a:ext cx="5922793" cy="1668064"/>
            </a:xfrm>
            <a:prstGeom prst="rect">
              <a:avLst/>
            </a:prstGeom>
          </p:spPr>
        </p:pic>
        <p:pic>
          <p:nvPicPr>
            <p:cNvPr id="20" name="Grafik 19" descr="Ein Bild, das Text, Handschrift, Schrift, Kalligrafie enthält.&#10;&#10;KI-generierte Inhalte können fehlerhaft sein.">
              <a:extLst>
                <a:ext uri="{FF2B5EF4-FFF2-40B4-BE49-F238E27FC236}">
                  <a16:creationId xmlns:a16="http://schemas.microsoft.com/office/drawing/2014/main" id="{0E6E7D85-1067-7121-E8EB-3B05313B21B4}"/>
                </a:ext>
              </a:extLst>
            </p:cNvPr>
            <p:cNvPicPr>
              <a:picLocks noChangeAspect="1"/>
            </p:cNvPicPr>
            <p:nvPr/>
          </p:nvPicPr>
          <p:blipFill>
            <a:blip r:embed="rId7"/>
            <a:srcRect l="1424" t="1079" r="18347" b="283"/>
            <a:stretch>
              <a:fillRect/>
            </a:stretch>
          </p:blipFill>
          <p:spPr>
            <a:xfrm>
              <a:off x="5478701" y="3737208"/>
              <a:ext cx="5440985" cy="3072239"/>
            </a:xfrm>
            <a:prstGeom prst="rect">
              <a:avLst/>
            </a:prstGeom>
          </p:spPr>
        </p:pic>
        <p:pic>
          <p:nvPicPr>
            <p:cNvPr id="23" name="Grafik 22" descr="Ein Bild, das Text, Schrift, Handschrift, weiß enthält.&#10;&#10;KI-generierte Inhalte können fehlerhaft sein.">
              <a:extLst>
                <a:ext uri="{FF2B5EF4-FFF2-40B4-BE49-F238E27FC236}">
                  <a16:creationId xmlns:a16="http://schemas.microsoft.com/office/drawing/2014/main" id="{73A612EC-88D4-E8C7-BD7C-49D3374DE8D8}"/>
                </a:ext>
              </a:extLst>
            </p:cNvPr>
            <p:cNvPicPr>
              <a:picLocks noChangeAspect="1"/>
            </p:cNvPicPr>
            <p:nvPr/>
          </p:nvPicPr>
          <p:blipFill>
            <a:blip r:embed="rId8"/>
            <a:srcRect l="-3483" t="13043" r="15260" b="4062"/>
            <a:stretch>
              <a:fillRect/>
            </a:stretch>
          </p:blipFill>
          <p:spPr>
            <a:xfrm>
              <a:off x="11418803" y="1600380"/>
              <a:ext cx="588225" cy="994851"/>
            </a:xfrm>
            <a:prstGeom prst="rect">
              <a:avLst/>
            </a:prstGeom>
          </p:spPr>
        </p:pic>
        <p:pic>
          <p:nvPicPr>
            <p:cNvPr id="24" name="Grafik 23" descr="Ein Bild, das Text, Schrift, Handschrift, Screenshot enthält.&#10;&#10;KI-generierte Inhalte können fehlerhaft sein.">
              <a:extLst>
                <a:ext uri="{FF2B5EF4-FFF2-40B4-BE49-F238E27FC236}">
                  <a16:creationId xmlns:a16="http://schemas.microsoft.com/office/drawing/2014/main" id="{B357A25F-CD99-5547-F753-995B39D529F4}"/>
                </a:ext>
              </a:extLst>
            </p:cNvPr>
            <p:cNvPicPr>
              <a:picLocks noChangeAspect="1"/>
            </p:cNvPicPr>
            <p:nvPr/>
          </p:nvPicPr>
          <p:blipFill>
            <a:blip r:embed="rId9"/>
            <a:srcRect l="6803" t="24638" r="-324"/>
            <a:stretch>
              <a:fillRect/>
            </a:stretch>
          </p:blipFill>
          <p:spPr>
            <a:xfrm>
              <a:off x="11395760" y="3892348"/>
              <a:ext cx="632457" cy="2167838"/>
            </a:xfrm>
            <a:prstGeom prst="rect">
              <a:avLst/>
            </a:prstGeom>
          </p:spPr>
        </p:pic>
        <p:pic>
          <p:nvPicPr>
            <p:cNvPr id="25" name="Grafik 24" descr="Ein Bild, das Text, Schrift, Handschrift, Screenshot enthält.&#10;&#10;KI-generierte Inhalte können fehlerhaft sein.">
              <a:extLst>
                <a:ext uri="{FF2B5EF4-FFF2-40B4-BE49-F238E27FC236}">
                  <a16:creationId xmlns:a16="http://schemas.microsoft.com/office/drawing/2014/main" id="{FEE0FB63-F5F0-8435-3380-DC897E82D2FF}"/>
                </a:ext>
              </a:extLst>
            </p:cNvPr>
            <p:cNvPicPr>
              <a:picLocks noChangeAspect="1"/>
            </p:cNvPicPr>
            <p:nvPr/>
          </p:nvPicPr>
          <p:blipFill>
            <a:blip r:embed="rId9"/>
            <a:srcRect l="16923" t="-689" r="1538" b="82694"/>
            <a:stretch>
              <a:fillRect/>
            </a:stretch>
          </p:blipFill>
          <p:spPr>
            <a:xfrm>
              <a:off x="11464420" y="2839108"/>
              <a:ext cx="551426" cy="517625"/>
            </a:xfrm>
            <a:prstGeom prst="rect">
              <a:avLst/>
            </a:prstGeom>
          </p:spPr>
        </p:pic>
      </p:grpSp>
      <p:sp>
        <p:nvSpPr>
          <p:cNvPr id="9" name="Title 1">
            <a:extLst>
              <a:ext uri="{FF2B5EF4-FFF2-40B4-BE49-F238E27FC236}">
                <a16:creationId xmlns:a16="http://schemas.microsoft.com/office/drawing/2014/main" id="{501BE862-0909-1C19-DCD5-5DAF0A96EA1B}"/>
              </a:ext>
            </a:extLst>
          </p:cNvPr>
          <p:cNvSpPr txBox="1">
            <a:spLocks/>
          </p:cNvSpPr>
          <p:nvPr/>
        </p:nvSpPr>
        <p:spPr>
          <a:xfrm>
            <a:off x="193377" y="348"/>
            <a:ext cx="11801015" cy="12294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4.1.1 Mathematical equations of the pasteurization process </a:t>
            </a:r>
          </a:p>
        </p:txBody>
      </p:sp>
      <p:sp>
        <p:nvSpPr>
          <p:cNvPr id="7" name="Foliennummernplatzhalter 6">
            <a:extLst>
              <a:ext uri="{FF2B5EF4-FFF2-40B4-BE49-F238E27FC236}">
                <a16:creationId xmlns:a16="http://schemas.microsoft.com/office/drawing/2014/main" id="{1E466F8D-A6AC-EA23-B9BF-E3853DB5FF76}"/>
              </a:ext>
            </a:extLst>
          </p:cNvPr>
          <p:cNvSpPr>
            <a:spLocks noGrp="1"/>
          </p:cNvSpPr>
          <p:nvPr>
            <p:ph type="sldNum" sz="quarter" idx="12"/>
          </p:nvPr>
        </p:nvSpPr>
        <p:spPr/>
        <p:txBody>
          <a:bodyPr/>
          <a:lstStyle/>
          <a:p>
            <a:fld id="{48F63A3B-78C7-47BE-AE5E-E10140E04643}" type="slidenum">
              <a:rPr lang="en-US" smtClean="0"/>
              <a:t>8</a:t>
            </a:fld>
            <a:r>
              <a:rPr lang="en-US" dirty="0"/>
              <a:t>/36</a:t>
            </a:r>
            <a:endParaRPr lang="de-DE" dirty="0"/>
          </a:p>
        </p:txBody>
      </p:sp>
    </p:spTree>
    <p:extLst>
      <p:ext uri="{BB962C8B-B14F-4D97-AF65-F5344CB8AC3E}">
        <p14:creationId xmlns:p14="http://schemas.microsoft.com/office/powerpoint/2010/main" val="2214031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5B619-3801-D7D4-9FDF-C7B4C048767B}"/>
            </a:ext>
          </a:extLst>
        </p:cNvPr>
        <p:cNvGrpSpPr/>
        <p:nvPr/>
      </p:nvGrpSpPr>
      <p:grpSpPr>
        <a:xfrm>
          <a:off x="0" y="0"/>
          <a:ext cx="0" cy="0"/>
          <a:chOff x="0" y="0"/>
          <a:chExt cx="0" cy="0"/>
        </a:xfrm>
      </p:grpSpPr>
      <p:pic>
        <p:nvPicPr>
          <p:cNvPr id="15" name="Picture 14" descr="A computer screen shot of a diagram&#10;&#10;AI-generated content may be incorrect.">
            <a:extLst>
              <a:ext uri="{FF2B5EF4-FFF2-40B4-BE49-F238E27FC236}">
                <a16:creationId xmlns:a16="http://schemas.microsoft.com/office/drawing/2014/main" id="{CDBD6CAB-2574-3CD0-9EB0-C95C625FB364}"/>
              </a:ext>
            </a:extLst>
          </p:cNvPr>
          <p:cNvPicPr>
            <a:picLocks noChangeAspect="1"/>
          </p:cNvPicPr>
          <p:nvPr/>
        </p:nvPicPr>
        <p:blipFill>
          <a:blip r:embed="rId3"/>
          <a:srcRect l="20760" t="18302" r="17479" b="27954"/>
          <a:stretch>
            <a:fillRect/>
          </a:stretch>
        </p:blipFill>
        <p:spPr>
          <a:xfrm>
            <a:off x="1602" y="830535"/>
            <a:ext cx="12195377" cy="6021785"/>
          </a:xfrm>
          <a:prstGeom prst="rect">
            <a:avLst/>
          </a:prstGeom>
        </p:spPr>
      </p:pic>
      <p:sp>
        <p:nvSpPr>
          <p:cNvPr id="9" name="Speech Bubble: Rectangle with Corners Rounded 8">
            <a:extLst>
              <a:ext uri="{FF2B5EF4-FFF2-40B4-BE49-F238E27FC236}">
                <a16:creationId xmlns:a16="http://schemas.microsoft.com/office/drawing/2014/main" id="{7889FE4F-C575-E0FF-68C5-C8A13A446290}"/>
              </a:ext>
            </a:extLst>
          </p:cNvPr>
          <p:cNvSpPr/>
          <p:nvPr/>
        </p:nvSpPr>
        <p:spPr>
          <a:xfrm>
            <a:off x="872616" y="2800690"/>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1700 kg/h, 5 °C</a:t>
            </a:r>
          </a:p>
        </p:txBody>
      </p:sp>
      <p:sp>
        <p:nvSpPr>
          <p:cNvPr id="7" name="Speech Bubble: Rectangle with Corners Rounded 6">
            <a:extLst>
              <a:ext uri="{FF2B5EF4-FFF2-40B4-BE49-F238E27FC236}">
                <a16:creationId xmlns:a16="http://schemas.microsoft.com/office/drawing/2014/main" id="{0C545173-5CDA-522B-032D-B01FA9FA5658}"/>
              </a:ext>
            </a:extLst>
          </p:cNvPr>
          <p:cNvSpPr/>
          <p:nvPr/>
        </p:nvSpPr>
        <p:spPr>
          <a:xfrm>
            <a:off x="6925482" y="2412501"/>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90 °C</a:t>
            </a:r>
          </a:p>
        </p:txBody>
      </p:sp>
      <p:sp>
        <p:nvSpPr>
          <p:cNvPr id="11" name="Speech Bubble: Rectangle with Corners Rounded 10">
            <a:extLst>
              <a:ext uri="{FF2B5EF4-FFF2-40B4-BE49-F238E27FC236}">
                <a16:creationId xmlns:a16="http://schemas.microsoft.com/office/drawing/2014/main" id="{32752C39-B9DD-0C63-2C1C-7CE57D83D7DA}"/>
              </a:ext>
            </a:extLst>
          </p:cNvPr>
          <p:cNvSpPr/>
          <p:nvPr/>
        </p:nvSpPr>
        <p:spPr>
          <a:xfrm>
            <a:off x="9340878" y="3073858"/>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75 °C</a:t>
            </a:r>
          </a:p>
        </p:txBody>
      </p:sp>
      <p:sp>
        <p:nvSpPr>
          <p:cNvPr id="12" name="Speech Bubble: Rectangle with Corners Rounded 11">
            <a:extLst>
              <a:ext uri="{FF2B5EF4-FFF2-40B4-BE49-F238E27FC236}">
                <a16:creationId xmlns:a16="http://schemas.microsoft.com/office/drawing/2014/main" id="{17ACDC72-5420-DDB4-DA81-93D7238054AD}"/>
              </a:ext>
            </a:extLst>
          </p:cNvPr>
          <p:cNvSpPr/>
          <p:nvPr/>
        </p:nvSpPr>
        <p:spPr>
          <a:xfrm>
            <a:off x="6925481" y="989141"/>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75 °C</a:t>
            </a:r>
          </a:p>
        </p:txBody>
      </p:sp>
      <p:sp>
        <p:nvSpPr>
          <p:cNvPr id="13" name="Speech Bubble: Rectangle with Corners Rounded 12">
            <a:extLst>
              <a:ext uri="{FF2B5EF4-FFF2-40B4-BE49-F238E27FC236}">
                <a16:creationId xmlns:a16="http://schemas.microsoft.com/office/drawing/2014/main" id="{17A43505-8335-6903-0BDC-059FF486B0E2}"/>
              </a:ext>
            </a:extLst>
          </p:cNvPr>
          <p:cNvSpPr/>
          <p:nvPr/>
        </p:nvSpPr>
        <p:spPr>
          <a:xfrm>
            <a:off x="7256161" y="5187329"/>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20 °C</a:t>
            </a:r>
          </a:p>
        </p:txBody>
      </p:sp>
      <p:sp>
        <p:nvSpPr>
          <p:cNvPr id="8" name="Title 1">
            <a:extLst>
              <a:ext uri="{FF2B5EF4-FFF2-40B4-BE49-F238E27FC236}">
                <a16:creationId xmlns:a16="http://schemas.microsoft.com/office/drawing/2014/main" id="{0C65E06C-F55E-8A8C-3566-8FBE84431727}"/>
              </a:ext>
            </a:extLst>
          </p:cNvPr>
          <p:cNvSpPr txBox="1">
            <a:spLocks/>
          </p:cNvSpPr>
          <p:nvPr/>
        </p:nvSpPr>
        <p:spPr>
          <a:xfrm>
            <a:off x="103898" y="138893"/>
            <a:ext cx="11992238"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4.1.2 Pasteurization model-Specifications</a:t>
            </a:r>
          </a:p>
        </p:txBody>
      </p:sp>
      <p:sp>
        <p:nvSpPr>
          <p:cNvPr id="10" name="Speech Bubble: Rectangle with Corners Rounded 9">
            <a:extLst>
              <a:ext uri="{FF2B5EF4-FFF2-40B4-BE49-F238E27FC236}">
                <a16:creationId xmlns:a16="http://schemas.microsoft.com/office/drawing/2014/main" id="{A466D7B5-FC0E-6389-AE0C-A8DA2F9C3BAB}"/>
              </a:ext>
            </a:extLst>
          </p:cNvPr>
          <p:cNvSpPr/>
          <p:nvPr/>
        </p:nvSpPr>
        <p:spPr>
          <a:xfrm>
            <a:off x="4444476" y="4547437"/>
            <a:ext cx="563493" cy="318741"/>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5 °C</a:t>
            </a:r>
          </a:p>
        </p:txBody>
      </p:sp>
      <p:sp>
        <p:nvSpPr>
          <p:cNvPr id="37" name="Textfeld 36">
            <a:extLst>
              <a:ext uri="{FF2B5EF4-FFF2-40B4-BE49-F238E27FC236}">
                <a16:creationId xmlns:a16="http://schemas.microsoft.com/office/drawing/2014/main" id="{2E460BA4-854F-73A6-FEEC-CC452D63D835}"/>
              </a:ext>
            </a:extLst>
          </p:cNvPr>
          <p:cNvSpPr txBox="1"/>
          <p:nvPr/>
        </p:nvSpPr>
        <p:spPr>
          <a:xfrm>
            <a:off x="5117604" y="4429361"/>
            <a:ext cx="1892782" cy="43848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38" name="Picture 14" descr="A computer screen shot of a diagram&#10;&#10;AI-generated content may be incorrect.">
            <a:extLst>
              <a:ext uri="{FF2B5EF4-FFF2-40B4-BE49-F238E27FC236}">
                <a16:creationId xmlns:a16="http://schemas.microsoft.com/office/drawing/2014/main" id="{A0F177C3-85E4-A678-9FDA-0221DAF40ADE}"/>
              </a:ext>
            </a:extLst>
          </p:cNvPr>
          <p:cNvPicPr>
            <a:picLocks noChangeAspect="1"/>
          </p:cNvPicPr>
          <p:nvPr/>
        </p:nvPicPr>
        <p:blipFill>
          <a:blip r:embed="rId3"/>
          <a:srcRect l="65761" t="34644" r="33810" b="59940"/>
          <a:stretch>
            <a:fillRect/>
          </a:stretch>
        </p:blipFill>
        <p:spPr>
          <a:xfrm>
            <a:off x="6261662" y="4441300"/>
            <a:ext cx="84698" cy="606912"/>
          </a:xfrm>
          <a:prstGeom prst="rect">
            <a:avLst/>
          </a:prstGeom>
        </p:spPr>
      </p:pic>
      <p:sp>
        <p:nvSpPr>
          <p:cNvPr id="2" name="Textfeld 1">
            <a:extLst>
              <a:ext uri="{FF2B5EF4-FFF2-40B4-BE49-F238E27FC236}">
                <a16:creationId xmlns:a16="http://schemas.microsoft.com/office/drawing/2014/main" id="{B0761632-8515-5435-41D4-C5D24A193B3F}"/>
              </a:ext>
            </a:extLst>
          </p:cNvPr>
          <p:cNvSpPr txBox="1"/>
          <p:nvPr/>
        </p:nvSpPr>
        <p:spPr>
          <a:xfrm>
            <a:off x="4448537" y="4138655"/>
            <a:ext cx="333624" cy="16592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sp>
        <p:nvSpPr>
          <p:cNvPr id="3" name="Foliennummernplatzhalter 6">
            <a:extLst>
              <a:ext uri="{FF2B5EF4-FFF2-40B4-BE49-F238E27FC236}">
                <a16:creationId xmlns:a16="http://schemas.microsoft.com/office/drawing/2014/main" id="{21F282B2-84D3-608A-EF6B-43F1C4D2A077}"/>
              </a:ext>
            </a:extLst>
          </p:cNvPr>
          <p:cNvSpPr>
            <a:spLocks noGrp="1"/>
          </p:cNvSpPr>
          <p:nvPr>
            <p:ph type="sldNum" sz="quarter" idx="12"/>
          </p:nvPr>
        </p:nvSpPr>
        <p:spPr>
          <a:xfrm>
            <a:off x="8610600" y="6356350"/>
            <a:ext cx="2743200" cy="365125"/>
          </a:xfrm>
        </p:spPr>
        <p:txBody>
          <a:bodyPr/>
          <a:lstStyle/>
          <a:p>
            <a:fld id="{48F63A3B-78C7-47BE-AE5E-E10140E04643}" type="slidenum">
              <a:rPr lang="en-US" smtClean="0"/>
              <a:t>9</a:t>
            </a:fld>
            <a:r>
              <a:rPr lang="en-US" dirty="0"/>
              <a:t>/36</a:t>
            </a:r>
            <a:endParaRPr lang="de-DE" dirty="0"/>
          </a:p>
        </p:txBody>
      </p:sp>
    </p:spTree>
    <p:extLst>
      <p:ext uri="{BB962C8B-B14F-4D97-AF65-F5344CB8AC3E}">
        <p14:creationId xmlns:p14="http://schemas.microsoft.com/office/powerpoint/2010/main" val="3370703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C955A-B4E4-034B-D789-57D5CE660B3A}"/>
            </a:ext>
          </a:extLst>
        </p:cNvPr>
        <p:cNvGrpSpPr/>
        <p:nvPr/>
      </p:nvGrpSpPr>
      <p:grpSpPr>
        <a:xfrm>
          <a:off x="0" y="0"/>
          <a:ext cx="0" cy="0"/>
          <a:chOff x="0" y="0"/>
          <a:chExt cx="0" cy="0"/>
        </a:xfrm>
      </p:grpSpPr>
      <p:pic>
        <p:nvPicPr>
          <p:cNvPr id="15" name="Picture 14" descr="A computer screen shot of a diagram&#10;&#10;AI-generated content may be incorrect.">
            <a:extLst>
              <a:ext uri="{FF2B5EF4-FFF2-40B4-BE49-F238E27FC236}">
                <a16:creationId xmlns:a16="http://schemas.microsoft.com/office/drawing/2014/main" id="{157A72E9-EB38-99AC-5DA0-5162C7969767}"/>
              </a:ext>
            </a:extLst>
          </p:cNvPr>
          <p:cNvPicPr>
            <a:picLocks noChangeAspect="1"/>
          </p:cNvPicPr>
          <p:nvPr/>
        </p:nvPicPr>
        <p:blipFill>
          <a:blip r:embed="rId3"/>
          <a:srcRect l="20760" t="18302" r="17479" b="27954"/>
          <a:stretch>
            <a:fillRect/>
          </a:stretch>
        </p:blipFill>
        <p:spPr>
          <a:xfrm>
            <a:off x="1602" y="830535"/>
            <a:ext cx="12195377" cy="6021785"/>
          </a:xfrm>
          <a:prstGeom prst="rect">
            <a:avLst/>
          </a:prstGeom>
        </p:spPr>
      </p:pic>
      <p:sp>
        <p:nvSpPr>
          <p:cNvPr id="2" name="Title 1">
            <a:extLst>
              <a:ext uri="{FF2B5EF4-FFF2-40B4-BE49-F238E27FC236}">
                <a16:creationId xmlns:a16="http://schemas.microsoft.com/office/drawing/2014/main" id="{D4988F0E-57BE-4097-4E27-1E101B43A480}"/>
              </a:ext>
            </a:extLst>
          </p:cNvPr>
          <p:cNvSpPr>
            <a:spLocks noGrp="1"/>
          </p:cNvSpPr>
          <p:nvPr>
            <p:ph type="title"/>
          </p:nvPr>
        </p:nvSpPr>
        <p:spPr>
          <a:xfrm>
            <a:off x="103898" y="138893"/>
            <a:ext cx="12384443" cy="686828"/>
          </a:xfrm>
        </p:spPr>
        <p:txBody>
          <a:bodyPr>
            <a:normAutofit/>
          </a:bodyPr>
          <a:lstStyle/>
          <a:p>
            <a:r>
              <a:rPr lang="en-US" sz="3100" dirty="0">
                <a:ea typeface="Calibri Light"/>
                <a:cs typeface="Calibri Light"/>
              </a:rPr>
              <a:t>4.1.3 Pasteurization model-Simulation results (1/5)</a:t>
            </a:r>
          </a:p>
        </p:txBody>
      </p:sp>
      <p:sp>
        <p:nvSpPr>
          <p:cNvPr id="9" name="Speech Bubble: Rectangle with Corners Rounded 8">
            <a:extLst>
              <a:ext uri="{FF2B5EF4-FFF2-40B4-BE49-F238E27FC236}">
                <a16:creationId xmlns:a16="http://schemas.microsoft.com/office/drawing/2014/main" id="{AB4FAF7C-6F49-0903-7446-87E3730F939E}"/>
              </a:ext>
            </a:extLst>
          </p:cNvPr>
          <p:cNvSpPr/>
          <p:nvPr/>
        </p:nvSpPr>
        <p:spPr>
          <a:xfrm>
            <a:off x="872616" y="2800690"/>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ea typeface="Calibri"/>
                <a:cs typeface="Calibri"/>
              </a:rPr>
              <a:t>1700 kg/h, 5 °C</a:t>
            </a:r>
          </a:p>
        </p:txBody>
      </p:sp>
      <p:sp>
        <p:nvSpPr>
          <p:cNvPr id="7" name="Speech Bubble: Rectangle with Corners Rounded 6">
            <a:extLst>
              <a:ext uri="{FF2B5EF4-FFF2-40B4-BE49-F238E27FC236}">
                <a16:creationId xmlns:a16="http://schemas.microsoft.com/office/drawing/2014/main" id="{34463ECE-6947-5455-C2DD-0B5CC9B91069}"/>
              </a:ext>
            </a:extLst>
          </p:cNvPr>
          <p:cNvSpPr/>
          <p:nvPr/>
        </p:nvSpPr>
        <p:spPr>
          <a:xfrm>
            <a:off x="6925482" y="2412501"/>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90 °C</a:t>
            </a:r>
          </a:p>
        </p:txBody>
      </p:sp>
      <p:sp>
        <p:nvSpPr>
          <p:cNvPr id="11" name="Speech Bubble: Rectangle with Corners Rounded 10">
            <a:extLst>
              <a:ext uri="{FF2B5EF4-FFF2-40B4-BE49-F238E27FC236}">
                <a16:creationId xmlns:a16="http://schemas.microsoft.com/office/drawing/2014/main" id="{78F46E43-8E02-D1C2-BF65-10DF3675CD85}"/>
              </a:ext>
            </a:extLst>
          </p:cNvPr>
          <p:cNvSpPr/>
          <p:nvPr/>
        </p:nvSpPr>
        <p:spPr>
          <a:xfrm>
            <a:off x="9340878" y="3073858"/>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75 °C</a:t>
            </a:r>
          </a:p>
        </p:txBody>
      </p:sp>
      <p:sp>
        <p:nvSpPr>
          <p:cNvPr id="12" name="Speech Bubble: Rectangle with Corners Rounded 11">
            <a:extLst>
              <a:ext uri="{FF2B5EF4-FFF2-40B4-BE49-F238E27FC236}">
                <a16:creationId xmlns:a16="http://schemas.microsoft.com/office/drawing/2014/main" id="{88E09497-5609-3FA0-62EA-40DAF4BA2FAB}"/>
              </a:ext>
            </a:extLst>
          </p:cNvPr>
          <p:cNvSpPr/>
          <p:nvPr/>
        </p:nvSpPr>
        <p:spPr>
          <a:xfrm>
            <a:off x="6925481" y="989141"/>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75 °C</a:t>
            </a:r>
          </a:p>
        </p:txBody>
      </p:sp>
      <p:sp>
        <p:nvSpPr>
          <p:cNvPr id="13" name="Speech Bubble: Rectangle with Corners Rounded 12">
            <a:extLst>
              <a:ext uri="{FF2B5EF4-FFF2-40B4-BE49-F238E27FC236}">
                <a16:creationId xmlns:a16="http://schemas.microsoft.com/office/drawing/2014/main" id="{B158CAA9-3EF4-402D-25A4-7858BD18EBF7}"/>
              </a:ext>
            </a:extLst>
          </p:cNvPr>
          <p:cNvSpPr/>
          <p:nvPr/>
        </p:nvSpPr>
        <p:spPr>
          <a:xfrm>
            <a:off x="7040501" y="5129819"/>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20 °C</a:t>
            </a:r>
          </a:p>
        </p:txBody>
      </p:sp>
      <p:sp>
        <p:nvSpPr>
          <p:cNvPr id="3" name="Speech Bubble: Rectangle with Corners Rounded 2">
            <a:extLst>
              <a:ext uri="{FF2B5EF4-FFF2-40B4-BE49-F238E27FC236}">
                <a16:creationId xmlns:a16="http://schemas.microsoft.com/office/drawing/2014/main" id="{93128153-C233-16B4-76EC-CEE39960D6D6}"/>
              </a:ext>
            </a:extLst>
          </p:cNvPr>
          <p:cNvSpPr/>
          <p:nvPr/>
        </p:nvSpPr>
        <p:spPr>
          <a:xfrm>
            <a:off x="4395067" y="6236877"/>
            <a:ext cx="1052322" cy="491268"/>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ea typeface="Calibri"/>
                <a:cs typeface="Calibri"/>
              </a:rPr>
              <a:t>2278 kg/h, 18 °C</a:t>
            </a:r>
          </a:p>
        </p:txBody>
      </p:sp>
      <p:sp>
        <p:nvSpPr>
          <p:cNvPr id="5" name="Speech Bubble: Rectangle with Corners Rounded 4">
            <a:extLst>
              <a:ext uri="{FF2B5EF4-FFF2-40B4-BE49-F238E27FC236}">
                <a16:creationId xmlns:a16="http://schemas.microsoft.com/office/drawing/2014/main" id="{8E3190A2-BE79-2103-6B44-FE5FEBA039C3}"/>
              </a:ext>
            </a:extLst>
          </p:cNvPr>
          <p:cNvSpPr/>
          <p:nvPr/>
        </p:nvSpPr>
        <p:spPr>
          <a:xfrm>
            <a:off x="2166575" y="5129820"/>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ea typeface="Calibri"/>
                <a:cs typeface="Calibri"/>
              </a:rPr>
              <a:t>38 °C</a:t>
            </a:r>
          </a:p>
        </p:txBody>
      </p:sp>
      <p:sp>
        <p:nvSpPr>
          <p:cNvPr id="6" name="Speech Bubble: Rectangle with Corners Rounded 5">
            <a:extLst>
              <a:ext uri="{FF2B5EF4-FFF2-40B4-BE49-F238E27FC236}">
                <a16:creationId xmlns:a16="http://schemas.microsoft.com/office/drawing/2014/main" id="{B119A89C-E8AE-C7BC-DA0A-C2CF76596569}"/>
              </a:ext>
            </a:extLst>
          </p:cNvPr>
          <p:cNvSpPr/>
          <p:nvPr/>
        </p:nvSpPr>
        <p:spPr>
          <a:xfrm>
            <a:off x="4006878" y="3045104"/>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ea typeface="Calibri"/>
                <a:cs typeface="Calibri"/>
              </a:rPr>
              <a:t>42 °C</a:t>
            </a:r>
          </a:p>
        </p:txBody>
      </p:sp>
      <p:sp>
        <p:nvSpPr>
          <p:cNvPr id="8" name="Speech Bubble: Rectangle with Corners Rounded 7">
            <a:extLst>
              <a:ext uri="{FF2B5EF4-FFF2-40B4-BE49-F238E27FC236}">
                <a16:creationId xmlns:a16="http://schemas.microsoft.com/office/drawing/2014/main" id="{63E5BEB6-55CD-3BCB-FA96-7AEDA962B316}"/>
              </a:ext>
            </a:extLst>
          </p:cNvPr>
          <p:cNvSpPr/>
          <p:nvPr/>
        </p:nvSpPr>
        <p:spPr>
          <a:xfrm>
            <a:off x="7572463" y="4080274"/>
            <a:ext cx="1037945" cy="448136"/>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ea typeface="Calibri"/>
                <a:cs typeface="Calibri"/>
              </a:rPr>
              <a:t>6616 kg/h, 84 °C</a:t>
            </a:r>
          </a:p>
        </p:txBody>
      </p:sp>
      <p:sp>
        <p:nvSpPr>
          <p:cNvPr id="10" name="Speech Bubble: Rectangle with Corners Rounded 9">
            <a:extLst>
              <a:ext uri="{FF2B5EF4-FFF2-40B4-BE49-F238E27FC236}">
                <a16:creationId xmlns:a16="http://schemas.microsoft.com/office/drawing/2014/main" id="{C0033EBF-0711-157F-07C2-66806B4F3FA4}"/>
              </a:ext>
            </a:extLst>
          </p:cNvPr>
          <p:cNvSpPr/>
          <p:nvPr/>
        </p:nvSpPr>
        <p:spPr>
          <a:xfrm>
            <a:off x="4251293" y="4525972"/>
            <a:ext cx="563493" cy="318741"/>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5 °C</a:t>
            </a:r>
          </a:p>
        </p:txBody>
      </p:sp>
      <p:sp>
        <p:nvSpPr>
          <p:cNvPr id="52" name="Textfeld 51">
            <a:extLst>
              <a:ext uri="{FF2B5EF4-FFF2-40B4-BE49-F238E27FC236}">
                <a16:creationId xmlns:a16="http://schemas.microsoft.com/office/drawing/2014/main" id="{55BBE41D-51F5-AF45-1698-B1FEBD9D3F0F}"/>
              </a:ext>
            </a:extLst>
          </p:cNvPr>
          <p:cNvSpPr txBox="1"/>
          <p:nvPr/>
        </p:nvSpPr>
        <p:spPr>
          <a:xfrm>
            <a:off x="5117604" y="4429361"/>
            <a:ext cx="1892782" cy="43848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54" name="Picture 14" descr="A computer screen shot of a diagram&#10;&#10;AI-generated content may be incorrect.">
            <a:extLst>
              <a:ext uri="{FF2B5EF4-FFF2-40B4-BE49-F238E27FC236}">
                <a16:creationId xmlns:a16="http://schemas.microsoft.com/office/drawing/2014/main" id="{59590EFF-B9BE-1C2F-79C2-848DF3E72B42}"/>
              </a:ext>
            </a:extLst>
          </p:cNvPr>
          <p:cNvPicPr>
            <a:picLocks noChangeAspect="1"/>
          </p:cNvPicPr>
          <p:nvPr/>
        </p:nvPicPr>
        <p:blipFill>
          <a:blip r:embed="rId3"/>
          <a:srcRect l="65761" t="34644" r="33810" b="59940"/>
          <a:stretch>
            <a:fillRect/>
          </a:stretch>
        </p:blipFill>
        <p:spPr>
          <a:xfrm>
            <a:off x="6261662" y="4429755"/>
            <a:ext cx="84698" cy="606912"/>
          </a:xfrm>
          <a:prstGeom prst="rect">
            <a:avLst/>
          </a:prstGeom>
        </p:spPr>
      </p:pic>
      <p:sp>
        <p:nvSpPr>
          <p:cNvPr id="23" name="Textfeld 22">
            <a:extLst>
              <a:ext uri="{FF2B5EF4-FFF2-40B4-BE49-F238E27FC236}">
                <a16:creationId xmlns:a16="http://schemas.microsoft.com/office/drawing/2014/main" id="{143A0BF6-CCC9-B9EE-83AA-28C133828211}"/>
              </a:ext>
            </a:extLst>
          </p:cNvPr>
          <p:cNvSpPr txBox="1"/>
          <p:nvPr/>
        </p:nvSpPr>
        <p:spPr>
          <a:xfrm>
            <a:off x="4477751" y="4145146"/>
            <a:ext cx="436386" cy="166165"/>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sp>
        <p:nvSpPr>
          <p:cNvPr id="4" name="Foliennummernplatzhalter 6">
            <a:extLst>
              <a:ext uri="{FF2B5EF4-FFF2-40B4-BE49-F238E27FC236}">
                <a16:creationId xmlns:a16="http://schemas.microsoft.com/office/drawing/2014/main" id="{3188FBAD-4238-E57D-9E8A-ECD4F520DAB4}"/>
              </a:ext>
            </a:extLst>
          </p:cNvPr>
          <p:cNvSpPr>
            <a:spLocks noGrp="1"/>
          </p:cNvSpPr>
          <p:nvPr>
            <p:ph type="sldNum" sz="quarter" idx="12"/>
          </p:nvPr>
        </p:nvSpPr>
        <p:spPr>
          <a:xfrm>
            <a:off x="8610600" y="6356350"/>
            <a:ext cx="2743200" cy="365125"/>
          </a:xfrm>
        </p:spPr>
        <p:txBody>
          <a:bodyPr/>
          <a:lstStyle/>
          <a:p>
            <a:fld id="{48F63A3B-78C7-47BE-AE5E-E10140E04643}" type="slidenum">
              <a:rPr lang="en-US" smtClean="0"/>
              <a:t>10</a:t>
            </a:fld>
            <a:r>
              <a:rPr lang="en-US" dirty="0"/>
              <a:t>/36</a:t>
            </a:r>
            <a:endParaRPr lang="de-DE" dirty="0"/>
          </a:p>
        </p:txBody>
      </p:sp>
    </p:spTree>
    <p:extLst>
      <p:ext uri="{BB962C8B-B14F-4D97-AF65-F5344CB8AC3E}">
        <p14:creationId xmlns:p14="http://schemas.microsoft.com/office/powerpoint/2010/main" val="4284140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B3A32-0836-D66F-4AFE-F6F81FFDEC96}"/>
            </a:ext>
          </a:extLst>
        </p:cNvPr>
        <p:cNvGrpSpPr/>
        <p:nvPr/>
      </p:nvGrpSpPr>
      <p:grpSpPr>
        <a:xfrm>
          <a:off x="0" y="0"/>
          <a:ext cx="0" cy="0"/>
          <a:chOff x="0" y="0"/>
          <a:chExt cx="0" cy="0"/>
        </a:xfrm>
      </p:grpSpPr>
      <p:sp>
        <p:nvSpPr>
          <p:cNvPr id="5" name="Pfeil: Fünfeck 4">
            <a:extLst>
              <a:ext uri="{FF2B5EF4-FFF2-40B4-BE49-F238E27FC236}">
                <a16:creationId xmlns:a16="http://schemas.microsoft.com/office/drawing/2014/main" id="{558F6892-6890-DF6C-CD4D-C89E56A53F06}"/>
              </a:ext>
            </a:extLst>
          </p:cNvPr>
          <p:cNvSpPr/>
          <p:nvPr/>
        </p:nvSpPr>
        <p:spPr>
          <a:xfrm>
            <a:off x="2023172" y="4926783"/>
            <a:ext cx="1910810" cy="76900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Pfeil: Fünfeck 9">
            <a:extLst>
              <a:ext uri="{FF2B5EF4-FFF2-40B4-BE49-F238E27FC236}">
                <a16:creationId xmlns:a16="http://schemas.microsoft.com/office/drawing/2014/main" id="{50ED807E-6689-3B47-CE43-35BB7044C769}"/>
              </a:ext>
            </a:extLst>
          </p:cNvPr>
          <p:cNvSpPr/>
          <p:nvPr/>
        </p:nvSpPr>
        <p:spPr>
          <a:xfrm>
            <a:off x="3663289" y="4933507"/>
            <a:ext cx="1890709" cy="758687"/>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Pfeil: Fünfeck 14">
            <a:extLst>
              <a:ext uri="{FF2B5EF4-FFF2-40B4-BE49-F238E27FC236}">
                <a16:creationId xmlns:a16="http://schemas.microsoft.com/office/drawing/2014/main" id="{486E7386-7C03-1BAB-8E9D-45C699745A59}"/>
              </a:ext>
            </a:extLst>
          </p:cNvPr>
          <p:cNvSpPr/>
          <p:nvPr/>
        </p:nvSpPr>
        <p:spPr>
          <a:xfrm>
            <a:off x="5275689" y="4934394"/>
            <a:ext cx="1830055" cy="76989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Pfeil: Fünfeck 10">
            <a:extLst>
              <a:ext uri="{FF2B5EF4-FFF2-40B4-BE49-F238E27FC236}">
                <a16:creationId xmlns:a16="http://schemas.microsoft.com/office/drawing/2014/main" id="{263093A3-C651-5C57-0E23-B9CE9621C998}"/>
              </a:ext>
            </a:extLst>
          </p:cNvPr>
          <p:cNvSpPr/>
          <p:nvPr/>
        </p:nvSpPr>
        <p:spPr>
          <a:xfrm>
            <a:off x="6881188" y="4950084"/>
            <a:ext cx="1826143" cy="76900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Box 5">
            <a:extLst>
              <a:ext uri="{FF2B5EF4-FFF2-40B4-BE49-F238E27FC236}">
                <a16:creationId xmlns:a16="http://schemas.microsoft.com/office/drawing/2014/main" id="{2E2F4399-5452-B760-1D7A-41C71A084790}"/>
              </a:ext>
            </a:extLst>
          </p:cNvPr>
          <p:cNvSpPr txBox="1"/>
          <p:nvPr/>
        </p:nvSpPr>
        <p:spPr>
          <a:xfrm>
            <a:off x="1066187" y="5878049"/>
            <a:ext cx="10045226"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2: Temperature of the milk, utilities and wall of the heat exchangers to the residence time in the pasteurization section</a:t>
            </a:r>
            <a:endParaRPr lang="en-US" dirty="0">
              <a:ea typeface="Calibri"/>
              <a:cs typeface="Calibri"/>
            </a:endParaRPr>
          </a:p>
        </p:txBody>
      </p:sp>
      <p:sp>
        <p:nvSpPr>
          <p:cNvPr id="24" name="Pfeil: Fünfeck 23">
            <a:extLst>
              <a:ext uri="{FF2B5EF4-FFF2-40B4-BE49-F238E27FC236}">
                <a16:creationId xmlns:a16="http://schemas.microsoft.com/office/drawing/2014/main" id="{9BE97184-B8E2-589D-E847-E063A27DCE6B}"/>
              </a:ext>
            </a:extLst>
          </p:cNvPr>
          <p:cNvSpPr/>
          <p:nvPr/>
        </p:nvSpPr>
        <p:spPr>
          <a:xfrm>
            <a:off x="8468475" y="4945599"/>
            <a:ext cx="1153791" cy="75780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extfeld 7">
            <a:extLst>
              <a:ext uri="{FF2B5EF4-FFF2-40B4-BE49-F238E27FC236}">
                <a16:creationId xmlns:a16="http://schemas.microsoft.com/office/drawing/2014/main" id="{976A433A-0A7B-AB42-AF32-312270D98C56}"/>
              </a:ext>
            </a:extLst>
          </p:cNvPr>
          <p:cNvSpPr txBox="1"/>
          <p:nvPr/>
        </p:nvSpPr>
        <p:spPr>
          <a:xfrm>
            <a:off x="2029707" y="5007925"/>
            <a:ext cx="17176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Regenerative unit</a:t>
            </a:r>
          </a:p>
        </p:txBody>
      </p:sp>
      <p:sp>
        <p:nvSpPr>
          <p:cNvPr id="12" name="Textfeld 11">
            <a:extLst>
              <a:ext uri="{FF2B5EF4-FFF2-40B4-BE49-F238E27FC236}">
                <a16:creationId xmlns:a16="http://schemas.microsoft.com/office/drawing/2014/main" id="{17CDFF8D-2829-DDEE-F242-13A67CF0AF41}"/>
              </a:ext>
            </a:extLst>
          </p:cNvPr>
          <p:cNvSpPr txBox="1"/>
          <p:nvPr/>
        </p:nvSpPr>
        <p:spPr>
          <a:xfrm>
            <a:off x="3297287" y="5131152"/>
            <a:ext cx="226140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Heater</a:t>
            </a:r>
            <a:endParaRPr lang="de-DE" dirty="0">
              <a:solidFill>
                <a:schemeClr val="bg1"/>
              </a:solidFill>
              <a:ea typeface="Calibri" panose="020F0502020204030204"/>
              <a:cs typeface="Calibri" panose="020F0502020204030204"/>
            </a:endParaRPr>
          </a:p>
        </p:txBody>
      </p:sp>
      <p:sp>
        <p:nvSpPr>
          <p:cNvPr id="18" name="Textfeld 17">
            <a:extLst>
              <a:ext uri="{FF2B5EF4-FFF2-40B4-BE49-F238E27FC236}">
                <a16:creationId xmlns:a16="http://schemas.microsoft.com/office/drawing/2014/main" id="{63761CDC-8E52-C442-491A-CF52F9D4142A}"/>
              </a:ext>
            </a:extLst>
          </p:cNvPr>
          <p:cNvSpPr txBox="1"/>
          <p:nvPr/>
        </p:nvSpPr>
        <p:spPr>
          <a:xfrm>
            <a:off x="5229196" y="5131152"/>
            <a:ext cx="16929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cs typeface="Calibri"/>
              </a:rPr>
              <a:t>Holder</a:t>
            </a:r>
            <a:endParaRPr lang="de-DE" dirty="0">
              <a:solidFill>
                <a:schemeClr val="bg1"/>
              </a:solidFill>
            </a:endParaRPr>
          </a:p>
        </p:txBody>
      </p:sp>
      <p:sp>
        <p:nvSpPr>
          <p:cNvPr id="9" name="Title 1">
            <a:extLst>
              <a:ext uri="{FF2B5EF4-FFF2-40B4-BE49-F238E27FC236}">
                <a16:creationId xmlns:a16="http://schemas.microsoft.com/office/drawing/2014/main" id="{0A7680F1-9557-20C9-B635-8A3A90F3534F}"/>
              </a:ext>
            </a:extLst>
          </p:cNvPr>
          <p:cNvSpPr txBox="1">
            <a:spLocks/>
          </p:cNvSpPr>
          <p:nvPr/>
        </p:nvSpPr>
        <p:spPr>
          <a:xfrm>
            <a:off x="103898" y="138893"/>
            <a:ext cx="12384443"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4.1.3 Pasteurization model-Simulation results (2/5)</a:t>
            </a:r>
          </a:p>
        </p:txBody>
      </p:sp>
      <p:sp>
        <p:nvSpPr>
          <p:cNvPr id="26" name="Textfeld 25">
            <a:extLst>
              <a:ext uri="{FF2B5EF4-FFF2-40B4-BE49-F238E27FC236}">
                <a16:creationId xmlns:a16="http://schemas.microsoft.com/office/drawing/2014/main" id="{F949543C-DA3A-519A-1EFB-0762E3D746C9}"/>
              </a:ext>
            </a:extLst>
          </p:cNvPr>
          <p:cNvSpPr txBox="1"/>
          <p:nvPr/>
        </p:nvSpPr>
        <p:spPr>
          <a:xfrm>
            <a:off x="8467006" y="5131152"/>
            <a:ext cx="140264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dirty="0">
                <a:solidFill>
                  <a:schemeClr val="bg1"/>
                </a:solidFill>
                <a:ea typeface="Calibri"/>
                <a:cs typeface="Calibri"/>
              </a:rPr>
              <a:t>Cooler</a:t>
            </a:r>
          </a:p>
        </p:txBody>
      </p:sp>
      <p:sp>
        <p:nvSpPr>
          <p:cNvPr id="13" name="Textfeld 12">
            <a:extLst>
              <a:ext uri="{FF2B5EF4-FFF2-40B4-BE49-F238E27FC236}">
                <a16:creationId xmlns:a16="http://schemas.microsoft.com/office/drawing/2014/main" id="{F1860396-A384-69F9-9D74-3C4C3E51C589}"/>
              </a:ext>
            </a:extLst>
          </p:cNvPr>
          <p:cNvSpPr txBox="1"/>
          <p:nvPr/>
        </p:nvSpPr>
        <p:spPr>
          <a:xfrm>
            <a:off x="6875628" y="5010592"/>
            <a:ext cx="170555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Regenerative unit</a:t>
            </a:r>
          </a:p>
        </p:txBody>
      </p:sp>
      <p:sp>
        <p:nvSpPr>
          <p:cNvPr id="2" name="Foliennummernplatzhalter 1">
            <a:extLst>
              <a:ext uri="{FF2B5EF4-FFF2-40B4-BE49-F238E27FC236}">
                <a16:creationId xmlns:a16="http://schemas.microsoft.com/office/drawing/2014/main" id="{290225CE-4A7D-4D85-A07A-C94A47170820}"/>
              </a:ext>
            </a:extLst>
          </p:cNvPr>
          <p:cNvSpPr>
            <a:spLocks noGrp="1"/>
          </p:cNvSpPr>
          <p:nvPr>
            <p:ph type="sldNum" sz="quarter" idx="12"/>
          </p:nvPr>
        </p:nvSpPr>
        <p:spPr/>
        <p:txBody>
          <a:bodyPr/>
          <a:lstStyle/>
          <a:p>
            <a:fld id="{48F63A3B-78C7-47BE-AE5E-E10140E04643}" type="slidenum">
              <a:rPr lang="en-US" smtClean="0"/>
              <a:t>11</a:t>
            </a:fld>
            <a:r>
              <a:rPr lang="en-US" dirty="0"/>
              <a:t>/36</a:t>
            </a:r>
            <a:endParaRPr lang="de-DE" dirty="0"/>
          </a:p>
        </p:txBody>
      </p:sp>
      <p:pic>
        <p:nvPicPr>
          <p:cNvPr id="3" name="Grafik 2" descr="Ein Bild, das Text, Reihe, Diagramm, Steigung enthält.&#10;&#10;KI-generierte Inhalte können fehlerhaft sein.">
            <a:extLst>
              <a:ext uri="{FF2B5EF4-FFF2-40B4-BE49-F238E27FC236}">
                <a16:creationId xmlns:a16="http://schemas.microsoft.com/office/drawing/2014/main" id="{AD8B544D-4EF4-AA8E-B8D0-A9B06B7ABA74}"/>
              </a:ext>
            </a:extLst>
          </p:cNvPr>
          <p:cNvPicPr>
            <a:picLocks noChangeAspect="1"/>
          </p:cNvPicPr>
          <p:nvPr/>
        </p:nvPicPr>
        <p:blipFill>
          <a:blip r:embed="rId3"/>
          <a:srcRect l="2079" t="7377" r="1060" b="-963"/>
          <a:stretch>
            <a:fillRect/>
          </a:stretch>
        </p:blipFill>
        <p:spPr>
          <a:xfrm>
            <a:off x="1442582" y="856721"/>
            <a:ext cx="8981386" cy="4145386"/>
          </a:xfrm>
          <a:prstGeom prst="rect">
            <a:avLst/>
          </a:prstGeom>
        </p:spPr>
      </p:pic>
    </p:spTree>
    <p:extLst>
      <p:ext uri="{BB962C8B-B14F-4D97-AF65-F5344CB8AC3E}">
        <p14:creationId xmlns:p14="http://schemas.microsoft.com/office/powerpoint/2010/main" val="2113634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F05FB-6CCE-6996-BBF1-0E9DAD453C8B}"/>
            </a:ext>
          </a:extLst>
        </p:cNvPr>
        <p:cNvGrpSpPr/>
        <p:nvPr/>
      </p:nvGrpSpPr>
      <p:grpSpPr>
        <a:xfrm>
          <a:off x="0" y="0"/>
          <a:ext cx="0" cy="0"/>
          <a:chOff x="0" y="0"/>
          <a:chExt cx="0" cy="0"/>
        </a:xfrm>
      </p:grpSpPr>
      <p:sp>
        <p:nvSpPr>
          <p:cNvPr id="28" name="Pfeil: Fünfeck 27">
            <a:extLst>
              <a:ext uri="{FF2B5EF4-FFF2-40B4-BE49-F238E27FC236}">
                <a16:creationId xmlns:a16="http://schemas.microsoft.com/office/drawing/2014/main" id="{D2A82891-FF10-2055-6DF8-B9F0D657FBE3}"/>
              </a:ext>
            </a:extLst>
          </p:cNvPr>
          <p:cNvSpPr/>
          <p:nvPr/>
        </p:nvSpPr>
        <p:spPr>
          <a:xfrm>
            <a:off x="4537772" y="6222182"/>
            <a:ext cx="1562468" cy="64926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TextBox 5">
            <a:extLst>
              <a:ext uri="{FF2B5EF4-FFF2-40B4-BE49-F238E27FC236}">
                <a16:creationId xmlns:a16="http://schemas.microsoft.com/office/drawing/2014/main" id="{AFE16E81-94DB-D1BE-4089-DE58B0C84F8F}"/>
              </a:ext>
            </a:extLst>
          </p:cNvPr>
          <p:cNvSpPr txBox="1"/>
          <p:nvPr/>
        </p:nvSpPr>
        <p:spPr>
          <a:xfrm>
            <a:off x="7489996" y="3981645"/>
            <a:ext cx="41768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4: Whey protein concentration to the residence time in the pasteurization section</a:t>
            </a:r>
            <a:endParaRPr lang="en-US" sz="2000" dirty="0">
              <a:latin typeface="Arial"/>
              <a:ea typeface="Calibri"/>
              <a:cs typeface="Arial"/>
            </a:endParaRPr>
          </a:p>
        </p:txBody>
      </p:sp>
      <p:sp>
        <p:nvSpPr>
          <p:cNvPr id="8" name="TextBox 5">
            <a:extLst>
              <a:ext uri="{FF2B5EF4-FFF2-40B4-BE49-F238E27FC236}">
                <a16:creationId xmlns:a16="http://schemas.microsoft.com/office/drawing/2014/main" id="{E2181C27-7838-6545-8DA2-9097F48ADD4B}"/>
              </a:ext>
            </a:extLst>
          </p:cNvPr>
          <p:cNvSpPr txBox="1"/>
          <p:nvPr/>
        </p:nvSpPr>
        <p:spPr>
          <a:xfrm>
            <a:off x="7489994" y="1455563"/>
            <a:ext cx="417687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3: Phosphatase concentration to the residence time</a:t>
            </a:r>
            <a:r>
              <a:rPr lang="en-US" sz="2000" dirty="0">
                <a:latin typeface="Calibri"/>
                <a:ea typeface="Calibri"/>
                <a:cs typeface="Calibri"/>
              </a:rPr>
              <a:t> in the pasteurization section</a:t>
            </a:r>
            <a:endParaRPr lang="en-US" sz="2000" dirty="0">
              <a:latin typeface="Arial"/>
              <a:ea typeface="Calibri"/>
              <a:cs typeface="Arial"/>
            </a:endParaRPr>
          </a:p>
        </p:txBody>
      </p:sp>
      <p:sp>
        <p:nvSpPr>
          <p:cNvPr id="13" name="Title 1">
            <a:extLst>
              <a:ext uri="{FF2B5EF4-FFF2-40B4-BE49-F238E27FC236}">
                <a16:creationId xmlns:a16="http://schemas.microsoft.com/office/drawing/2014/main" id="{CDE0081F-EAD1-B8B5-591A-D99AFC7A1FB7}"/>
              </a:ext>
            </a:extLst>
          </p:cNvPr>
          <p:cNvSpPr txBox="1">
            <a:spLocks/>
          </p:cNvSpPr>
          <p:nvPr/>
        </p:nvSpPr>
        <p:spPr>
          <a:xfrm>
            <a:off x="103898" y="138893"/>
            <a:ext cx="12474090"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4.1.3 Pasteurization model-Simulation results (3/5)</a:t>
            </a:r>
          </a:p>
        </p:txBody>
      </p:sp>
      <p:pic>
        <p:nvPicPr>
          <p:cNvPr id="72" name="Grafik 71" descr="Ein Bild, das Text, Reihe, Diagramm, Screenshot enthält.&#10;&#10;KI-generierte Inhalte können fehlerhaft sein.">
            <a:extLst>
              <a:ext uri="{FF2B5EF4-FFF2-40B4-BE49-F238E27FC236}">
                <a16:creationId xmlns:a16="http://schemas.microsoft.com/office/drawing/2014/main" id="{3DC3C9C0-890D-9062-488A-7026EA701AF7}"/>
              </a:ext>
            </a:extLst>
          </p:cNvPr>
          <p:cNvPicPr>
            <a:picLocks noChangeAspect="1"/>
          </p:cNvPicPr>
          <p:nvPr/>
        </p:nvPicPr>
        <p:blipFill>
          <a:blip r:embed="rId3"/>
          <a:srcRect l="42349" t="84028" r="37558" b="11458"/>
          <a:stretch>
            <a:fillRect/>
          </a:stretch>
        </p:blipFill>
        <p:spPr>
          <a:xfrm>
            <a:off x="3171889" y="6077906"/>
            <a:ext cx="1357727" cy="135580"/>
          </a:xfrm>
          <a:prstGeom prst="rect">
            <a:avLst/>
          </a:prstGeom>
        </p:spPr>
      </p:pic>
      <p:sp>
        <p:nvSpPr>
          <p:cNvPr id="2" name="Foliennummernplatzhalter 1">
            <a:extLst>
              <a:ext uri="{FF2B5EF4-FFF2-40B4-BE49-F238E27FC236}">
                <a16:creationId xmlns:a16="http://schemas.microsoft.com/office/drawing/2014/main" id="{DE682FB2-4FD5-57FE-88AA-01C8B3BEBE2C}"/>
              </a:ext>
            </a:extLst>
          </p:cNvPr>
          <p:cNvSpPr>
            <a:spLocks noGrp="1"/>
          </p:cNvSpPr>
          <p:nvPr>
            <p:ph type="sldNum" sz="quarter" idx="12"/>
          </p:nvPr>
        </p:nvSpPr>
        <p:spPr/>
        <p:txBody>
          <a:bodyPr/>
          <a:lstStyle/>
          <a:p>
            <a:fld id="{48F63A3B-78C7-47BE-AE5E-E10140E04643}" type="slidenum">
              <a:rPr lang="en-US" smtClean="0"/>
              <a:t>12</a:t>
            </a:fld>
            <a:r>
              <a:rPr lang="en-US" dirty="0"/>
              <a:t>/36</a:t>
            </a:r>
            <a:endParaRPr lang="de-DE" dirty="0"/>
          </a:p>
        </p:txBody>
      </p:sp>
      <p:sp>
        <p:nvSpPr>
          <p:cNvPr id="5" name="Pfeil: Fünfeck 4">
            <a:extLst>
              <a:ext uri="{FF2B5EF4-FFF2-40B4-BE49-F238E27FC236}">
                <a16:creationId xmlns:a16="http://schemas.microsoft.com/office/drawing/2014/main" id="{E3837D87-EC5C-5835-F594-CB4C539C396F}"/>
              </a:ext>
            </a:extLst>
          </p:cNvPr>
          <p:cNvSpPr/>
          <p:nvPr/>
        </p:nvSpPr>
        <p:spPr>
          <a:xfrm>
            <a:off x="520944" y="6233068"/>
            <a:ext cx="1769296" cy="64926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Pfeil: Fünfeck 8">
            <a:extLst>
              <a:ext uri="{FF2B5EF4-FFF2-40B4-BE49-F238E27FC236}">
                <a16:creationId xmlns:a16="http://schemas.microsoft.com/office/drawing/2014/main" id="{B78B8C3D-9B98-0AB4-6531-8DFC42035488}"/>
              </a:ext>
            </a:extLst>
          </p:cNvPr>
          <p:cNvSpPr/>
          <p:nvPr/>
        </p:nvSpPr>
        <p:spPr>
          <a:xfrm>
            <a:off x="2128404" y="6228905"/>
            <a:ext cx="1248453" cy="628059"/>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Pfeil: Fünfeck 10">
            <a:extLst>
              <a:ext uri="{FF2B5EF4-FFF2-40B4-BE49-F238E27FC236}">
                <a16:creationId xmlns:a16="http://schemas.microsoft.com/office/drawing/2014/main" id="{37AD934B-9095-9663-9F10-572A934D4BB7}"/>
              </a:ext>
            </a:extLst>
          </p:cNvPr>
          <p:cNvSpPr/>
          <p:nvPr/>
        </p:nvSpPr>
        <p:spPr>
          <a:xfrm>
            <a:off x="3174746" y="6229793"/>
            <a:ext cx="1590570" cy="617494"/>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Pfeil: Fünfeck 15">
            <a:extLst>
              <a:ext uri="{FF2B5EF4-FFF2-40B4-BE49-F238E27FC236}">
                <a16:creationId xmlns:a16="http://schemas.microsoft.com/office/drawing/2014/main" id="{34FA78C3-8AD0-1097-6799-3EBB45420EBB}"/>
              </a:ext>
            </a:extLst>
          </p:cNvPr>
          <p:cNvSpPr/>
          <p:nvPr/>
        </p:nvSpPr>
        <p:spPr>
          <a:xfrm>
            <a:off x="5910332" y="6208341"/>
            <a:ext cx="1077591" cy="703373"/>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Textfeld 17">
            <a:extLst>
              <a:ext uri="{FF2B5EF4-FFF2-40B4-BE49-F238E27FC236}">
                <a16:creationId xmlns:a16="http://schemas.microsoft.com/office/drawing/2014/main" id="{D934FE58-3A4A-A9D5-DC76-5A1B6D2FAFD3}"/>
              </a:ext>
            </a:extLst>
          </p:cNvPr>
          <p:cNvSpPr txBox="1"/>
          <p:nvPr/>
        </p:nvSpPr>
        <p:spPr>
          <a:xfrm>
            <a:off x="407735" y="6205353"/>
            <a:ext cx="17938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Regenerative unit</a:t>
            </a:r>
          </a:p>
        </p:txBody>
      </p:sp>
      <p:sp>
        <p:nvSpPr>
          <p:cNvPr id="20" name="Textfeld 19">
            <a:extLst>
              <a:ext uri="{FF2B5EF4-FFF2-40B4-BE49-F238E27FC236}">
                <a16:creationId xmlns:a16="http://schemas.microsoft.com/office/drawing/2014/main" id="{005BE700-11C8-7D27-54CA-11198FF17E0C}"/>
              </a:ext>
            </a:extLst>
          </p:cNvPr>
          <p:cNvSpPr txBox="1"/>
          <p:nvPr/>
        </p:nvSpPr>
        <p:spPr>
          <a:xfrm>
            <a:off x="1771156" y="6339648"/>
            <a:ext cx="172800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Heater</a:t>
            </a:r>
          </a:p>
        </p:txBody>
      </p:sp>
      <p:sp>
        <p:nvSpPr>
          <p:cNvPr id="22" name="Textfeld 21">
            <a:extLst>
              <a:ext uri="{FF2B5EF4-FFF2-40B4-BE49-F238E27FC236}">
                <a16:creationId xmlns:a16="http://schemas.microsoft.com/office/drawing/2014/main" id="{F250526B-4F34-2B42-479F-CE241077BA1D}"/>
              </a:ext>
            </a:extLst>
          </p:cNvPr>
          <p:cNvSpPr txBox="1"/>
          <p:nvPr/>
        </p:nvSpPr>
        <p:spPr>
          <a:xfrm>
            <a:off x="2980073" y="6361454"/>
            <a:ext cx="174735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cs typeface="Calibri"/>
              </a:rPr>
              <a:t>Holder</a:t>
            </a:r>
            <a:endParaRPr lang="de-DE" dirty="0">
              <a:solidFill>
                <a:schemeClr val="bg1"/>
              </a:solidFill>
            </a:endParaRPr>
          </a:p>
        </p:txBody>
      </p:sp>
      <p:sp>
        <p:nvSpPr>
          <p:cNvPr id="24" name="Textfeld 23">
            <a:extLst>
              <a:ext uri="{FF2B5EF4-FFF2-40B4-BE49-F238E27FC236}">
                <a16:creationId xmlns:a16="http://schemas.microsoft.com/office/drawing/2014/main" id="{8C6DAD53-D141-33CD-9CFB-896638BBFA9A}"/>
              </a:ext>
            </a:extLst>
          </p:cNvPr>
          <p:cNvSpPr txBox="1"/>
          <p:nvPr/>
        </p:nvSpPr>
        <p:spPr>
          <a:xfrm>
            <a:off x="5908863" y="6339466"/>
            <a:ext cx="140264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sz="2000" dirty="0">
                <a:solidFill>
                  <a:schemeClr val="bg1"/>
                </a:solidFill>
                <a:ea typeface="Calibri"/>
                <a:cs typeface="Calibri"/>
              </a:rPr>
              <a:t>Cooler</a:t>
            </a:r>
          </a:p>
        </p:txBody>
      </p:sp>
      <p:sp>
        <p:nvSpPr>
          <p:cNvPr id="27" name="Textfeld 26">
            <a:extLst>
              <a:ext uri="{FF2B5EF4-FFF2-40B4-BE49-F238E27FC236}">
                <a16:creationId xmlns:a16="http://schemas.microsoft.com/office/drawing/2014/main" id="{ADCB409D-0041-D23D-6396-F29BD13FBCAB}"/>
              </a:ext>
            </a:extLst>
          </p:cNvPr>
          <p:cNvSpPr txBox="1"/>
          <p:nvPr/>
        </p:nvSpPr>
        <p:spPr>
          <a:xfrm>
            <a:off x="4304820" y="6238009"/>
            <a:ext cx="17938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de-DE" sz="2000" dirty="0">
                <a:solidFill>
                  <a:schemeClr val="bg1"/>
                </a:solidFill>
                <a:ea typeface="Calibri"/>
                <a:cs typeface="Calibri"/>
              </a:rPr>
              <a:t>Regenerative unit</a:t>
            </a:r>
          </a:p>
        </p:txBody>
      </p:sp>
      <p:sp>
        <p:nvSpPr>
          <p:cNvPr id="3" name="Rechteck 2">
            <a:extLst>
              <a:ext uri="{FF2B5EF4-FFF2-40B4-BE49-F238E27FC236}">
                <a16:creationId xmlns:a16="http://schemas.microsoft.com/office/drawing/2014/main" id="{BC6384F5-436B-7B5B-C7F3-C5BC76598AC2}"/>
              </a:ext>
            </a:extLst>
          </p:cNvPr>
          <p:cNvSpPr/>
          <p:nvPr/>
        </p:nvSpPr>
        <p:spPr>
          <a:xfrm>
            <a:off x="103898" y="658300"/>
            <a:ext cx="6942860" cy="5579709"/>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2" name="Grafik 61" descr="Ein Bild, das Text, Reihe, Diagramm, Screenshot enthält.&#10;&#10;KI-generierte Inhalte können fehlerhaft sein.">
            <a:extLst>
              <a:ext uri="{FF2B5EF4-FFF2-40B4-BE49-F238E27FC236}">
                <a16:creationId xmlns:a16="http://schemas.microsoft.com/office/drawing/2014/main" id="{F1514CC3-56AC-B84D-1E24-EB422F957B6E}"/>
              </a:ext>
            </a:extLst>
          </p:cNvPr>
          <p:cNvPicPr>
            <a:picLocks noChangeAspect="1"/>
          </p:cNvPicPr>
          <p:nvPr/>
        </p:nvPicPr>
        <p:blipFill>
          <a:blip r:embed="rId3"/>
          <a:srcRect l="2032" t="512" r="2156" b="16591"/>
          <a:stretch>
            <a:fillRect/>
          </a:stretch>
        </p:blipFill>
        <p:spPr>
          <a:xfrm>
            <a:off x="394509" y="669336"/>
            <a:ext cx="6339952" cy="2444984"/>
          </a:xfrm>
          <a:prstGeom prst="rect">
            <a:avLst/>
          </a:prstGeom>
        </p:spPr>
      </p:pic>
      <p:pic>
        <p:nvPicPr>
          <p:cNvPr id="4" name="Grafik 2" descr="Ein Bild, das Text, Reihe, Diagramm, Steigung enthält.&#10;&#10;KI-generierte Inhalte können fehlerhaft sein.">
            <a:extLst>
              <a:ext uri="{FF2B5EF4-FFF2-40B4-BE49-F238E27FC236}">
                <a16:creationId xmlns:a16="http://schemas.microsoft.com/office/drawing/2014/main" id="{88BB0964-68E9-DC0A-9043-11267660E361}"/>
              </a:ext>
            </a:extLst>
          </p:cNvPr>
          <p:cNvPicPr>
            <a:picLocks noChangeAspect="1"/>
          </p:cNvPicPr>
          <p:nvPr/>
        </p:nvPicPr>
        <p:blipFill>
          <a:blip r:embed="rId4"/>
          <a:srcRect l="40975" t="75493" r="39289" b="19313"/>
          <a:stretch>
            <a:fillRect/>
          </a:stretch>
        </p:blipFill>
        <p:spPr>
          <a:xfrm>
            <a:off x="2661122" y="6003290"/>
            <a:ext cx="1830055" cy="230095"/>
          </a:xfrm>
          <a:prstGeom prst="rect">
            <a:avLst/>
          </a:prstGeom>
        </p:spPr>
      </p:pic>
      <p:pic>
        <p:nvPicPr>
          <p:cNvPr id="65" name="Grafik 64" descr="Ein Bild, das Text, Diagramm, Reihe, Zahl enthält.&#10;&#10;KI-generierte Inhalte können fehlerhaft sein.">
            <a:extLst>
              <a:ext uri="{FF2B5EF4-FFF2-40B4-BE49-F238E27FC236}">
                <a16:creationId xmlns:a16="http://schemas.microsoft.com/office/drawing/2014/main" id="{1BBE2472-A87C-4C8C-9AD3-204BD46686FA}"/>
              </a:ext>
            </a:extLst>
          </p:cNvPr>
          <p:cNvPicPr>
            <a:picLocks noChangeAspect="1"/>
          </p:cNvPicPr>
          <p:nvPr/>
        </p:nvPicPr>
        <p:blipFill>
          <a:blip r:embed="rId5"/>
          <a:srcRect l="3151" t="1792" r="922" b="6093"/>
          <a:stretch>
            <a:fillRect/>
          </a:stretch>
        </p:blipFill>
        <p:spPr>
          <a:xfrm>
            <a:off x="319010" y="3119451"/>
            <a:ext cx="6477662" cy="2891740"/>
          </a:xfrm>
          <a:prstGeom prst="rect">
            <a:avLst/>
          </a:prstGeom>
        </p:spPr>
      </p:pic>
    </p:spTree>
    <p:extLst>
      <p:ext uri="{BB962C8B-B14F-4D97-AF65-F5344CB8AC3E}">
        <p14:creationId xmlns:p14="http://schemas.microsoft.com/office/powerpoint/2010/main" val="31300707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0533E-E7CE-03F3-CA30-67A0BA905F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2098951-7499-0F4F-8EDA-913B8DA42139}"/>
              </a:ext>
            </a:extLst>
          </p:cNvPr>
          <p:cNvSpPr txBox="1"/>
          <p:nvPr/>
        </p:nvSpPr>
        <p:spPr>
          <a:xfrm>
            <a:off x="2327770" y="5987189"/>
            <a:ext cx="69620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5: Heat transfer coefficient in the shell of the regenerative unit</a:t>
            </a:r>
          </a:p>
        </p:txBody>
      </p:sp>
      <p:sp>
        <p:nvSpPr>
          <p:cNvPr id="11" name="Title 1">
            <a:extLst>
              <a:ext uri="{FF2B5EF4-FFF2-40B4-BE49-F238E27FC236}">
                <a16:creationId xmlns:a16="http://schemas.microsoft.com/office/drawing/2014/main" id="{24A7DBFC-8999-85D0-D224-77789D86E11B}"/>
              </a:ext>
            </a:extLst>
          </p:cNvPr>
          <p:cNvSpPr txBox="1">
            <a:spLocks/>
          </p:cNvSpPr>
          <p:nvPr/>
        </p:nvSpPr>
        <p:spPr>
          <a:xfrm>
            <a:off x="103898" y="138893"/>
            <a:ext cx="1248529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4.1.3 Pasteurization model-Simulation results (4/5)</a:t>
            </a:r>
          </a:p>
        </p:txBody>
      </p:sp>
      <p:sp>
        <p:nvSpPr>
          <p:cNvPr id="2" name="Foliennummernplatzhalter 1">
            <a:extLst>
              <a:ext uri="{FF2B5EF4-FFF2-40B4-BE49-F238E27FC236}">
                <a16:creationId xmlns:a16="http://schemas.microsoft.com/office/drawing/2014/main" id="{ECCE4FC9-0C0E-4365-3321-87130417249D}"/>
              </a:ext>
            </a:extLst>
          </p:cNvPr>
          <p:cNvSpPr>
            <a:spLocks noGrp="1"/>
          </p:cNvSpPr>
          <p:nvPr>
            <p:ph type="sldNum" sz="quarter" idx="12"/>
          </p:nvPr>
        </p:nvSpPr>
        <p:spPr/>
        <p:txBody>
          <a:bodyPr/>
          <a:lstStyle/>
          <a:p>
            <a:fld id="{48F63A3B-78C7-47BE-AE5E-E10140E04643}" type="slidenum">
              <a:rPr lang="en-US" smtClean="0"/>
              <a:t>13</a:t>
            </a:fld>
            <a:r>
              <a:rPr lang="en-US" dirty="0"/>
              <a:t>/36</a:t>
            </a:r>
            <a:endParaRPr lang="de-DE" dirty="0"/>
          </a:p>
        </p:txBody>
      </p:sp>
      <p:pic>
        <p:nvPicPr>
          <p:cNvPr id="3" name="Grafik 2" descr="Ein Bild, das Text, Screenshot, Reihe, Diagramm enthält.&#10;&#10;KI-generierte Inhalte können fehlerhaft sein.">
            <a:extLst>
              <a:ext uri="{FF2B5EF4-FFF2-40B4-BE49-F238E27FC236}">
                <a16:creationId xmlns:a16="http://schemas.microsoft.com/office/drawing/2014/main" id="{E9723FCF-9DAD-068D-F7B5-62DF528E141F}"/>
              </a:ext>
            </a:extLst>
          </p:cNvPr>
          <p:cNvPicPr>
            <a:picLocks noChangeAspect="1"/>
          </p:cNvPicPr>
          <p:nvPr/>
        </p:nvPicPr>
        <p:blipFill>
          <a:blip r:embed="rId3"/>
          <a:srcRect l="1778" t="6801" r="43556" b="305"/>
          <a:stretch>
            <a:fillRect/>
          </a:stretch>
        </p:blipFill>
        <p:spPr>
          <a:xfrm>
            <a:off x="2817586" y="951895"/>
            <a:ext cx="5993299" cy="4962916"/>
          </a:xfrm>
          <a:prstGeom prst="rect">
            <a:avLst/>
          </a:prstGeom>
        </p:spPr>
      </p:pic>
    </p:spTree>
    <p:extLst>
      <p:ext uri="{BB962C8B-B14F-4D97-AF65-F5344CB8AC3E}">
        <p14:creationId xmlns:p14="http://schemas.microsoft.com/office/powerpoint/2010/main" val="2559612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B70D-513A-8380-A1C3-35D8C48D6110}"/>
            </a:ext>
          </a:extLst>
        </p:cNvPr>
        <p:cNvGrpSpPr/>
        <p:nvPr/>
      </p:nvGrpSpPr>
      <p:grpSpPr>
        <a:xfrm>
          <a:off x="0" y="0"/>
          <a:ext cx="0" cy="0"/>
          <a:chOff x="0" y="0"/>
          <a:chExt cx="0" cy="0"/>
        </a:xfrm>
      </p:grpSpPr>
      <p:sp>
        <p:nvSpPr>
          <p:cNvPr id="24" name="TextBox 5">
            <a:extLst>
              <a:ext uri="{FF2B5EF4-FFF2-40B4-BE49-F238E27FC236}">
                <a16:creationId xmlns:a16="http://schemas.microsoft.com/office/drawing/2014/main" id="{54649B78-3EAD-A28D-DD79-688224554709}"/>
              </a:ext>
            </a:extLst>
          </p:cNvPr>
          <p:cNvSpPr txBox="1"/>
          <p:nvPr/>
        </p:nvSpPr>
        <p:spPr>
          <a:xfrm>
            <a:off x="5781329" y="1580822"/>
            <a:ext cx="519661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6: </a:t>
            </a:r>
            <a:r>
              <a:rPr lang="en-US" sz="2000" i="1" dirty="0" err="1">
                <a:latin typeface="Calibri"/>
                <a:ea typeface="Calibri"/>
                <a:cs typeface="Calibri"/>
              </a:rPr>
              <a:t>S.thermophilus</a:t>
            </a:r>
            <a:r>
              <a:rPr lang="en-US" sz="2000" i="1" dirty="0">
                <a:latin typeface="Calibri"/>
                <a:ea typeface="Calibri"/>
                <a:cs typeface="Calibri"/>
              </a:rPr>
              <a:t> </a:t>
            </a:r>
            <a:r>
              <a:rPr lang="en-US" sz="2000" dirty="0">
                <a:latin typeface="Calibri"/>
                <a:ea typeface="Calibri"/>
                <a:cs typeface="Calibri"/>
              </a:rPr>
              <a:t>surface concentration in the regenerative unit to the residence time</a:t>
            </a:r>
          </a:p>
        </p:txBody>
      </p:sp>
      <p:sp>
        <p:nvSpPr>
          <p:cNvPr id="26" name="TextBox 5">
            <a:extLst>
              <a:ext uri="{FF2B5EF4-FFF2-40B4-BE49-F238E27FC236}">
                <a16:creationId xmlns:a16="http://schemas.microsoft.com/office/drawing/2014/main" id="{25E52DBF-4E69-5320-4ABB-80A32D049E3F}"/>
              </a:ext>
            </a:extLst>
          </p:cNvPr>
          <p:cNvSpPr txBox="1"/>
          <p:nvPr/>
        </p:nvSpPr>
        <p:spPr>
          <a:xfrm>
            <a:off x="6084348" y="4346987"/>
            <a:ext cx="503972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7:</a:t>
            </a:r>
            <a:r>
              <a:rPr lang="en-US" sz="2000" dirty="0">
                <a:latin typeface="Calibri"/>
                <a:ea typeface="Calibri"/>
                <a:cs typeface="Calibri"/>
              </a:rPr>
              <a:t> </a:t>
            </a:r>
            <a:r>
              <a:rPr lang="en-US" sz="2000" i="1" dirty="0" err="1">
                <a:latin typeface="Calibri"/>
                <a:ea typeface="Calibri"/>
                <a:cs typeface="Calibri"/>
              </a:rPr>
              <a:t>S.thermophilus</a:t>
            </a:r>
            <a:r>
              <a:rPr lang="en-US" sz="2000" i="1" dirty="0">
                <a:latin typeface="Calibri"/>
                <a:ea typeface="Calibri"/>
                <a:cs typeface="Calibri"/>
              </a:rPr>
              <a:t> </a:t>
            </a:r>
            <a:r>
              <a:rPr lang="en-US" sz="2000" dirty="0">
                <a:latin typeface="Calibri"/>
                <a:ea typeface="Calibri"/>
                <a:cs typeface="Calibri"/>
              </a:rPr>
              <a:t>and destroyed </a:t>
            </a:r>
            <a:r>
              <a:rPr lang="en-US" sz="2000" i="1" dirty="0" err="1">
                <a:latin typeface="Calibri"/>
                <a:ea typeface="Calibri"/>
                <a:cs typeface="Calibri"/>
              </a:rPr>
              <a:t>S.thermophilus</a:t>
            </a:r>
            <a:r>
              <a:rPr lang="en-US" sz="2000" i="1" dirty="0">
                <a:latin typeface="Calibri"/>
                <a:ea typeface="Calibri"/>
                <a:cs typeface="Calibri"/>
              </a:rPr>
              <a:t> </a:t>
            </a:r>
            <a:r>
              <a:rPr lang="en-US" sz="2000" dirty="0">
                <a:latin typeface="Calibri"/>
                <a:ea typeface="Calibri"/>
                <a:cs typeface="Calibri"/>
              </a:rPr>
              <a:t>bulk concentration in the regenerative unit to the residence time</a:t>
            </a:r>
          </a:p>
        </p:txBody>
      </p:sp>
      <p:sp>
        <p:nvSpPr>
          <p:cNvPr id="6" name="Title 1">
            <a:extLst>
              <a:ext uri="{FF2B5EF4-FFF2-40B4-BE49-F238E27FC236}">
                <a16:creationId xmlns:a16="http://schemas.microsoft.com/office/drawing/2014/main" id="{3D37149B-96EE-E06C-3BC0-AB2FFE136D1F}"/>
              </a:ext>
            </a:extLst>
          </p:cNvPr>
          <p:cNvSpPr txBox="1">
            <a:spLocks/>
          </p:cNvSpPr>
          <p:nvPr/>
        </p:nvSpPr>
        <p:spPr>
          <a:xfrm>
            <a:off x="103898" y="138893"/>
            <a:ext cx="12362032"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4.1.3 Pasteurization model-Simulation results (5/5)</a:t>
            </a:r>
          </a:p>
        </p:txBody>
      </p:sp>
      <p:sp>
        <p:nvSpPr>
          <p:cNvPr id="2" name="Foliennummernplatzhalter 1">
            <a:extLst>
              <a:ext uri="{FF2B5EF4-FFF2-40B4-BE49-F238E27FC236}">
                <a16:creationId xmlns:a16="http://schemas.microsoft.com/office/drawing/2014/main" id="{721F5106-4677-9FC5-1830-267D4CCD4737}"/>
              </a:ext>
            </a:extLst>
          </p:cNvPr>
          <p:cNvSpPr>
            <a:spLocks noGrp="1"/>
          </p:cNvSpPr>
          <p:nvPr>
            <p:ph type="sldNum" sz="quarter" idx="12"/>
          </p:nvPr>
        </p:nvSpPr>
        <p:spPr/>
        <p:txBody>
          <a:bodyPr/>
          <a:lstStyle/>
          <a:p>
            <a:fld id="{48F63A3B-78C7-47BE-AE5E-E10140E04643}" type="slidenum">
              <a:rPr lang="en-US" smtClean="0"/>
              <a:t>14</a:t>
            </a:fld>
            <a:r>
              <a:rPr lang="en-US" dirty="0"/>
              <a:t>/36</a:t>
            </a:r>
            <a:endParaRPr lang="de-DE" dirty="0"/>
          </a:p>
        </p:txBody>
      </p:sp>
      <p:pic>
        <p:nvPicPr>
          <p:cNvPr id="4" name="Grafik 3" descr="Ein Bild, das Text, Diagramm, Reihe, Screenshot enthält.&#10;&#10;KI-generierte Inhalte können fehlerhaft sein.">
            <a:extLst>
              <a:ext uri="{FF2B5EF4-FFF2-40B4-BE49-F238E27FC236}">
                <a16:creationId xmlns:a16="http://schemas.microsoft.com/office/drawing/2014/main" id="{7117CB06-4DB0-7027-6968-FA151FA2148F}"/>
              </a:ext>
            </a:extLst>
          </p:cNvPr>
          <p:cNvPicPr>
            <a:picLocks noChangeAspect="1"/>
          </p:cNvPicPr>
          <p:nvPr/>
        </p:nvPicPr>
        <p:blipFill>
          <a:blip r:embed="rId3"/>
          <a:srcRect l="465" r="496" b="14189"/>
          <a:stretch>
            <a:fillRect/>
          </a:stretch>
        </p:blipFill>
        <p:spPr>
          <a:xfrm>
            <a:off x="225253" y="834432"/>
            <a:ext cx="4848146" cy="2890278"/>
          </a:xfrm>
          <a:prstGeom prst="rect">
            <a:avLst/>
          </a:prstGeom>
        </p:spPr>
      </p:pic>
      <p:pic>
        <p:nvPicPr>
          <p:cNvPr id="3" name="Grafik 2" descr="Ein Bild, das Text, Diagramm, Reihe, Screenshot enthält.&#10;&#10;KI-generierte Inhalte können fehlerhaft sein.">
            <a:extLst>
              <a:ext uri="{FF2B5EF4-FFF2-40B4-BE49-F238E27FC236}">
                <a16:creationId xmlns:a16="http://schemas.microsoft.com/office/drawing/2014/main" id="{816ADA77-0DC7-D512-9E18-1B09AC96FCBE}"/>
              </a:ext>
            </a:extLst>
          </p:cNvPr>
          <p:cNvPicPr>
            <a:picLocks noChangeAspect="1"/>
          </p:cNvPicPr>
          <p:nvPr/>
        </p:nvPicPr>
        <p:blipFill>
          <a:blip r:embed="rId4"/>
          <a:stretch>
            <a:fillRect/>
          </a:stretch>
        </p:blipFill>
        <p:spPr>
          <a:xfrm>
            <a:off x="226219" y="3690935"/>
            <a:ext cx="4845842" cy="3036095"/>
          </a:xfrm>
          <a:prstGeom prst="rect">
            <a:avLst/>
          </a:prstGeom>
        </p:spPr>
      </p:pic>
    </p:spTree>
    <p:extLst>
      <p:ext uri="{BB962C8B-B14F-4D97-AF65-F5344CB8AC3E}">
        <p14:creationId xmlns:p14="http://schemas.microsoft.com/office/powerpoint/2010/main" val="3083165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5B803-3E7E-5534-D315-A4B96C0C4757}"/>
            </a:ext>
          </a:extLst>
        </p:cNvPr>
        <p:cNvGrpSpPr/>
        <p:nvPr/>
      </p:nvGrpSpPr>
      <p:grpSpPr>
        <a:xfrm>
          <a:off x="0" y="0"/>
          <a:ext cx="0" cy="0"/>
          <a:chOff x="0" y="0"/>
          <a:chExt cx="0" cy="0"/>
        </a:xfrm>
      </p:grpSpPr>
      <p:grpSp>
        <p:nvGrpSpPr>
          <p:cNvPr id="8" name="Gruppieren 7">
            <a:extLst>
              <a:ext uri="{FF2B5EF4-FFF2-40B4-BE49-F238E27FC236}">
                <a16:creationId xmlns:a16="http://schemas.microsoft.com/office/drawing/2014/main" id="{86A43091-74B0-83E8-D488-E8F3BE99A55F}"/>
              </a:ext>
            </a:extLst>
          </p:cNvPr>
          <p:cNvGrpSpPr/>
          <p:nvPr/>
        </p:nvGrpSpPr>
        <p:grpSpPr>
          <a:xfrm>
            <a:off x="6653163" y="2251584"/>
            <a:ext cx="3799220" cy="3329011"/>
            <a:chOff x="5420516" y="1187025"/>
            <a:chExt cx="3799220" cy="3329011"/>
          </a:xfrm>
        </p:grpSpPr>
        <p:sp>
          <p:nvSpPr>
            <p:cNvPr id="6" name="Rechteck 5">
              <a:extLst>
                <a:ext uri="{FF2B5EF4-FFF2-40B4-BE49-F238E27FC236}">
                  <a16:creationId xmlns:a16="http://schemas.microsoft.com/office/drawing/2014/main" id="{528A6BC7-1D00-3A69-01FC-27136725A0C3}"/>
                </a:ext>
              </a:extLst>
            </p:cNvPr>
            <p:cNvSpPr/>
            <p:nvPr/>
          </p:nvSpPr>
          <p:spPr>
            <a:xfrm>
              <a:off x="5420516" y="1187025"/>
              <a:ext cx="3799220" cy="332901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descr="Ein Bild, das Text, Schrift, Screenshot, Zahl enthält.&#10;&#10;KI-generierte Inhalte können fehlerhaft sein.">
              <a:extLst>
                <a:ext uri="{FF2B5EF4-FFF2-40B4-BE49-F238E27FC236}">
                  <a16:creationId xmlns:a16="http://schemas.microsoft.com/office/drawing/2014/main" id="{0FE9C2E9-968B-E201-AE04-FEC9F4CC0274}"/>
                </a:ext>
              </a:extLst>
            </p:cNvPr>
            <p:cNvPicPr>
              <a:picLocks noChangeAspect="1"/>
            </p:cNvPicPr>
            <p:nvPr/>
          </p:nvPicPr>
          <p:blipFill>
            <a:blip r:embed="rId3"/>
            <a:srcRect l="2786" t="2281" r="5573" b="1141"/>
            <a:stretch>
              <a:fillRect/>
            </a:stretch>
          </p:blipFill>
          <p:spPr>
            <a:xfrm>
              <a:off x="5682127" y="1425726"/>
              <a:ext cx="3325677" cy="2851710"/>
            </a:xfrm>
            <a:prstGeom prst="rect">
              <a:avLst/>
            </a:prstGeom>
          </p:spPr>
        </p:pic>
      </p:grpSp>
      <p:grpSp>
        <p:nvGrpSpPr>
          <p:cNvPr id="7" name="Gruppieren 6">
            <a:extLst>
              <a:ext uri="{FF2B5EF4-FFF2-40B4-BE49-F238E27FC236}">
                <a16:creationId xmlns:a16="http://schemas.microsoft.com/office/drawing/2014/main" id="{AA948144-9F8A-3A38-054D-2A5DE6EA9E1E}"/>
              </a:ext>
            </a:extLst>
          </p:cNvPr>
          <p:cNvGrpSpPr/>
          <p:nvPr/>
        </p:nvGrpSpPr>
        <p:grpSpPr>
          <a:xfrm>
            <a:off x="1666546" y="2386054"/>
            <a:ext cx="3541486" cy="3071277"/>
            <a:chOff x="478722" y="2509319"/>
            <a:chExt cx="3541486" cy="3071277"/>
          </a:xfrm>
        </p:grpSpPr>
        <p:sp>
          <p:nvSpPr>
            <p:cNvPr id="5" name="Rechteck 4">
              <a:extLst>
                <a:ext uri="{FF2B5EF4-FFF2-40B4-BE49-F238E27FC236}">
                  <a16:creationId xmlns:a16="http://schemas.microsoft.com/office/drawing/2014/main" id="{A5F063E0-7C62-1496-8A6C-43926DD5F924}"/>
                </a:ext>
              </a:extLst>
            </p:cNvPr>
            <p:cNvSpPr/>
            <p:nvPr/>
          </p:nvSpPr>
          <p:spPr>
            <a:xfrm>
              <a:off x="478722" y="2509319"/>
              <a:ext cx="3541486" cy="3071277"/>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7" name="Grafik 16" descr="Ein Bild, das Text, Schrift, Handschrift, Screenshot enthält.&#10;&#10;KI-generierte Inhalte können fehlerhaft sein.">
              <a:extLst>
                <a:ext uri="{FF2B5EF4-FFF2-40B4-BE49-F238E27FC236}">
                  <a16:creationId xmlns:a16="http://schemas.microsoft.com/office/drawing/2014/main" id="{EDD1AEB4-19C5-5168-AB8E-94D0CEEFBB54}"/>
                </a:ext>
              </a:extLst>
            </p:cNvPr>
            <p:cNvPicPr>
              <a:picLocks noChangeAspect="1"/>
            </p:cNvPicPr>
            <p:nvPr/>
          </p:nvPicPr>
          <p:blipFill>
            <a:blip r:embed="rId4"/>
            <a:srcRect l="1105" t="3950" r="40055"/>
            <a:stretch>
              <a:fillRect/>
            </a:stretch>
          </p:blipFill>
          <p:spPr>
            <a:xfrm>
              <a:off x="660817" y="2805462"/>
              <a:ext cx="2381914" cy="2561667"/>
            </a:xfrm>
            <a:prstGeom prst="rect">
              <a:avLst/>
            </a:prstGeom>
          </p:spPr>
        </p:pic>
        <p:pic>
          <p:nvPicPr>
            <p:cNvPr id="2" name="Grafik 1" descr="Ein Bild, das Text, Schrift, Handschrift, Screenshot enthält.&#10;&#10;KI-generierte Inhalte können fehlerhaft sein.">
              <a:extLst>
                <a:ext uri="{FF2B5EF4-FFF2-40B4-BE49-F238E27FC236}">
                  <a16:creationId xmlns:a16="http://schemas.microsoft.com/office/drawing/2014/main" id="{23CB76F3-5C87-058A-B676-0309E8DA3BC2}"/>
                </a:ext>
              </a:extLst>
            </p:cNvPr>
            <p:cNvPicPr>
              <a:picLocks noChangeAspect="1"/>
            </p:cNvPicPr>
            <p:nvPr/>
          </p:nvPicPr>
          <p:blipFill>
            <a:blip r:embed="rId4"/>
            <a:srcRect l="83978" t="578" r="829" b="4110"/>
            <a:stretch>
              <a:fillRect/>
            </a:stretch>
          </p:blipFill>
          <p:spPr>
            <a:xfrm>
              <a:off x="3204552" y="2681921"/>
              <a:ext cx="615048" cy="2541991"/>
            </a:xfrm>
            <a:prstGeom prst="rect">
              <a:avLst/>
            </a:prstGeom>
          </p:spPr>
        </p:pic>
      </p:grpSp>
      <p:sp>
        <p:nvSpPr>
          <p:cNvPr id="3" name="Foliennummernplatzhalter 2">
            <a:extLst>
              <a:ext uri="{FF2B5EF4-FFF2-40B4-BE49-F238E27FC236}">
                <a16:creationId xmlns:a16="http://schemas.microsoft.com/office/drawing/2014/main" id="{AE39AEE8-2A9A-950B-F1D5-53F51C7750F3}"/>
              </a:ext>
            </a:extLst>
          </p:cNvPr>
          <p:cNvSpPr>
            <a:spLocks noGrp="1"/>
          </p:cNvSpPr>
          <p:nvPr>
            <p:ph type="sldNum" sz="quarter" idx="12"/>
          </p:nvPr>
        </p:nvSpPr>
        <p:spPr/>
        <p:txBody>
          <a:bodyPr/>
          <a:lstStyle/>
          <a:p>
            <a:fld id="{48F63A3B-78C7-47BE-AE5E-E10140E04643}" type="slidenum">
              <a:rPr lang="en-US" smtClean="0"/>
              <a:t>15</a:t>
            </a:fld>
            <a:r>
              <a:rPr lang="en-US" dirty="0"/>
              <a:t>/36</a:t>
            </a:r>
            <a:endParaRPr lang="de-DE" dirty="0"/>
          </a:p>
        </p:txBody>
      </p:sp>
      <p:sp>
        <p:nvSpPr>
          <p:cNvPr id="10" name="Title 1">
            <a:extLst>
              <a:ext uri="{FF2B5EF4-FFF2-40B4-BE49-F238E27FC236}">
                <a16:creationId xmlns:a16="http://schemas.microsoft.com/office/drawing/2014/main" id="{E367A8F2-A24A-93C9-DEE7-5BB21EB672A8}"/>
              </a:ext>
            </a:extLst>
          </p:cNvPr>
          <p:cNvSpPr txBox="1">
            <a:spLocks/>
          </p:cNvSpPr>
          <p:nvPr/>
        </p:nvSpPr>
        <p:spPr>
          <a:xfrm>
            <a:off x="193377" y="348"/>
            <a:ext cx="11801015" cy="12294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4.2.1 Mathematical equations of the membrane filtration process </a:t>
            </a:r>
          </a:p>
        </p:txBody>
      </p:sp>
    </p:spTree>
    <p:extLst>
      <p:ext uri="{BB962C8B-B14F-4D97-AF65-F5344CB8AC3E}">
        <p14:creationId xmlns:p14="http://schemas.microsoft.com/office/powerpoint/2010/main" val="777166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E9D5B-9496-161A-3426-AC6A9C1690F9}"/>
            </a:ext>
          </a:extLst>
        </p:cNvPr>
        <p:cNvGrpSpPr/>
        <p:nvPr/>
      </p:nvGrpSpPr>
      <p:grpSpPr>
        <a:xfrm>
          <a:off x="0" y="0"/>
          <a:ext cx="0" cy="0"/>
          <a:chOff x="0" y="0"/>
          <a:chExt cx="0" cy="0"/>
        </a:xfrm>
      </p:grpSpPr>
      <p:pic>
        <p:nvPicPr>
          <p:cNvPr id="9" name="Picture 8" descr="A computer screen shot of a diagram&#10;&#10;AI-generated content may be incorrect.">
            <a:extLst>
              <a:ext uri="{FF2B5EF4-FFF2-40B4-BE49-F238E27FC236}">
                <a16:creationId xmlns:a16="http://schemas.microsoft.com/office/drawing/2014/main" id="{CC534ECB-B21B-A7E9-062C-47DA48FD6784}"/>
              </a:ext>
            </a:extLst>
          </p:cNvPr>
          <p:cNvPicPr>
            <a:picLocks noChangeAspect="1"/>
          </p:cNvPicPr>
          <p:nvPr/>
        </p:nvPicPr>
        <p:blipFill>
          <a:blip r:embed="rId3"/>
          <a:srcRect l="2361" t="17301" r="23341" b="10504"/>
          <a:stretch>
            <a:fillRect/>
          </a:stretch>
        </p:blipFill>
        <p:spPr>
          <a:xfrm>
            <a:off x="618226" y="853358"/>
            <a:ext cx="10956212" cy="6000646"/>
          </a:xfrm>
          <a:prstGeom prst="rect">
            <a:avLst/>
          </a:prstGeom>
        </p:spPr>
      </p:pic>
      <p:sp>
        <p:nvSpPr>
          <p:cNvPr id="3" name="Speech Bubble: Rectangle with Corners Rounded 2">
            <a:extLst>
              <a:ext uri="{FF2B5EF4-FFF2-40B4-BE49-F238E27FC236}">
                <a16:creationId xmlns:a16="http://schemas.microsoft.com/office/drawing/2014/main" id="{D2A573B0-EABA-98E0-207E-ADE41A28AD9E}"/>
              </a:ext>
            </a:extLst>
          </p:cNvPr>
          <p:cNvSpPr/>
          <p:nvPr/>
        </p:nvSpPr>
        <p:spPr>
          <a:xfrm>
            <a:off x="3431784" y="3045102"/>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20 °C</a:t>
            </a:r>
          </a:p>
        </p:txBody>
      </p:sp>
      <p:sp>
        <p:nvSpPr>
          <p:cNvPr id="6" name="Speech Bubble: Rectangle with Corners Rounded 5">
            <a:extLst>
              <a:ext uri="{FF2B5EF4-FFF2-40B4-BE49-F238E27FC236}">
                <a16:creationId xmlns:a16="http://schemas.microsoft.com/office/drawing/2014/main" id="{04BFC781-12BA-A4A4-6F1C-A6F8AEF58FA1}"/>
              </a:ext>
            </a:extLst>
          </p:cNvPr>
          <p:cNvSpPr/>
          <p:nvPr/>
        </p:nvSpPr>
        <p:spPr>
          <a:xfrm>
            <a:off x="3230503" y="1434841"/>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1700 kg/h, 20 °C</a:t>
            </a:r>
          </a:p>
        </p:txBody>
      </p:sp>
      <p:sp>
        <p:nvSpPr>
          <p:cNvPr id="7" name="Speech Bubble: Rectangle with Corners Rounded 6">
            <a:extLst>
              <a:ext uri="{FF2B5EF4-FFF2-40B4-BE49-F238E27FC236}">
                <a16:creationId xmlns:a16="http://schemas.microsoft.com/office/drawing/2014/main" id="{6F920032-C476-BB1E-1111-40633A242041}"/>
              </a:ext>
            </a:extLst>
          </p:cNvPr>
          <p:cNvSpPr/>
          <p:nvPr/>
        </p:nvSpPr>
        <p:spPr>
          <a:xfrm>
            <a:off x="9038954" y="5690534"/>
            <a:ext cx="1095454" cy="44813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20% solids</a:t>
            </a:r>
          </a:p>
        </p:txBody>
      </p:sp>
      <p:sp>
        <p:nvSpPr>
          <p:cNvPr id="10" name="Title 1">
            <a:extLst>
              <a:ext uri="{FF2B5EF4-FFF2-40B4-BE49-F238E27FC236}">
                <a16:creationId xmlns:a16="http://schemas.microsoft.com/office/drawing/2014/main" id="{2BAA95D6-F631-E998-6875-617FCED2BAF5}"/>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4.2.2 Membrane filtration model-Specifications</a:t>
            </a:r>
          </a:p>
        </p:txBody>
      </p:sp>
      <p:sp>
        <p:nvSpPr>
          <p:cNvPr id="4" name="Slide Number Placeholder 3">
            <a:extLst>
              <a:ext uri="{FF2B5EF4-FFF2-40B4-BE49-F238E27FC236}">
                <a16:creationId xmlns:a16="http://schemas.microsoft.com/office/drawing/2014/main" id="{D556E2BD-B52C-0632-CF46-613656D3C5B1}"/>
              </a:ext>
            </a:extLst>
          </p:cNvPr>
          <p:cNvSpPr>
            <a:spLocks noGrp="1"/>
          </p:cNvSpPr>
          <p:nvPr>
            <p:ph type="sldNum" sz="quarter" idx="12"/>
          </p:nvPr>
        </p:nvSpPr>
        <p:spPr/>
        <p:txBody>
          <a:bodyPr/>
          <a:lstStyle/>
          <a:p>
            <a:fld id="{48F63A3B-78C7-47BE-AE5E-E10140E04643}" type="slidenum">
              <a:rPr lang="en-US" smtClean="0"/>
              <a:t>16</a:t>
            </a:fld>
            <a:r>
              <a:rPr lang="en-US" dirty="0"/>
              <a:t>/36</a:t>
            </a:r>
          </a:p>
        </p:txBody>
      </p:sp>
    </p:spTree>
    <p:extLst>
      <p:ext uri="{BB962C8B-B14F-4D97-AF65-F5344CB8AC3E}">
        <p14:creationId xmlns:p14="http://schemas.microsoft.com/office/powerpoint/2010/main" val="1361646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116E8-FC64-1A9E-0A83-CF338C049CDD}"/>
            </a:ext>
          </a:extLst>
        </p:cNvPr>
        <p:cNvGrpSpPr/>
        <p:nvPr/>
      </p:nvGrpSpPr>
      <p:grpSpPr>
        <a:xfrm>
          <a:off x="0" y="0"/>
          <a:ext cx="0" cy="0"/>
          <a:chOff x="0" y="0"/>
          <a:chExt cx="0" cy="0"/>
        </a:xfrm>
      </p:grpSpPr>
      <p:pic>
        <p:nvPicPr>
          <p:cNvPr id="9" name="Picture 8" descr="A computer screen shot of a diagram&#10;&#10;AI-generated content may be incorrect.">
            <a:extLst>
              <a:ext uri="{FF2B5EF4-FFF2-40B4-BE49-F238E27FC236}">
                <a16:creationId xmlns:a16="http://schemas.microsoft.com/office/drawing/2014/main" id="{CAFEBE55-156A-FCA8-9F6A-09D2E2420B96}"/>
              </a:ext>
            </a:extLst>
          </p:cNvPr>
          <p:cNvPicPr>
            <a:picLocks noChangeAspect="1"/>
          </p:cNvPicPr>
          <p:nvPr/>
        </p:nvPicPr>
        <p:blipFill>
          <a:blip r:embed="rId3"/>
          <a:srcRect l="2361" t="17301" r="23341" b="10504"/>
          <a:stretch>
            <a:fillRect/>
          </a:stretch>
        </p:blipFill>
        <p:spPr>
          <a:xfrm>
            <a:off x="618226" y="853358"/>
            <a:ext cx="10956212" cy="6000646"/>
          </a:xfrm>
          <a:prstGeom prst="rect">
            <a:avLst/>
          </a:prstGeom>
        </p:spPr>
      </p:pic>
      <p:sp>
        <p:nvSpPr>
          <p:cNvPr id="3" name="Speech Bubble: Rectangle with Corners Rounded 2">
            <a:extLst>
              <a:ext uri="{FF2B5EF4-FFF2-40B4-BE49-F238E27FC236}">
                <a16:creationId xmlns:a16="http://schemas.microsoft.com/office/drawing/2014/main" id="{B3773DD3-3F47-3024-E20D-1E79FF1C2550}"/>
              </a:ext>
            </a:extLst>
          </p:cNvPr>
          <p:cNvSpPr/>
          <p:nvPr/>
        </p:nvSpPr>
        <p:spPr>
          <a:xfrm>
            <a:off x="3431784" y="3045102"/>
            <a:ext cx="649757" cy="39062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20 °C</a:t>
            </a:r>
          </a:p>
        </p:txBody>
      </p:sp>
      <p:sp>
        <p:nvSpPr>
          <p:cNvPr id="6" name="Speech Bubble: Rectangle with Corners Rounded 5">
            <a:extLst>
              <a:ext uri="{FF2B5EF4-FFF2-40B4-BE49-F238E27FC236}">
                <a16:creationId xmlns:a16="http://schemas.microsoft.com/office/drawing/2014/main" id="{F28FA5E4-BB30-98EB-071A-C63EAC165241}"/>
              </a:ext>
            </a:extLst>
          </p:cNvPr>
          <p:cNvSpPr/>
          <p:nvPr/>
        </p:nvSpPr>
        <p:spPr>
          <a:xfrm>
            <a:off x="3230503" y="1434841"/>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1700 kg/h, 20 °C</a:t>
            </a:r>
          </a:p>
        </p:txBody>
      </p:sp>
      <p:sp>
        <p:nvSpPr>
          <p:cNvPr id="7" name="Speech Bubble: Rectangle with Corners Rounded 6">
            <a:extLst>
              <a:ext uri="{FF2B5EF4-FFF2-40B4-BE49-F238E27FC236}">
                <a16:creationId xmlns:a16="http://schemas.microsoft.com/office/drawing/2014/main" id="{E90499E2-1002-5EA8-6C14-E859CA0A686F}"/>
              </a:ext>
            </a:extLst>
          </p:cNvPr>
          <p:cNvSpPr/>
          <p:nvPr/>
        </p:nvSpPr>
        <p:spPr>
          <a:xfrm>
            <a:off x="9038954" y="5690534"/>
            <a:ext cx="1095454" cy="44813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20% solids</a:t>
            </a:r>
          </a:p>
        </p:txBody>
      </p:sp>
      <p:sp>
        <p:nvSpPr>
          <p:cNvPr id="2" name="Speech Bubble: Rectangle with Corners Rounded 1">
            <a:extLst>
              <a:ext uri="{FF2B5EF4-FFF2-40B4-BE49-F238E27FC236}">
                <a16:creationId xmlns:a16="http://schemas.microsoft.com/office/drawing/2014/main" id="{E70145EE-20EE-0AC7-EF35-172FAF1D39CF}"/>
              </a:ext>
            </a:extLst>
          </p:cNvPr>
          <p:cNvSpPr/>
          <p:nvPr/>
        </p:nvSpPr>
        <p:spPr>
          <a:xfrm>
            <a:off x="9038955" y="1564237"/>
            <a:ext cx="1037945" cy="54877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1721 kg/h, 20 °C</a:t>
            </a:r>
          </a:p>
        </p:txBody>
      </p:sp>
      <p:sp>
        <p:nvSpPr>
          <p:cNvPr id="5" name="Speech Bubble: Rectangle with Corners Rounded 4">
            <a:extLst>
              <a:ext uri="{FF2B5EF4-FFF2-40B4-BE49-F238E27FC236}">
                <a16:creationId xmlns:a16="http://schemas.microsoft.com/office/drawing/2014/main" id="{B1FFED42-987D-564A-C868-18F7ACC463BF}"/>
              </a:ext>
            </a:extLst>
          </p:cNvPr>
          <p:cNvSpPr/>
          <p:nvPr/>
        </p:nvSpPr>
        <p:spPr>
          <a:xfrm>
            <a:off x="7874388" y="5589897"/>
            <a:ext cx="1037945" cy="54877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356 kg/h, 20 °C</a:t>
            </a:r>
          </a:p>
        </p:txBody>
      </p:sp>
      <p:sp>
        <p:nvSpPr>
          <p:cNvPr id="10" name="Speech Bubble: Rectangle with Corners Rounded 9">
            <a:extLst>
              <a:ext uri="{FF2B5EF4-FFF2-40B4-BE49-F238E27FC236}">
                <a16:creationId xmlns:a16="http://schemas.microsoft.com/office/drawing/2014/main" id="{7C0FDF9A-0E7D-2160-1F40-99C067338C04}"/>
              </a:ext>
            </a:extLst>
          </p:cNvPr>
          <p:cNvSpPr/>
          <p:nvPr/>
        </p:nvSpPr>
        <p:spPr>
          <a:xfrm>
            <a:off x="4265670" y="3045101"/>
            <a:ext cx="894172"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377 kg/h</a:t>
            </a:r>
          </a:p>
        </p:txBody>
      </p:sp>
      <p:sp>
        <p:nvSpPr>
          <p:cNvPr id="14" name="Title 1">
            <a:extLst>
              <a:ext uri="{FF2B5EF4-FFF2-40B4-BE49-F238E27FC236}">
                <a16:creationId xmlns:a16="http://schemas.microsoft.com/office/drawing/2014/main" id="{5FC4571D-A709-B244-7145-DF708F6D9554}"/>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latin typeface="Calibri Light" panose="020F0302020204030204" pitchFamily="34" charset="0"/>
                <a:ea typeface="Calibri Light"/>
                <a:cs typeface="Calibri Light" panose="020F0302020204030204" pitchFamily="34" charset="0"/>
              </a:rPr>
              <a:t>4.2.3 Membrane filtration model-Simulation results (1/2)</a:t>
            </a:r>
          </a:p>
        </p:txBody>
      </p:sp>
      <p:sp>
        <p:nvSpPr>
          <p:cNvPr id="4" name="Slide Number Placeholder 3">
            <a:extLst>
              <a:ext uri="{FF2B5EF4-FFF2-40B4-BE49-F238E27FC236}">
                <a16:creationId xmlns:a16="http://schemas.microsoft.com/office/drawing/2014/main" id="{95F1FDB4-00AA-3948-F79E-C29E7EEE39F6}"/>
              </a:ext>
            </a:extLst>
          </p:cNvPr>
          <p:cNvSpPr>
            <a:spLocks noGrp="1"/>
          </p:cNvSpPr>
          <p:nvPr>
            <p:ph type="sldNum" sz="quarter" idx="12"/>
          </p:nvPr>
        </p:nvSpPr>
        <p:spPr/>
        <p:txBody>
          <a:bodyPr/>
          <a:lstStyle/>
          <a:p>
            <a:fld id="{48F63A3B-78C7-47BE-AE5E-E10140E04643}" type="slidenum">
              <a:rPr lang="en-US" smtClean="0"/>
              <a:t>17</a:t>
            </a:fld>
            <a:r>
              <a:rPr lang="en-US" dirty="0"/>
              <a:t>/36</a:t>
            </a:r>
          </a:p>
        </p:txBody>
      </p:sp>
    </p:spTree>
    <p:extLst>
      <p:ext uri="{BB962C8B-B14F-4D97-AF65-F5344CB8AC3E}">
        <p14:creationId xmlns:p14="http://schemas.microsoft.com/office/powerpoint/2010/main" val="3169731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47573B0B-B385-82BE-D146-B18B92FD8106}"/>
              </a:ext>
            </a:extLst>
          </p:cNvPr>
          <p:cNvSpPr>
            <a:spLocks noGrp="1"/>
          </p:cNvSpPr>
          <p:nvPr>
            <p:ph type="sldNum" sz="quarter" idx="12"/>
          </p:nvPr>
        </p:nvSpPr>
        <p:spPr/>
        <p:txBody>
          <a:bodyPr/>
          <a:lstStyle/>
          <a:p>
            <a:fld id="{48F63A3B-78C7-47BE-AE5E-E10140E04643}" type="slidenum">
              <a:rPr lang="en-US" smtClean="0"/>
              <a:t>18</a:t>
            </a:fld>
            <a:r>
              <a:rPr lang="en-US" dirty="0"/>
              <a:t>/36</a:t>
            </a:r>
          </a:p>
        </p:txBody>
      </p:sp>
      <p:sp>
        <p:nvSpPr>
          <p:cNvPr id="7" name="Title 1">
            <a:extLst>
              <a:ext uri="{FF2B5EF4-FFF2-40B4-BE49-F238E27FC236}">
                <a16:creationId xmlns:a16="http://schemas.microsoft.com/office/drawing/2014/main" id="{D469B38F-22B2-8C8D-B5AA-FBD76410A65A}"/>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latin typeface="Calibri Light"/>
                <a:ea typeface="Calibri Light"/>
                <a:cs typeface="Calibri Light"/>
              </a:rPr>
              <a:t>4.2.3 </a:t>
            </a:r>
            <a:r>
              <a:rPr lang="en-US" sz="3100" dirty="0">
                <a:latin typeface="Calibri Light" panose="020F0302020204030204" pitchFamily="34" charset="0"/>
                <a:ea typeface="Calibri Light"/>
                <a:cs typeface="Calibri Light" panose="020F0302020204030204" pitchFamily="34" charset="0"/>
              </a:rPr>
              <a:t> Membrane filtration model-Simulation results </a:t>
            </a:r>
            <a:r>
              <a:rPr lang="en-US" sz="3100" dirty="0">
                <a:latin typeface="Calibri Light"/>
                <a:ea typeface="Calibri Light"/>
                <a:cs typeface="Calibri Light"/>
              </a:rPr>
              <a:t>(2/2)</a:t>
            </a:r>
          </a:p>
        </p:txBody>
      </p:sp>
      <p:graphicFrame>
        <p:nvGraphicFramePr>
          <p:cNvPr id="8" name="Diagramm 7">
            <a:extLst>
              <a:ext uri="{FF2B5EF4-FFF2-40B4-BE49-F238E27FC236}">
                <a16:creationId xmlns:a16="http://schemas.microsoft.com/office/drawing/2014/main" id="{16A3AAED-C473-FD0C-9F1C-ECCC13DADFEA}"/>
              </a:ext>
            </a:extLst>
          </p:cNvPr>
          <p:cNvGraphicFramePr/>
          <p:nvPr>
            <p:extLst>
              <p:ext uri="{D42A27DB-BD31-4B8C-83A1-F6EECF244321}">
                <p14:modId xmlns:p14="http://schemas.microsoft.com/office/powerpoint/2010/main" val="3215842580"/>
              </p:ext>
            </p:extLst>
          </p:nvPr>
        </p:nvGraphicFramePr>
        <p:xfrm>
          <a:off x="417535" y="1053013"/>
          <a:ext cx="7223342" cy="4950303"/>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5">
            <a:extLst>
              <a:ext uri="{FF2B5EF4-FFF2-40B4-BE49-F238E27FC236}">
                <a16:creationId xmlns:a16="http://schemas.microsoft.com/office/drawing/2014/main" id="{74F4ABCB-5B73-2925-D27B-48C4F348F882}"/>
              </a:ext>
            </a:extLst>
          </p:cNvPr>
          <p:cNvSpPr txBox="1"/>
          <p:nvPr/>
        </p:nvSpPr>
        <p:spPr>
          <a:xfrm>
            <a:off x="645965" y="5996247"/>
            <a:ext cx="677249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8: Comparative diagram of the retentate and permeate concentration in solids</a:t>
            </a:r>
            <a:endParaRPr lang="en-US" sz="2000" dirty="0">
              <a:latin typeface="Calibri"/>
              <a:ea typeface="Calibri"/>
              <a:cs typeface="Calibri"/>
            </a:endParaRPr>
          </a:p>
        </p:txBody>
      </p:sp>
      <p:sp>
        <p:nvSpPr>
          <p:cNvPr id="9" name="Textfeld 8">
            <a:extLst>
              <a:ext uri="{FF2B5EF4-FFF2-40B4-BE49-F238E27FC236}">
                <a16:creationId xmlns:a16="http://schemas.microsoft.com/office/drawing/2014/main" id="{C84CF3B5-6AF8-6AB4-6CF9-E63595FE593A}"/>
              </a:ext>
            </a:extLst>
          </p:cNvPr>
          <p:cNvSpPr txBox="1"/>
          <p:nvPr/>
        </p:nvSpPr>
        <p:spPr>
          <a:xfrm>
            <a:off x="7651315" y="2479110"/>
            <a:ext cx="4540685" cy="16517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ts val="2025"/>
              </a:lnSpc>
            </a:pPr>
            <a:r>
              <a:rPr lang="en-US" sz="2800" u="sng" dirty="0">
                <a:solidFill>
                  <a:srgbClr val="000000"/>
                </a:solidFill>
                <a:latin typeface="Calibri"/>
                <a:ea typeface="Calibri"/>
                <a:cs typeface="Arial"/>
              </a:rPr>
              <a:t>Water</a:t>
            </a:r>
          </a:p>
          <a:p>
            <a:pPr algn="ctr">
              <a:lnSpc>
                <a:spcPts val="2025"/>
              </a:lnSpc>
            </a:pPr>
            <a:endParaRPr lang="en-US" sz="2800" u="sng" dirty="0">
              <a:solidFill>
                <a:srgbClr val="000000"/>
              </a:solidFill>
              <a:latin typeface="Calibri"/>
              <a:ea typeface="Calibri"/>
              <a:cs typeface="Arial"/>
            </a:endParaRPr>
          </a:p>
          <a:p>
            <a:pPr algn="ctr">
              <a:lnSpc>
                <a:spcPts val="2025"/>
              </a:lnSpc>
            </a:pPr>
            <a:r>
              <a:rPr lang="en-US" sz="2800" dirty="0">
                <a:solidFill>
                  <a:srgbClr val="000000"/>
                </a:solidFill>
                <a:latin typeface="Calibri"/>
                <a:cs typeface="Arial"/>
              </a:rPr>
              <a:t>80% in retentate</a:t>
            </a:r>
            <a:endParaRPr lang="en-US" sz="2800" dirty="0">
              <a:solidFill>
                <a:srgbClr val="000000"/>
              </a:solidFill>
              <a:latin typeface="Calibri"/>
              <a:ea typeface="Calibri"/>
              <a:cs typeface="Arial"/>
            </a:endParaRPr>
          </a:p>
          <a:p>
            <a:pPr algn="ctr">
              <a:lnSpc>
                <a:spcPts val="2025"/>
              </a:lnSpc>
            </a:pPr>
            <a:endParaRPr lang="en-US" sz="2800" dirty="0">
              <a:solidFill>
                <a:srgbClr val="000000"/>
              </a:solidFill>
              <a:latin typeface="Calibri"/>
              <a:ea typeface="Calibri"/>
              <a:cs typeface="Arial"/>
            </a:endParaRPr>
          </a:p>
          <a:p>
            <a:pPr algn="ctr">
              <a:lnSpc>
                <a:spcPts val="2025"/>
              </a:lnSpc>
            </a:pPr>
            <a:r>
              <a:rPr lang="en-US" sz="2800" dirty="0">
                <a:ea typeface="Calibri"/>
                <a:cs typeface="Arial"/>
              </a:rPr>
              <a:t>95.3% in permeate</a:t>
            </a:r>
          </a:p>
          <a:p>
            <a:pPr algn="ctr"/>
            <a:endParaRPr lang="de-DE" dirty="0">
              <a:ea typeface="Calibri" panose="020F0502020204030204"/>
              <a:cs typeface="Calibri" panose="020F0502020204030204"/>
            </a:endParaRPr>
          </a:p>
        </p:txBody>
      </p:sp>
    </p:spTree>
    <p:extLst>
      <p:ext uri="{BB962C8B-B14F-4D97-AF65-F5344CB8AC3E}">
        <p14:creationId xmlns:p14="http://schemas.microsoft.com/office/powerpoint/2010/main" val="3232789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feld 34">
            <a:extLst>
              <a:ext uri="{FF2B5EF4-FFF2-40B4-BE49-F238E27FC236}">
                <a16:creationId xmlns:a16="http://schemas.microsoft.com/office/drawing/2014/main" id="{6733D434-DAB9-2BFA-77AE-77F8F5E48991}"/>
              </a:ext>
            </a:extLst>
          </p:cNvPr>
          <p:cNvSpPr txBox="1"/>
          <p:nvPr/>
        </p:nvSpPr>
        <p:spPr>
          <a:xfrm>
            <a:off x="217147" y="6540414"/>
            <a:ext cx="11752298" cy="32188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13" name="Picture 12" descr="A computer screen shot of a diagram&#10;&#10;AI-generated content may be incorrect.">
            <a:extLst>
              <a:ext uri="{FF2B5EF4-FFF2-40B4-BE49-F238E27FC236}">
                <a16:creationId xmlns:a16="http://schemas.microsoft.com/office/drawing/2014/main" id="{DDB28D67-71B7-19E6-1C90-608F2DB67EEA}"/>
              </a:ext>
            </a:extLst>
          </p:cNvPr>
          <p:cNvPicPr>
            <a:picLocks noChangeAspect="1"/>
          </p:cNvPicPr>
          <p:nvPr/>
        </p:nvPicPr>
        <p:blipFill>
          <a:blip r:embed="rId3"/>
          <a:srcRect l="27936" t="18110" r="14442" b="29833"/>
          <a:stretch>
            <a:fillRect/>
          </a:stretch>
        </p:blipFill>
        <p:spPr>
          <a:xfrm>
            <a:off x="215661" y="839613"/>
            <a:ext cx="11747124" cy="5883307"/>
          </a:xfrm>
          <a:prstGeom prst="rect">
            <a:avLst/>
          </a:prstGeom>
        </p:spPr>
      </p:pic>
      <p:sp>
        <p:nvSpPr>
          <p:cNvPr id="4" name="Slide Number Placeholder 3">
            <a:extLst>
              <a:ext uri="{FF2B5EF4-FFF2-40B4-BE49-F238E27FC236}">
                <a16:creationId xmlns:a16="http://schemas.microsoft.com/office/drawing/2014/main" id="{CB7D8DF9-0C29-D238-364A-456EA9CCF6FA}"/>
              </a:ext>
            </a:extLst>
          </p:cNvPr>
          <p:cNvSpPr>
            <a:spLocks noGrp="1"/>
          </p:cNvSpPr>
          <p:nvPr>
            <p:ph type="sldNum" sz="quarter" idx="12"/>
          </p:nvPr>
        </p:nvSpPr>
        <p:spPr/>
        <p:txBody>
          <a:bodyPr/>
          <a:lstStyle/>
          <a:p>
            <a:fld id="{48F63A3B-78C7-47BE-AE5E-E10140E04643}" type="slidenum">
              <a:rPr lang="en-US" smtClean="0"/>
              <a:t>19</a:t>
            </a:fld>
            <a:r>
              <a:rPr lang="en-US" dirty="0"/>
              <a:t>/36</a:t>
            </a:r>
          </a:p>
        </p:txBody>
      </p:sp>
      <p:sp>
        <p:nvSpPr>
          <p:cNvPr id="15" name="Speech Bubble: Rectangle with Corners Rounded 14">
            <a:extLst>
              <a:ext uri="{FF2B5EF4-FFF2-40B4-BE49-F238E27FC236}">
                <a16:creationId xmlns:a16="http://schemas.microsoft.com/office/drawing/2014/main" id="{B2B9DE8F-D2FA-DE78-BDE0-FD79541AEB05}"/>
              </a:ext>
            </a:extLst>
          </p:cNvPr>
          <p:cNvSpPr/>
          <p:nvPr/>
        </p:nvSpPr>
        <p:spPr>
          <a:xfrm>
            <a:off x="1102654" y="2412501"/>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ea typeface="Calibri"/>
                <a:cs typeface="Calibri"/>
              </a:rPr>
              <a:t>1700 kg/h, 5 °C</a:t>
            </a:r>
          </a:p>
        </p:txBody>
      </p:sp>
      <p:sp>
        <p:nvSpPr>
          <p:cNvPr id="26" name="Speech Bubble: Rectangle with Corners Rounded 25">
            <a:extLst>
              <a:ext uri="{FF2B5EF4-FFF2-40B4-BE49-F238E27FC236}">
                <a16:creationId xmlns:a16="http://schemas.microsoft.com/office/drawing/2014/main" id="{D847B27F-3825-D54F-72A1-168FDE501E8F}"/>
              </a:ext>
            </a:extLst>
          </p:cNvPr>
          <p:cNvSpPr/>
          <p:nvPr/>
        </p:nvSpPr>
        <p:spPr>
          <a:xfrm>
            <a:off x="6781710" y="1708010"/>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3095 kg/h, 90 °C</a:t>
            </a:r>
          </a:p>
        </p:txBody>
      </p:sp>
      <p:sp>
        <p:nvSpPr>
          <p:cNvPr id="27" name="Speech Bubble: Rectangle with Corners Rounded 26">
            <a:extLst>
              <a:ext uri="{FF2B5EF4-FFF2-40B4-BE49-F238E27FC236}">
                <a16:creationId xmlns:a16="http://schemas.microsoft.com/office/drawing/2014/main" id="{455CCD94-429A-910F-3690-8E02FCA718FD}"/>
              </a:ext>
            </a:extLst>
          </p:cNvPr>
          <p:cNvSpPr/>
          <p:nvPr/>
        </p:nvSpPr>
        <p:spPr>
          <a:xfrm>
            <a:off x="4136275" y="3433293"/>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2278 kg/h, 5 °C</a:t>
            </a:r>
          </a:p>
        </p:txBody>
      </p:sp>
      <p:sp>
        <p:nvSpPr>
          <p:cNvPr id="29" name="Speech Bubble: Rectangle with Corners Rounded 28">
            <a:extLst>
              <a:ext uri="{FF2B5EF4-FFF2-40B4-BE49-F238E27FC236}">
                <a16:creationId xmlns:a16="http://schemas.microsoft.com/office/drawing/2014/main" id="{7D415F0B-20AC-45BA-7607-9CDDAB7C231D}"/>
              </a:ext>
            </a:extLst>
          </p:cNvPr>
          <p:cNvSpPr/>
          <p:nvPr/>
        </p:nvSpPr>
        <p:spPr>
          <a:xfrm>
            <a:off x="7169897" y="5172953"/>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226 kg/h, 20 °C</a:t>
            </a:r>
          </a:p>
        </p:txBody>
      </p:sp>
      <p:sp>
        <p:nvSpPr>
          <p:cNvPr id="3" name="Title 1">
            <a:extLst>
              <a:ext uri="{FF2B5EF4-FFF2-40B4-BE49-F238E27FC236}">
                <a16:creationId xmlns:a16="http://schemas.microsoft.com/office/drawing/2014/main" id="{6DF69B78-8AE2-96CA-7BAF-BE10E9C45F32}"/>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4.3.1 Integrated model-Specifications</a:t>
            </a:r>
          </a:p>
        </p:txBody>
      </p:sp>
      <p:sp>
        <p:nvSpPr>
          <p:cNvPr id="44" name="Textfeld 43">
            <a:extLst>
              <a:ext uri="{FF2B5EF4-FFF2-40B4-BE49-F238E27FC236}">
                <a16:creationId xmlns:a16="http://schemas.microsoft.com/office/drawing/2014/main" id="{42C8A444-2427-AE30-A2CF-EFD12F74A84B}"/>
              </a:ext>
            </a:extLst>
          </p:cNvPr>
          <p:cNvSpPr txBox="1"/>
          <p:nvPr/>
        </p:nvSpPr>
        <p:spPr>
          <a:xfrm>
            <a:off x="8609172" y="5868649"/>
            <a:ext cx="1756062" cy="171496"/>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2" name="Picture 12" descr="A computer screen shot of a diagram&#10;&#10;AI-generated content may be incorrect.">
            <a:extLst>
              <a:ext uri="{FF2B5EF4-FFF2-40B4-BE49-F238E27FC236}">
                <a16:creationId xmlns:a16="http://schemas.microsoft.com/office/drawing/2014/main" id="{74155414-327B-0673-7A91-3545C58BA14A}"/>
              </a:ext>
            </a:extLst>
          </p:cNvPr>
          <p:cNvPicPr>
            <a:picLocks noChangeAspect="1"/>
          </p:cNvPicPr>
          <p:nvPr/>
        </p:nvPicPr>
        <p:blipFill>
          <a:blip r:embed="rId3"/>
          <a:srcRect l="36429" t="42830" r="62952" b="55431"/>
          <a:stretch>
            <a:fillRect/>
          </a:stretch>
        </p:blipFill>
        <p:spPr>
          <a:xfrm>
            <a:off x="9028704" y="5867729"/>
            <a:ext cx="126214" cy="196645"/>
          </a:xfrm>
          <a:prstGeom prst="rect">
            <a:avLst/>
          </a:prstGeom>
        </p:spPr>
      </p:pic>
    </p:spTree>
    <p:extLst>
      <p:ext uri="{BB962C8B-B14F-4D97-AF65-F5344CB8AC3E}">
        <p14:creationId xmlns:p14="http://schemas.microsoft.com/office/powerpoint/2010/main" val="4044368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2A0A4-CFAC-FDAC-7977-EDB1A1CF1CC7}"/>
            </a:ext>
          </a:extLst>
        </p:cNvPr>
        <p:cNvGrpSpPr/>
        <p:nvPr/>
      </p:nvGrpSpPr>
      <p:grpSpPr>
        <a:xfrm>
          <a:off x="0" y="0"/>
          <a:ext cx="0" cy="0"/>
          <a:chOff x="0" y="0"/>
          <a:chExt cx="0" cy="0"/>
        </a:xfrm>
      </p:grpSpPr>
      <p:sp>
        <p:nvSpPr>
          <p:cNvPr id="55" name="Textfeld 54">
            <a:extLst>
              <a:ext uri="{FF2B5EF4-FFF2-40B4-BE49-F238E27FC236}">
                <a16:creationId xmlns:a16="http://schemas.microsoft.com/office/drawing/2014/main" id="{0A353DDA-6FB5-0D0C-3CFD-952130BEC4F3}"/>
              </a:ext>
            </a:extLst>
          </p:cNvPr>
          <p:cNvSpPr txBox="1"/>
          <p:nvPr/>
        </p:nvSpPr>
        <p:spPr>
          <a:xfrm>
            <a:off x="217147" y="6540414"/>
            <a:ext cx="11752298" cy="321889"/>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pic>
        <p:nvPicPr>
          <p:cNvPr id="13" name="Picture 12" descr="A computer screen shot of a diagram&#10;&#10;AI-generated content may be incorrect.">
            <a:extLst>
              <a:ext uri="{FF2B5EF4-FFF2-40B4-BE49-F238E27FC236}">
                <a16:creationId xmlns:a16="http://schemas.microsoft.com/office/drawing/2014/main" id="{7727E763-2AFE-B7F0-A206-27FA3CEEF18A}"/>
              </a:ext>
            </a:extLst>
          </p:cNvPr>
          <p:cNvPicPr>
            <a:picLocks noChangeAspect="1"/>
          </p:cNvPicPr>
          <p:nvPr/>
        </p:nvPicPr>
        <p:blipFill>
          <a:blip r:embed="rId3"/>
          <a:srcRect l="27936" t="18110" r="14442" b="29833"/>
          <a:stretch>
            <a:fillRect/>
          </a:stretch>
        </p:blipFill>
        <p:spPr>
          <a:xfrm>
            <a:off x="215661" y="839613"/>
            <a:ext cx="11747124" cy="5883307"/>
          </a:xfrm>
          <a:prstGeom prst="rect">
            <a:avLst/>
          </a:prstGeom>
        </p:spPr>
      </p:pic>
      <p:sp>
        <p:nvSpPr>
          <p:cNvPr id="4" name="Slide Number Placeholder 3">
            <a:extLst>
              <a:ext uri="{FF2B5EF4-FFF2-40B4-BE49-F238E27FC236}">
                <a16:creationId xmlns:a16="http://schemas.microsoft.com/office/drawing/2014/main" id="{F1205453-21CA-B69F-FAC9-894DF4DC460C}"/>
              </a:ext>
            </a:extLst>
          </p:cNvPr>
          <p:cNvSpPr>
            <a:spLocks noGrp="1"/>
          </p:cNvSpPr>
          <p:nvPr>
            <p:ph type="sldNum" sz="quarter" idx="12"/>
          </p:nvPr>
        </p:nvSpPr>
        <p:spPr/>
        <p:txBody>
          <a:bodyPr/>
          <a:lstStyle/>
          <a:p>
            <a:fld id="{48F63A3B-78C7-47BE-AE5E-E10140E04643}" type="slidenum">
              <a:rPr lang="en-US" smtClean="0"/>
              <a:t>20</a:t>
            </a:fld>
            <a:r>
              <a:rPr lang="en-US" dirty="0"/>
              <a:t>/36</a:t>
            </a:r>
          </a:p>
        </p:txBody>
      </p:sp>
      <p:sp>
        <p:nvSpPr>
          <p:cNvPr id="15" name="Speech Bubble: Rectangle with Corners Rounded 14">
            <a:extLst>
              <a:ext uri="{FF2B5EF4-FFF2-40B4-BE49-F238E27FC236}">
                <a16:creationId xmlns:a16="http://schemas.microsoft.com/office/drawing/2014/main" id="{EAADF45A-7A93-3790-51C9-F1BDB04DBBD5}"/>
              </a:ext>
            </a:extLst>
          </p:cNvPr>
          <p:cNvSpPr/>
          <p:nvPr/>
        </p:nvSpPr>
        <p:spPr>
          <a:xfrm>
            <a:off x="1102654" y="2412501"/>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ea typeface="Calibri"/>
                <a:cs typeface="Calibri"/>
              </a:rPr>
              <a:t>1700 kg/h, 5 °C</a:t>
            </a:r>
          </a:p>
        </p:txBody>
      </p:sp>
      <p:sp>
        <p:nvSpPr>
          <p:cNvPr id="21" name="Speech Bubble: Rectangle with Corners Rounded 20">
            <a:extLst>
              <a:ext uri="{FF2B5EF4-FFF2-40B4-BE49-F238E27FC236}">
                <a16:creationId xmlns:a16="http://schemas.microsoft.com/office/drawing/2014/main" id="{F8CB59E7-F957-0E06-5A9C-0FF06E77D454}"/>
              </a:ext>
            </a:extLst>
          </p:cNvPr>
          <p:cNvSpPr/>
          <p:nvPr/>
        </p:nvSpPr>
        <p:spPr>
          <a:xfrm>
            <a:off x="9153973" y="2685669"/>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72 °C</a:t>
            </a:r>
          </a:p>
        </p:txBody>
      </p:sp>
      <p:sp>
        <p:nvSpPr>
          <p:cNvPr id="23" name="Speech Bubble: Rectangle with Corners Rounded 22">
            <a:extLst>
              <a:ext uri="{FF2B5EF4-FFF2-40B4-BE49-F238E27FC236}">
                <a16:creationId xmlns:a16="http://schemas.microsoft.com/office/drawing/2014/main" id="{72664C32-81EE-666D-743E-6852DD37AA1F}"/>
              </a:ext>
            </a:extLst>
          </p:cNvPr>
          <p:cNvSpPr/>
          <p:nvPr/>
        </p:nvSpPr>
        <p:spPr>
          <a:xfrm>
            <a:off x="7169896" y="989141"/>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72 °C</a:t>
            </a:r>
          </a:p>
        </p:txBody>
      </p:sp>
      <p:sp>
        <p:nvSpPr>
          <p:cNvPr id="9" name="Speech Bubble: Rectangle with Corners Rounded 8">
            <a:extLst>
              <a:ext uri="{FF2B5EF4-FFF2-40B4-BE49-F238E27FC236}">
                <a16:creationId xmlns:a16="http://schemas.microsoft.com/office/drawing/2014/main" id="{014199A2-D75E-AEEB-127C-05F2BCE0DBE1}"/>
              </a:ext>
            </a:extLst>
          </p:cNvPr>
          <p:cNvSpPr/>
          <p:nvPr/>
        </p:nvSpPr>
        <p:spPr>
          <a:xfrm>
            <a:off x="2252839" y="4224046"/>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ea typeface="Calibri"/>
                <a:cs typeface="Calibri"/>
              </a:rPr>
              <a:t>37 °C</a:t>
            </a:r>
          </a:p>
        </p:txBody>
      </p:sp>
      <p:sp>
        <p:nvSpPr>
          <p:cNvPr id="11" name="Speech Bubble: Rectangle with Corners Rounded 10">
            <a:extLst>
              <a:ext uri="{FF2B5EF4-FFF2-40B4-BE49-F238E27FC236}">
                <a16:creationId xmlns:a16="http://schemas.microsoft.com/office/drawing/2014/main" id="{972B60B7-C6E7-4A55-58AD-2FCA7ACBA613}"/>
              </a:ext>
            </a:extLst>
          </p:cNvPr>
          <p:cNvSpPr/>
          <p:nvPr/>
        </p:nvSpPr>
        <p:spPr>
          <a:xfrm>
            <a:off x="3934991" y="2570651"/>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ea typeface="Calibri"/>
                <a:cs typeface="Calibri"/>
              </a:rPr>
              <a:t>40 °C</a:t>
            </a:r>
          </a:p>
        </p:txBody>
      </p:sp>
      <p:sp>
        <p:nvSpPr>
          <p:cNvPr id="18" name="Speech Bubble: Rectangle with Corners Rounded 17">
            <a:extLst>
              <a:ext uri="{FF2B5EF4-FFF2-40B4-BE49-F238E27FC236}">
                <a16:creationId xmlns:a16="http://schemas.microsoft.com/office/drawing/2014/main" id="{B8B13092-0011-873C-4E32-F45108224D69}"/>
              </a:ext>
            </a:extLst>
          </p:cNvPr>
          <p:cNvSpPr/>
          <p:nvPr/>
        </p:nvSpPr>
        <p:spPr>
          <a:xfrm>
            <a:off x="6781710" y="1708010"/>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3095 kg/h, 90 °C</a:t>
            </a:r>
          </a:p>
        </p:txBody>
      </p:sp>
      <p:sp>
        <p:nvSpPr>
          <p:cNvPr id="22" name="Speech Bubble: Rectangle with Corners Rounded 21">
            <a:extLst>
              <a:ext uri="{FF2B5EF4-FFF2-40B4-BE49-F238E27FC236}">
                <a16:creationId xmlns:a16="http://schemas.microsoft.com/office/drawing/2014/main" id="{42D5ACBF-941F-EE38-223F-9AFA6076099F}"/>
              </a:ext>
            </a:extLst>
          </p:cNvPr>
          <p:cNvSpPr/>
          <p:nvPr/>
        </p:nvSpPr>
        <p:spPr>
          <a:xfrm>
            <a:off x="4136275" y="3433293"/>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2278 kg/h, 5 °C</a:t>
            </a:r>
          </a:p>
        </p:txBody>
      </p:sp>
      <p:sp>
        <p:nvSpPr>
          <p:cNvPr id="27" name="Speech Bubble: Rectangle with Corners Rounded 26">
            <a:extLst>
              <a:ext uri="{FF2B5EF4-FFF2-40B4-BE49-F238E27FC236}">
                <a16:creationId xmlns:a16="http://schemas.microsoft.com/office/drawing/2014/main" id="{0C232B4A-BCC6-2D27-93E2-B48139FEC319}"/>
              </a:ext>
            </a:extLst>
          </p:cNvPr>
          <p:cNvSpPr/>
          <p:nvPr/>
        </p:nvSpPr>
        <p:spPr>
          <a:xfrm>
            <a:off x="7169897" y="5172953"/>
            <a:ext cx="1037945" cy="548777"/>
          </a:xfrm>
          <a:prstGeom prst="wedgeRoundRectCallout">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226 kg/h, 20 °C</a:t>
            </a:r>
          </a:p>
        </p:txBody>
      </p:sp>
      <p:sp>
        <p:nvSpPr>
          <p:cNvPr id="3" name="Title 1">
            <a:extLst>
              <a:ext uri="{FF2B5EF4-FFF2-40B4-BE49-F238E27FC236}">
                <a16:creationId xmlns:a16="http://schemas.microsoft.com/office/drawing/2014/main" id="{31013FC9-7BEA-D04E-8B34-140B5E89830A}"/>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4.3.2 </a:t>
            </a:r>
            <a:r>
              <a:rPr lang="en-US" sz="3100" dirty="0">
                <a:latin typeface="Calibri Light" panose="020F0302020204030204" pitchFamily="34" charset="0"/>
                <a:ea typeface="Calibri Light"/>
                <a:cs typeface="Calibri Light" panose="020F0302020204030204" pitchFamily="34" charset="0"/>
              </a:rPr>
              <a:t>Integrated model-Simulation results </a:t>
            </a:r>
            <a:r>
              <a:rPr lang="en-US" sz="3100" dirty="0">
                <a:ea typeface="Calibri Light"/>
                <a:cs typeface="Calibri Light"/>
              </a:rPr>
              <a:t>(1/4)</a:t>
            </a:r>
          </a:p>
        </p:txBody>
      </p:sp>
      <p:sp>
        <p:nvSpPr>
          <p:cNvPr id="53" name="Textfeld 52">
            <a:extLst>
              <a:ext uri="{FF2B5EF4-FFF2-40B4-BE49-F238E27FC236}">
                <a16:creationId xmlns:a16="http://schemas.microsoft.com/office/drawing/2014/main" id="{DAA8BF6E-DC86-99BC-141F-D2D5484F757A}"/>
              </a:ext>
            </a:extLst>
          </p:cNvPr>
          <p:cNvSpPr txBox="1"/>
          <p:nvPr/>
        </p:nvSpPr>
        <p:spPr>
          <a:xfrm>
            <a:off x="8609172" y="5868649"/>
            <a:ext cx="1756062" cy="171496"/>
          </a:xfrm>
          <a:prstGeom prst="rect">
            <a:avLst/>
          </a:prstGeom>
          <a:solidFill>
            <a:srgbClr val="FFFFFF"/>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endParaRPr lang="de-DE" sz="1600" dirty="0">
              <a:ea typeface="Calibri"/>
              <a:cs typeface="Calibri"/>
            </a:endParaRPr>
          </a:p>
        </p:txBody>
      </p:sp>
      <p:sp>
        <p:nvSpPr>
          <p:cNvPr id="28" name="Speech Bubble: Rectangle with Corners Rounded 27">
            <a:extLst>
              <a:ext uri="{FF2B5EF4-FFF2-40B4-BE49-F238E27FC236}">
                <a16:creationId xmlns:a16="http://schemas.microsoft.com/office/drawing/2014/main" id="{B07E733C-3A21-56AA-8A85-62FE917B4011}"/>
              </a:ext>
            </a:extLst>
          </p:cNvPr>
          <p:cNvSpPr/>
          <p:nvPr/>
        </p:nvSpPr>
        <p:spPr>
          <a:xfrm>
            <a:off x="9700311" y="4410953"/>
            <a:ext cx="1023569" cy="54877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1579 kg/h, 19 °C</a:t>
            </a:r>
          </a:p>
        </p:txBody>
      </p:sp>
      <p:pic>
        <p:nvPicPr>
          <p:cNvPr id="6" name="Picture 12" descr="A computer screen shot of a diagram&#10;&#10;AI-generated content may be incorrect.">
            <a:extLst>
              <a:ext uri="{FF2B5EF4-FFF2-40B4-BE49-F238E27FC236}">
                <a16:creationId xmlns:a16="http://schemas.microsoft.com/office/drawing/2014/main" id="{8124059E-073A-32BD-7AFD-E904105732E1}"/>
              </a:ext>
            </a:extLst>
          </p:cNvPr>
          <p:cNvPicPr>
            <a:picLocks noChangeAspect="1"/>
          </p:cNvPicPr>
          <p:nvPr/>
        </p:nvPicPr>
        <p:blipFill>
          <a:blip r:embed="rId3"/>
          <a:srcRect l="36429" t="42830" r="62952" b="55431"/>
          <a:stretch>
            <a:fillRect/>
          </a:stretch>
        </p:blipFill>
        <p:spPr>
          <a:xfrm>
            <a:off x="9028704" y="5867729"/>
            <a:ext cx="126214" cy="196645"/>
          </a:xfrm>
          <a:prstGeom prst="rect">
            <a:avLst/>
          </a:prstGeom>
        </p:spPr>
      </p:pic>
      <p:sp>
        <p:nvSpPr>
          <p:cNvPr id="26" name="Speech Bubble: Rectangle with Corners Rounded 25">
            <a:extLst>
              <a:ext uri="{FF2B5EF4-FFF2-40B4-BE49-F238E27FC236}">
                <a16:creationId xmlns:a16="http://schemas.microsoft.com/office/drawing/2014/main" id="{C3C0EBFC-4483-2E27-D2A1-63B92023C0FC}"/>
              </a:ext>
            </a:extLst>
          </p:cNvPr>
          <p:cNvSpPr/>
          <p:nvPr/>
        </p:nvSpPr>
        <p:spPr>
          <a:xfrm>
            <a:off x="7486199" y="3675076"/>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76 °C</a:t>
            </a:r>
          </a:p>
        </p:txBody>
      </p:sp>
      <p:sp>
        <p:nvSpPr>
          <p:cNvPr id="25" name="Speech Bubble: Rectangle with Corners Rounded 24">
            <a:extLst>
              <a:ext uri="{FF2B5EF4-FFF2-40B4-BE49-F238E27FC236}">
                <a16:creationId xmlns:a16="http://schemas.microsoft.com/office/drawing/2014/main" id="{03C25572-0295-32EC-E892-ECA769344331}"/>
              </a:ext>
            </a:extLst>
          </p:cNvPr>
          <p:cNvSpPr/>
          <p:nvPr/>
        </p:nvSpPr>
        <p:spPr>
          <a:xfrm>
            <a:off x="6695444" y="4281555"/>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19 °C</a:t>
            </a:r>
          </a:p>
        </p:txBody>
      </p:sp>
      <p:sp>
        <p:nvSpPr>
          <p:cNvPr id="24" name="Speech Bubble: Rectangle with Corners Rounded 23">
            <a:extLst>
              <a:ext uri="{FF2B5EF4-FFF2-40B4-BE49-F238E27FC236}">
                <a16:creationId xmlns:a16="http://schemas.microsoft.com/office/drawing/2014/main" id="{87899073-33C4-901F-A66D-C6752590DF68}"/>
              </a:ext>
            </a:extLst>
          </p:cNvPr>
          <p:cNvSpPr/>
          <p:nvPr/>
        </p:nvSpPr>
        <p:spPr>
          <a:xfrm>
            <a:off x="4653858" y="5331102"/>
            <a:ext cx="649757" cy="390627"/>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ea typeface="Calibri"/>
                <a:cs typeface="Calibri"/>
              </a:rPr>
              <a:t>17 °C</a:t>
            </a:r>
          </a:p>
        </p:txBody>
      </p:sp>
      <p:sp>
        <p:nvSpPr>
          <p:cNvPr id="29" name="Speech Bubble: Rectangle with Corners Rounded 28">
            <a:extLst>
              <a:ext uri="{FF2B5EF4-FFF2-40B4-BE49-F238E27FC236}">
                <a16:creationId xmlns:a16="http://schemas.microsoft.com/office/drawing/2014/main" id="{77B23EFE-9BF5-DEFE-36A2-B55B05D09D09}"/>
              </a:ext>
            </a:extLst>
          </p:cNvPr>
          <p:cNvSpPr/>
          <p:nvPr/>
        </p:nvSpPr>
        <p:spPr>
          <a:xfrm>
            <a:off x="9333150" y="5893078"/>
            <a:ext cx="1270859" cy="653373"/>
          </a:xfrm>
          <a:prstGeom prst="wedgeRoundRectCallou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dirty="0">
                <a:ea typeface="Calibri"/>
                <a:cs typeface="Calibri"/>
              </a:rPr>
              <a:t>347 kg/h, 19 °C, 20% solids</a:t>
            </a:r>
          </a:p>
        </p:txBody>
      </p:sp>
    </p:spTree>
    <p:extLst>
      <p:ext uri="{BB962C8B-B14F-4D97-AF65-F5344CB8AC3E}">
        <p14:creationId xmlns:p14="http://schemas.microsoft.com/office/powerpoint/2010/main" val="1996766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D98A9-6DF9-9099-6BD2-90C3E5E2357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D57162E-4888-31FA-EE54-4D16208BCB73}"/>
              </a:ext>
            </a:extLst>
          </p:cNvPr>
          <p:cNvSpPr txBox="1"/>
          <p:nvPr/>
        </p:nvSpPr>
        <p:spPr>
          <a:xfrm>
            <a:off x="596461" y="5984388"/>
            <a:ext cx="6962074"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9: Heat transfer coefficient in the shell of the regenerative unit in the integrated model</a:t>
            </a:r>
          </a:p>
        </p:txBody>
      </p:sp>
      <p:sp>
        <p:nvSpPr>
          <p:cNvPr id="11" name="Title 1">
            <a:extLst>
              <a:ext uri="{FF2B5EF4-FFF2-40B4-BE49-F238E27FC236}">
                <a16:creationId xmlns:a16="http://schemas.microsoft.com/office/drawing/2014/main" id="{86FA3D65-33FC-3AA6-905C-7A7528BC5767}"/>
              </a:ext>
            </a:extLst>
          </p:cNvPr>
          <p:cNvSpPr txBox="1">
            <a:spLocks/>
          </p:cNvSpPr>
          <p:nvPr/>
        </p:nvSpPr>
        <p:spPr>
          <a:xfrm>
            <a:off x="103898" y="138893"/>
            <a:ext cx="1248529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4.3.2 </a:t>
            </a:r>
            <a:r>
              <a:rPr lang="en-US" sz="3100" dirty="0">
                <a:latin typeface="Calibri Light" panose="020F0302020204030204" pitchFamily="34" charset="0"/>
                <a:ea typeface="Calibri Light"/>
                <a:cs typeface="Calibri Light" panose="020F0302020204030204" pitchFamily="34" charset="0"/>
              </a:rPr>
              <a:t>Integrated model-Simulation results </a:t>
            </a:r>
            <a:r>
              <a:rPr lang="en-US" sz="3100" dirty="0">
                <a:ea typeface="Calibri Light"/>
                <a:cs typeface="Calibri Light"/>
              </a:rPr>
              <a:t>(2/4)</a:t>
            </a:r>
          </a:p>
        </p:txBody>
      </p:sp>
      <p:sp>
        <p:nvSpPr>
          <p:cNvPr id="7" name="Foliennummernplatzhalter 6">
            <a:extLst>
              <a:ext uri="{FF2B5EF4-FFF2-40B4-BE49-F238E27FC236}">
                <a16:creationId xmlns:a16="http://schemas.microsoft.com/office/drawing/2014/main" id="{3613BBD2-C39E-FA0A-9B49-1788E32EE428}"/>
              </a:ext>
            </a:extLst>
          </p:cNvPr>
          <p:cNvSpPr>
            <a:spLocks noGrp="1"/>
          </p:cNvSpPr>
          <p:nvPr>
            <p:ph type="sldNum" sz="quarter" idx="12"/>
          </p:nvPr>
        </p:nvSpPr>
        <p:spPr/>
        <p:txBody>
          <a:bodyPr/>
          <a:lstStyle/>
          <a:p>
            <a:fld id="{48F63A3B-78C7-47BE-AE5E-E10140E04643}" type="slidenum">
              <a:rPr lang="en-US" smtClean="0"/>
              <a:t>21</a:t>
            </a:fld>
            <a:r>
              <a:rPr lang="en-US" dirty="0"/>
              <a:t>/36</a:t>
            </a:r>
            <a:endParaRPr lang="de-DE" dirty="0"/>
          </a:p>
        </p:txBody>
      </p:sp>
      <p:pic>
        <p:nvPicPr>
          <p:cNvPr id="2" name="Grafik 1" descr="Ein Bild, das Text, Screenshot, Reihe, parallel enthält.&#10;&#10;KI-generierte Inhalte können fehlerhaft sein.">
            <a:extLst>
              <a:ext uri="{FF2B5EF4-FFF2-40B4-BE49-F238E27FC236}">
                <a16:creationId xmlns:a16="http://schemas.microsoft.com/office/drawing/2014/main" id="{463DF08E-79D4-EC0C-3CE3-4BEBEB013BCC}"/>
              </a:ext>
            </a:extLst>
          </p:cNvPr>
          <p:cNvPicPr>
            <a:picLocks noChangeAspect="1"/>
          </p:cNvPicPr>
          <p:nvPr/>
        </p:nvPicPr>
        <p:blipFill>
          <a:blip r:embed="rId3"/>
          <a:srcRect l="947" t="743" r="2209" b="34621"/>
          <a:stretch>
            <a:fillRect/>
          </a:stretch>
        </p:blipFill>
        <p:spPr>
          <a:xfrm>
            <a:off x="105888" y="2810128"/>
            <a:ext cx="8492546" cy="3006217"/>
          </a:xfrm>
          <a:prstGeom prst="rect">
            <a:avLst/>
          </a:prstGeom>
        </p:spPr>
      </p:pic>
      <p:pic>
        <p:nvPicPr>
          <p:cNvPr id="4" name="Grafik 3" descr="Ein Bild, das Text, Screenshot, Reihe, Diagramm enthält.&#10;&#10;KI-generierte Inhalte können fehlerhaft sein.">
            <a:extLst>
              <a:ext uri="{FF2B5EF4-FFF2-40B4-BE49-F238E27FC236}">
                <a16:creationId xmlns:a16="http://schemas.microsoft.com/office/drawing/2014/main" id="{D019B684-73CB-6AB9-E88F-F9CB27B42181}"/>
              </a:ext>
            </a:extLst>
          </p:cNvPr>
          <p:cNvPicPr>
            <a:picLocks noChangeAspect="1"/>
          </p:cNvPicPr>
          <p:nvPr/>
        </p:nvPicPr>
        <p:blipFill>
          <a:blip r:embed="rId4"/>
          <a:srcRect l="1778" t="6801" r="43556" b="305"/>
          <a:stretch>
            <a:fillRect/>
          </a:stretch>
        </p:blipFill>
        <p:spPr>
          <a:xfrm>
            <a:off x="8072723" y="1138195"/>
            <a:ext cx="4021776" cy="3330059"/>
          </a:xfrm>
          <a:prstGeom prst="rect">
            <a:avLst/>
          </a:prstGeom>
        </p:spPr>
      </p:pic>
      <p:sp>
        <p:nvSpPr>
          <p:cNvPr id="5" name="TextBox 5">
            <a:extLst>
              <a:ext uri="{FF2B5EF4-FFF2-40B4-BE49-F238E27FC236}">
                <a16:creationId xmlns:a16="http://schemas.microsoft.com/office/drawing/2014/main" id="{AE2B4DBB-BB3E-CF27-2299-5833E648C31F}"/>
              </a:ext>
            </a:extLst>
          </p:cNvPr>
          <p:cNvSpPr txBox="1"/>
          <p:nvPr/>
        </p:nvSpPr>
        <p:spPr>
          <a:xfrm>
            <a:off x="8328266" y="4585784"/>
            <a:ext cx="40830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5: </a:t>
            </a:r>
            <a:r>
              <a:rPr lang="en-US" sz="2000" dirty="0">
                <a:latin typeface="Calibri"/>
                <a:ea typeface="Calibri"/>
                <a:cs typeface="Calibri"/>
              </a:rPr>
              <a:t>Pasteurization model</a:t>
            </a:r>
          </a:p>
        </p:txBody>
      </p:sp>
      <p:sp>
        <p:nvSpPr>
          <p:cNvPr id="8" name="Rechteck: abgerundete Ecken 7">
            <a:extLst>
              <a:ext uri="{FF2B5EF4-FFF2-40B4-BE49-F238E27FC236}">
                <a16:creationId xmlns:a16="http://schemas.microsoft.com/office/drawing/2014/main" id="{A43248E7-7FC4-51C9-4AD2-73999DA2BC34}"/>
              </a:ext>
            </a:extLst>
          </p:cNvPr>
          <p:cNvSpPr/>
          <p:nvPr/>
        </p:nvSpPr>
        <p:spPr>
          <a:xfrm>
            <a:off x="202510" y="5116458"/>
            <a:ext cx="805542" cy="69668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abgerundete Ecken 9">
            <a:extLst>
              <a:ext uri="{FF2B5EF4-FFF2-40B4-BE49-F238E27FC236}">
                <a16:creationId xmlns:a16="http://schemas.microsoft.com/office/drawing/2014/main" id="{01E958C9-F60A-B82A-C0D2-7DAC9E972333}"/>
              </a:ext>
            </a:extLst>
          </p:cNvPr>
          <p:cNvSpPr/>
          <p:nvPr/>
        </p:nvSpPr>
        <p:spPr>
          <a:xfrm>
            <a:off x="8076510" y="3881095"/>
            <a:ext cx="666997" cy="56968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751041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22EB-514E-5D0F-7194-D8FB4C53A520}"/>
            </a:ext>
          </a:extLst>
        </p:cNvPr>
        <p:cNvGrpSpPr/>
        <p:nvPr/>
      </p:nvGrpSpPr>
      <p:grpSpPr>
        <a:xfrm>
          <a:off x="0" y="0"/>
          <a:ext cx="0" cy="0"/>
          <a:chOff x="0" y="0"/>
          <a:chExt cx="0" cy="0"/>
        </a:xfrm>
      </p:grpSpPr>
      <p:pic>
        <p:nvPicPr>
          <p:cNvPr id="16" name="Grafik 15" descr="Ein Bild, das Text, Diagramm, Reihe, parallel enthält.&#10;&#10;KI-generierte Inhalte können fehlerhaft sein.">
            <a:extLst>
              <a:ext uri="{FF2B5EF4-FFF2-40B4-BE49-F238E27FC236}">
                <a16:creationId xmlns:a16="http://schemas.microsoft.com/office/drawing/2014/main" id="{3CCC98D6-9084-443D-8B6F-4D98C6D505F1}"/>
              </a:ext>
            </a:extLst>
          </p:cNvPr>
          <p:cNvPicPr>
            <a:picLocks noChangeAspect="1"/>
          </p:cNvPicPr>
          <p:nvPr/>
        </p:nvPicPr>
        <p:blipFill>
          <a:blip r:embed="rId3"/>
          <a:srcRect l="17232" t="10245" r="68927" b="46694"/>
          <a:stretch>
            <a:fillRect/>
          </a:stretch>
        </p:blipFill>
        <p:spPr>
          <a:xfrm>
            <a:off x="7702366" y="3125385"/>
            <a:ext cx="4248693" cy="2668516"/>
          </a:xfrm>
          <a:prstGeom prst="rect">
            <a:avLst/>
          </a:prstGeom>
        </p:spPr>
      </p:pic>
      <p:sp>
        <p:nvSpPr>
          <p:cNvPr id="24" name="TextBox 5">
            <a:extLst>
              <a:ext uri="{FF2B5EF4-FFF2-40B4-BE49-F238E27FC236}">
                <a16:creationId xmlns:a16="http://schemas.microsoft.com/office/drawing/2014/main" id="{9D950669-2260-5205-05BA-D61F4AFD6B9F}"/>
              </a:ext>
            </a:extLst>
          </p:cNvPr>
          <p:cNvSpPr txBox="1"/>
          <p:nvPr/>
        </p:nvSpPr>
        <p:spPr>
          <a:xfrm>
            <a:off x="766776" y="5269278"/>
            <a:ext cx="5511087"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10: </a:t>
            </a:r>
            <a:r>
              <a:rPr lang="en-US" sz="2000" i="1" dirty="0" err="1">
                <a:latin typeface="Calibri"/>
                <a:ea typeface="Calibri"/>
                <a:cs typeface="Calibri"/>
              </a:rPr>
              <a:t>S.thermophilus</a:t>
            </a:r>
            <a:r>
              <a:rPr lang="en-US" sz="2000" i="1" dirty="0">
                <a:latin typeface="Calibri"/>
                <a:ea typeface="Calibri"/>
                <a:cs typeface="Calibri"/>
              </a:rPr>
              <a:t> </a:t>
            </a:r>
            <a:r>
              <a:rPr lang="en-US" sz="2000" dirty="0">
                <a:latin typeface="Calibri"/>
                <a:ea typeface="Calibri"/>
                <a:cs typeface="Calibri"/>
              </a:rPr>
              <a:t>surface concentration in the regenerative unit to the residence time in the integrated model</a:t>
            </a:r>
          </a:p>
        </p:txBody>
      </p:sp>
      <p:sp>
        <p:nvSpPr>
          <p:cNvPr id="6" name="Title 1">
            <a:extLst>
              <a:ext uri="{FF2B5EF4-FFF2-40B4-BE49-F238E27FC236}">
                <a16:creationId xmlns:a16="http://schemas.microsoft.com/office/drawing/2014/main" id="{87BFE969-53D8-5C1D-9A6F-BB7008F2A2C2}"/>
              </a:ext>
            </a:extLst>
          </p:cNvPr>
          <p:cNvSpPr txBox="1">
            <a:spLocks/>
          </p:cNvSpPr>
          <p:nvPr/>
        </p:nvSpPr>
        <p:spPr>
          <a:xfrm>
            <a:off x="103898" y="138893"/>
            <a:ext cx="12362032"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4.3.2 </a:t>
            </a:r>
            <a:r>
              <a:rPr lang="en-US" sz="3100" dirty="0">
                <a:latin typeface="Calibri Light" panose="020F0302020204030204" pitchFamily="34" charset="0"/>
                <a:ea typeface="Calibri Light"/>
                <a:cs typeface="Calibri Light" panose="020F0302020204030204" pitchFamily="34" charset="0"/>
              </a:rPr>
              <a:t>Integrated model-Simulation results </a:t>
            </a:r>
            <a:r>
              <a:rPr lang="en-US" sz="3100" dirty="0">
                <a:ea typeface="Calibri Light"/>
                <a:cs typeface="Calibri Light"/>
              </a:rPr>
              <a:t>(3/4)</a:t>
            </a:r>
          </a:p>
        </p:txBody>
      </p:sp>
      <p:pic>
        <p:nvPicPr>
          <p:cNvPr id="2" name="Grafik 1" descr="Ein Bild, das Text, Diagramm, Reihe, parallel enthält.&#10;&#10;KI-generierte Inhalte können fehlerhaft sein.">
            <a:extLst>
              <a:ext uri="{FF2B5EF4-FFF2-40B4-BE49-F238E27FC236}">
                <a16:creationId xmlns:a16="http://schemas.microsoft.com/office/drawing/2014/main" id="{F35F048C-D534-13A4-2B86-C8DE83A791BE}"/>
              </a:ext>
            </a:extLst>
          </p:cNvPr>
          <p:cNvPicPr>
            <a:picLocks noChangeAspect="1"/>
          </p:cNvPicPr>
          <p:nvPr/>
        </p:nvPicPr>
        <p:blipFill>
          <a:blip r:embed="rId4"/>
          <a:srcRect t="4425" r="1404" b="8505"/>
          <a:stretch>
            <a:fillRect/>
          </a:stretch>
        </p:blipFill>
        <p:spPr>
          <a:xfrm>
            <a:off x="217421" y="1218163"/>
            <a:ext cx="6296696" cy="3788363"/>
          </a:xfrm>
          <a:prstGeom prst="rect">
            <a:avLst/>
          </a:prstGeom>
        </p:spPr>
      </p:pic>
      <p:sp>
        <p:nvSpPr>
          <p:cNvPr id="7" name="TextBox 5">
            <a:extLst>
              <a:ext uri="{FF2B5EF4-FFF2-40B4-BE49-F238E27FC236}">
                <a16:creationId xmlns:a16="http://schemas.microsoft.com/office/drawing/2014/main" id="{57F8E1FA-A5F7-49D2-3BC6-30EA05D17CEA}"/>
              </a:ext>
            </a:extLst>
          </p:cNvPr>
          <p:cNvSpPr txBox="1"/>
          <p:nvPr/>
        </p:nvSpPr>
        <p:spPr>
          <a:xfrm>
            <a:off x="7871763" y="5836347"/>
            <a:ext cx="40830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6: </a:t>
            </a:r>
            <a:r>
              <a:rPr lang="en-US" sz="2000" dirty="0">
                <a:latin typeface="Calibri"/>
                <a:ea typeface="Calibri"/>
                <a:cs typeface="Calibri"/>
              </a:rPr>
              <a:t>Pasteurization model</a:t>
            </a:r>
          </a:p>
        </p:txBody>
      </p:sp>
      <p:grpSp>
        <p:nvGrpSpPr>
          <p:cNvPr id="11" name="Gruppieren 10">
            <a:extLst>
              <a:ext uri="{FF2B5EF4-FFF2-40B4-BE49-F238E27FC236}">
                <a16:creationId xmlns:a16="http://schemas.microsoft.com/office/drawing/2014/main" id="{D1DD362B-94DF-7508-520C-FC61E9C581C3}"/>
              </a:ext>
            </a:extLst>
          </p:cNvPr>
          <p:cNvGrpSpPr/>
          <p:nvPr/>
        </p:nvGrpSpPr>
        <p:grpSpPr>
          <a:xfrm>
            <a:off x="7714478" y="3264015"/>
            <a:ext cx="4094695" cy="2517607"/>
            <a:chOff x="7818387" y="3789192"/>
            <a:chExt cx="4094695" cy="2517607"/>
          </a:xfrm>
        </p:grpSpPr>
        <p:pic>
          <p:nvPicPr>
            <p:cNvPr id="9" name="Grafik 8" descr="Ein Bild, das Text, Diagramm, Reihe, parallel enthält.&#10;&#10;KI-generierte Inhalte können fehlerhaft sein.">
              <a:extLst>
                <a:ext uri="{FF2B5EF4-FFF2-40B4-BE49-F238E27FC236}">
                  <a16:creationId xmlns:a16="http://schemas.microsoft.com/office/drawing/2014/main" id="{0BFB1914-18DE-14FE-B90A-8581C8BCD1CC}"/>
                </a:ext>
              </a:extLst>
            </p:cNvPr>
            <p:cNvPicPr>
              <a:picLocks noChangeAspect="1"/>
            </p:cNvPicPr>
            <p:nvPr/>
          </p:nvPicPr>
          <p:blipFill>
            <a:blip r:embed="rId4"/>
            <a:srcRect l="156" t="87055" r="83558" b="9061"/>
            <a:stretch>
              <a:fillRect/>
            </a:stretch>
          </p:blipFill>
          <p:spPr>
            <a:xfrm>
              <a:off x="7818387" y="3789503"/>
              <a:ext cx="4089140" cy="2513577"/>
            </a:xfrm>
            <a:prstGeom prst="rect">
              <a:avLst/>
            </a:prstGeom>
          </p:spPr>
        </p:pic>
        <p:pic>
          <p:nvPicPr>
            <p:cNvPr id="4" name="Grafik 3" descr="Ein Bild, das Text, Diagramm, Reihe, parallel enthält.&#10;&#10;KI-generierte Inhalte können fehlerhaft sein.">
              <a:extLst>
                <a:ext uri="{FF2B5EF4-FFF2-40B4-BE49-F238E27FC236}">
                  <a16:creationId xmlns:a16="http://schemas.microsoft.com/office/drawing/2014/main" id="{A85481EF-6B13-E3AC-4E0C-D7CE822443B7}"/>
                </a:ext>
              </a:extLst>
            </p:cNvPr>
            <p:cNvPicPr>
              <a:picLocks noChangeAspect="1"/>
            </p:cNvPicPr>
            <p:nvPr/>
          </p:nvPicPr>
          <p:blipFill>
            <a:blip r:embed="rId3"/>
            <a:srcRect t="-112" r="1714" b="14550"/>
            <a:stretch>
              <a:fillRect/>
            </a:stretch>
          </p:blipFill>
          <p:spPr>
            <a:xfrm>
              <a:off x="7896330" y="3789192"/>
              <a:ext cx="4016752" cy="2388854"/>
            </a:xfrm>
            <a:prstGeom prst="rect">
              <a:avLst/>
            </a:prstGeom>
          </p:spPr>
        </p:pic>
        <p:pic>
          <p:nvPicPr>
            <p:cNvPr id="8" name="Grafik 7" descr="Ein Bild, das Text, Diagramm, Reihe, parallel enthält.&#10;&#10;KI-generierte Inhalte können fehlerhaft sein.">
              <a:extLst>
                <a:ext uri="{FF2B5EF4-FFF2-40B4-BE49-F238E27FC236}">
                  <a16:creationId xmlns:a16="http://schemas.microsoft.com/office/drawing/2014/main" id="{7F24A7B0-B43F-F0A5-9410-D54974092FE1}"/>
                </a:ext>
              </a:extLst>
            </p:cNvPr>
            <p:cNvPicPr>
              <a:picLocks noChangeAspect="1"/>
            </p:cNvPicPr>
            <p:nvPr/>
          </p:nvPicPr>
          <p:blipFill>
            <a:blip r:embed="rId4"/>
            <a:srcRect l="91" t="87330" r="10758" b="8341"/>
            <a:stretch>
              <a:fillRect/>
            </a:stretch>
          </p:blipFill>
          <p:spPr>
            <a:xfrm>
              <a:off x="7900586" y="6174463"/>
              <a:ext cx="3911771" cy="132336"/>
            </a:xfrm>
            <a:prstGeom prst="rect">
              <a:avLst/>
            </a:prstGeom>
          </p:spPr>
        </p:pic>
      </p:grpSp>
      <p:sp>
        <p:nvSpPr>
          <p:cNvPr id="12" name="Foliennummernplatzhalter 11">
            <a:extLst>
              <a:ext uri="{FF2B5EF4-FFF2-40B4-BE49-F238E27FC236}">
                <a16:creationId xmlns:a16="http://schemas.microsoft.com/office/drawing/2014/main" id="{60DF5B6F-33EB-9FC5-5ED4-1E2DF3C31328}"/>
              </a:ext>
            </a:extLst>
          </p:cNvPr>
          <p:cNvSpPr>
            <a:spLocks noGrp="1"/>
          </p:cNvSpPr>
          <p:nvPr>
            <p:ph type="sldNum" sz="quarter" idx="12"/>
          </p:nvPr>
        </p:nvSpPr>
        <p:spPr/>
        <p:txBody>
          <a:bodyPr/>
          <a:lstStyle/>
          <a:p>
            <a:fld id="{48F63A3B-78C7-47BE-AE5E-E10140E04643}" type="slidenum">
              <a:rPr lang="en-US" smtClean="0"/>
              <a:t>22</a:t>
            </a:fld>
            <a:r>
              <a:rPr lang="en-US" dirty="0"/>
              <a:t>/36</a:t>
            </a:r>
            <a:endParaRPr lang="de-DE" dirty="0"/>
          </a:p>
        </p:txBody>
      </p:sp>
    </p:spTree>
    <p:extLst>
      <p:ext uri="{BB962C8B-B14F-4D97-AF65-F5344CB8AC3E}">
        <p14:creationId xmlns:p14="http://schemas.microsoft.com/office/powerpoint/2010/main" val="283365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AE20-07E2-173C-EA3E-E884975D3194}"/>
            </a:ext>
          </a:extLst>
        </p:cNvPr>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50DA0B61-37FE-D43D-BB72-8319AC01E69D}"/>
              </a:ext>
            </a:extLst>
          </p:cNvPr>
          <p:cNvSpPr>
            <a:spLocks noGrp="1"/>
          </p:cNvSpPr>
          <p:nvPr>
            <p:ph type="sldNum" sz="quarter" idx="12"/>
          </p:nvPr>
        </p:nvSpPr>
        <p:spPr/>
        <p:txBody>
          <a:bodyPr/>
          <a:lstStyle/>
          <a:p>
            <a:fld id="{48F63A3B-78C7-47BE-AE5E-E10140E04643}" type="slidenum">
              <a:rPr lang="en-US" smtClean="0"/>
              <a:t>23</a:t>
            </a:fld>
            <a:r>
              <a:rPr lang="en-US" dirty="0"/>
              <a:t>/36</a:t>
            </a:r>
          </a:p>
        </p:txBody>
      </p:sp>
      <p:sp>
        <p:nvSpPr>
          <p:cNvPr id="7" name="Title 1">
            <a:extLst>
              <a:ext uri="{FF2B5EF4-FFF2-40B4-BE49-F238E27FC236}">
                <a16:creationId xmlns:a16="http://schemas.microsoft.com/office/drawing/2014/main" id="{B959D692-91AF-910E-ACD0-8740DBCE5C9E}"/>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latin typeface="Calibri Light"/>
                <a:ea typeface="Calibri Light"/>
                <a:cs typeface="Calibri Light"/>
              </a:rPr>
              <a:t>4.3.2 </a:t>
            </a:r>
            <a:r>
              <a:rPr lang="en-US" sz="3100" dirty="0">
                <a:latin typeface="Calibri Light" panose="020F0302020204030204" pitchFamily="34" charset="0"/>
                <a:ea typeface="Calibri Light"/>
                <a:cs typeface="Calibri Light" panose="020F0302020204030204" pitchFamily="34" charset="0"/>
              </a:rPr>
              <a:t> Integrated model-Simulation results </a:t>
            </a:r>
            <a:r>
              <a:rPr lang="en-US" sz="3100" dirty="0">
                <a:latin typeface="Calibri Light"/>
                <a:ea typeface="Calibri Light"/>
                <a:cs typeface="Calibri Light"/>
              </a:rPr>
              <a:t>(4/4)</a:t>
            </a:r>
          </a:p>
        </p:txBody>
      </p:sp>
      <p:sp>
        <p:nvSpPr>
          <p:cNvPr id="3" name="TextBox 5">
            <a:extLst>
              <a:ext uri="{FF2B5EF4-FFF2-40B4-BE49-F238E27FC236}">
                <a16:creationId xmlns:a16="http://schemas.microsoft.com/office/drawing/2014/main" id="{6BDCB27E-9385-F7B6-BE59-BD9AAF9E8EA5}"/>
              </a:ext>
            </a:extLst>
          </p:cNvPr>
          <p:cNvSpPr txBox="1"/>
          <p:nvPr/>
        </p:nvSpPr>
        <p:spPr>
          <a:xfrm>
            <a:off x="7230" y="5996247"/>
            <a:ext cx="741123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11: Comparative diagram of the retentate and permeate concentration in solids in the integrated model</a:t>
            </a:r>
            <a:endParaRPr lang="en-US" sz="2000" dirty="0">
              <a:latin typeface="Calibri"/>
              <a:ea typeface="Calibri"/>
              <a:cs typeface="Calibri"/>
            </a:endParaRPr>
          </a:p>
        </p:txBody>
      </p:sp>
      <p:sp>
        <p:nvSpPr>
          <p:cNvPr id="5" name="Textfeld 4">
            <a:extLst>
              <a:ext uri="{FF2B5EF4-FFF2-40B4-BE49-F238E27FC236}">
                <a16:creationId xmlns:a16="http://schemas.microsoft.com/office/drawing/2014/main" id="{D3057DC7-11F0-5F5E-65E9-5FB9FD63B68E}"/>
              </a:ext>
            </a:extLst>
          </p:cNvPr>
          <p:cNvSpPr txBox="1"/>
          <p:nvPr/>
        </p:nvSpPr>
        <p:spPr>
          <a:xfrm>
            <a:off x="7651315" y="1235257"/>
            <a:ext cx="4540685" cy="14875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ts val="2025"/>
              </a:lnSpc>
            </a:pPr>
            <a:r>
              <a:rPr lang="en-US" sz="2800" u="sng" dirty="0">
                <a:solidFill>
                  <a:srgbClr val="000000"/>
                </a:solidFill>
                <a:latin typeface="Calibri"/>
                <a:ea typeface="Calibri"/>
                <a:cs typeface="Arial"/>
              </a:rPr>
              <a:t>Water</a:t>
            </a:r>
          </a:p>
          <a:p>
            <a:pPr algn="ctr"/>
            <a:r>
              <a:rPr lang="en-US" sz="2800" dirty="0">
                <a:solidFill>
                  <a:srgbClr val="000000"/>
                </a:solidFill>
                <a:latin typeface="Calibri"/>
                <a:cs typeface="Arial"/>
              </a:rPr>
              <a:t>79.8% in retentate</a:t>
            </a:r>
            <a:endParaRPr lang="en-US" sz="2800" dirty="0">
              <a:solidFill>
                <a:srgbClr val="000000"/>
              </a:solidFill>
              <a:latin typeface="Calibri"/>
              <a:ea typeface="Calibri"/>
              <a:cs typeface="Arial"/>
            </a:endParaRPr>
          </a:p>
          <a:p>
            <a:pPr algn="ctr"/>
            <a:r>
              <a:rPr lang="en-US" sz="2800" dirty="0">
                <a:ea typeface="Calibri"/>
                <a:cs typeface="Arial"/>
              </a:rPr>
              <a:t>94.8% in permeate</a:t>
            </a:r>
          </a:p>
          <a:p>
            <a:pPr algn="ctr"/>
            <a:endParaRPr lang="de-DE" dirty="0">
              <a:ea typeface="Calibri" panose="020F0502020204030204"/>
              <a:cs typeface="Calibri" panose="020F0502020204030204"/>
            </a:endParaRPr>
          </a:p>
        </p:txBody>
      </p:sp>
      <p:graphicFrame>
        <p:nvGraphicFramePr>
          <p:cNvPr id="2" name="Diagramm 1">
            <a:extLst>
              <a:ext uri="{FF2B5EF4-FFF2-40B4-BE49-F238E27FC236}">
                <a16:creationId xmlns:a16="http://schemas.microsoft.com/office/drawing/2014/main" id="{75B97865-63C7-8C11-421F-B289CFDA8F8D}"/>
              </a:ext>
            </a:extLst>
          </p:cNvPr>
          <p:cNvGraphicFramePr/>
          <p:nvPr>
            <p:extLst>
              <p:ext uri="{D42A27DB-BD31-4B8C-83A1-F6EECF244321}">
                <p14:modId xmlns:p14="http://schemas.microsoft.com/office/powerpoint/2010/main" val="985524460"/>
              </p:ext>
            </p:extLst>
          </p:nvPr>
        </p:nvGraphicFramePr>
        <p:xfrm>
          <a:off x="642113" y="1230465"/>
          <a:ext cx="6768353" cy="4572373"/>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5">
            <a:extLst>
              <a:ext uri="{FF2B5EF4-FFF2-40B4-BE49-F238E27FC236}">
                <a16:creationId xmlns:a16="http://schemas.microsoft.com/office/drawing/2014/main" id="{4E68DFAD-F9FD-C3E9-0247-5F6AF278C2A0}"/>
              </a:ext>
            </a:extLst>
          </p:cNvPr>
          <p:cNvSpPr txBox="1"/>
          <p:nvPr/>
        </p:nvSpPr>
        <p:spPr>
          <a:xfrm>
            <a:off x="7428331" y="6003615"/>
            <a:ext cx="477432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8: </a:t>
            </a:r>
            <a:r>
              <a:rPr lang="en-US" sz="2000" dirty="0">
                <a:latin typeface="Calibri"/>
                <a:ea typeface="Calibri"/>
                <a:cs typeface="Calibri"/>
              </a:rPr>
              <a:t>Membrane filtration model</a:t>
            </a:r>
          </a:p>
        </p:txBody>
      </p:sp>
      <p:graphicFrame>
        <p:nvGraphicFramePr>
          <p:cNvPr id="9" name="Diagramm 8">
            <a:extLst>
              <a:ext uri="{FF2B5EF4-FFF2-40B4-BE49-F238E27FC236}">
                <a16:creationId xmlns:a16="http://schemas.microsoft.com/office/drawing/2014/main" id="{2C2FC24E-5109-D58B-F58A-50E0D07A55D3}"/>
              </a:ext>
            </a:extLst>
          </p:cNvPr>
          <p:cNvGraphicFramePr/>
          <p:nvPr>
            <p:extLst>
              <p:ext uri="{D42A27DB-BD31-4B8C-83A1-F6EECF244321}">
                <p14:modId xmlns:p14="http://schemas.microsoft.com/office/powerpoint/2010/main" val="3532116104"/>
              </p:ext>
            </p:extLst>
          </p:nvPr>
        </p:nvGraphicFramePr>
        <p:xfrm>
          <a:off x="7656535" y="2914471"/>
          <a:ext cx="4414828" cy="309973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427591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6B9FD-85E2-347B-6AFB-5920CB81DCE8}"/>
              </a:ext>
            </a:extLst>
          </p:cNvPr>
          <p:cNvSpPr>
            <a:spLocks noGrp="1"/>
          </p:cNvSpPr>
          <p:nvPr>
            <p:ph idx="1"/>
          </p:nvPr>
        </p:nvSpPr>
        <p:spPr>
          <a:xfrm>
            <a:off x="838200" y="1825625"/>
            <a:ext cx="5135419" cy="1603521"/>
          </a:xfrm>
        </p:spPr>
        <p:txBody>
          <a:bodyPr vert="horz" lIns="91440" tIns="45720" rIns="91440" bIns="45720" rtlCol="0" anchor="t">
            <a:normAutofit/>
          </a:bodyPr>
          <a:lstStyle/>
          <a:p>
            <a:r>
              <a:rPr lang="en-US" dirty="0">
                <a:ea typeface="Calibri"/>
                <a:cs typeface="Calibri"/>
              </a:rPr>
              <a:t>Global System Analysis tool</a:t>
            </a:r>
          </a:p>
          <a:p>
            <a:r>
              <a:rPr lang="en-US" dirty="0">
                <a:ea typeface="Calibri"/>
                <a:cs typeface="Calibri"/>
              </a:rPr>
              <a:t>Sensitivity analysis</a:t>
            </a:r>
          </a:p>
          <a:p>
            <a:r>
              <a:rPr lang="en-US" dirty="0">
                <a:ea typeface="Calibri"/>
                <a:cs typeface="Calibri"/>
              </a:rPr>
              <a:t>Uncertainty analysis</a:t>
            </a:r>
          </a:p>
        </p:txBody>
      </p:sp>
      <p:sp>
        <p:nvSpPr>
          <p:cNvPr id="4" name="Slide Number Placeholder 3">
            <a:extLst>
              <a:ext uri="{FF2B5EF4-FFF2-40B4-BE49-F238E27FC236}">
                <a16:creationId xmlns:a16="http://schemas.microsoft.com/office/drawing/2014/main" id="{3C90E4A3-F8AC-8A5F-33F3-B7781BB2CE7A}"/>
              </a:ext>
            </a:extLst>
          </p:cNvPr>
          <p:cNvSpPr>
            <a:spLocks noGrp="1"/>
          </p:cNvSpPr>
          <p:nvPr>
            <p:ph type="sldNum" sz="quarter" idx="12"/>
          </p:nvPr>
        </p:nvSpPr>
        <p:spPr/>
        <p:txBody>
          <a:bodyPr/>
          <a:lstStyle/>
          <a:p>
            <a:fld id="{48F63A3B-78C7-47BE-AE5E-E10140E04643}" type="slidenum">
              <a:rPr lang="en-US" smtClean="0"/>
              <a:t>24</a:t>
            </a:fld>
            <a:r>
              <a:rPr lang="en-US" dirty="0"/>
              <a:t>/36</a:t>
            </a:r>
          </a:p>
        </p:txBody>
      </p:sp>
      <p:sp>
        <p:nvSpPr>
          <p:cNvPr id="9" name="Title 1">
            <a:extLst>
              <a:ext uri="{FF2B5EF4-FFF2-40B4-BE49-F238E27FC236}">
                <a16:creationId xmlns:a16="http://schemas.microsoft.com/office/drawing/2014/main" id="{DC2AF992-1C5D-0D94-AAFB-33F8743E425B}"/>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5.1 System analysis and Cost analysis</a:t>
            </a:r>
          </a:p>
        </p:txBody>
      </p:sp>
      <p:graphicFrame>
        <p:nvGraphicFramePr>
          <p:cNvPr id="5" name="Tabelle 4">
            <a:extLst>
              <a:ext uri="{FF2B5EF4-FFF2-40B4-BE49-F238E27FC236}">
                <a16:creationId xmlns:a16="http://schemas.microsoft.com/office/drawing/2014/main" id="{73392C57-4E55-410C-CBA2-B83D1CF41B08}"/>
              </a:ext>
            </a:extLst>
          </p:cNvPr>
          <p:cNvGraphicFramePr>
            <a:graphicFrameLocks noGrp="1"/>
          </p:cNvGraphicFramePr>
          <p:nvPr>
            <p:extLst>
              <p:ext uri="{D42A27DB-BD31-4B8C-83A1-F6EECF244321}">
                <p14:modId xmlns:p14="http://schemas.microsoft.com/office/powerpoint/2010/main" val="549178349"/>
              </p:ext>
            </p:extLst>
          </p:nvPr>
        </p:nvGraphicFramePr>
        <p:xfrm>
          <a:off x="5561999" y="2849951"/>
          <a:ext cx="5791200" cy="2305050"/>
        </p:xfrm>
        <a:graphic>
          <a:graphicData uri="http://schemas.openxmlformats.org/drawingml/2006/table">
            <a:tbl>
              <a:tblPr bandRow="1">
                <a:tableStyleId>{5C22544A-7EE6-4342-B048-85BDC9FD1C3A}</a:tableStyleId>
              </a:tblPr>
              <a:tblGrid>
                <a:gridCol w="3667125">
                  <a:extLst>
                    <a:ext uri="{9D8B030D-6E8A-4147-A177-3AD203B41FA5}">
                      <a16:colId xmlns:a16="http://schemas.microsoft.com/office/drawing/2014/main" val="1269927199"/>
                    </a:ext>
                  </a:extLst>
                </a:gridCol>
                <a:gridCol w="2124075">
                  <a:extLst>
                    <a:ext uri="{9D8B030D-6E8A-4147-A177-3AD203B41FA5}">
                      <a16:colId xmlns:a16="http://schemas.microsoft.com/office/drawing/2014/main" val="2874678490"/>
                    </a:ext>
                  </a:extLst>
                </a:gridCol>
              </a:tblGrid>
              <a:tr h="542925">
                <a:tc>
                  <a:txBody>
                    <a:bodyPr/>
                    <a:lstStyle/>
                    <a:p>
                      <a:pPr algn="ctr" fontAlgn="base">
                        <a:lnSpc>
                          <a:spcPts val="2400"/>
                        </a:lnSpc>
                        <a:buNone/>
                      </a:pPr>
                      <a:r>
                        <a:rPr lang="en-US" sz="2000" b="1" i="0" dirty="0">
                          <a:solidFill>
                            <a:srgbClr val="FFFFFF"/>
                          </a:solidFill>
                          <a:effectLst/>
                          <a:latin typeface="Calibri" panose="020F0502020204030204" pitchFamily="34" charset="0"/>
                        </a:rPr>
                        <a:t>Heating water cost</a:t>
                      </a:r>
                      <a:endParaRPr lang="el-GR" b="1" i="0" dirty="0">
                        <a:solidFill>
                          <a:srgbClr val="FFFFFF"/>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a:solidFill>
                            <a:srgbClr val="000000"/>
                          </a:solidFill>
                          <a:effectLst/>
                          <a:latin typeface="Calibri" panose="020F0502020204030204" pitchFamily="34" charset="0"/>
                        </a:rPr>
                        <a:t>1.5 USD/t</a:t>
                      </a:r>
                      <a:endParaRPr lang="en-US" b="1" i="0">
                        <a:solidFill>
                          <a:srgbClr val="FFFFFF"/>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207476572"/>
                  </a:ext>
                </a:extLst>
              </a:tr>
              <a:tr h="542925">
                <a:tc>
                  <a:txBody>
                    <a:bodyPr/>
                    <a:lstStyle/>
                    <a:p>
                      <a:pPr algn="ctr" fontAlgn="base">
                        <a:lnSpc>
                          <a:spcPts val="2400"/>
                        </a:lnSpc>
                        <a:buNone/>
                      </a:pPr>
                      <a:r>
                        <a:rPr lang="en-US" sz="2000" b="1" i="0" dirty="0">
                          <a:solidFill>
                            <a:srgbClr val="FFFFFF"/>
                          </a:solidFill>
                          <a:effectLst/>
                          <a:latin typeface="Calibri" panose="020F0502020204030204" pitchFamily="34" charset="0"/>
                        </a:rPr>
                        <a:t>Cooling water cost</a:t>
                      </a:r>
                      <a:endParaRPr lang="el-GR"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a:solidFill>
                            <a:srgbClr val="000000"/>
                          </a:solidFill>
                          <a:effectLst/>
                          <a:latin typeface="Calibri" panose="020F0502020204030204" pitchFamily="34" charset="0"/>
                        </a:rPr>
                        <a:t>0.1 USD/t</a:t>
                      </a:r>
                      <a:endParaRPr lang="en-US" b="0" i="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2595333470"/>
                  </a:ext>
                </a:extLst>
              </a:tr>
              <a:tr h="542925">
                <a:tc>
                  <a:txBody>
                    <a:bodyPr/>
                    <a:lstStyle/>
                    <a:p>
                      <a:pPr algn="ctr" fontAlgn="base">
                        <a:lnSpc>
                          <a:spcPts val="2400"/>
                        </a:lnSpc>
                        <a:buNone/>
                      </a:pPr>
                      <a:r>
                        <a:rPr lang="en-US" sz="2000" b="1" i="0" dirty="0">
                          <a:solidFill>
                            <a:srgbClr val="FFFFFF"/>
                          </a:solidFill>
                          <a:effectLst/>
                          <a:latin typeface="Calibri" panose="020F0502020204030204" pitchFamily="34" charset="0"/>
                        </a:rPr>
                        <a:t>Diafiltration water cost</a:t>
                      </a:r>
                      <a:endParaRPr lang="el-GR"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a:solidFill>
                            <a:srgbClr val="000000"/>
                          </a:solidFill>
                          <a:effectLst/>
                          <a:latin typeface="Calibri" panose="020F0502020204030204" pitchFamily="34" charset="0"/>
                        </a:rPr>
                        <a:t>0.96 USD/t</a:t>
                      </a:r>
                      <a:endParaRPr lang="en-US" b="0" i="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2509712152"/>
                  </a:ext>
                </a:extLst>
              </a:tr>
              <a:tr h="676275">
                <a:tc>
                  <a:txBody>
                    <a:bodyPr/>
                    <a:lstStyle/>
                    <a:p>
                      <a:pPr algn="ctr" fontAlgn="base">
                        <a:lnSpc>
                          <a:spcPts val="2400"/>
                        </a:lnSpc>
                        <a:buNone/>
                      </a:pPr>
                      <a:r>
                        <a:rPr lang="en-US" sz="2000" b="1" i="0" dirty="0">
                          <a:solidFill>
                            <a:srgbClr val="FFFFFF"/>
                          </a:solidFill>
                          <a:effectLst/>
                          <a:latin typeface="Calibri" panose="020F0502020204030204" pitchFamily="34" charset="0"/>
                        </a:rPr>
                        <a:t>Concentrated milk revenue</a:t>
                      </a:r>
                      <a:endParaRPr lang="el-GR"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solidFill>
                      <a:srgbClr val="4472C4"/>
                    </a:solidFill>
                  </a:tcPr>
                </a:tc>
                <a:tc>
                  <a:txBody>
                    <a:bodyPr/>
                    <a:lstStyle/>
                    <a:p>
                      <a:pPr algn="ctr" fontAlgn="base">
                        <a:lnSpc>
                          <a:spcPts val="2400"/>
                        </a:lnSpc>
                        <a:buNone/>
                      </a:pPr>
                      <a:r>
                        <a:rPr lang="en-US" sz="2000" b="0" i="0" dirty="0">
                          <a:solidFill>
                            <a:srgbClr val="000000"/>
                          </a:solidFill>
                          <a:effectLst/>
                          <a:latin typeface="Calibri" panose="020F0502020204030204" pitchFamily="34" charset="0"/>
                        </a:rPr>
                        <a:t>585 USD/t</a:t>
                      </a:r>
                      <a:endParaRPr lang="en-US" b="0" i="0" dirty="0">
                        <a:solidFill>
                          <a:srgbClr val="000000"/>
                        </a:solidFill>
                        <a:effectLst/>
                      </a:endParaRPr>
                    </a:p>
                  </a:txBody>
                  <a:tcPr anchor="ctr">
                    <a:lnL w="9525" cap="flat" cmpd="sng" algn="ctr">
                      <a:solidFill>
                        <a:srgbClr val="8FAADC"/>
                      </a:solidFill>
                      <a:prstDash val="solid"/>
                      <a:round/>
                      <a:headEnd type="none" w="med" len="med"/>
                      <a:tailEnd type="none" w="med" len="med"/>
                    </a:lnL>
                    <a:lnR w="9525" cap="flat" cmpd="sng" algn="ctr">
                      <a:solidFill>
                        <a:srgbClr val="8FAADC"/>
                      </a:solidFill>
                      <a:prstDash val="solid"/>
                      <a:round/>
                      <a:headEnd type="none" w="med" len="med"/>
                      <a:tailEnd type="none" w="med" len="med"/>
                    </a:lnR>
                    <a:lnT w="9525" cap="flat" cmpd="sng" algn="ctr">
                      <a:solidFill>
                        <a:srgbClr val="8FAADC"/>
                      </a:solidFill>
                      <a:prstDash val="solid"/>
                      <a:round/>
                      <a:headEnd type="none" w="med" len="med"/>
                      <a:tailEnd type="none" w="med" len="med"/>
                    </a:lnT>
                    <a:lnB w="9525" cap="flat" cmpd="sng" algn="ctr">
                      <a:solidFill>
                        <a:srgbClr val="8FAADC"/>
                      </a:solidFill>
                      <a:prstDash val="solid"/>
                      <a:round/>
                      <a:headEnd type="none" w="med" len="med"/>
                      <a:tailEnd type="none" w="med" len="med"/>
                    </a:lnB>
                    <a:noFill/>
                  </a:tcPr>
                </a:tc>
                <a:extLst>
                  <a:ext uri="{0D108BD9-81ED-4DB2-BD59-A6C34878D82A}">
                    <a16:rowId xmlns:a16="http://schemas.microsoft.com/office/drawing/2014/main" val="1177582582"/>
                  </a:ext>
                </a:extLst>
              </a:tr>
            </a:tbl>
          </a:graphicData>
        </a:graphic>
      </p:graphicFrame>
      <p:sp>
        <p:nvSpPr>
          <p:cNvPr id="6" name="TextBox 5">
            <a:extLst>
              <a:ext uri="{FF2B5EF4-FFF2-40B4-BE49-F238E27FC236}">
                <a16:creationId xmlns:a16="http://schemas.microsoft.com/office/drawing/2014/main" id="{08CCF454-0D35-DBE7-AAAC-CD751EC02622}"/>
              </a:ext>
            </a:extLst>
          </p:cNvPr>
          <p:cNvSpPr txBox="1"/>
          <p:nvPr/>
        </p:nvSpPr>
        <p:spPr>
          <a:xfrm>
            <a:off x="5723334" y="5291210"/>
            <a:ext cx="5039728"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ea typeface="Calibri"/>
                <a:cs typeface="Calibri"/>
              </a:rPr>
              <a:t>Table 1: Cost and revenue of the streams</a:t>
            </a:r>
            <a:endParaRPr lang="en-US" sz="2000" dirty="0">
              <a:latin typeface="Calibri"/>
              <a:ea typeface="Calibri"/>
              <a:cs typeface="Calibri"/>
            </a:endParaRPr>
          </a:p>
        </p:txBody>
      </p:sp>
    </p:spTree>
    <p:extLst>
      <p:ext uri="{BB962C8B-B14F-4D97-AF65-F5344CB8AC3E}">
        <p14:creationId xmlns:p14="http://schemas.microsoft.com/office/powerpoint/2010/main" val="1524637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BB36D-A297-4ED6-EDF2-CEB88DB669C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CECEC7-CDCB-3F49-1E28-8CAEB47F6808}"/>
              </a:ext>
            </a:extLst>
          </p:cNvPr>
          <p:cNvSpPr>
            <a:spLocks noGrp="1"/>
          </p:cNvSpPr>
          <p:nvPr>
            <p:ph type="sldNum" sz="quarter" idx="12"/>
          </p:nvPr>
        </p:nvSpPr>
        <p:spPr/>
        <p:txBody>
          <a:bodyPr/>
          <a:lstStyle/>
          <a:p>
            <a:fld id="{48F63A3B-78C7-47BE-AE5E-E10140E04643}" type="slidenum">
              <a:rPr lang="en-US" smtClean="0"/>
              <a:t>25</a:t>
            </a:fld>
            <a:r>
              <a:rPr lang="en-US" dirty="0"/>
              <a:t>/36</a:t>
            </a:r>
          </a:p>
        </p:txBody>
      </p:sp>
      <p:sp>
        <p:nvSpPr>
          <p:cNvPr id="6" name="Title 1">
            <a:extLst>
              <a:ext uri="{FF2B5EF4-FFF2-40B4-BE49-F238E27FC236}">
                <a16:creationId xmlns:a16="http://schemas.microsoft.com/office/drawing/2014/main" id="{18247624-51AB-C09B-7DD1-BA56C0CBFA49}"/>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5.2 System analysis-Responses</a:t>
            </a:r>
          </a:p>
        </p:txBody>
      </p:sp>
      <p:graphicFrame>
        <p:nvGraphicFramePr>
          <p:cNvPr id="5" name="Tabelle 4">
            <a:extLst>
              <a:ext uri="{FF2B5EF4-FFF2-40B4-BE49-F238E27FC236}">
                <a16:creationId xmlns:a16="http://schemas.microsoft.com/office/drawing/2014/main" id="{7BDD0680-4A1D-F021-A598-2C78C9AFDBAF}"/>
              </a:ext>
            </a:extLst>
          </p:cNvPr>
          <p:cNvGraphicFramePr>
            <a:graphicFrameLocks noGrp="1"/>
          </p:cNvGraphicFramePr>
          <p:nvPr>
            <p:extLst>
              <p:ext uri="{D42A27DB-BD31-4B8C-83A1-F6EECF244321}">
                <p14:modId xmlns:p14="http://schemas.microsoft.com/office/powerpoint/2010/main" val="3513554940"/>
              </p:ext>
            </p:extLst>
          </p:nvPr>
        </p:nvGraphicFramePr>
        <p:xfrm>
          <a:off x="413988" y="1547751"/>
          <a:ext cx="11376325" cy="3505841"/>
        </p:xfrm>
        <a:graphic>
          <a:graphicData uri="http://schemas.openxmlformats.org/drawingml/2006/table">
            <a:tbl>
              <a:tblPr firstRow="1" firstCol="1" bandRow="1">
                <a:tableStyleId>{69012ECD-51FC-41F1-AA8D-1B2483CD663E}</a:tableStyleId>
              </a:tblPr>
              <a:tblGrid>
                <a:gridCol w="3857625">
                  <a:extLst>
                    <a:ext uri="{9D8B030D-6E8A-4147-A177-3AD203B41FA5}">
                      <a16:colId xmlns:a16="http://schemas.microsoft.com/office/drawing/2014/main" val="1105387782"/>
                    </a:ext>
                  </a:extLst>
                </a:gridCol>
                <a:gridCol w="3952874">
                  <a:extLst>
                    <a:ext uri="{9D8B030D-6E8A-4147-A177-3AD203B41FA5}">
                      <a16:colId xmlns:a16="http://schemas.microsoft.com/office/drawing/2014/main" val="4248975382"/>
                    </a:ext>
                  </a:extLst>
                </a:gridCol>
                <a:gridCol w="3565826">
                  <a:extLst>
                    <a:ext uri="{9D8B030D-6E8A-4147-A177-3AD203B41FA5}">
                      <a16:colId xmlns:a16="http://schemas.microsoft.com/office/drawing/2014/main" val="687664231"/>
                    </a:ext>
                  </a:extLst>
                </a:gridCol>
              </a:tblGrid>
              <a:tr h="620817">
                <a:tc>
                  <a:txBody>
                    <a:bodyPr/>
                    <a:lstStyle/>
                    <a:p>
                      <a:pPr lvl="0" algn="ctr">
                        <a:buNone/>
                      </a:pPr>
                      <a:r>
                        <a:rPr lang="de-DE" sz="2000" b="1" dirty="0">
                          <a:solidFill>
                            <a:schemeClr val="bg1"/>
                          </a:solidFill>
                          <a:effectLst/>
                        </a:rPr>
                        <a:t>Pasteurization</a:t>
                      </a:r>
                    </a:p>
                  </a:txBody>
                  <a:tcPr marL="66675" marR="66675" marT="0" marB="0" anchor="ctr">
                    <a:lnL w="12700">
                      <a:solidFill>
                        <a:schemeClr val="accent1">
                          <a:lumMod val="60000"/>
                          <a:lumOff val="40000"/>
                        </a:schemeClr>
                      </a:solidFill>
                    </a:lnL>
                    <a:lnR w="12700" cap="flat" cmpd="sng" algn="ctr">
                      <a:solidFill>
                        <a:schemeClr val="accent1">
                          <a:lumMod val="60000"/>
                          <a:lumOff val="40000"/>
                        </a:schemeClr>
                      </a:solidFill>
                      <a:prstDash val="solid"/>
                      <a:round/>
                      <a:headEnd type="none" w="med" len="med"/>
                      <a:tailEnd type="none" w="med" len="med"/>
                    </a:lnR>
                    <a:lnT w="12700">
                      <a:solidFill>
                        <a:schemeClr val="accent1">
                          <a:lumMod val="60000"/>
                          <a:lumOff val="40000"/>
                        </a:schemeClr>
                      </a:solidFill>
                    </a:lnT>
                    <a:lnB w="12700">
                      <a:solidFill>
                        <a:schemeClr val="accent1">
                          <a:lumMod val="60000"/>
                          <a:lumOff val="40000"/>
                        </a:schemeClr>
                      </a:solidFill>
                    </a:lnB>
                    <a:solidFill>
                      <a:srgbClr val="4472C4"/>
                    </a:solidFill>
                  </a:tcPr>
                </a:tc>
                <a:tc>
                  <a:txBody>
                    <a:bodyPr/>
                    <a:lstStyle/>
                    <a:p>
                      <a:pPr lvl="0" algn="ctr">
                        <a:buNone/>
                      </a:pPr>
                      <a:r>
                        <a:rPr lang="de-DE" sz="2000" b="1" dirty="0">
                          <a:solidFill>
                            <a:schemeClr val="bg1"/>
                          </a:solidFill>
                          <a:effectLst/>
                        </a:rPr>
                        <a:t>Membrane filtration</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a:solidFill>
                        <a:schemeClr val="accent1">
                          <a:lumMod val="60000"/>
                          <a:lumOff val="40000"/>
                        </a:schemeClr>
                      </a:solidFill>
                    </a:lnT>
                    <a:lnB w="12700">
                      <a:solidFill>
                        <a:schemeClr val="accent1">
                          <a:lumMod val="60000"/>
                          <a:lumOff val="40000"/>
                        </a:schemeClr>
                      </a:solidFill>
                    </a:lnB>
                    <a:solidFill>
                      <a:srgbClr val="4472C4"/>
                    </a:solidFill>
                  </a:tcPr>
                </a:tc>
                <a:tc>
                  <a:txBody>
                    <a:bodyPr/>
                    <a:lstStyle/>
                    <a:p>
                      <a:pPr algn="ctr">
                        <a:buNone/>
                      </a:pPr>
                      <a:r>
                        <a:rPr lang="de-DE" sz="2000" b="1" dirty="0">
                          <a:solidFill>
                            <a:schemeClr val="bg1"/>
                          </a:solidFill>
                          <a:effectLst/>
                        </a:rPr>
                        <a:t>Integrated model</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solidFill>
                      <a:srgbClr val="4472C4"/>
                    </a:solidFill>
                  </a:tcPr>
                </a:tc>
                <a:extLst>
                  <a:ext uri="{0D108BD9-81ED-4DB2-BD59-A6C34878D82A}">
                    <a16:rowId xmlns:a16="http://schemas.microsoft.com/office/drawing/2014/main" val="1735661782"/>
                  </a:ext>
                </a:extLst>
              </a:tr>
              <a:tr h="907349">
                <a:tc>
                  <a:txBody>
                    <a:bodyPr/>
                    <a:lstStyle/>
                    <a:p>
                      <a:pPr lvl="0" algn="ctr">
                        <a:buNone/>
                      </a:pPr>
                      <a:r>
                        <a:rPr lang="de-DE" sz="2000" b="0" i="0" u="none" strike="noStrike" noProof="0" dirty="0">
                          <a:effectLst/>
                          <a:latin typeface="Calibri"/>
                        </a:rPr>
                        <a:t>Heating water consumption (kg)</a:t>
                      </a:r>
                      <a:endParaRPr lang="de-DE" sz="2000" b="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a:solidFill>
                            <a:srgbClr val="000000"/>
                          </a:solidFill>
                          <a:effectLst/>
                        </a:rPr>
                        <a:t>Diafiltration water flow (kg/h)</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1" u="none" strike="noStrike" noProof="0" dirty="0">
                          <a:solidFill>
                            <a:srgbClr val="000000"/>
                          </a:solidFill>
                          <a:effectLst/>
                          <a:latin typeface="Calibri"/>
                        </a:rPr>
                        <a:t>S.thermophilus </a:t>
                      </a:r>
                      <a:r>
                        <a:rPr lang="de-DE" sz="2000" b="0" i="0" u="none" strike="noStrike" noProof="0" dirty="0">
                          <a:solidFill>
                            <a:srgbClr val="000000"/>
                          </a:solidFill>
                          <a:effectLst/>
                        </a:rPr>
                        <a:t>surface concentration in the regenerative unit (CFU/cm</a:t>
                      </a:r>
                      <a:r>
                        <a:rPr lang="de-DE" sz="2000" b="0" i="0" u="none" strike="noStrike" baseline="30000" noProof="0" dirty="0">
                          <a:solidFill>
                            <a:srgbClr val="000000"/>
                          </a:solidFill>
                          <a:effectLst/>
                        </a:rPr>
                        <a:t>2</a:t>
                      </a:r>
                      <a:r>
                        <a:rPr lang="de-DE" sz="2000" b="0" i="0" u="none" strike="noStrike" noProof="0" dirty="0">
                          <a:solidFill>
                            <a:srgbClr val="000000"/>
                          </a:solidFill>
                          <a:effectLst/>
                        </a:rPr>
                        <a:t>) </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978248065"/>
                  </a:ext>
                </a:extLst>
              </a:tr>
              <a:tr h="1361024">
                <a:tc>
                  <a:txBody>
                    <a:bodyPr/>
                    <a:lstStyle/>
                    <a:p>
                      <a:pPr lvl="0" algn="ctr">
                        <a:buNone/>
                      </a:pPr>
                      <a:r>
                        <a:rPr lang="de-DE" sz="2000" b="0" i="0" u="none" strike="noStrike" noProof="0" dirty="0">
                          <a:effectLst/>
                          <a:latin typeface="Calibri"/>
                        </a:rPr>
                        <a:t>Cooling water consumption (kg) </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a:solidFill>
                            <a:srgbClr val="000000"/>
                          </a:solidFill>
                          <a:effectLst/>
                        </a:rPr>
                        <a:t>Retentate flow (kg/h)</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1" u="none" strike="noStrike" noProof="0" dirty="0">
                          <a:solidFill>
                            <a:srgbClr val="000000"/>
                          </a:solidFill>
                          <a:effectLst/>
                        </a:rPr>
                        <a:t>S.thermophilus </a:t>
                      </a:r>
                      <a:r>
                        <a:rPr lang="de-DE" sz="2000" b="0" i="0" u="none" strike="noStrike" noProof="0" dirty="0">
                          <a:solidFill>
                            <a:srgbClr val="000000"/>
                          </a:solidFill>
                          <a:effectLst/>
                        </a:rPr>
                        <a:t>bulk concentration in retentate (CFU/mL)</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570072315"/>
                  </a:ext>
                </a:extLst>
              </a:tr>
              <a:tr h="453674">
                <a:tc>
                  <a:txBody>
                    <a:bodyPr/>
                    <a:lstStyle/>
                    <a:p>
                      <a:pPr algn="ctr">
                        <a:buNone/>
                      </a:pPr>
                      <a:endParaRPr lang="de-DE" sz="2000" b="0" dirty="0" err="1">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a:solidFill>
                            <a:srgbClr val="000000"/>
                          </a:solidFill>
                          <a:effectLst/>
                          <a:latin typeface="Calibri"/>
                        </a:rPr>
                        <a:t>Casein mass fraction in retentate (kg/kg)</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lnSpc>
                          <a:spcPct val="100000"/>
                        </a:lnSpc>
                        <a:spcBef>
                          <a:spcPts val="0"/>
                        </a:spcBef>
                        <a:spcAft>
                          <a:spcPts val="0"/>
                        </a:spcAft>
                        <a:buNone/>
                      </a:pPr>
                      <a:endParaRPr lang="de-DE" sz="2000" b="0" i="0" u="none" strike="noStrike" noProof="0" dirty="0">
                        <a:solidFill>
                          <a:srgbClr val="000000"/>
                        </a:solidFill>
                        <a:effectLst/>
                        <a:latin typeface="Calibri"/>
                      </a:endParaRPr>
                    </a:p>
                    <a:p>
                      <a:pPr lvl="0" algn="ctr">
                        <a:buNone/>
                      </a:pPr>
                      <a:endParaRPr lang="de-DE" sz="2000" b="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325883232"/>
                  </a:ext>
                </a:extLst>
              </a:tr>
            </a:tbl>
          </a:graphicData>
        </a:graphic>
      </p:graphicFrame>
      <p:sp>
        <p:nvSpPr>
          <p:cNvPr id="7" name="Textfeld 6">
            <a:extLst>
              <a:ext uri="{FF2B5EF4-FFF2-40B4-BE49-F238E27FC236}">
                <a16:creationId xmlns:a16="http://schemas.microsoft.com/office/drawing/2014/main" id="{32C142CE-60AB-32FC-3574-8E0B7D97A58A}"/>
              </a:ext>
            </a:extLst>
          </p:cNvPr>
          <p:cNvSpPr txBox="1"/>
          <p:nvPr/>
        </p:nvSpPr>
        <p:spPr>
          <a:xfrm>
            <a:off x="2125808" y="5761183"/>
            <a:ext cx="785090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solidFill>
                  <a:srgbClr val="000000"/>
                </a:solidFill>
                <a:latin typeface="Calibri"/>
                <a:ea typeface="Calibri"/>
                <a:cs typeface="Calibri"/>
              </a:rPr>
              <a:t>Table</a:t>
            </a:r>
            <a:r>
              <a:rPr lang="en-US" sz="2000" b="0" i="0" u="none" strike="noStrike" baseline="0" dirty="0">
                <a:solidFill>
                  <a:srgbClr val="000000"/>
                </a:solidFill>
                <a:latin typeface="Calibri"/>
                <a:ea typeface="Calibri"/>
                <a:cs typeface="Calibri"/>
              </a:rPr>
              <a:t> </a:t>
            </a:r>
            <a:r>
              <a:rPr lang="en-US" sz="2000" dirty="0">
                <a:solidFill>
                  <a:srgbClr val="000000"/>
                </a:solidFill>
                <a:latin typeface="Calibri"/>
                <a:ea typeface="Calibri"/>
                <a:cs typeface="Calibri"/>
              </a:rPr>
              <a:t>2: Reponses during the system analysis of the models</a:t>
            </a:r>
            <a:endParaRPr lang="en-US" sz="2000" dirty="0">
              <a:ea typeface="Calibri"/>
              <a:cs typeface="Calibri"/>
            </a:endParaRPr>
          </a:p>
        </p:txBody>
      </p:sp>
    </p:spTree>
    <p:extLst>
      <p:ext uri="{BB962C8B-B14F-4D97-AF65-F5344CB8AC3E}">
        <p14:creationId xmlns:p14="http://schemas.microsoft.com/office/powerpoint/2010/main" val="2837400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9C008E-8458-3A28-AF5B-784578A145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DD0F161-5EC0-1161-86FA-F093D0CBCED9}"/>
              </a:ext>
            </a:extLst>
          </p:cNvPr>
          <p:cNvSpPr>
            <a:spLocks noGrp="1"/>
          </p:cNvSpPr>
          <p:nvPr>
            <p:ph type="sldNum" sz="quarter" idx="12"/>
          </p:nvPr>
        </p:nvSpPr>
        <p:spPr/>
        <p:txBody>
          <a:bodyPr/>
          <a:lstStyle/>
          <a:p>
            <a:fld id="{48F63A3B-78C7-47BE-AE5E-E10140E04643}" type="slidenum">
              <a:rPr lang="en-US" smtClean="0"/>
              <a:t>26</a:t>
            </a:fld>
            <a:r>
              <a:rPr lang="en-US" dirty="0"/>
              <a:t>/36</a:t>
            </a:r>
          </a:p>
        </p:txBody>
      </p:sp>
      <p:sp>
        <p:nvSpPr>
          <p:cNvPr id="9" name="Title 1">
            <a:extLst>
              <a:ext uri="{FF2B5EF4-FFF2-40B4-BE49-F238E27FC236}">
                <a16:creationId xmlns:a16="http://schemas.microsoft.com/office/drawing/2014/main" id="{AA2CCF1D-25F3-F7FD-AD29-4DBD297ECE2D}"/>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5.3 Integrated model-Sensitivity analysis</a:t>
            </a:r>
          </a:p>
        </p:txBody>
      </p:sp>
      <p:graphicFrame>
        <p:nvGraphicFramePr>
          <p:cNvPr id="3" name="Tabelle 2">
            <a:extLst>
              <a:ext uri="{FF2B5EF4-FFF2-40B4-BE49-F238E27FC236}">
                <a16:creationId xmlns:a16="http://schemas.microsoft.com/office/drawing/2014/main" id="{7995078F-5CB9-FFFA-F648-DB26BFE1CAC6}"/>
              </a:ext>
            </a:extLst>
          </p:cNvPr>
          <p:cNvGraphicFramePr>
            <a:graphicFrameLocks noGrp="1"/>
          </p:cNvGraphicFramePr>
          <p:nvPr>
            <p:extLst>
              <p:ext uri="{D42A27DB-BD31-4B8C-83A1-F6EECF244321}">
                <p14:modId xmlns:p14="http://schemas.microsoft.com/office/powerpoint/2010/main" val="4137954548"/>
              </p:ext>
            </p:extLst>
          </p:nvPr>
        </p:nvGraphicFramePr>
        <p:xfrm>
          <a:off x="108856" y="1534886"/>
          <a:ext cx="11917184" cy="3657600"/>
        </p:xfrm>
        <a:graphic>
          <a:graphicData uri="http://schemas.openxmlformats.org/drawingml/2006/table">
            <a:tbl>
              <a:tblPr firstRow="1" firstCol="1" bandRow="1">
                <a:tableStyleId>{69012ECD-51FC-41F1-AA8D-1B2483CD663E}</a:tableStyleId>
              </a:tblPr>
              <a:tblGrid>
                <a:gridCol w="5810249">
                  <a:extLst>
                    <a:ext uri="{9D8B030D-6E8A-4147-A177-3AD203B41FA5}">
                      <a16:colId xmlns:a16="http://schemas.microsoft.com/office/drawing/2014/main" val="3561239416"/>
                    </a:ext>
                  </a:extLst>
                </a:gridCol>
                <a:gridCol w="2295747">
                  <a:extLst>
                    <a:ext uri="{9D8B030D-6E8A-4147-A177-3AD203B41FA5}">
                      <a16:colId xmlns:a16="http://schemas.microsoft.com/office/drawing/2014/main" val="1381387246"/>
                    </a:ext>
                  </a:extLst>
                </a:gridCol>
                <a:gridCol w="2244233">
                  <a:extLst>
                    <a:ext uri="{9D8B030D-6E8A-4147-A177-3AD203B41FA5}">
                      <a16:colId xmlns:a16="http://schemas.microsoft.com/office/drawing/2014/main" val="926750066"/>
                    </a:ext>
                  </a:extLst>
                </a:gridCol>
                <a:gridCol w="1566955">
                  <a:extLst>
                    <a:ext uri="{9D8B030D-6E8A-4147-A177-3AD203B41FA5}">
                      <a16:colId xmlns:a16="http://schemas.microsoft.com/office/drawing/2014/main" val="2470511390"/>
                    </a:ext>
                  </a:extLst>
                </a:gridCol>
              </a:tblGrid>
              <a:tr h="301625">
                <a:tc>
                  <a:txBody>
                    <a:bodyPr/>
                    <a:lstStyle/>
                    <a:p>
                      <a:pPr lvl="0" algn="ctr">
                        <a:buNone/>
                      </a:pPr>
                      <a:r>
                        <a:rPr lang="de-DE" sz="2000" dirty="0">
                          <a:effectLst/>
                        </a:rPr>
                        <a:t>Factor</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gridSpan="2">
                  <a:txBody>
                    <a:bodyPr/>
                    <a:lstStyle/>
                    <a:p>
                      <a:pPr algn="ctr">
                        <a:buNone/>
                      </a:pPr>
                      <a:r>
                        <a:rPr lang="de-DE" sz="2000" dirty="0">
                          <a:effectLst/>
                        </a:rPr>
                        <a:t>Uniform distribution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hMerge="1">
                  <a:txBody>
                    <a:bodyPr/>
                    <a:lstStyle/>
                    <a:p>
                      <a:endParaRPr lang="de-DE"/>
                    </a:p>
                  </a:txBody>
                  <a:tcPr marL="0" marR="0" marT="0" marB="0" horzOverflow="overflow"/>
                </a:tc>
                <a:tc>
                  <a:txBody>
                    <a:bodyPr/>
                    <a:lstStyle/>
                    <a:p>
                      <a:pPr algn="ctr">
                        <a:buNone/>
                      </a:pPr>
                      <a:r>
                        <a:rPr lang="de-DE" sz="2000" dirty="0">
                          <a:effectLst/>
                        </a:rPr>
                        <a:t>Reason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794731104"/>
                  </a:ext>
                </a:extLst>
              </a:tr>
              <a:tr h="190500">
                <a:tc>
                  <a:txBody>
                    <a:bodyPr/>
                    <a:lstStyle/>
                    <a:p>
                      <a:pPr algn="ctr">
                        <a:buNone/>
                      </a:pP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1" dirty="0">
                          <a:solidFill>
                            <a:schemeClr val="bg1"/>
                          </a:solidFill>
                          <a:effectLst/>
                        </a:rPr>
                        <a:t>Lower boundary</a:t>
                      </a:r>
                      <a:endParaRPr lang="de-DE" b="1" dirty="0">
                        <a:solidFill>
                          <a:schemeClr val="bg1"/>
                        </a:solidFill>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solidFill>
                      <a:srgbClr val="4472C4"/>
                    </a:solidFill>
                  </a:tcPr>
                </a:tc>
                <a:tc>
                  <a:txBody>
                    <a:bodyPr/>
                    <a:lstStyle/>
                    <a:p>
                      <a:pPr algn="ctr">
                        <a:buNone/>
                      </a:pPr>
                      <a:r>
                        <a:rPr lang="de-DE" sz="2000" b="1" dirty="0">
                          <a:solidFill>
                            <a:schemeClr val="bg1"/>
                          </a:solidFill>
                        </a:rPr>
                        <a:t>Upper boundary</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solidFill>
                      <a:srgbClr val="4472C4"/>
                    </a:solidFill>
                  </a:tcPr>
                </a:tc>
                <a:tc>
                  <a:txBody>
                    <a:bodyPr/>
                    <a:lstStyle/>
                    <a:p>
                      <a:pPr algn="ctr">
                        <a:buNone/>
                      </a:pP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153293969"/>
                  </a:ext>
                </a:extLst>
              </a:tr>
              <a:tr h="190500">
                <a:tc>
                  <a:txBody>
                    <a:bodyPr/>
                    <a:lstStyle/>
                    <a:p>
                      <a:pPr algn="ctr">
                        <a:buNone/>
                      </a:pPr>
                      <a:r>
                        <a:rPr lang="de-DE" sz="2000" dirty="0">
                          <a:effectLst/>
                        </a:rPr>
                        <a:t>E</a:t>
                      </a:r>
                      <a:r>
                        <a:rPr lang="de-DE" sz="2000" baseline="-25000" dirty="0">
                          <a:effectLst/>
                        </a:rPr>
                        <a:t>a </a:t>
                      </a:r>
                      <a:r>
                        <a:rPr lang="de-DE" sz="2000" b="1" i="0" u="none" strike="noStrike" baseline="0" noProof="0" dirty="0">
                          <a:solidFill>
                            <a:srgbClr val="000000"/>
                          </a:solidFill>
                          <a:effectLst/>
                          <a:latin typeface="Calibri"/>
                        </a:rPr>
                        <a:t>adsorption </a:t>
                      </a:r>
                      <a:r>
                        <a:rPr lang="de-DE" sz="2000" dirty="0">
                          <a:effectLst/>
                        </a:rPr>
                        <a:t>(kJ mol</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400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rowSpan="8">
                  <a:txBody>
                    <a:bodyPr/>
                    <a:lstStyle/>
                    <a:p>
                      <a:pPr algn="ctr">
                        <a:buNone/>
                      </a:pPr>
                      <a:r>
                        <a:rPr lang="de-DE" sz="2000" dirty="0">
                          <a:effectLst/>
                        </a:rPr>
                        <a:t>Uncertainty</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593244649"/>
                  </a:ext>
                </a:extLst>
              </a:tr>
              <a:tr h="190500">
                <a:tc>
                  <a:txBody>
                    <a:bodyPr/>
                    <a:lstStyle/>
                    <a:p>
                      <a:pPr algn="ctr">
                        <a:buNone/>
                      </a:pPr>
                      <a:r>
                        <a:rPr lang="de-DE" sz="2000" dirty="0">
                          <a:effectLst/>
                        </a:rPr>
                        <a:t>E</a:t>
                      </a:r>
                      <a:r>
                        <a:rPr lang="de-DE" sz="2000" baseline="-25000" dirty="0">
                          <a:effectLst/>
                        </a:rPr>
                        <a:t>a </a:t>
                      </a:r>
                      <a:r>
                        <a:rPr lang="de-DE" sz="2000" baseline="0" dirty="0">
                          <a:effectLst/>
                        </a:rPr>
                        <a:t>destruction </a:t>
                      </a:r>
                      <a:r>
                        <a:rPr lang="de-DE" sz="2000" dirty="0">
                          <a:effectLst/>
                        </a:rPr>
                        <a:t>(kJ mol</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400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900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vMerge="1">
                  <a:txBody>
                    <a:bodyPr/>
                    <a:lstStyle/>
                    <a:p>
                      <a:endParaRPr lang="de-DE"/>
                    </a:p>
                  </a:txBody>
                  <a:tcPr marL="0" marR="0" marT="0" marB="0" horzOverflow="overflow"/>
                </a:tc>
                <a:extLst>
                  <a:ext uri="{0D108BD9-81ED-4DB2-BD59-A6C34878D82A}">
                    <a16:rowId xmlns:a16="http://schemas.microsoft.com/office/drawing/2014/main" val="1869852561"/>
                  </a:ext>
                </a:extLst>
              </a:tr>
              <a:tr h="228600">
                <a:tc>
                  <a:txBody>
                    <a:bodyPr/>
                    <a:lstStyle/>
                    <a:p>
                      <a:pPr algn="ctr">
                        <a:buNone/>
                      </a:pPr>
                      <a:r>
                        <a:rPr lang="el-GR" sz="2000">
                          <a:effectLst/>
                        </a:rPr>
                        <a:t>α</a:t>
                      </a:r>
                      <a:r>
                        <a:rPr lang="el-GR" sz="2000" baseline="-25000">
                          <a:effectLst/>
                        </a:rPr>
                        <a:t>0 </a:t>
                      </a:r>
                      <a:r>
                        <a:rPr lang="el-GR" sz="2000">
                          <a:effectLst/>
                        </a:rPr>
                        <a:t>(</a:t>
                      </a:r>
                      <a:r>
                        <a:rPr lang="de-DE" sz="2000">
                          <a:effectLst/>
                        </a:rPr>
                        <a:t>K</a:t>
                      </a:r>
                      <a:r>
                        <a:rPr lang="de-DE" sz="2000" baseline="30000">
                          <a:effectLst/>
                        </a:rPr>
                        <a:t>-1</a:t>
                      </a:r>
                      <a:r>
                        <a:rPr lang="de-DE" sz="2000">
                          <a:effectLst/>
                        </a:rPr>
                        <a:t> s</a:t>
                      </a:r>
                      <a:r>
                        <a:rPr lang="de-DE" sz="2000" baseline="30000">
                          <a:effectLst/>
                        </a:rPr>
                        <a:t>-0.5</a:t>
                      </a: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0.0001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0.002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vMerge="1">
                  <a:txBody>
                    <a:bodyPr/>
                    <a:lstStyle/>
                    <a:p>
                      <a:endParaRPr lang="de-DE"/>
                    </a:p>
                  </a:txBody>
                  <a:tcPr marL="0" marR="0" marT="0" marB="0" horzOverflow="overflow"/>
                </a:tc>
                <a:extLst>
                  <a:ext uri="{0D108BD9-81ED-4DB2-BD59-A6C34878D82A}">
                    <a16:rowId xmlns:a16="http://schemas.microsoft.com/office/drawing/2014/main" val="754922888"/>
                  </a:ext>
                </a:extLst>
              </a:tr>
              <a:tr h="190500">
                <a:tc>
                  <a:txBody>
                    <a:bodyPr/>
                    <a:lstStyle/>
                    <a:p>
                      <a:pPr algn="ctr">
                        <a:buNone/>
                      </a:pPr>
                      <a:r>
                        <a:rPr lang="el-GR" sz="2000">
                          <a:effectLst/>
                        </a:rPr>
                        <a:t>α</a:t>
                      </a:r>
                      <a:r>
                        <a:rPr lang="el-GR" sz="2000" baseline="-25000">
                          <a:effectLst/>
                        </a:rPr>
                        <a:t>1 </a:t>
                      </a:r>
                      <a:r>
                        <a:rPr lang="el-GR" sz="2000">
                          <a:effectLst/>
                        </a:rPr>
                        <a:t>(</a:t>
                      </a:r>
                      <a:r>
                        <a:rPr lang="de-DE" sz="2000">
                          <a:effectLst/>
                        </a:rPr>
                        <a:t>K</a:t>
                      </a:r>
                      <a:r>
                        <a:rPr lang="de-DE" sz="2000" baseline="30000">
                          <a:effectLst/>
                        </a:rPr>
                        <a:t>-1</a:t>
                      </a: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0.01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vMerge="1">
                  <a:txBody>
                    <a:bodyPr/>
                    <a:lstStyle/>
                    <a:p>
                      <a:endParaRPr lang="de-DE"/>
                    </a:p>
                  </a:txBody>
                  <a:tcPr marL="0" marR="0" marT="0" marB="0" horzOverflow="overflow"/>
                </a:tc>
                <a:extLst>
                  <a:ext uri="{0D108BD9-81ED-4DB2-BD59-A6C34878D82A}">
                    <a16:rowId xmlns:a16="http://schemas.microsoft.com/office/drawing/2014/main" val="3615394610"/>
                  </a:ext>
                </a:extLst>
              </a:tr>
              <a:tr h="228600">
                <a:tc>
                  <a:txBody>
                    <a:bodyPr/>
                    <a:lstStyle/>
                    <a:p>
                      <a:pPr algn="ctr">
                        <a:buNone/>
                      </a:pPr>
                      <a:r>
                        <a:rPr lang="de-DE" sz="2000" err="1">
                          <a:solidFill>
                            <a:srgbClr val="000000"/>
                          </a:solidFill>
                          <a:effectLst/>
                        </a:rPr>
                        <a:t>T</a:t>
                      </a:r>
                      <a:r>
                        <a:rPr lang="de-DE" sz="2000" baseline="-25000" err="1">
                          <a:solidFill>
                            <a:srgbClr val="000000"/>
                          </a:solidFill>
                          <a:effectLst/>
                        </a:rPr>
                        <a:t>min</a:t>
                      </a:r>
                      <a:r>
                        <a:rPr lang="de-DE" sz="2000" baseline="-25000">
                          <a:solidFill>
                            <a:srgbClr val="000000"/>
                          </a:solidFill>
                          <a:effectLst/>
                        </a:rPr>
                        <a:t> </a:t>
                      </a:r>
                      <a:r>
                        <a:rPr lang="de-DE" sz="2000">
                          <a:solidFill>
                            <a:srgbClr val="000000"/>
                          </a:solidFill>
                          <a:effectLst/>
                        </a:rPr>
                        <a:t>(°C)</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10</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25</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vMerge="1">
                  <a:txBody>
                    <a:bodyPr/>
                    <a:lstStyle/>
                    <a:p>
                      <a:endParaRPr lang="de-DE"/>
                    </a:p>
                  </a:txBody>
                  <a:tcPr marL="0" marR="0" marT="0" marB="0" horzOverflow="overflow"/>
                </a:tc>
                <a:extLst>
                  <a:ext uri="{0D108BD9-81ED-4DB2-BD59-A6C34878D82A}">
                    <a16:rowId xmlns:a16="http://schemas.microsoft.com/office/drawing/2014/main" val="3408887257"/>
                  </a:ext>
                </a:extLst>
              </a:tr>
              <a:tr h="257175">
                <a:tc>
                  <a:txBody>
                    <a:bodyPr/>
                    <a:lstStyle/>
                    <a:p>
                      <a:pPr algn="ctr">
                        <a:buNone/>
                      </a:pPr>
                      <a:r>
                        <a:rPr lang="de-DE" sz="2000" err="1">
                          <a:solidFill>
                            <a:srgbClr val="000000"/>
                          </a:solidFill>
                          <a:effectLst/>
                        </a:rPr>
                        <a:t>T</a:t>
                      </a:r>
                      <a:r>
                        <a:rPr lang="de-DE" sz="2000" baseline="-25000" err="1">
                          <a:solidFill>
                            <a:srgbClr val="000000"/>
                          </a:solidFill>
                          <a:effectLst/>
                        </a:rPr>
                        <a:t>max</a:t>
                      </a:r>
                      <a:r>
                        <a:rPr lang="de-DE" sz="2000" baseline="-25000">
                          <a:solidFill>
                            <a:srgbClr val="000000"/>
                          </a:solidFill>
                          <a:effectLst/>
                        </a:rPr>
                        <a:t> </a:t>
                      </a:r>
                      <a:r>
                        <a:rPr lang="de-DE" sz="2000">
                          <a:solidFill>
                            <a:srgbClr val="000000"/>
                          </a:solidFill>
                          <a:effectLst/>
                        </a:rPr>
                        <a:t>(°C)</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50</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60</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vMerge="1">
                  <a:txBody>
                    <a:bodyPr/>
                    <a:lstStyle/>
                    <a:p>
                      <a:endParaRPr lang="de-DE"/>
                    </a:p>
                  </a:txBody>
                  <a:tcPr marL="0" marR="0" marT="0" marB="0" horzOverflow="overflow"/>
                </a:tc>
                <a:extLst>
                  <a:ext uri="{0D108BD9-81ED-4DB2-BD59-A6C34878D82A}">
                    <a16:rowId xmlns:a16="http://schemas.microsoft.com/office/drawing/2014/main" val="3272288327"/>
                  </a:ext>
                </a:extLst>
              </a:tr>
              <a:tr h="190500">
                <a:tc>
                  <a:txBody>
                    <a:bodyPr/>
                    <a:lstStyle/>
                    <a:p>
                      <a:pPr algn="ctr">
                        <a:buNone/>
                      </a:pPr>
                      <a:r>
                        <a:rPr lang="de-DE" sz="2000">
                          <a:effectLst/>
                        </a:rPr>
                        <a:t>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vMerge="1">
                  <a:txBody>
                    <a:bodyPr/>
                    <a:lstStyle/>
                    <a:p>
                      <a:endParaRPr lang="de-DE"/>
                    </a:p>
                  </a:txBody>
                  <a:tcPr marL="0" marR="0" marT="0" marB="0" horzOverflow="overflow"/>
                </a:tc>
                <a:extLst>
                  <a:ext uri="{0D108BD9-81ED-4DB2-BD59-A6C34878D82A}">
                    <a16:rowId xmlns:a16="http://schemas.microsoft.com/office/drawing/2014/main" val="2440019449"/>
                  </a:ext>
                </a:extLst>
              </a:tr>
              <a:tr h="190500">
                <a:tc>
                  <a:txBody>
                    <a:bodyPr/>
                    <a:lstStyle/>
                    <a:p>
                      <a:pPr algn="ctr">
                        <a:buNone/>
                      </a:pPr>
                      <a:r>
                        <a:rPr lang="de-DE" sz="2000" err="1">
                          <a:solidFill>
                            <a:srgbClr val="000000"/>
                          </a:solidFill>
                          <a:effectLst/>
                        </a:rPr>
                        <a:t>c</a:t>
                      </a:r>
                      <a:r>
                        <a:rPr lang="de-DE" sz="2000" baseline="-25000" err="1">
                          <a:solidFill>
                            <a:srgbClr val="000000"/>
                          </a:solidFill>
                          <a:effectLst/>
                        </a:rPr>
                        <a:t>b,feed</a:t>
                      </a:r>
                      <a:r>
                        <a:rPr lang="de-DE" sz="2000" baseline="-25000">
                          <a:solidFill>
                            <a:srgbClr val="000000"/>
                          </a:solidFill>
                          <a:effectLst/>
                        </a:rPr>
                        <a:t> </a:t>
                      </a:r>
                      <a:r>
                        <a:rPr lang="de-DE" sz="2000">
                          <a:solidFill>
                            <a:srgbClr val="000000"/>
                          </a:solidFill>
                          <a:effectLst/>
                        </a:rPr>
                        <a:t>(CFU mL</a:t>
                      </a:r>
                      <a:r>
                        <a:rPr lang="de-DE" sz="2000" baseline="30000">
                          <a:solidFill>
                            <a:srgbClr val="000000"/>
                          </a:solidFill>
                          <a:effectLst/>
                        </a:rPr>
                        <a:t>-1</a:t>
                      </a:r>
                      <a:r>
                        <a:rPr lang="de-DE" sz="2000">
                          <a:solidFill>
                            <a:srgbClr val="000000"/>
                          </a:solidFill>
                          <a:effectLst/>
                        </a:rPr>
                        <a:t>)</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500</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1500</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vMerge="1">
                  <a:txBody>
                    <a:bodyPr/>
                    <a:lstStyle/>
                    <a:p>
                      <a:endParaRPr lang="de-DE"/>
                    </a:p>
                  </a:txBody>
                  <a:tcPr marL="0" marR="0" marT="0" marB="0" horzOverflow="overflow"/>
                </a:tc>
                <a:extLst>
                  <a:ext uri="{0D108BD9-81ED-4DB2-BD59-A6C34878D82A}">
                    <a16:rowId xmlns:a16="http://schemas.microsoft.com/office/drawing/2014/main" val="233697025"/>
                  </a:ext>
                </a:extLst>
              </a:tr>
              <a:tr h="190500">
                <a:tc>
                  <a:txBody>
                    <a:bodyPr/>
                    <a:lstStyle/>
                    <a:p>
                      <a:pPr algn="ctr">
                        <a:buNone/>
                      </a:pPr>
                      <a:r>
                        <a:rPr lang="de-DE" sz="2000" dirty="0">
                          <a:solidFill>
                            <a:srgbClr val="000000"/>
                          </a:solidFill>
                          <a:effectLst/>
                        </a:rPr>
                        <a:t>Simulation duration (h)</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4</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solidFill>
                            <a:srgbClr val="000000"/>
                          </a:solidFill>
                          <a:effectLst/>
                        </a:rPr>
                        <a:t>12</a:t>
                      </a:r>
                      <a:endParaRPr lang="de-DE" sz="200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solidFill>
                            <a:srgbClr val="000000"/>
                          </a:solidFill>
                          <a:effectLst/>
                        </a:rPr>
                        <a:t>Operational decision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94457525"/>
                  </a:ext>
                </a:extLst>
              </a:tr>
            </a:tbl>
          </a:graphicData>
        </a:graphic>
      </p:graphicFrame>
      <p:sp>
        <p:nvSpPr>
          <p:cNvPr id="6" name="Textfeld 5">
            <a:extLst>
              <a:ext uri="{FF2B5EF4-FFF2-40B4-BE49-F238E27FC236}">
                <a16:creationId xmlns:a16="http://schemas.microsoft.com/office/drawing/2014/main" id="{66C2547C-36E7-36AB-586B-C65EB3FA670E}"/>
              </a:ext>
            </a:extLst>
          </p:cNvPr>
          <p:cNvSpPr txBox="1"/>
          <p:nvPr/>
        </p:nvSpPr>
        <p:spPr>
          <a:xfrm>
            <a:off x="457200" y="5546197"/>
            <a:ext cx="108966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a:latin typeface="Calibri"/>
              </a:rPr>
              <a:t>Table </a:t>
            </a:r>
            <a:r>
              <a:rPr lang="en-US" sz="2000" dirty="0">
                <a:latin typeface="Calibri"/>
              </a:rPr>
              <a:t>3</a:t>
            </a:r>
            <a:r>
              <a:rPr lang="en-US" sz="2000" baseline="0" dirty="0">
                <a:latin typeface="Calibri"/>
              </a:rPr>
              <a:t>: Factors examined in the sensitivity analysis of the integrated model and their </a:t>
            </a:r>
            <a:r>
              <a:rPr lang="de-DE" dirty="0"/>
              <a:t>distributions</a:t>
            </a:r>
          </a:p>
        </p:txBody>
      </p:sp>
    </p:spTree>
    <p:extLst>
      <p:ext uri="{BB962C8B-B14F-4D97-AF65-F5344CB8AC3E}">
        <p14:creationId xmlns:p14="http://schemas.microsoft.com/office/powerpoint/2010/main" val="29407749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CB319-9791-C317-AC99-5B1212D5161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892CF57-5A13-58F4-8DDE-30707589BF29}"/>
              </a:ext>
            </a:extLst>
          </p:cNvPr>
          <p:cNvSpPr>
            <a:spLocks noGrp="1"/>
          </p:cNvSpPr>
          <p:nvPr>
            <p:ph type="sldNum" sz="quarter" idx="12"/>
          </p:nvPr>
        </p:nvSpPr>
        <p:spPr/>
        <p:txBody>
          <a:bodyPr/>
          <a:lstStyle/>
          <a:p>
            <a:fld id="{48F63A3B-78C7-47BE-AE5E-E10140E04643}" type="slidenum">
              <a:rPr lang="en-US" smtClean="0"/>
              <a:t>27</a:t>
            </a:fld>
            <a:r>
              <a:rPr lang="en-US" dirty="0"/>
              <a:t>/36</a:t>
            </a:r>
          </a:p>
        </p:txBody>
      </p:sp>
      <p:sp>
        <p:nvSpPr>
          <p:cNvPr id="9" name="Title 1">
            <a:extLst>
              <a:ext uri="{FF2B5EF4-FFF2-40B4-BE49-F238E27FC236}">
                <a16:creationId xmlns:a16="http://schemas.microsoft.com/office/drawing/2014/main" id="{FD1BA85B-1F2F-11AC-2A8A-E823999A52DA}"/>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5.4 Integrated model-Uncertainty analysis</a:t>
            </a:r>
          </a:p>
        </p:txBody>
      </p:sp>
      <p:sp>
        <p:nvSpPr>
          <p:cNvPr id="10" name="TextBox 5">
            <a:extLst>
              <a:ext uri="{FF2B5EF4-FFF2-40B4-BE49-F238E27FC236}">
                <a16:creationId xmlns:a16="http://schemas.microsoft.com/office/drawing/2014/main" id="{B78FBD3F-4D00-0405-3EFB-A8E2B0A058F2}"/>
              </a:ext>
            </a:extLst>
          </p:cNvPr>
          <p:cNvSpPr txBox="1"/>
          <p:nvPr/>
        </p:nvSpPr>
        <p:spPr>
          <a:xfrm>
            <a:off x="103171" y="5390823"/>
            <a:ext cx="614619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12: I</a:t>
            </a:r>
            <a:r>
              <a:rPr lang="en-US" sz="2000" dirty="0">
                <a:latin typeface="Calibri"/>
                <a:ea typeface="Calibri"/>
                <a:cs typeface="Calibri"/>
              </a:rPr>
              <a:t>mpact of the simulation duration and the minimum growth temperature of </a:t>
            </a:r>
            <a:r>
              <a:rPr lang="en-US" sz="2000" i="1" dirty="0" err="1">
                <a:latin typeface="Calibri"/>
                <a:ea typeface="Calibri"/>
                <a:cs typeface="Calibri"/>
              </a:rPr>
              <a:t>S.thermophilus</a:t>
            </a:r>
            <a:r>
              <a:rPr lang="en-US" sz="2000" i="1" dirty="0">
                <a:latin typeface="Calibri"/>
                <a:ea typeface="Calibri"/>
                <a:cs typeface="Calibri"/>
              </a:rPr>
              <a:t> </a:t>
            </a:r>
            <a:r>
              <a:rPr lang="en-US" sz="2000" dirty="0">
                <a:latin typeface="Calibri"/>
                <a:ea typeface="Calibri"/>
                <a:cs typeface="Calibri"/>
              </a:rPr>
              <a:t>to its surface concentration in the regenerative unit</a:t>
            </a:r>
          </a:p>
        </p:txBody>
      </p:sp>
      <p:sp>
        <p:nvSpPr>
          <p:cNvPr id="12" name="TextBox 5">
            <a:extLst>
              <a:ext uri="{FF2B5EF4-FFF2-40B4-BE49-F238E27FC236}">
                <a16:creationId xmlns:a16="http://schemas.microsoft.com/office/drawing/2014/main" id="{8991433F-ED31-8327-28A8-9D562017A888}"/>
              </a:ext>
            </a:extLst>
          </p:cNvPr>
          <p:cNvSpPr txBox="1"/>
          <p:nvPr/>
        </p:nvSpPr>
        <p:spPr>
          <a:xfrm>
            <a:off x="6199172" y="5390823"/>
            <a:ext cx="5895673"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ea typeface="Calibri"/>
                <a:cs typeface="Calibri"/>
              </a:rPr>
              <a:t>Figure 13: Impact of the simulation duration and the feed flow to </a:t>
            </a:r>
            <a:r>
              <a:rPr lang="en-US" sz="2000" dirty="0">
                <a:latin typeface="Calibri"/>
                <a:ea typeface="Calibri"/>
                <a:cs typeface="Calibri"/>
              </a:rPr>
              <a:t>the </a:t>
            </a:r>
            <a:r>
              <a:rPr lang="en-US" sz="2000" i="1" dirty="0" err="1">
                <a:latin typeface="Calibri"/>
                <a:ea typeface="Calibri"/>
                <a:cs typeface="Calibri"/>
              </a:rPr>
              <a:t>S.thermophilus</a:t>
            </a:r>
            <a:r>
              <a:rPr lang="en-US" sz="2000" i="1" dirty="0">
                <a:latin typeface="Calibri"/>
                <a:ea typeface="Calibri"/>
                <a:cs typeface="Calibri"/>
              </a:rPr>
              <a:t> </a:t>
            </a:r>
            <a:r>
              <a:rPr lang="en-US" sz="2000" dirty="0">
                <a:latin typeface="Calibri"/>
                <a:ea typeface="Calibri"/>
                <a:cs typeface="Calibri"/>
              </a:rPr>
              <a:t>bulk concentration in retentate</a:t>
            </a:r>
            <a:endParaRPr lang="de-DE" dirty="0" err="1"/>
          </a:p>
        </p:txBody>
      </p:sp>
      <p:pic>
        <p:nvPicPr>
          <p:cNvPr id="5" name="Grafik 4" descr="Ein Bild, das Text, Screenshot, Farbigkeit, Grafiken enthält.&#10;&#10;KI-generierte Inhalte können fehlerhaft sein.">
            <a:extLst>
              <a:ext uri="{FF2B5EF4-FFF2-40B4-BE49-F238E27FC236}">
                <a16:creationId xmlns:a16="http://schemas.microsoft.com/office/drawing/2014/main" id="{8294620B-4CB4-E2A9-5B1B-50C6A22B4D69}"/>
              </a:ext>
            </a:extLst>
          </p:cNvPr>
          <p:cNvPicPr>
            <a:picLocks noChangeAspect="1"/>
          </p:cNvPicPr>
          <p:nvPr/>
        </p:nvPicPr>
        <p:blipFill>
          <a:blip r:embed="rId3"/>
          <a:stretch>
            <a:fillRect/>
          </a:stretch>
        </p:blipFill>
        <p:spPr>
          <a:xfrm>
            <a:off x="6154397" y="831154"/>
            <a:ext cx="5991225" cy="4381500"/>
          </a:xfrm>
          <a:prstGeom prst="rect">
            <a:avLst/>
          </a:prstGeom>
        </p:spPr>
      </p:pic>
      <p:pic>
        <p:nvPicPr>
          <p:cNvPr id="2" name="Grafik 1" descr="Ein Bild, das Text, Karte, Screenshot, Farbigkeit enthält.&#10;&#10;KI-generierte Inhalte können fehlerhaft sein.">
            <a:extLst>
              <a:ext uri="{FF2B5EF4-FFF2-40B4-BE49-F238E27FC236}">
                <a16:creationId xmlns:a16="http://schemas.microsoft.com/office/drawing/2014/main" id="{C41EE605-E7B2-ED16-6AAE-3173258B41E9}"/>
              </a:ext>
            </a:extLst>
          </p:cNvPr>
          <p:cNvPicPr>
            <a:picLocks noChangeAspect="1"/>
          </p:cNvPicPr>
          <p:nvPr/>
        </p:nvPicPr>
        <p:blipFill>
          <a:blip r:embed="rId4"/>
          <a:stretch>
            <a:fillRect/>
          </a:stretch>
        </p:blipFill>
        <p:spPr>
          <a:xfrm>
            <a:off x="99002" y="831273"/>
            <a:ext cx="6001904" cy="4375727"/>
          </a:xfrm>
          <a:prstGeom prst="rect">
            <a:avLst/>
          </a:prstGeom>
        </p:spPr>
      </p:pic>
    </p:spTree>
    <p:extLst>
      <p:ext uri="{BB962C8B-B14F-4D97-AF65-F5344CB8AC3E}">
        <p14:creationId xmlns:p14="http://schemas.microsoft.com/office/powerpoint/2010/main" val="2097107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021307-7EB9-B0F9-2657-BC5A7D98375C}"/>
              </a:ext>
            </a:extLst>
          </p:cNvPr>
          <p:cNvSpPr>
            <a:spLocks noGrp="1"/>
          </p:cNvSpPr>
          <p:nvPr>
            <p:ph idx="1"/>
          </p:nvPr>
        </p:nvSpPr>
        <p:spPr/>
        <p:txBody>
          <a:bodyPr vert="horz" lIns="91440" tIns="45720" rIns="91440" bIns="45720" rtlCol="0" anchor="t">
            <a:normAutofit/>
          </a:bodyPr>
          <a:lstStyle/>
          <a:p>
            <a:r>
              <a:rPr lang="en-US" dirty="0">
                <a:ea typeface="Calibri"/>
                <a:cs typeface="Calibri"/>
              </a:rPr>
              <a:t>CVP_SS solver</a:t>
            </a:r>
          </a:p>
          <a:p>
            <a:r>
              <a:rPr lang="en-US" dirty="0">
                <a:ea typeface="Calibri"/>
                <a:cs typeface="Calibri"/>
              </a:rPr>
              <a:t>DAEBDF solver for differential algebraic equations</a:t>
            </a:r>
          </a:p>
          <a:p>
            <a:r>
              <a:rPr lang="en-US" dirty="0">
                <a:ea typeface="Calibri"/>
                <a:cs typeface="Calibri"/>
              </a:rPr>
              <a:t>max/min    f(x)     (27)</a:t>
            </a:r>
          </a:p>
          <a:p>
            <a:pPr marL="0" indent="0">
              <a:buNone/>
            </a:pPr>
            <a:r>
              <a:rPr lang="en-US" dirty="0">
                <a:ea typeface="Calibri"/>
                <a:cs typeface="Calibri"/>
              </a:rPr>
              <a:t>   subject to  h(x)=0   (28)</a:t>
            </a:r>
          </a:p>
          <a:p>
            <a:pPr marL="0" indent="0">
              <a:buNone/>
            </a:pPr>
            <a:r>
              <a:rPr lang="en-US" dirty="0">
                <a:ea typeface="Calibri"/>
                <a:cs typeface="Calibri"/>
              </a:rPr>
              <a:t>         g(x)≤0    (29)</a:t>
            </a:r>
          </a:p>
        </p:txBody>
      </p:sp>
      <p:sp>
        <p:nvSpPr>
          <p:cNvPr id="4" name="Slide Number Placeholder 3">
            <a:extLst>
              <a:ext uri="{FF2B5EF4-FFF2-40B4-BE49-F238E27FC236}">
                <a16:creationId xmlns:a16="http://schemas.microsoft.com/office/drawing/2014/main" id="{2BB9E33A-B25F-166A-3BAA-1690B5230CE7}"/>
              </a:ext>
            </a:extLst>
          </p:cNvPr>
          <p:cNvSpPr>
            <a:spLocks noGrp="1"/>
          </p:cNvSpPr>
          <p:nvPr>
            <p:ph type="sldNum" sz="quarter" idx="12"/>
          </p:nvPr>
        </p:nvSpPr>
        <p:spPr/>
        <p:txBody>
          <a:bodyPr/>
          <a:lstStyle/>
          <a:p>
            <a:fld id="{48F63A3B-78C7-47BE-AE5E-E10140E04643}" type="slidenum">
              <a:rPr lang="en-US" smtClean="0"/>
              <a:t>28</a:t>
            </a:fld>
            <a:r>
              <a:rPr lang="en-US" dirty="0"/>
              <a:t>/36</a:t>
            </a:r>
          </a:p>
        </p:txBody>
      </p:sp>
      <p:sp>
        <p:nvSpPr>
          <p:cNvPr id="8" name="Title 1">
            <a:extLst>
              <a:ext uri="{FF2B5EF4-FFF2-40B4-BE49-F238E27FC236}">
                <a16:creationId xmlns:a16="http://schemas.microsoft.com/office/drawing/2014/main" id="{B73EF21A-5433-5582-D1C6-85166925C3E9}"/>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 Optimization</a:t>
            </a:r>
          </a:p>
        </p:txBody>
      </p:sp>
    </p:spTree>
    <p:extLst>
      <p:ext uri="{BB962C8B-B14F-4D97-AF65-F5344CB8AC3E}">
        <p14:creationId xmlns:p14="http://schemas.microsoft.com/office/powerpoint/2010/main" val="347491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323B8-B424-188B-66B3-4D5A2317F9C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38A65A1-D13A-50F8-A224-F3A11DA01BAD}"/>
              </a:ext>
            </a:extLst>
          </p:cNvPr>
          <p:cNvSpPr>
            <a:spLocks noGrp="1"/>
          </p:cNvSpPr>
          <p:nvPr>
            <p:ph type="sldNum" sz="quarter" idx="12"/>
          </p:nvPr>
        </p:nvSpPr>
        <p:spPr/>
        <p:txBody>
          <a:bodyPr/>
          <a:lstStyle/>
          <a:p>
            <a:fld id="{48F63A3B-78C7-47BE-AE5E-E10140E04643}" type="slidenum">
              <a:rPr lang="en-US" smtClean="0"/>
              <a:t>29</a:t>
            </a:fld>
            <a:r>
              <a:rPr lang="en-US" dirty="0"/>
              <a:t>/36</a:t>
            </a:r>
          </a:p>
        </p:txBody>
      </p:sp>
      <p:sp>
        <p:nvSpPr>
          <p:cNvPr id="8" name="Title 1">
            <a:extLst>
              <a:ext uri="{FF2B5EF4-FFF2-40B4-BE49-F238E27FC236}">
                <a16:creationId xmlns:a16="http://schemas.microsoft.com/office/drawing/2014/main" id="{DE90C67A-2D99-3556-D451-1A1C6162EEF2}"/>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6.1 Pasteurization model-Optimization</a:t>
            </a:r>
          </a:p>
        </p:txBody>
      </p:sp>
      <p:graphicFrame>
        <p:nvGraphicFramePr>
          <p:cNvPr id="5" name="Tabelle 4">
            <a:extLst>
              <a:ext uri="{FF2B5EF4-FFF2-40B4-BE49-F238E27FC236}">
                <a16:creationId xmlns:a16="http://schemas.microsoft.com/office/drawing/2014/main" id="{BC55B1C4-C864-B233-A9FF-831E79D16D28}"/>
              </a:ext>
            </a:extLst>
          </p:cNvPr>
          <p:cNvGraphicFramePr>
            <a:graphicFrameLocks noGrp="1"/>
          </p:cNvGraphicFramePr>
          <p:nvPr>
            <p:extLst>
              <p:ext uri="{D42A27DB-BD31-4B8C-83A1-F6EECF244321}">
                <p14:modId xmlns:p14="http://schemas.microsoft.com/office/powerpoint/2010/main" val="2040281890"/>
              </p:ext>
            </p:extLst>
          </p:nvPr>
        </p:nvGraphicFramePr>
        <p:xfrm>
          <a:off x="200064" y="918760"/>
          <a:ext cx="11801569" cy="4949725"/>
        </p:xfrm>
        <a:graphic>
          <a:graphicData uri="http://schemas.openxmlformats.org/drawingml/2006/table">
            <a:tbl>
              <a:tblPr firstRow="1" firstCol="1" bandRow="1">
                <a:tableStyleId>{69012ECD-51FC-41F1-AA8D-1B2483CD663E}</a:tableStyleId>
              </a:tblPr>
              <a:tblGrid>
                <a:gridCol w="2336659">
                  <a:extLst>
                    <a:ext uri="{9D8B030D-6E8A-4147-A177-3AD203B41FA5}">
                      <a16:colId xmlns:a16="http://schemas.microsoft.com/office/drawing/2014/main" val="1663565418"/>
                    </a:ext>
                  </a:extLst>
                </a:gridCol>
                <a:gridCol w="1637071">
                  <a:extLst>
                    <a:ext uri="{9D8B030D-6E8A-4147-A177-3AD203B41FA5}">
                      <a16:colId xmlns:a16="http://schemas.microsoft.com/office/drawing/2014/main" val="4271753242"/>
                    </a:ext>
                  </a:extLst>
                </a:gridCol>
                <a:gridCol w="1179871">
                  <a:extLst>
                    <a:ext uri="{9D8B030D-6E8A-4147-A177-3AD203B41FA5}">
                      <a16:colId xmlns:a16="http://schemas.microsoft.com/office/drawing/2014/main" val="1252835141"/>
                    </a:ext>
                  </a:extLst>
                </a:gridCol>
                <a:gridCol w="1324312">
                  <a:extLst>
                    <a:ext uri="{9D8B030D-6E8A-4147-A177-3AD203B41FA5}">
                      <a16:colId xmlns:a16="http://schemas.microsoft.com/office/drawing/2014/main" val="640501487"/>
                    </a:ext>
                  </a:extLst>
                </a:gridCol>
                <a:gridCol w="1890836">
                  <a:extLst>
                    <a:ext uri="{9D8B030D-6E8A-4147-A177-3AD203B41FA5}">
                      <a16:colId xmlns:a16="http://schemas.microsoft.com/office/drawing/2014/main" val="3932388530"/>
                    </a:ext>
                  </a:extLst>
                </a:gridCol>
                <a:gridCol w="1769806">
                  <a:extLst>
                    <a:ext uri="{9D8B030D-6E8A-4147-A177-3AD203B41FA5}">
                      <a16:colId xmlns:a16="http://schemas.microsoft.com/office/drawing/2014/main" val="1753384912"/>
                    </a:ext>
                  </a:extLst>
                </a:gridCol>
                <a:gridCol w="1663014">
                  <a:extLst>
                    <a:ext uri="{9D8B030D-6E8A-4147-A177-3AD203B41FA5}">
                      <a16:colId xmlns:a16="http://schemas.microsoft.com/office/drawing/2014/main" val="1821848347"/>
                    </a:ext>
                  </a:extLst>
                </a:gridCol>
              </a:tblGrid>
              <a:tr h="833188">
                <a:tc>
                  <a:txBody>
                    <a:bodyPr/>
                    <a:lstStyle/>
                    <a:p>
                      <a:pPr lvl="0" algn="ctr">
                        <a:buNone/>
                      </a:pPr>
                      <a:r>
                        <a:rPr lang="de-DE" sz="2000" dirty="0">
                          <a:effectLst/>
                        </a:rPr>
                        <a:t>Variable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dirty="0">
                          <a:effectLst/>
                        </a:rPr>
                        <a:t>Type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dirty="0">
                          <a:effectLst/>
                        </a:rPr>
                        <a:t>Lower boundary</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dirty="0">
                          <a:effectLst/>
                        </a:rPr>
                        <a:t>Upper boundary</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dirty="0">
                          <a:effectLst/>
                        </a:rPr>
                        <a:t>Optimized value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dirty="0">
                          <a:effectLst/>
                        </a:rPr>
                        <a:t>Value before optimization</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dirty="0"/>
                        <a:t>Profit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3382985473"/>
                  </a:ext>
                </a:extLst>
              </a:tr>
              <a:tr h="833188">
                <a:tc>
                  <a:txBody>
                    <a:bodyPr/>
                    <a:lstStyle/>
                    <a:p>
                      <a:pPr algn="ctr">
                        <a:buNone/>
                      </a:pPr>
                      <a:r>
                        <a:rPr lang="de-DE" sz="2000" b="1" dirty="0">
                          <a:effectLst/>
                        </a:rPr>
                        <a:t>Heating water consumption (kg)</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Objective function</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30948</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66158</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53%</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1013959253"/>
                  </a:ext>
                </a:extLst>
              </a:tr>
              <a:tr h="578996">
                <a:tc>
                  <a:txBody>
                    <a:bodyPr/>
                    <a:lstStyle/>
                    <a:p>
                      <a:pPr algn="ctr">
                        <a:buNone/>
                      </a:pPr>
                      <a:r>
                        <a:rPr lang="de-DE" sz="2000" b="1" dirty="0">
                          <a:effectLst/>
                        </a:rPr>
                        <a:t>Heating water cost (USD h</a:t>
                      </a:r>
                      <a:r>
                        <a:rPr lang="de-DE" sz="2000" b="1" baseline="30000" dirty="0">
                          <a:effectLst/>
                        </a:rPr>
                        <a:t>-1</a:t>
                      </a:r>
                      <a:r>
                        <a:rPr lang="de-DE" sz="2000" b="1" baseline="0"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4.64</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9.92</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53%</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2440024128"/>
                  </a:ext>
                </a:extLst>
              </a:tr>
              <a:tr h="833188">
                <a:tc>
                  <a:txBody>
                    <a:bodyPr/>
                    <a:lstStyle/>
                    <a:p>
                      <a:pPr algn="ctr">
                        <a:buNone/>
                      </a:pPr>
                      <a:r>
                        <a:rPr lang="de-DE" sz="2000" b="1" dirty="0">
                          <a:effectLst/>
                        </a:rPr>
                        <a:t>Heater outlet temperature (°C)</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Decision variable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72</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80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72</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75</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405834303"/>
                  </a:ext>
                </a:extLst>
              </a:tr>
              <a:tr h="847310">
                <a:tc>
                  <a:txBody>
                    <a:bodyPr/>
                    <a:lstStyle/>
                    <a:p>
                      <a:pPr algn="ctr">
                        <a:buNone/>
                      </a:pPr>
                      <a:r>
                        <a:rPr lang="de-DE" sz="2000" b="1" dirty="0">
                          <a:effectLst/>
                        </a:rPr>
                        <a:t>Cooler outlet phosphatase concentration (units mL</a:t>
                      </a:r>
                      <a:r>
                        <a:rPr lang="de-DE" sz="2000" b="1" baseline="30000" dirty="0">
                          <a:effectLst/>
                        </a:rPr>
                        <a:t>-1</a:t>
                      </a:r>
                      <a:r>
                        <a:rPr lang="de-DE" sz="2000" b="1"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Restriction</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3.5×10</a:t>
                      </a:r>
                      <a:r>
                        <a:rPr lang="de-DE" sz="2000" b="0" baseline="30000">
                          <a:effectLst/>
                        </a:rPr>
                        <a:t>-4</a:t>
                      </a:r>
                      <a:endParaRPr lang="de-DE" sz="2000" b="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1.1×10</a:t>
                      </a:r>
                      <a:r>
                        <a:rPr lang="de-DE" sz="2000" b="0" baseline="30000">
                          <a:effectLst/>
                        </a:rPr>
                        <a:t>-6</a:t>
                      </a:r>
                      <a:endParaRPr lang="de-DE" sz="2000" b="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4.8×10</a:t>
                      </a:r>
                      <a:r>
                        <a:rPr lang="de-DE" sz="2000" b="0" baseline="30000">
                          <a:effectLst/>
                        </a:rPr>
                        <a:t>-10</a:t>
                      </a:r>
                      <a:endParaRPr lang="de-DE" sz="2000" b="0">
                        <a:effectLst/>
                      </a:endParaRP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Successful pasteurization</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3750274913"/>
                  </a:ext>
                </a:extLst>
              </a:tr>
              <a:tr h="621361">
                <a:tc>
                  <a:txBody>
                    <a:bodyPr/>
                    <a:lstStyle/>
                    <a:p>
                      <a:pPr algn="ctr">
                        <a:buNone/>
                      </a:pPr>
                      <a:r>
                        <a:rPr lang="el-GR" sz="2000" b="1" dirty="0">
                          <a:effectLst/>
                        </a:rPr>
                        <a:t>β-</a:t>
                      </a:r>
                      <a:r>
                        <a:rPr lang="de-DE" sz="2000" b="1" dirty="0">
                          <a:effectLst/>
                        </a:rPr>
                        <a:t>LG denaturation in holder (%)</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Restriction</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20</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13.2</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a:effectLst/>
                        </a:rPr>
                        <a:t>26.39</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algn="ctr">
                        <a:buNone/>
                      </a:pPr>
                      <a:r>
                        <a:rPr lang="de-DE" sz="2000" b="0" dirty="0">
                          <a:effectLst/>
                        </a:rPr>
                        <a: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3087875419"/>
                  </a:ext>
                </a:extLst>
              </a:tr>
            </a:tbl>
          </a:graphicData>
        </a:graphic>
      </p:graphicFrame>
      <p:sp>
        <p:nvSpPr>
          <p:cNvPr id="6" name="Textfeld 5">
            <a:extLst>
              <a:ext uri="{FF2B5EF4-FFF2-40B4-BE49-F238E27FC236}">
                <a16:creationId xmlns:a16="http://schemas.microsoft.com/office/drawing/2014/main" id="{0FCC7BEA-6AEF-4446-2B12-D396DD9C5A87}"/>
              </a:ext>
            </a:extLst>
          </p:cNvPr>
          <p:cNvSpPr txBox="1"/>
          <p:nvPr/>
        </p:nvSpPr>
        <p:spPr>
          <a:xfrm>
            <a:off x="648928" y="6011221"/>
            <a:ext cx="1107603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a:latin typeface="Calibri"/>
              </a:rPr>
              <a:t>Table </a:t>
            </a:r>
            <a:r>
              <a:rPr lang="en-US" sz="2000" dirty="0">
                <a:latin typeface="Calibri"/>
              </a:rPr>
              <a:t>4</a:t>
            </a:r>
            <a:r>
              <a:rPr lang="en-US" sz="2000" baseline="0" dirty="0">
                <a:latin typeface="Calibri"/>
              </a:rPr>
              <a:t>: </a:t>
            </a:r>
            <a:r>
              <a:rPr lang="en-US" sz="2000" dirty="0">
                <a:latin typeface="Calibri"/>
              </a:rPr>
              <a:t>Variables, distributions, initial and final values in the optimization of the pasteurization model</a:t>
            </a:r>
            <a:endParaRPr lang="en-US" sz="2000" dirty="0">
              <a:ea typeface="Calibri" panose="020F0502020204030204"/>
              <a:cs typeface="Calibri" panose="020F0502020204030204"/>
            </a:endParaRPr>
          </a:p>
        </p:txBody>
      </p:sp>
      <p:sp>
        <p:nvSpPr>
          <p:cNvPr id="7" name="Rechteck: abgerundete Ecken 6">
            <a:extLst>
              <a:ext uri="{FF2B5EF4-FFF2-40B4-BE49-F238E27FC236}">
                <a16:creationId xmlns:a16="http://schemas.microsoft.com/office/drawing/2014/main" id="{41F055FA-26BF-ABC7-54E6-64EB40184E66}"/>
              </a:ext>
            </a:extLst>
          </p:cNvPr>
          <p:cNvSpPr/>
          <p:nvPr/>
        </p:nvSpPr>
        <p:spPr>
          <a:xfrm>
            <a:off x="10466532" y="1834261"/>
            <a:ext cx="1436913" cy="134982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14323E31-9197-1C47-5681-1F7999FEC1CE}"/>
              </a:ext>
            </a:extLst>
          </p:cNvPr>
          <p:cNvSpPr/>
          <p:nvPr/>
        </p:nvSpPr>
        <p:spPr>
          <a:xfrm>
            <a:off x="7238831" y="3287327"/>
            <a:ext cx="805542" cy="696685"/>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42055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0F144-4CDA-529A-9821-D427D6C5800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0E86166-B89D-A796-8709-D3E9D530B6BF}"/>
              </a:ext>
            </a:extLst>
          </p:cNvPr>
          <p:cNvSpPr>
            <a:spLocks noGrp="1"/>
          </p:cNvSpPr>
          <p:nvPr>
            <p:ph type="sldNum" sz="quarter" idx="12"/>
          </p:nvPr>
        </p:nvSpPr>
        <p:spPr/>
        <p:txBody>
          <a:bodyPr/>
          <a:lstStyle/>
          <a:p>
            <a:fld id="{48F63A3B-78C7-47BE-AE5E-E10140E04643}" type="slidenum">
              <a:rPr lang="en-US" smtClean="0"/>
              <a:t>30</a:t>
            </a:fld>
            <a:r>
              <a:rPr lang="en-US" dirty="0"/>
              <a:t>/36</a:t>
            </a:r>
          </a:p>
        </p:txBody>
      </p:sp>
      <p:sp>
        <p:nvSpPr>
          <p:cNvPr id="8" name="Title 1">
            <a:extLst>
              <a:ext uri="{FF2B5EF4-FFF2-40B4-BE49-F238E27FC236}">
                <a16:creationId xmlns:a16="http://schemas.microsoft.com/office/drawing/2014/main" id="{730F035F-4512-21D6-541B-40157A69997D}"/>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6.2 Membrane filtration model-Optimization</a:t>
            </a:r>
          </a:p>
        </p:txBody>
      </p:sp>
      <p:graphicFrame>
        <p:nvGraphicFramePr>
          <p:cNvPr id="5" name="Tabelle 4">
            <a:extLst>
              <a:ext uri="{FF2B5EF4-FFF2-40B4-BE49-F238E27FC236}">
                <a16:creationId xmlns:a16="http://schemas.microsoft.com/office/drawing/2014/main" id="{42705349-8240-8F6E-FD14-EEC2B9BF8C16}"/>
              </a:ext>
            </a:extLst>
          </p:cNvPr>
          <p:cNvGraphicFramePr>
            <a:graphicFrameLocks noGrp="1"/>
          </p:cNvGraphicFramePr>
          <p:nvPr>
            <p:extLst>
              <p:ext uri="{D42A27DB-BD31-4B8C-83A1-F6EECF244321}">
                <p14:modId xmlns:p14="http://schemas.microsoft.com/office/powerpoint/2010/main" val="3615913352"/>
              </p:ext>
            </p:extLst>
          </p:nvPr>
        </p:nvGraphicFramePr>
        <p:xfrm>
          <a:off x="103239" y="1121228"/>
          <a:ext cx="11877765" cy="4129104"/>
        </p:xfrm>
        <a:graphic>
          <a:graphicData uri="http://schemas.openxmlformats.org/drawingml/2006/table">
            <a:tbl>
              <a:tblPr firstRow="1" firstCol="1" bandRow="1">
                <a:tableStyleId>{69012ECD-51FC-41F1-AA8D-1B2483CD663E}</a:tableStyleId>
              </a:tblPr>
              <a:tblGrid>
                <a:gridCol w="3716593">
                  <a:extLst>
                    <a:ext uri="{9D8B030D-6E8A-4147-A177-3AD203B41FA5}">
                      <a16:colId xmlns:a16="http://schemas.microsoft.com/office/drawing/2014/main" val="2699513667"/>
                    </a:ext>
                  </a:extLst>
                </a:gridCol>
                <a:gridCol w="1637071">
                  <a:extLst>
                    <a:ext uri="{9D8B030D-6E8A-4147-A177-3AD203B41FA5}">
                      <a16:colId xmlns:a16="http://schemas.microsoft.com/office/drawing/2014/main" val="2241873272"/>
                    </a:ext>
                  </a:extLst>
                </a:gridCol>
                <a:gridCol w="1238865">
                  <a:extLst>
                    <a:ext uri="{9D8B030D-6E8A-4147-A177-3AD203B41FA5}">
                      <a16:colId xmlns:a16="http://schemas.microsoft.com/office/drawing/2014/main" val="1272545725"/>
                    </a:ext>
                  </a:extLst>
                </a:gridCol>
                <a:gridCol w="1179871">
                  <a:extLst>
                    <a:ext uri="{9D8B030D-6E8A-4147-A177-3AD203B41FA5}">
                      <a16:colId xmlns:a16="http://schemas.microsoft.com/office/drawing/2014/main" val="1565127070"/>
                    </a:ext>
                  </a:extLst>
                </a:gridCol>
                <a:gridCol w="1386348">
                  <a:extLst>
                    <a:ext uri="{9D8B030D-6E8A-4147-A177-3AD203B41FA5}">
                      <a16:colId xmlns:a16="http://schemas.microsoft.com/office/drawing/2014/main" val="3273910756"/>
                    </a:ext>
                  </a:extLst>
                </a:gridCol>
                <a:gridCol w="1617934">
                  <a:extLst>
                    <a:ext uri="{9D8B030D-6E8A-4147-A177-3AD203B41FA5}">
                      <a16:colId xmlns:a16="http://schemas.microsoft.com/office/drawing/2014/main" val="687457003"/>
                    </a:ext>
                  </a:extLst>
                </a:gridCol>
                <a:gridCol w="1101083">
                  <a:extLst>
                    <a:ext uri="{9D8B030D-6E8A-4147-A177-3AD203B41FA5}">
                      <a16:colId xmlns:a16="http://schemas.microsoft.com/office/drawing/2014/main" val="4294448758"/>
                    </a:ext>
                  </a:extLst>
                </a:gridCol>
              </a:tblGrid>
              <a:tr h="1035683">
                <a:tc>
                  <a:txBody>
                    <a:bodyPr/>
                    <a:lstStyle/>
                    <a:p>
                      <a:pPr lvl="0" algn="ctr">
                        <a:buNone/>
                      </a:pPr>
                      <a:r>
                        <a:rPr lang="de-DE" sz="2000" dirty="0">
                          <a:effectLst/>
                        </a:rPr>
                        <a:t>Variable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Type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Lower boundary</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Upper boundary</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Optimized value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Value before optimization</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dirty="0"/>
                        <a:t>Profit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2371912668"/>
                  </a:ext>
                </a:extLst>
              </a:tr>
              <a:tr h="613233">
                <a:tc>
                  <a:txBody>
                    <a:bodyPr/>
                    <a:lstStyle/>
                    <a:p>
                      <a:pPr algn="ctr">
                        <a:buNone/>
                      </a:pPr>
                      <a:r>
                        <a:rPr lang="de-DE" sz="2000" dirty="0">
                          <a:effectLst/>
                        </a:rPr>
                        <a:t>Diafiltration water consumption (kg)</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Objective function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a:effectLst/>
                        </a:rPr>
                        <a:t>2262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a:effectLst/>
                        </a:rPr>
                        <a:t>3776</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a:effectLst/>
                        </a:rPr>
                        <a:t>40%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extLst>
                  <a:ext uri="{0D108BD9-81ED-4DB2-BD59-A6C34878D82A}">
                    <a16:rowId xmlns:a16="http://schemas.microsoft.com/office/drawing/2014/main" val="776498289"/>
                  </a:ext>
                </a:extLst>
              </a:tr>
              <a:tr h="327058">
                <a:tc>
                  <a:txBody>
                    <a:bodyPr/>
                    <a:lstStyle/>
                    <a:p>
                      <a:pPr algn="ctr">
                        <a:buNone/>
                      </a:pPr>
                      <a:r>
                        <a:rPr lang="de-DE" sz="2000" dirty="0">
                          <a:effectLst/>
                        </a:rPr>
                        <a:t>Diafiltration water cost (USD h</a:t>
                      </a:r>
                      <a:r>
                        <a:rPr lang="de-DE" sz="2000" baseline="30000" dirty="0">
                          <a:effectLst/>
                        </a:rPr>
                        <a:t>-1</a:t>
                      </a:r>
                      <a:r>
                        <a:rPr lang="de-DE" sz="2000" baseline="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0.22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0.36</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40%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116605441"/>
                  </a:ext>
                </a:extLst>
              </a:tr>
              <a:tr h="613233">
                <a:tc>
                  <a:txBody>
                    <a:bodyPr/>
                    <a:lstStyle/>
                    <a:p>
                      <a:pPr lvl="0" algn="ctr">
                        <a:buNone/>
                      </a:pPr>
                      <a:r>
                        <a:rPr lang="de-DE" sz="2000" b="1" i="0" u="none" strike="noStrike" noProof="0" dirty="0">
                          <a:solidFill>
                            <a:srgbClr val="000000"/>
                          </a:solidFill>
                          <a:effectLst/>
                          <a:latin typeface="+mn-lt"/>
                        </a:rPr>
                        <a:t>Separation fraction in stage 1</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Decision 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0.33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96096034"/>
                  </a:ext>
                </a:extLst>
              </a:tr>
              <a:tr h="613233">
                <a:tc>
                  <a:txBody>
                    <a:bodyPr/>
                    <a:lstStyle/>
                    <a:p>
                      <a:pPr lvl="0" algn="ctr">
                        <a:buNone/>
                      </a:pPr>
                      <a:r>
                        <a:rPr lang="de-DE" sz="2000" b="1" i="0" u="none" strike="noStrike" noProof="0" dirty="0">
                          <a:solidFill>
                            <a:srgbClr val="000000"/>
                          </a:solidFill>
                          <a:effectLst/>
                          <a:latin typeface="+mn-lt"/>
                        </a:rPr>
                        <a:t>Separation fraction in stage 2</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Decision 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0.33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169691469"/>
                  </a:ext>
                </a:extLst>
              </a:tr>
              <a:tr h="613233">
                <a:tc>
                  <a:txBody>
                    <a:bodyPr/>
                    <a:lstStyle/>
                    <a:p>
                      <a:pPr lvl="0" algn="ctr">
                        <a:buNone/>
                      </a:pPr>
                      <a:r>
                        <a:rPr lang="de-DE" sz="2000" b="1" i="0" u="none" strike="noStrike" noProof="0" dirty="0">
                          <a:solidFill>
                            <a:srgbClr val="000000"/>
                          </a:solidFill>
                          <a:effectLst/>
                          <a:latin typeface="Calibri"/>
                        </a:rPr>
                        <a:t>Separation fraction in stage </a:t>
                      </a:r>
                      <a:r>
                        <a:rPr lang="de-DE" sz="2000" dirty="0">
                          <a:effectLst/>
                        </a:rPr>
                        <a:t>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Decision 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0.33</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12688306"/>
                  </a:ext>
                </a:extLst>
              </a:tr>
              <a:tr h="313431">
                <a:tc>
                  <a:txBody>
                    <a:bodyPr/>
                    <a:lstStyle/>
                    <a:p>
                      <a:pPr lvl="0" algn="ctr">
                        <a:buNone/>
                      </a:pPr>
                      <a:r>
                        <a:rPr lang="de-DE" sz="2000" dirty="0">
                          <a:effectLst/>
                        </a:rPr>
                        <a:t>Casein mass fraction in retentate</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Restriction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0.1 </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0.129</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a:effectLst/>
                        </a:rPr>
                        <a:t>0.128</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1458012104"/>
                  </a:ext>
                </a:extLst>
              </a:tr>
            </a:tbl>
          </a:graphicData>
        </a:graphic>
      </p:graphicFrame>
      <p:sp>
        <p:nvSpPr>
          <p:cNvPr id="3" name="Textfeld 2">
            <a:extLst>
              <a:ext uri="{FF2B5EF4-FFF2-40B4-BE49-F238E27FC236}">
                <a16:creationId xmlns:a16="http://schemas.microsoft.com/office/drawing/2014/main" id="{8FDC9CE6-52A3-D02A-41A1-4D707F637E8E}"/>
              </a:ext>
            </a:extLst>
          </p:cNvPr>
          <p:cNvSpPr txBox="1"/>
          <p:nvPr/>
        </p:nvSpPr>
        <p:spPr>
          <a:xfrm>
            <a:off x="224432" y="5545839"/>
            <a:ext cx="1175657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a:latin typeface="Calibri"/>
              </a:rPr>
              <a:t>Table </a:t>
            </a:r>
            <a:r>
              <a:rPr lang="en-US" sz="2000" dirty="0">
                <a:latin typeface="Calibri"/>
              </a:rPr>
              <a:t>5</a:t>
            </a:r>
            <a:r>
              <a:rPr lang="en-US" sz="2000" baseline="0" dirty="0">
                <a:latin typeface="Calibri"/>
              </a:rPr>
              <a:t>: </a:t>
            </a:r>
            <a:r>
              <a:rPr lang="en-US" sz="2000" dirty="0"/>
              <a:t>Variables, distributions, initial and final values in the optimization of the membrane filtration model</a:t>
            </a:r>
            <a:endParaRPr lang="en-US" sz="2000" dirty="0">
              <a:ea typeface="Calibri" panose="020F0502020204030204"/>
              <a:cs typeface="Calibri" panose="020F0502020204030204"/>
            </a:endParaRPr>
          </a:p>
        </p:txBody>
      </p:sp>
      <p:sp>
        <p:nvSpPr>
          <p:cNvPr id="6" name="Rechteck: abgerundete Ecken 5">
            <a:extLst>
              <a:ext uri="{FF2B5EF4-FFF2-40B4-BE49-F238E27FC236}">
                <a16:creationId xmlns:a16="http://schemas.microsoft.com/office/drawing/2014/main" id="{2E81B6CC-CE20-4B9D-DC05-563569D15DF4}"/>
              </a:ext>
            </a:extLst>
          </p:cNvPr>
          <p:cNvSpPr/>
          <p:nvPr/>
        </p:nvSpPr>
        <p:spPr>
          <a:xfrm>
            <a:off x="10867362" y="2243118"/>
            <a:ext cx="1113642" cy="95728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86542BC8-AE51-167C-EF23-47F235F0041E}"/>
              </a:ext>
            </a:extLst>
          </p:cNvPr>
          <p:cNvSpPr/>
          <p:nvPr/>
        </p:nvSpPr>
        <p:spPr>
          <a:xfrm>
            <a:off x="8190082" y="4317876"/>
            <a:ext cx="628732" cy="58782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5124090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58B7B-2FE8-80FC-2DF0-2DB87E8EB36B}"/>
            </a:ext>
          </a:extLst>
        </p:cNvPr>
        <p:cNvGrpSpPr/>
        <p:nvPr/>
      </p:nvGrpSpPr>
      <p:grpSpPr>
        <a:xfrm>
          <a:off x="0" y="0"/>
          <a:ext cx="0" cy="0"/>
          <a:chOff x="0" y="0"/>
          <a:chExt cx="0" cy="0"/>
        </a:xfrm>
      </p:grpSpPr>
      <p:sp>
        <p:nvSpPr>
          <p:cNvPr id="7" name="Rechteck 6">
            <a:extLst>
              <a:ext uri="{FF2B5EF4-FFF2-40B4-BE49-F238E27FC236}">
                <a16:creationId xmlns:a16="http://schemas.microsoft.com/office/drawing/2014/main" id="{BEC00264-1969-DD60-B616-0C534E270194}"/>
              </a:ext>
            </a:extLst>
          </p:cNvPr>
          <p:cNvSpPr/>
          <p:nvPr/>
        </p:nvSpPr>
        <p:spPr>
          <a:xfrm>
            <a:off x="1255975" y="1684851"/>
            <a:ext cx="9476550" cy="317905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Slide Number Placeholder 3">
            <a:extLst>
              <a:ext uri="{FF2B5EF4-FFF2-40B4-BE49-F238E27FC236}">
                <a16:creationId xmlns:a16="http://schemas.microsoft.com/office/drawing/2014/main" id="{4E3A2348-58CC-F77B-DEEE-45A655BD7BD1}"/>
              </a:ext>
            </a:extLst>
          </p:cNvPr>
          <p:cNvSpPr>
            <a:spLocks noGrp="1"/>
          </p:cNvSpPr>
          <p:nvPr>
            <p:ph type="sldNum" sz="quarter" idx="12"/>
          </p:nvPr>
        </p:nvSpPr>
        <p:spPr/>
        <p:txBody>
          <a:bodyPr/>
          <a:lstStyle/>
          <a:p>
            <a:fld id="{48F63A3B-78C7-47BE-AE5E-E10140E04643}" type="slidenum">
              <a:rPr lang="en-US" smtClean="0"/>
              <a:t>31</a:t>
            </a:fld>
            <a:r>
              <a:rPr lang="en-US" dirty="0"/>
              <a:t>/36</a:t>
            </a:r>
          </a:p>
        </p:txBody>
      </p:sp>
      <p:sp>
        <p:nvSpPr>
          <p:cNvPr id="8" name="Title 1">
            <a:extLst>
              <a:ext uri="{FF2B5EF4-FFF2-40B4-BE49-F238E27FC236}">
                <a16:creationId xmlns:a16="http://schemas.microsoft.com/office/drawing/2014/main" id="{F902198E-FAA7-829E-71BB-E0C8817DA6C2}"/>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6.3.1 Integrated model-Objective function</a:t>
            </a:r>
          </a:p>
        </p:txBody>
      </p:sp>
      <p:pic>
        <p:nvPicPr>
          <p:cNvPr id="5" name="Grafik 4" descr="Ein Bild, das Text, Screenshot, Schrift, Reihe enthält.&#10;&#10;KI-generierte Inhalte können fehlerhaft sein.">
            <a:extLst>
              <a:ext uri="{FF2B5EF4-FFF2-40B4-BE49-F238E27FC236}">
                <a16:creationId xmlns:a16="http://schemas.microsoft.com/office/drawing/2014/main" id="{CB1CB1AF-5206-D2C8-E995-F2F03BD45FD9}"/>
              </a:ext>
            </a:extLst>
          </p:cNvPr>
          <p:cNvPicPr>
            <a:picLocks noChangeAspect="1"/>
          </p:cNvPicPr>
          <p:nvPr/>
        </p:nvPicPr>
        <p:blipFill>
          <a:blip r:embed="rId3"/>
          <a:srcRect l="1110" t="410" r="948" b="269"/>
          <a:stretch>
            <a:fillRect/>
          </a:stretch>
        </p:blipFill>
        <p:spPr>
          <a:xfrm>
            <a:off x="1328165" y="1911805"/>
            <a:ext cx="8645295" cy="2635374"/>
          </a:xfrm>
          <a:prstGeom prst="rect">
            <a:avLst/>
          </a:prstGeom>
        </p:spPr>
      </p:pic>
      <p:pic>
        <p:nvPicPr>
          <p:cNvPr id="6" name="Grafik 5" descr="Ein Bild, das Schrift, Symbol, Grafiken, Typografie enthält.&#10;&#10;KI-generierte Inhalte können fehlerhaft sein.">
            <a:extLst>
              <a:ext uri="{FF2B5EF4-FFF2-40B4-BE49-F238E27FC236}">
                <a16:creationId xmlns:a16="http://schemas.microsoft.com/office/drawing/2014/main" id="{8139493B-41ED-DC40-500D-5B5B3FAD3046}"/>
              </a:ext>
            </a:extLst>
          </p:cNvPr>
          <p:cNvPicPr>
            <a:picLocks noChangeAspect="1"/>
          </p:cNvPicPr>
          <p:nvPr/>
        </p:nvPicPr>
        <p:blipFill>
          <a:blip r:embed="rId4"/>
          <a:srcRect r="1182" b="8108"/>
          <a:stretch>
            <a:fillRect/>
          </a:stretch>
        </p:blipFill>
        <p:spPr>
          <a:xfrm>
            <a:off x="10135282" y="4060300"/>
            <a:ext cx="590294" cy="338857"/>
          </a:xfrm>
          <a:prstGeom prst="rect">
            <a:avLst/>
          </a:prstGeom>
        </p:spPr>
      </p:pic>
    </p:spTree>
    <p:extLst>
      <p:ext uri="{BB962C8B-B14F-4D97-AF65-F5344CB8AC3E}">
        <p14:creationId xmlns:p14="http://schemas.microsoft.com/office/powerpoint/2010/main" val="3548933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A8E94-02A3-DB6C-FF65-4550068AFF8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BD99F3-B8AA-BDE5-FD42-BEA3029C8B06}"/>
              </a:ext>
            </a:extLst>
          </p:cNvPr>
          <p:cNvSpPr>
            <a:spLocks noGrp="1"/>
          </p:cNvSpPr>
          <p:nvPr>
            <p:ph type="sldNum" sz="quarter" idx="12"/>
          </p:nvPr>
        </p:nvSpPr>
        <p:spPr/>
        <p:txBody>
          <a:bodyPr/>
          <a:lstStyle/>
          <a:p>
            <a:fld id="{48F63A3B-78C7-47BE-AE5E-E10140E04643}" type="slidenum">
              <a:rPr lang="en-US" smtClean="0"/>
              <a:t>32</a:t>
            </a:fld>
            <a:r>
              <a:rPr lang="en-US" dirty="0"/>
              <a:t>/36</a:t>
            </a:r>
          </a:p>
        </p:txBody>
      </p:sp>
      <p:sp>
        <p:nvSpPr>
          <p:cNvPr id="8" name="Title 1">
            <a:extLst>
              <a:ext uri="{FF2B5EF4-FFF2-40B4-BE49-F238E27FC236}">
                <a16:creationId xmlns:a16="http://schemas.microsoft.com/office/drawing/2014/main" id="{740222E9-7139-AE88-D708-B4D9BFDA7623}"/>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6.3.2 Integrated model-Optimization (1/2)</a:t>
            </a:r>
          </a:p>
        </p:txBody>
      </p:sp>
      <p:graphicFrame>
        <p:nvGraphicFramePr>
          <p:cNvPr id="5" name="Tabelle 4">
            <a:extLst>
              <a:ext uri="{FF2B5EF4-FFF2-40B4-BE49-F238E27FC236}">
                <a16:creationId xmlns:a16="http://schemas.microsoft.com/office/drawing/2014/main" id="{FB88F352-B96D-0121-19CF-5196FFA65A6C}"/>
              </a:ext>
            </a:extLst>
          </p:cNvPr>
          <p:cNvGraphicFramePr>
            <a:graphicFrameLocks noGrp="1"/>
          </p:cNvGraphicFramePr>
          <p:nvPr>
            <p:extLst>
              <p:ext uri="{D42A27DB-BD31-4B8C-83A1-F6EECF244321}">
                <p14:modId xmlns:p14="http://schemas.microsoft.com/office/powerpoint/2010/main" val="778729596"/>
              </p:ext>
            </p:extLst>
          </p:nvPr>
        </p:nvGraphicFramePr>
        <p:xfrm>
          <a:off x="108857" y="827314"/>
          <a:ext cx="11928974" cy="4671286"/>
        </p:xfrm>
        <a:graphic>
          <a:graphicData uri="http://schemas.openxmlformats.org/drawingml/2006/table">
            <a:tbl>
              <a:tblPr firstRow="1" firstCol="1" bandRow="1">
                <a:tableStyleId>{69012ECD-51FC-41F1-AA8D-1B2483CD663E}</a:tableStyleId>
              </a:tblPr>
              <a:tblGrid>
                <a:gridCol w="3504498">
                  <a:extLst>
                    <a:ext uri="{9D8B030D-6E8A-4147-A177-3AD203B41FA5}">
                      <a16:colId xmlns:a16="http://schemas.microsoft.com/office/drawing/2014/main" val="1105387782"/>
                    </a:ext>
                  </a:extLst>
                </a:gridCol>
                <a:gridCol w="1820191">
                  <a:extLst>
                    <a:ext uri="{9D8B030D-6E8A-4147-A177-3AD203B41FA5}">
                      <a16:colId xmlns:a16="http://schemas.microsoft.com/office/drawing/2014/main" val="4248975382"/>
                    </a:ext>
                  </a:extLst>
                </a:gridCol>
                <a:gridCol w="1306467">
                  <a:extLst>
                    <a:ext uri="{9D8B030D-6E8A-4147-A177-3AD203B41FA5}">
                      <a16:colId xmlns:a16="http://schemas.microsoft.com/office/drawing/2014/main" val="687664231"/>
                    </a:ext>
                  </a:extLst>
                </a:gridCol>
                <a:gridCol w="1312606">
                  <a:extLst>
                    <a:ext uri="{9D8B030D-6E8A-4147-A177-3AD203B41FA5}">
                      <a16:colId xmlns:a16="http://schemas.microsoft.com/office/drawing/2014/main" val="1873999438"/>
                    </a:ext>
                  </a:extLst>
                </a:gridCol>
                <a:gridCol w="1578078">
                  <a:extLst>
                    <a:ext uri="{9D8B030D-6E8A-4147-A177-3AD203B41FA5}">
                      <a16:colId xmlns:a16="http://schemas.microsoft.com/office/drawing/2014/main" val="2033022175"/>
                    </a:ext>
                  </a:extLst>
                </a:gridCol>
                <a:gridCol w="1519084">
                  <a:extLst>
                    <a:ext uri="{9D8B030D-6E8A-4147-A177-3AD203B41FA5}">
                      <a16:colId xmlns:a16="http://schemas.microsoft.com/office/drawing/2014/main" val="2501130996"/>
                    </a:ext>
                  </a:extLst>
                </a:gridCol>
                <a:gridCol w="888050">
                  <a:extLst>
                    <a:ext uri="{9D8B030D-6E8A-4147-A177-3AD203B41FA5}">
                      <a16:colId xmlns:a16="http://schemas.microsoft.com/office/drawing/2014/main" val="2422951579"/>
                    </a:ext>
                  </a:extLst>
                </a:gridCol>
              </a:tblGrid>
              <a:tr h="822542">
                <a:tc>
                  <a:txBody>
                    <a:bodyPr/>
                    <a:lstStyle/>
                    <a:p>
                      <a:pPr lvl="0" algn="ctr">
                        <a:buNone/>
                      </a:pPr>
                      <a:r>
                        <a:rPr lang="de-DE" sz="2000" dirty="0">
                          <a:effectLst/>
                        </a:rPr>
                        <a:t>Variable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Type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Lower boundary</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Upper boundary</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Optimized value</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sz="2000" dirty="0">
                          <a:effectLst/>
                        </a:rPr>
                        <a:t>Value before optimization</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tc>
                  <a:txBody>
                    <a:bodyPr/>
                    <a:lstStyle/>
                    <a:p>
                      <a:pPr lvl="0" algn="ctr">
                        <a:buNone/>
                      </a:pPr>
                      <a:r>
                        <a:rPr lang="de-DE" dirty="0"/>
                        <a:t>Profit</a:t>
                      </a:r>
                    </a:p>
                  </a:txBody>
                  <a:tcPr marL="66675" marR="66675" marT="0" marB="0" anchor="ctr">
                    <a:lnL w="3175">
                      <a:solidFill>
                        <a:schemeClr val="accent1">
                          <a:lumMod val="60000"/>
                          <a:lumOff val="40000"/>
                        </a:schemeClr>
                      </a:solidFill>
                    </a:lnL>
                    <a:lnR w="3175">
                      <a:solidFill>
                        <a:schemeClr val="accent1">
                          <a:lumMod val="60000"/>
                          <a:lumOff val="40000"/>
                        </a:schemeClr>
                      </a:solidFill>
                    </a:lnR>
                    <a:lnT w="3175">
                      <a:solidFill>
                        <a:schemeClr val="accent1">
                          <a:lumMod val="60000"/>
                          <a:lumOff val="40000"/>
                        </a:schemeClr>
                      </a:solidFill>
                    </a:lnT>
                    <a:lnB w="3175">
                      <a:solidFill>
                        <a:schemeClr val="accent1">
                          <a:lumMod val="60000"/>
                          <a:lumOff val="40000"/>
                        </a:schemeClr>
                      </a:solidFill>
                    </a:lnB>
                  </a:tcPr>
                </a:tc>
                <a:extLst>
                  <a:ext uri="{0D108BD9-81ED-4DB2-BD59-A6C34878D82A}">
                    <a16:rowId xmlns:a16="http://schemas.microsoft.com/office/drawing/2014/main" val="2831765191"/>
                  </a:ext>
                </a:extLst>
              </a:tr>
              <a:tr h="483849">
                <a:tc>
                  <a:txBody>
                    <a:bodyPr/>
                    <a:lstStyle/>
                    <a:p>
                      <a:pPr algn="ctr">
                        <a:buNone/>
                      </a:pPr>
                      <a:r>
                        <a:rPr lang="de-DE" sz="2000" dirty="0">
                          <a:effectLst/>
                        </a:rPr>
                        <a:t>Objective function (USD) (equation 30)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lvl="0" algn="ctr">
                        <a:buNone/>
                      </a:pPr>
                      <a:r>
                        <a:rPr lang="de-DE" dirty="0"/>
                        <a:t>Objective function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2240.66</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1985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tc>
                  <a:txBody>
                    <a:bodyPr/>
                    <a:lstStyle/>
                    <a:p>
                      <a:pPr algn="ctr">
                        <a:buNone/>
                      </a:pPr>
                      <a:r>
                        <a:rPr lang="de-DE" sz="2000" dirty="0">
                          <a:effectLst/>
                        </a:rPr>
                        <a:t>12.9%</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3175" cap="flat" cmpd="sng" algn="ctr">
                      <a:solidFill>
                        <a:schemeClr val="accent1">
                          <a:lumMod val="60000"/>
                          <a:lumOff val="40000"/>
                        </a:schemeClr>
                      </a:solidFill>
                      <a:prstDash val="solid"/>
                      <a:round/>
                      <a:headEnd type="none" w="med" len="med"/>
                      <a:tailEnd type="none" w="med" len="med"/>
                    </a:lnT>
                    <a:lnB w="12700">
                      <a:solidFill>
                        <a:schemeClr val="accent1">
                          <a:lumMod val="60000"/>
                          <a:lumOff val="40000"/>
                        </a:schemeClr>
                      </a:solidFill>
                    </a:lnB>
                  </a:tcPr>
                </a:tc>
                <a:extLst>
                  <a:ext uri="{0D108BD9-81ED-4DB2-BD59-A6C34878D82A}">
                    <a16:rowId xmlns:a16="http://schemas.microsoft.com/office/drawing/2014/main" val="1727064412"/>
                  </a:ext>
                </a:extLst>
              </a:tr>
              <a:tr h="495944">
                <a:tc>
                  <a:txBody>
                    <a:bodyPr/>
                    <a:lstStyle/>
                    <a:p>
                      <a:pPr algn="ctr">
                        <a:buNone/>
                      </a:pPr>
                      <a:r>
                        <a:rPr lang="de-DE" sz="2000" dirty="0">
                          <a:effectLst/>
                        </a:rPr>
                        <a:t>Retentate flow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424</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348</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21.8%</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084128811"/>
                  </a:ext>
                </a:extLst>
              </a:tr>
              <a:tr h="241923">
                <a:tc>
                  <a:txBody>
                    <a:bodyPr/>
                    <a:lstStyle/>
                    <a:p>
                      <a:pPr algn="ctr">
                        <a:buNone/>
                      </a:pPr>
                      <a:r>
                        <a:rPr lang="de-DE" sz="2000" dirty="0">
                          <a:effectLst/>
                        </a:rPr>
                        <a:t>Simulation duration (h)</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9.57</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1956507286"/>
                  </a:ext>
                </a:extLst>
              </a:tr>
              <a:tr h="483849">
                <a:tc>
                  <a:txBody>
                    <a:bodyPr/>
                    <a:lstStyle/>
                    <a:p>
                      <a:pPr algn="ctr">
                        <a:buNone/>
                      </a:pPr>
                      <a:r>
                        <a:rPr lang="de-DE" sz="2000" dirty="0">
                          <a:effectLst/>
                        </a:rPr>
                        <a:t>Feed flow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Decision 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500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2500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1930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1700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78256653"/>
                  </a:ext>
                </a:extLst>
              </a:tr>
              <a:tr h="495944">
                <a:tc>
                  <a:txBody>
                    <a:bodyPr/>
                    <a:lstStyle/>
                    <a:p>
                      <a:pPr algn="ctr">
                        <a:buNone/>
                      </a:pPr>
                      <a:r>
                        <a:rPr lang="de-DE" sz="2000" dirty="0">
                          <a:effectLst/>
                        </a:rPr>
                        <a:t>Heating water flow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Decision 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9000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9000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3095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38163168"/>
                  </a:ext>
                </a:extLst>
              </a:tr>
              <a:tr h="483849">
                <a:tc>
                  <a:txBody>
                    <a:bodyPr/>
                    <a:lstStyle/>
                    <a:p>
                      <a:pPr algn="ctr">
                        <a:buNone/>
                      </a:pPr>
                      <a:r>
                        <a:rPr lang="de-DE" sz="2000" dirty="0">
                          <a:effectLst/>
                        </a:rPr>
                        <a:t>Colling water flow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Decision 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1500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4000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1854</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2278</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18.6%</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665431402"/>
                  </a:ext>
                </a:extLst>
              </a:tr>
              <a:tr h="495944">
                <a:tc>
                  <a:txBody>
                    <a:bodyPr/>
                    <a:lstStyle/>
                    <a:p>
                      <a:pPr algn="ctr">
                        <a:buNone/>
                      </a:pPr>
                      <a:r>
                        <a:rPr lang="de-DE" sz="2000" dirty="0">
                          <a:effectLst/>
                        </a:rPr>
                        <a:t>Diafiltration water flow (kg h</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Decision 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221</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226</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3196300824"/>
                  </a:ext>
                </a:extLst>
              </a:tr>
            </a:tbl>
          </a:graphicData>
        </a:graphic>
      </p:graphicFrame>
      <p:sp>
        <p:nvSpPr>
          <p:cNvPr id="3" name="Textfeld 2">
            <a:extLst>
              <a:ext uri="{FF2B5EF4-FFF2-40B4-BE49-F238E27FC236}">
                <a16:creationId xmlns:a16="http://schemas.microsoft.com/office/drawing/2014/main" id="{97A26DAE-125D-1085-478C-83FFA6CFF96D}"/>
              </a:ext>
            </a:extLst>
          </p:cNvPr>
          <p:cNvSpPr txBox="1"/>
          <p:nvPr/>
        </p:nvSpPr>
        <p:spPr>
          <a:xfrm>
            <a:off x="838200" y="5874418"/>
            <a:ext cx="105156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a:latin typeface="Calibri"/>
              </a:rPr>
              <a:t>Table </a:t>
            </a:r>
            <a:r>
              <a:rPr lang="en-US" sz="2000" dirty="0">
                <a:latin typeface="Calibri"/>
              </a:rPr>
              <a:t>6</a:t>
            </a:r>
            <a:r>
              <a:rPr lang="en-US" sz="2000" baseline="0" dirty="0">
                <a:latin typeface="Calibri"/>
              </a:rPr>
              <a:t>: </a:t>
            </a:r>
            <a:r>
              <a:rPr lang="en-US" sz="2000" dirty="0"/>
              <a:t>Variables, distributions, initial and final values in the optimization of the integrated model</a:t>
            </a:r>
            <a:endParaRPr lang="en-US" sz="2000" dirty="0">
              <a:ea typeface="Calibri" panose="020F0502020204030204"/>
              <a:cs typeface="Calibri" panose="020F0502020204030204"/>
            </a:endParaRPr>
          </a:p>
          <a:p>
            <a:pPr algn="ctr"/>
            <a:endParaRPr lang="de-DE" dirty="0"/>
          </a:p>
        </p:txBody>
      </p:sp>
      <p:sp>
        <p:nvSpPr>
          <p:cNvPr id="6" name="Rechteck: abgerundete Ecken 5">
            <a:extLst>
              <a:ext uri="{FF2B5EF4-FFF2-40B4-BE49-F238E27FC236}">
                <a16:creationId xmlns:a16="http://schemas.microsoft.com/office/drawing/2014/main" id="{A452145C-FA91-50A6-7019-3947744B8195}"/>
              </a:ext>
            </a:extLst>
          </p:cNvPr>
          <p:cNvSpPr/>
          <p:nvPr/>
        </p:nvSpPr>
        <p:spPr>
          <a:xfrm>
            <a:off x="11149780" y="1718137"/>
            <a:ext cx="886489" cy="508869"/>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abgerundete Ecken 8">
            <a:extLst>
              <a:ext uri="{FF2B5EF4-FFF2-40B4-BE49-F238E27FC236}">
                <a16:creationId xmlns:a16="http://schemas.microsoft.com/office/drawing/2014/main" id="{7C1B9D22-5BB2-9466-3E30-98ABFA1778B3}"/>
              </a:ext>
            </a:extLst>
          </p:cNvPr>
          <p:cNvSpPr/>
          <p:nvPr/>
        </p:nvSpPr>
        <p:spPr>
          <a:xfrm>
            <a:off x="8206021" y="2725029"/>
            <a:ext cx="2722534" cy="370421"/>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898387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0D6EB-EF09-6DDA-5BE4-14E12F8FC54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8ED649-9C18-3C35-5644-9BFCAA1D8574}"/>
              </a:ext>
            </a:extLst>
          </p:cNvPr>
          <p:cNvSpPr>
            <a:spLocks noGrp="1"/>
          </p:cNvSpPr>
          <p:nvPr>
            <p:ph type="sldNum" sz="quarter" idx="12"/>
          </p:nvPr>
        </p:nvSpPr>
        <p:spPr/>
        <p:txBody>
          <a:bodyPr/>
          <a:lstStyle/>
          <a:p>
            <a:fld id="{48F63A3B-78C7-47BE-AE5E-E10140E04643}" type="slidenum">
              <a:rPr lang="en-US" smtClean="0"/>
              <a:t>33</a:t>
            </a:fld>
            <a:r>
              <a:rPr lang="en-US" dirty="0"/>
              <a:t>/36</a:t>
            </a:r>
          </a:p>
        </p:txBody>
      </p:sp>
      <p:sp>
        <p:nvSpPr>
          <p:cNvPr id="8" name="Title 1">
            <a:extLst>
              <a:ext uri="{FF2B5EF4-FFF2-40B4-BE49-F238E27FC236}">
                <a16:creationId xmlns:a16="http://schemas.microsoft.com/office/drawing/2014/main" id="{0B95072D-1538-B9C6-7F9D-AA5194011B74}"/>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6.3.2 Integrated model-Optimization (2/2)</a:t>
            </a:r>
          </a:p>
        </p:txBody>
      </p:sp>
      <p:graphicFrame>
        <p:nvGraphicFramePr>
          <p:cNvPr id="5" name="Tabelle 4">
            <a:extLst>
              <a:ext uri="{FF2B5EF4-FFF2-40B4-BE49-F238E27FC236}">
                <a16:creationId xmlns:a16="http://schemas.microsoft.com/office/drawing/2014/main" id="{5EF8587C-3FAB-7E6C-10DD-D3E79D30B120}"/>
              </a:ext>
            </a:extLst>
          </p:cNvPr>
          <p:cNvGraphicFramePr>
            <a:graphicFrameLocks noGrp="1"/>
          </p:cNvGraphicFramePr>
          <p:nvPr>
            <p:extLst>
              <p:ext uri="{D42A27DB-BD31-4B8C-83A1-F6EECF244321}">
                <p14:modId xmlns:p14="http://schemas.microsoft.com/office/powerpoint/2010/main" val="2496332796"/>
              </p:ext>
            </p:extLst>
          </p:nvPr>
        </p:nvGraphicFramePr>
        <p:xfrm>
          <a:off x="293693" y="1204719"/>
          <a:ext cx="11604613" cy="4448562"/>
        </p:xfrm>
        <a:graphic>
          <a:graphicData uri="http://schemas.openxmlformats.org/drawingml/2006/table">
            <a:tbl>
              <a:tblPr firstRow="1" firstCol="1" bandRow="1">
                <a:tableStyleId>{69012ECD-51FC-41F1-AA8D-1B2483CD663E}</a:tableStyleId>
              </a:tblPr>
              <a:tblGrid>
                <a:gridCol w="3469079">
                  <a:extLst>
                    <a:ext uri="{9D8B030D-6E8A-4147-A177-3AD203B41FA5}">
                      <a16:colId xmlns:a16="http://schemas.microsoft.com/office/drawing/2014/main" val="1105387782"/>
                    </a:ext>
                  </a:extLst>
                </a:gridCol>
                <a:gridCol w="1342103">
                  <a:extLst>
                    <a:ext uri="{9D8B030D-6E8A-4147-A177-3AD203B41FA5}">
                      <a16:colId xmlns:a16="http://schemas.microsoft.com/office/drawing/2014/main" val="4248975382"/>
                    </a:ext>
                  </a:extLst>
                </a:gridCol>
                <a:gridCol w="1209368">
                  <a:extLst>
                    <a:ext uri="{9D8B030D-6E8A-4147-A177-3AD203B41FA5}">
                      <a16:colId xmlns:a16="http://schemas.microsoft.com/office/drawing/2014/main" val="687664231"/>
                    </a:ext>
                  </a:extLst>
                </a:gridCol>
                <a:gridCol w="1194619">
                  <a:extLst>
                    <a:ext uri="{9D8B030D-6E8A-4147-A177-3AD203B41FA5}">
                      <a16:colId xmlns:a16="http://schemas.microsoft.com/office/drawing/2014/main" val="1873999438"/>
                    </a:ext>
                  </a:extLst>
                </a:gridCol>
                <a:gridCol w="1224116">
                  <a:extLst>
                    <a:ext uri="{9D8B030D-6E8A-4147-A177-3AD203B41FA5}">
                      <a16:colId xmlns:a16="http://schemas.microsoft.com/office/drawing/2014/main" val="2033022175"/>
                    </a:ext>
                  </a:extLst>
                </a:gridCol>
                <a:gridCol w="1504336">
                  <a:extLst>
                    <a:ext uri="{9D8B030D-6E8A-4147-A177-3AD203B41FA5}">
                      <a16:colId xmlns:a16="http://schemas.microsoft.com/office/drawing/2014/main" val="2501130996"/>
                    </a:ext>
                  </a:extLst>
                </a:gridCol>
                <a:gridCol w="1660992">
                  <a:extLst>
                    <a:ext uri="{9D8B030D-6E8A-4147-A177-3AD203B41FA5}">
                      <a16:colId xmlns:a16="http://schemas.microsoft.com/office/drawing/2014/main" val="2422951579"/>
                    </a:ext>
                  </a:extLst>
                </a:gridCol>
              </a:tblGrid>
              <a:tr h="395481">
                <a:tc>
                  <a:txBody>
                    <a:bodyPr/>
                    <a:lstStyle/>
                    <a:p>
                      <a:pPr lvl="0" algn="ctr">
                        <a:buNone/>
                      </a:pPr>
                      <a:r>
                        <a:rPr lang="de-DE" sz="2000" dirty="0">
                          <a:effectLst/>
                        </a:rPr>
                        <a:t>Variable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Type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Lower boundary</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Upper boundary</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Optimized value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Value before optimization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Profit</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831765191"/>
                  </a:ext>
                </a:extLst>
              </a:tr>
              <a:tr h="405887">
                <a:tc>
                  <a:txBody>
                    <a:bodyPr/>
                    <a:lstStyle/>
                    <a:p>
                      <a:pPr algn="ctr">
                        <a:buNone/>
                      </a:pPr>
                      <a:r>
                        <a:rPr lang="de-DE" sz="2000" dirty="0">
                          <a:effectLst/>
                        </a:rPr>
                        <a:t>Phosphatase concentration in cooler (units mL</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Restriction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 </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3.5×10</a:t>
                      </a:r>
                      <a:r>
                        <a:rPr lang="de-DE" sz="2000" baseline="30000" dirty="0">
                          <a:effectLst/>
                        </a:rPr>
                        <a:t>-4</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3.8×10</a:t>
                      </a:r>
                      <a:r>
                        <a:rPr lang="de-DE" sz="2000" baseline="30000" dirty="0">
                          <a:effectLst/>
                        </a:rPr>
                        <a:t>-6</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1.2×10</a:t>
                      </a:r>
                      <a:r>
                        <a:rPr lang="de-DE" sz="2000" baseline="30000" dirty="0">
                          <a:effectLst/>
                        </a:rPr>
                        <a:t>-6</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Successful pasteurization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1735661782"/>
                  </a:ext>
                </a:extLst>
              </a:tr>
              <a:tr h="395481">
                <a:tc>
                  <a:txBody>
                    <a:bodyPr/>
                    <a:lstStyle/>
                    <a:p>
                      <a:pPr algn="ctr">
                        <a:buNone/>
                      </a:pPr>
                      <a:r>
                        <a:rPr lang="de-DE" sz="2000" dirty="0">
                          <a:effectLst/>
                        </a:rPr>
                        <a:t>Solids in retentate (%)</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Restriction</a:t>
                      </a:r>
                      <a:endParaRPr lang="de-DE" dirty="0"/>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19.5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20.5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19.5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Successful concentration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978248065"/>
                  </a:ext>
                </a:extLst>
              </a:tr>
              <a:tr h="395481">
                <a:tc>
                  <a:txBody>
                    <a:bodyPr/>
                    <a:lstStyle/>
                    <a:p>
                      <a:pPr algn="ctr">
                        <a:buNone/>
                      </a:pPr>
                      <a:r>
                        <a:rPr lang="de-DE" sz="2000" dirty="0">
                          <a:effectLst/>
                        </a:rPr>
                        <a:t>Heater outlet temperature (°C)</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Restriction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72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72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72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72</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570072315"/>
                  </a:ext>
                </a:extLst>
              </a:tr>
              <a:tr h="197740">
                <a:tc>
                  <a:txBody>
                    <a:bodyPr/>
                    <a:lstStyle/>
                    <a:p>
                      <a:pPr algn="ctr">
                        <a:buNone/>
                      </a:pPr>
                      <a:r>
                        <a:rPr lang="de-DE" sz="2000" dirty="0">
                          <a:effectLst/>
                        </a:rPr>
                        <a:t>Cooler outlet temperature (°C)</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Restriction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22.5</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19</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325883232"/>
                  </a:ext>
                </a:extLst>
              </a:tr>
              <a:tr h="395481">
                <a:tc>
                  <a:txBody>
                    <a:bodyPr/>
                    <a:lstStyle/>
                    <a:p>
                      <a:pPr algn="ctr">
                        <a:buNone/>
                      </a:pPr>
                      <a:r>
                        <a:rPr lang="el-GR" sz="2000" dirty="0">
                          <a:effectLst/>
                        </a:rPr>
                        <a:t>β-</a:t>
                      </a:r>
                      <a:r>
                        <a:rPr lang="de-DE" sz="2000" dirty="0">
                          <a:effectLst/>
                        </a:rPr>
                        <a:t>LG denaturation in holder (%)</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Restriction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20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11.7</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13.18</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1168768"/>
                  </a:ext>
                </a:extLst>
              </a:tr>
              <a:tr h="405887">
                <a:tc>
                  <a:txBody>
                    <a:bodyPr/>
                    <a:lstStyle/>
                    <a:p>
                      <a:pPr lvl="0" algn="ctr">
                        <a:buNone/>
                      </a:pPr>
                      <a:r>
                        <a:rPr lang="de-DE" sz="2000" i="1" u="none" strike="noStrike" noProof="0" dirty="0">
                          <a:effectLst/>
                        </a:rPr>
                        <a:t>S.thermophilus</a:t>
                      </a:r>
                      <a:r>
                        <a:rPr lang="de-DE" sz="2000" i="1" dirty="0">
                          <a:effectLst/>
                        </a:rPr>
                        <a:t> </a:t>
                      </a:r>
                      <a:r>
                        <a:rPr lang="de-DE" sz="2000" dirty="0">
                          <a:effectLst/>
                        </a:rPr>
                        <a:t>concentration in retentate (CFU mL</a:t>
                      </a:r>
                      <a:r>
                        <a:rPr lang="de-DE" sz="2000" baseline="30000" dirty="0">
                          <a:effectLst/>
                        </a:rPr>
                        <a:t>-1</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Restriction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0.048</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0.047</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4192873813"/>
                  </a:ext>
                </a:extLst>
              </a:tr>
              <a:tr h="822183">
                <a:tc>
                  <a:txBody>
                    <a:bodyPr/>
                    <a:lstStyle/>
                    <a:p>
                      <a:pPr lvl="0" algn="ctr">
                        <a:buNone/>
                      </a:pPr>
                      <a:r>
                        <a:rPr lang="de-DE" sz="2000" i="1" u="none" strike="noStrike" noProof="0" dirty="0">
                          <a:effectLst/>
                        </a:rPr>
                        <a:t>S.thermophilus </a:t>
                      </a:r>
                      <a:r>
                        <a:rPr lang="de-DE" sz="2000" u="none" strike="noStrike" noProof="0" dirty="0">
                          <a:effectLst/>
                        </a:rPr>
                        <a:t>surface concentration in regenerative unit</a:t>
                      </a:r>
                      <a:r>
                        <a:rPr lang="de-DE" sz="2000" dirty="0">
                          <a:effectLst/>
                        </a:rPr>
                        <a:t> (CFU cm</a:t>
                      </a:r>
                      <a:r>
                        <a:rPr lang="de-DE" sz="2000" baseline="30000" dirty="0">
                          <a:effectLst/>
                        </a:rPr>
                        <a:t>-2</a:t>
                      </a: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dirty="0">
                          <a:effectLst/>
                        </a:rPr>
                        <a:t>Restriction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0</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a:t>
                      </a:r>
                      <a:r>
                        <a:rPr lang="de-DE" sz="2000" baseline="30000" dirty="0">
                          <a:effectLst/>
                        </a:rPr>
                        <a:t>9</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9.9×10</a:t>
                      </a:r>
                      <a:r>
                        <a:rPr lang="de-DE" sz="2000" baseline="30000" dirty="0">
                          <a:effectLst/>
                        </a:rPr>
                        <a:t>8</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10</a:t>
                      </a:r>
                      <a:r>
                        <a:rPr lang="de-DE" sz="2000" baseline="30000" dirty="0">
                          <a:effectLst/>
                        </a:rPr>
                        <a:t>9</a:t>
                      </a:r>
                      <a:endParaRPr lang="de-DE" sz="200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r>
                        <a:rPr lang="de-DE" sz="2000" dirty="0">
                          <a:effectLst/>
                        </a:rPr>
                        <a:t>-</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81540391"/>
                  </a:ext>
                </a:extLst>
              </a:tr>
            </a:tbl>
          </a:graphicData>
        </a:graphic>
      </p:graphicFrame>
      <p:sp>
        <p:nvSpPr>
          <p:cNvPr id="3" name="Textfeld 2">
            <a:extLst>
              <a:ext uri="{FF2B5EF4-FFF2-40B4-BE49-F238E27FC236}">
                <a16:creationId xmlns:a16="http://schemas.microsoft.com/office/drawing/2014/main" id="{A8A21313-6C30-7DF5-7047-F0A6C5002CC9}"/>
              </a:ext>
            </a:extLst>
          </p:cNvPr>
          <p:cNvSpPr txBox="1"/>
          <p:nvPr/>
        </p:nvSpPr>
        <p:spPr>
          <a:xfrm>
            <a:off x="293694" y="5863907"/>
            <a:ext cx="11604612"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dirty="0">
                <a:latin typeface="Calibri"/>
              </a:rPr>
              <a:t>Table 6 </a:t>
            </a:r>
            <a:r>
              <a:rPr lang="en-US" sz="2000" dirty="0">
                <a:latin typeface="Calibri"/>
              </a:rPr>
              <a:t>(continue):</a:t>
            </a:r>
            <a:r>
              <a:rPr lang="en-US" sz="2000" baseline="0" dirty="0">
                <a:latin typeface="Calibri"/>
              </a:rPr>
              <a:t> </a:t>
            </a:r>
            <a:r>
              <a:rPr lang="en-US" sz="2000" dirty="0"/>
              <a:t>Variables, distributions, initial and final values in the optimization of the integrated model</a:t>
            </a:r>
            <a:endParaRPr lang="en-US" sz="2000" dirty="0">
              <a:ea typeface="Calibri" panose="020F0502020204030204"/>
              <a:cs typeface="Calibri" panose="020F0502020204030204"/>
            </a:endParaRPr>
          </a:p>
          <a:p>
            <a:pPr algn="ctr"/>
            <a:endParaRPr lang="de-DE" dirty="0"/>
          </a:p>
        </p:txBody>
      </p:sp>
    </p:spTree>
    <p:extLst>
      <p:ext uri="{BB962C8B-B14F-4D97-AF65-F5344CB8AC3E}">
        <p14:creationId xmlns:p14="http://schemas.microsoft.com/office/powerpoint/2010/main" val="2134818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5C27822-6005-03CC-7753-C236FA3B8812}"/>
              </a:ext>
            </a:extLst>
          </p:cNvPr>
          <p:cNvSpPr>
            <a:spLocks noGrp="1"/>
          </p:cNvSpPr>
          <p:nvPr>
            <p:ph type="sldNum" sz="quarter" idx="12"/>
          </p:nvPr>
        </p:nvSpPr>
        <p:spPr/>
        <p:txBody>
          <a:bodyPr/>
          <a:lstStyle/>
          <a:p>
            <a:fld id="{48F63A3B-78C7-47BE-AE5E-E10140E04643}" type="slidenum">
              <a:rPr lang="en-US" smtClean="0"/>
              <a:t>34</a:t>
            </a:fld>
            <a:r>
              <a:rPr lang="en-US" dirty="0"/>
              <a:t>/36</a:t>
            </a:r>
          </a:p>
        </p:txBody>
      </p:sp>
      <p:sp>
        <p:nvSpPr>
          <p:cNvPr id="6" name="Title 1">
            <a:extLst>
              <a:ext uri="{FF2B5EF4-FFF2-40B4-BE49-F238E27FC236}">
                <a16:creationId xmlns:a16="http://schemas.microsoft.com/office/drawing/2014/main" id="{D1E4DC2C-0F15-0AEF-E999-A7C74C3291C4}"/>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7.1 Conclusions-Restrictions of the integrated process</a:t>
            </a:r>
          </a:p>
        </p:txBody>
      </p:sp>
      <p:graphicFrame>
        <p:nvGraphicFramePr>
          <p:cNvPr id="5" name="Tabelle 4">
            <a:extLst>
              <a:ext uri="{FF2B5EF4-FFF2-40B4-BE49-F238E27FC236}">
                <a16:creationId xmlns:a16="http://schemas.microsoft.com/office/drawing/2014/main" id="{749B1983-4A52-F764-AE64-93845A936488}"/>
              </a:ext>
            </a:extLst>
          </p:cNvPr>
          <p:cNvGraphicFramePr>
            <a:graphicFrameLocks noGrp="1"/>
          </p:cNvGraphicFramePr>
          <p:nvPr>
            <p:extLst>
              <p:ext uri="{D42A27DB-BD31-4B8C-83A1-F6EECF244321}">
                <p14:modId xmlns:p14="http://schemas.microsoft.com/office/powerpoint/2010/main" val="3024068231"/>
              </p:ext>
            </p:extLst>
          </p:nvPr>
        </p:nvGraphicFramePr>
        <p:xfrm>
          <a:off x="413988" y="1709387"/>
          <a:ext cx="11376325" cy="4095729"/>
        </p:xfrm>
        <a:graphic>
          <a:graphicData uri="http://schemas.openxmlformats.org/drawingml/2006/table">
            <a:tbl>
              <a:tblPr firstRow="1" firstCol="1" bandRow="1">
                <a:tableStyleId>{69012ECD-51FC-41F1-AA8D-1B2483CD663E}</a:tableStyleId>
              </a:tblPr>
              <a:tblGrid>
                <a:gridCol w="3857625">
                  <a:extLst>
                    <a:ext uri="{9D8B030D-6E8A-4147-A177-3AD203B41FA5}">
                      <a16:colId xmlns:a16="http://schemas.microsoft.com/office/drawing/2014/main" val="1105387782"/>
                    </a:ext>
                  </a:extLst>
                </a:gridCol>
                <a:gridCol w="3952874">
                  <a:extLst>
                    <a:ext uri="{9D8B030D-6E8A-4147-A177-3AD203B41FA5}">
                      <a16:colId xmlns:a16="http://schemas.microsoft.com/office/drawing/2014/main" val="4248975382"/>
                    </a:ext>
                  </a:extLst>
                </a:gridCol>
                <a:gridCol w="3565826">
                  <a:extLst>
                    <a:ext uri="{9D8B030D-6E8A-4147-A177-3AD203B41FA5}">
                      <a16:colId xmlns:a16="http://schemas.microsoft.com/office/drawing/2014/main" val="687664231"/>
                    </a:ext>
                  </a:extLst>
                </a:gridCol>
              </a:tblGrid>
              <a:tr h="620817">
                <a:tc>
                  <a:txBody>
                    <a:bodyPr/>
                    <a:lstStyle/>
                    <a:p>
                      <a:pPr lvl="0" algn="ctr">
                        <a:buNone/>
                      </a:pPr>
                      <a:r>
                        <a:rPr lang="de-DE" sz="2000" b="1" dirty="0">
                          <a:solidFill>
                            <a:schemeClr val="bg1"/>
                          </a:solidFill>
                          <a:effectLst/>
                        </a:rPr>
                        <a:t>Economic/Environmental</a:t>
                      </a:r>
                    </a:p>
                  </a:txBody>
                  <a:tcPr marL="66675" marR="66675" marT="0" marB="0" anchor="ctr">
                    <a:lnL w="12700">
                      <a:solidFill>
                        <a:schemeClr val="accent1">
                          <a:lumMod val="60000"/>
                          <a:lumOff val="40000"/>
                        </a:schemeClr>
                      </a:solidFill>
                    </a:lnL>
                    <a:lnR w="12700" cap="flat" cmpd="sng" algn="ctr">
                      <a:solidFill>
                        <a:schemeClr val="accent1">
                          <a:lumMod val="60000"/>
                          <a:lumOff val="40000"/>
                        </a:schemeClr>
                      </a:solidFill>
                      <a:prstDash val="solid"/>
                      <a:round/>
                      <a:headEnd type="none" w="med" len="med"/>
                      <a:tailEnd type="none" w="med" len="med"/>
                    </a:lnR>
                    <a:lnT w="12700">
                      <a:solidFill>
                        <a:schemeClr val="accent1">
                          <a:lumMod val="60000"/>
                          <a:lumOff val="40000"/>
                        </a:schemeClr>
                      </a:solidFill>
                    </a:lnT>
                    <a:lnB w="12700">
                      <a:solidFill>
                        <a:schemeClr val="accent1">
                          <a:lumMod val="60000"/>
                          <a:lumOff val="40000"/>
                        </a:schemeClr>
                      </a:solidFill>
                    </a:lnB>
                    <a:solidFill>
                      <a:srgbClr val="4472C4"/>
                    </a:solidFill>
                  </a:tcPr>
                </a:tc>
                <a:tc>
                  <a:txBody>
                    <a:bodyPr/>
                    <a:lstStyle/>
                    <a:p>
                      <a:pPr lvl="0" algn="ctr">
                        <a:buNone/>
                      </a:pPr>
                      <a:r>
                        <a:rPr lang="de-DE" sz="2000" b="1" dirty="0">
                          <a:solidFill>
                            <a:schemeClr val="bg1"/>
                          </a:solidFill>
                          <a:effectLst/>
                        </a:rPr>
                        <a:t>Safety</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cap="flat" cmpd="sng" algn="ctr">
                      <a:solidFill>
                        <a:schemeClr val="accent1">
                          <a:lumMod val="60000"/>
                          <a:lumOff val="40000"/>
                        </a:schemeClr>
                      </a:solidFill>
                      <a:prstDash val="solid"/>
                      <a:round/>
                      <a:headEnd type="none" w="med" len="med"/>
                      <a:tailEnd type="none" w="med" len="med"/>
                    </a:lnR>
                    <a:lnT w="12700">
                      <a:solidFill>
                        <a:schemeClr val="accent1">
                          <a:lumMod val="60000"/>
                          <a:lumOff val="40000"/>
                        </a:schemeClr>
                      </a:solidFill>
                    </a:lnT>
                    <a:lnB w="12700">
                      <a:solidFill>
                        <a:schemeClr val="accent1">
                          <a:lumMod val="60000"/>
                          <a:lumOff val="40000"/>
                        </a:schemeClr>
                      </a:solidFill>
                    </a:lnB>
                    <a:solidFill>
                      <a:srgbClr val="4472C4"/>
                    </a:solidFill>
                  </a:tcPr>
                </a:tc>
                <a:tc>
                  <a:txBody>
                    <a:bodyPr/>
                    <a:lstStyle/>
                    <a:p>
                      <a:pPr algn="ctr">
                        <a:buNone/>
                      </a:pPr>
                      <a:r>
                        <a:rPr lang="de-DE" sz="2000" b="1" dirty="0">
                          <a:solidFill>
                            <a:schemeClr val="bg1"/>
                          </a:solidFill>
                          <a:effectLst/>
                        </a:rPr>
                        <a:t>Quality </a:t>
                      </a:r>
                    </a:p>
                  </a:txBody>
                  <a:tcPr marL="66675" marR="66675" marT="0" marB="0" anchor="ctr">
                    <a:lnL w="12700" cap="flat" cmpd="sng" algn="ctr">
                      <a:solidFill>
                        <a:schemeClr val="accent1">
                          <a:lumMod val="60000"/>
                          <a:lumOff val="40000"/>
                        </a:schemeClr>
                      </a:solidFill>
                      <a:prstDash val="solid"/>
                      <a:round/>
                      <a:headEnd type="none" w="med" len="med"/>
                      <a:tailEnd type="none" w="med" len="med"/>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solidFill>
                      <a:srgbClr val="4472C4"/>
                    </a:solidFill>
                  </a:tcPr>
                </a:tc>
                <a:extLst>
                  <a:ext uri="{0D108BD9-81ED-4DB2-BD59-A6C34878D82A}">
                    <a16:rowId xmlns:a16="http://schemas.microsoft.com/office/drawing/2014/main" val="1735661782"/>
                  </a:ext>
                </a:extLst>
              </a:tr>
              <a:tr h="907349">
                <a:tc>
                  <a:txBody>
                    <a:bodyPr/>
                    <a:lstStyle/>
                    <a:p>
                      <a:pPr algn="ctr">
                        <a:buNone/>
                      </a:pPr>
                      <a:r>
                        <a:rPr lang="de-DE" sz="2000" b="0" dirty="0">
                          <a:effectLst/>
                        </a:rPr>
                        <a:t>productivity</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a:solidFill>
                            <a:srgbClr val="000000"/>
                          </a:solidFill>
                          <a:effectLst/>
                          <a:latin typeface="Calibri"/>
                        </a:rPr>
                        <a:t>pasteurization/phosphatase</a:t>
                      </a:r>
                      <a:endParaRPr lang="de-DE" dirty="0" err="1"/>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a:solidFill>
                            <a:srgbClr val="000000"/>
                          </a:solidFill>
                          <a:effectLst/>
                          <a:latin typeface="Calibri"/>
                        </a:rPr>
                        <a:t>concentration/20% solids</a:t>
                      </a:r>
                      <a:endParaRPr lang="de-DE" dirty="0" err="1"/>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978248065"/>
                  </a:ext>
                </a:extLst>
              </a:tr>
              <a:tr h="1361024">
                <a:tc>
                  <a:txBody>
                    <a:bodyPr/>
                    <a:lstStyle/>
                    <a:p>
                      <a:pPr algn="ctr">
                        <a:buNone/>
                      </a:pPr>
                      <a:r>
                        <a:rPr lang="de-DE" sz="2000" b="0" dirty="0">
                          <a:effectLst/>
                        </a:rPr>
                        <a:t>operating time</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1" u="none" strike="noStrike" noProof="0" dirty="0" err="1">
                          <a:solidFill>
                            <a:srgbClr val="000000"/>
                          </a:solidFill>
                          <a:effectLst/>
                          <a:latin typeface="Calibri"/>
                        </a:rPr>
                        <a:t>S.thermophilus</a:t>
                      </a:r>
                      <a:endParaRPr lang="de-DE" i="1" dirty="0" err="1"/>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dirty="0"/>
                        <a:t>protein denaturation</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570072315"/>
                  </a:ext>
                </a:extLst>
              </a:tr>
              <a:tr h="453674">
                <a:tc>
                  <a:txBody>
                    <a:bodyPr/>
                    <a:lstStyle/>
                    <a:p>
                      <a:pPr algn="ctr">
                        <a:buNone/>
                      </a:pPr>
                      <a:r>
                        <a:rPr lang="de-DE" sz="2000" b="0" dirty="0">
                          <a:effectLst/>
                        </a:rPr>
                        <a:t>water</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r>
                        <a:rPr lang="de-DE" sz="2000" b="0" i="0" u="none" strike="noStrike" noProof="0" dirty="0">
                          <a:solidFill>
                            <a:srgbClr val="000000"/>
                          </a:solidFill>
                          <a:effectLst/>
                          <a:latin typeface="Calibri"/>
                        </a:rPr>
                        <a:t>fouling</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lnSpc>
                          <a:spcPct val="100000"/>
                        </a:lnSpc>
                        <a:spcBef>
                          <a:spcPts val="0"/>
                        </a:spcBef>
                        <a:spcAft>
                          <a:spcPts val="0"/>
                        </a:spcAft>
                        <a:buNone/>
                      </a:pPr>
                      <a:endParaRPr lang="de-DE" sz="2000" b="0" i="0" u="none" strike="noStrike" noProof="0" dirty="0">
                        <a:solidFill>
                          <a:srgbClr val="000000"/>
                        </a:solidFill>
                        <a:effectLst/>
                        <a:latin typeface="Calibri"/>
                      </a:endParaRPr>
                    </a:p>
                    <a:p>
                      <a:pPr lvl="0" algn="ctr">
                        <a:buNone/>
                      </a:pPr>
                      <a:endParaRPr lang="de-DE" sz="2000" b="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325883232"/>
                  </a:ext>
                </a:extLst>
              </a:tr>
              <a:tr h="596939">
                <a:tc>
                  <a:txBody>
                    <a:bodyPr/>
                    <a:lstStyle/>
                    <a:p>
                      <a:pPr algn="ctr">
                        <a:buNone/>
                      </a:pPr>
                      <a:r>
                        <a:rPr lang="de-DE" sz="2000" b="0" dirty="0">
                          <a:effectLst/>
                        </a:rPr>
                        <a:t>energy</a:t>
                      </a: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lvl="0" algn="ctr">
                        <a:buNone/>
                      </a:pPr>
                      <a:endParaRPr lang="de-DE" sz="2000" b="0" i="0" u="none" strike="noStrike" noProof="0" dirty="0">
                        <a:solidFill>
                          <a:srgbClr val="000000"/>
                        </a:solidFill>
                        <a:effectLst/>
                        <a:latin typeface="Calibri"/>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tc>
                  <a:txBody>
                    <a:bodyPr/>
                    <a:lstStyle/>
                    <a:p>
                      <a:pPr algn="ctr">
                        <a:buNone/>
                      </a:pPr>
                      <a:endParaRPr lang="de-DE" sz="2000" b="0" dirty="0">
                        <a:effectLst/>
                      </a:endParaRPr>
                    </a:p>
                  </a:txBody>
                  <a:tcPr marL="66675" marR="66675" marT="0" marB="0" anchor="ctr">
                    <a:lnL w="12700">
                      <a:solidFill>
                        <a:schemeClr val="accent1">
                          <a:lumMod val="60000"/>
                          <a:lumOff val="40000"/>
                        </a:schemeClr>
                      </a:solidFill>
                    </a:lnL>
                    <a:lnR w="12700">
                      <a:solidFill>
                        <a:schemeClr val="accent1">
                          <a:lumMod val="60000"/>
                          <a:lumOff val="40000"/>
                        </a:schemeClr>
                      </a:solidFill>
                    </a:lnR>
                    <a:lnT w="12700">
                      <a:solidFill>
                        <a:schemeClr val="accent1">
                          <a:lumMod val="60000"/>
                          <a:lumOff val="40000"/>
                        </a:schemeClr>
                      </a:solidFill>
                    </a:lnT>
                    <a:lnB w="12700">
                      <a:solidFill>
                        <a:schemeClr val="accent1">
                          <a:lumMod val="60000"/>
                          <a:lumOff val="40000"/>
                        </a:schemeClr>
                      </a:solidFill>
                    </a:lnB>
                  </a:tcPr>
                </a:tc>
                <a:extLst>
                  <a:ext uri="{0D108BD9-81ED-4DB2-BD59-A6C34878D82A}">
                    <a16:rowId xmlns:a16="http://schemas.microsoft.com/office/drawing/2014/main" val="21168768"/>
                  </a:ext>
                </a:extLst>
              </a:tr>
            </a:tbl>
          </a:graphicData>
        </a:graphic>
      </p:graphicFrame>
      <p:sp>
        <p:nvSpPr>
          <p:cNvPr id="7" name="Textfeld 6">
            <a:extLst>
              <a:ext uri="{FF2B5EF4-FFF2-40B4-BE49-F238E27FC236}">
                <a16:creationId xmlns:a16="http://schemas.microsoft.com/office/drawing/2014/main" id="{C300CCA7-4A67-E965-CBC2-3F47277ADAF1}"/>
              </a:ext>
            </a:extLst>
          </p:cNvPr>
          <p:cNvSpPr txBox="1"/>
          <p:nvPr/>
        </p:nvSpPr>
        <p:spPr>
          <a:xfrm>
            <a:off x="2828636" y="6003637"/>
            <a:ext cx="708890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0" i="0" u="none" strike="noStrike" baseline="0" dirty="0">
                <a:solidFill>
                  <a:srgbClr val="000000"/>
                </a:solidFill>
                <a:latin typeface="Calibri"/>
                <a:ea typeface="Calibri"/>
                <a:cs typeface="Calibri"/>
              </a:rPr>
              <a:t>Table </a:t>
            </a:r>
            <a:r>
              <a:rPr lang="en-US" sz="2000" dirty="0">
                <a:solidFill>
                  <a:srgbClr val="000000"/>
                </a:solidFill>
                <a:latin typeface="Calibri"/>
                <a:ea typeface="Calibri"/>
                <a:cs typeface="Calibri"/>
              </a:rPr>
              <a:t>7: Specifications and restrictions of the integrated milk pasteurization and membrane filtration process</a:t>
            </a:r>
            <a:endParaRPr lang="en-US" sz="2000" dirty="0">
              <a:ea typeface="Calibri"/>
              <a:cs typeface="Calibri"/>
            </a:endParaRPr>
          </a:p>
        </p:txBody>
      </p:sp>
    </p:spTree>
    <p:extLst>
      <p:ext uri="{BB962C8B-B14F-4D97-AF65-F5344CB8AC3E}">
        <p14:creationId xmlns:p14="http://schemas.microsoft.com/office/powerpoint/2010/main" val="1985066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9A9D9-44D8-714A-5345-EF9411ECB10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93E5A86-3BD6-63D3-69FB-7D7CCFC1FF3F}"/>
              </a:ext>
            </a:extLst>
          </p:cNvPr>
          <p:cNvSpPr>
            <a:spLocks noGrp="1"/>
          </p:cNvSpPr>
          <p:nvPr>
            <p:ph type="sldNum" sz="quarter" idx="12"/>
          </p:nvPr>
        </p:nvSpPr>
        <p:spPr/>
        <p:txBody>
          <a:bodyPr/>
          <a:lstStyle/>
          <a:p>
            <a:fld id="{48F63A3B-78C7-47BE-AE5E-E10140E04643}" type="slidenum">
              <a:rPr lang="en-US" smtClean="0"/>
              <a:t>35</a:t>
            </a:fld>
            <a:r>
              <a:rPr lang="en-US" dirty="0"/>
              <a:t>/36</a:t>
            </a:r>
          </a:p>
        </p:txBody>
      </p:sp>
      <p:sp>
        <p:nvSpPr>
          <p:cNvPr id="6" name="Title 1">
            <a:extLst>
              <a:ext uri="{FF2B5EF4-FFF2-40B4-BE49-F238E27FC236}">
                <a16:creationId xmlns:a16="http://schemas.microsoft.com/office/drawing/2014/main" id="{FA1D65F7-1645-F2A6-CEC1-78477041B8CE}"/>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7.2 Conclusions</a:t>
            </a:r>
          </a:p>
        </p:txBody>
      </p:sp>
      <p:sp>
        <p:nvSpPr>
          <p:cNvPr id="5" name="Inhaltsplatzhalter 4">
            <a:extLst>
              <a:ext uri="{FF2B5EF4-FFF2-40B4-BE49-F238E27FC236}">
                <a16:creationId xmlns:a16="http://schemas.microsoft.com/office/drawing/2014/main" id="{5214282D-CDDE-2263-8E66-F4B89A64D5AC}"/>
              </a:ext>
            </a:extLst>
          </p:cNvPr>
          <p:cNvSpPr>
            <a:spLocks noGrp="1"/>
          </p:cNvSpPr>
          <p:nvPr>
            <p:ph idx="1"/>
          </p:nvPr>
        </p:nvSpPr>
        <p:spPr>
          <a:xfrm>
            <a:off x="463314" y="1427775"/>
            <a:ext cx="11517680" cy="4466159"/>
          </a:xfrm>
        </p:spPr>
        <p:txBody>
          <a:bodyPr vert="horz" lIns="91440" tIns="45720" rIns="91440" bIns="45720" rtlCol="0" anchor="t">
            <a:normAutofit/>
          </a:bodyPr>
          <a:lstStyle/>
          <a:p>
            <a:pPr algn="just"/>
            <a:r>
              <a:rPr lang="de-DE" b="1" dirty="0">
                <a:ea typeface="Calibri"/>
                <a:cs typeface="Calibri"/>
              </a:rPr>
              <a:t>Influential factor</a:t>
            </a:r>
            <a:r>
              <a:rPr lang="de-DE" dirty="0">
                <a:ea typeface="Calibri"/>
                <a:cs typeface="Calibri"/>
              </a:rPr>
              <a:t>: milk feed flow (1930 kg/h)</a:t>
            </a:r>
            <a:endParaRPr lang="de-DE" dirty="0"/>
          </a:p>
          <a:p>
            <a:pPr algn="just"/>
            <a:r>
              <a:rPr lang="de-DE" b="1" dirty="0">
                <a:ea typeface="Calibri"/>
                <a:cs typeface="Calibri"/>
              </a:rPr>
              <a:t>Costly variable</a:t>
            </a:r>
            <a:r>
              <a:rPr lang="de-DE" dirty="0">
                <a:ea typeface="Calibri"/>
                <a:cs typeface="Calibri"/>
              </a:rPr>
              <a:t>: heating water (129 USD)</a:t>
            </a:r>
          </a:p>
          <a:p>
            <a:pPr algn="just"/>
            <a:r>
              <a:rPr lang="de-DE" b="1" dirty="0">
                <a:ea typeface="Calibri"/>
                <a:cs typeface="Calibri"/>
              </a:rPr>
              <a:t>Phosphatase</a:t>
            </a:r>
            <a:r>
              <a:rPr lang="de-DE" dirty="0">
                <a:ea typeface="Calibri"/>
                <a:cs typeface="Calibri"/>
              </a:rPr>
              <a:t>: inactivation mainly in the heater</a:t>
            </a:r>
          </a:p>
          <a:p>
            <a:pPr algn="just"/>
            <a:r>
              <a:rPr lang="de-DE" b="1" dirty="0">
                <a:ea typeface="Calibri"/>
                <a:cs typeface="Calibri"/>
              </a:rPr>
              <a:t>Proteins</a:t>
            </a:r>
            <a:r>
              <a:rPr lang="de-DE" dirty="0">
                <a:ea typeface="Calibri"/>
                <a:cs typeface="Calibri"/>
              </a:rPr>
              <a:t>: denaturation mainly in the holder (11.7%) </a:t>
            </a:r>
          </a:p>
          <a:p>
            <a:pPr algn="just"/>
            <a:r>
              <a:rPr lang="de-DE" b="1" dirty="0">
                <a:ea typeface="Calibri"/>
                <a:cs typeface="Calibri"/>
              </a:rPr>
              <a:t>Fouling</a:t>
            </a:r>
            <a:r>
              <a:rPr lang="de-DE" dirty="0">
                <a:ea typeface="Calibri"/>
                <a:cs typeface="Calibri"/>
              </a:rPr>
              <a:t>: negligible, mainly in the regenerative unit</a:t>
            </a:r>
          </a:p>
          <a:p>
            <a:pPr algn="just"/>
            <a:r>
              <a:rPr lang="de-DE" b="1" i="1" dirty="0">
                <a:ea typeface="Calibri"/>
                <a:cs typeface="Calibri"/>
              </a:rPr>
              <a:t>Streptococcus thermophilus</a:t>
            </a:r>
            <a:r>
              <a:rPr lang="de-DE" dirty="0">
                <a:ea typeface="Calibri"/>
                <a:cs typeface="Calibri"/>
              </a:rPr>
              <a:t>: growth mainly in the surface of the regenerative unit, process shutdown at 9.57 h</a:t>
            </a:r>
          </a:p>
          <a:p>
            <a:pPr algn="just"/>
            <a:r>
              <a:rPr lang="de-DE" dirty="0">
                <a:ea typeface="Calibri"/>
                <a:cs typeface="Calibri"/>
              </a:rPr>
              <a:t>Optimization of the </a:t>
            </a:r>
            <a:r>
              <a:rPr lang="de-DE" b="1" dirty="0">
                <a:ea typeface="Calibri"/>
                <a:cs typeface="Calibri"/>
              </a:rPr>
              <a:t>integrated model</a:t>
            </a:r>
            <a:r>
              <a:rPr lang="de-DE" dirty="0">
                <a:ea typeface="Calibri"/>
                <a:cs typeface="Calibri"/>
              </a:rPr>
              <a:t>: 13% increase in profit</a:t>
            </a:r>
          </a:p>
        </p:txBody>
      </p:sp>
    </p:spTree>
    <p:extLst>
      <p:ext uri="{BB962C8B-B14F-4D97-AF65-F5344CB8AC3E}">
        <p14:creationId xmlns:p14="http://schemas.microsoft.com/office/powerpoint/2010/main" val="408752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3F4E2-9665-B914-4925-5990629234C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F359D1-FF4D-AD51-9144-125CAEE80A2F}"/>
              </a:ext>
            </a:extLst>
          </p:cNvPr>
          <p:cNvSpPr>
            <a:spLocks noGrp="1"/>
          </p:cNvSpPr>
          <p:nvPr>
            <p:ph type="sldNum" sz="quarter" idx="12"/>
          </p:nvPr>
        </p:nvSpPr>
        <p:spPr/>
        <p:txBody>
          <a:bodyPr/>
          <a:lstStyle/>
          <a:p>
            <a:fld id="{48F63A3B-78C7-47BE-AE5E-E10140E04643}" type="slidenum">
              <a:rPr lang="en-US" smtClean="0"/>
              <a:t>36</a:t>
            </a:fld>
            <a:r>
              <a:rPr lang="en-US" dirty="0"/>
              <a:t>/36</a:t>
            </a:r>
          </a:p>
        </p:txBody>
      </p:sp>
      <p:sp>
        <p:nvSpPr>
          <p:cNvPr id="6" name="Title 1">
            <a:extLst>
              <a:ext uri="{FF2B5EF4-FFF2-40B4-BE49-F238E27FC236}">
                <a16:creationId xmlns:a16="http://schemas.microsoft.com/office/drawing/2014/main" id="{0B852A9A-7E12-0126-7AAE-FB5A015F5AAE}"/>
              </a:ext>
            </a:extLst>
          </p:cNvPr>
          <p:cNvSpPr txBox="1">
            <a:spLocks/>
          </p:cNvSpPr>
          <p:nvPr/>
        </p:nvSpPr>
        <p:spPr>
          <a:xfrm>
            <a:off x="103898" y="138893"/>
            <a:ext cx="12541326" cy="6868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100" dirty="0">
                <a:ea typeface="Calibri Light"/>
                <a:cs typeface="Calibri Light"/>
              </a:rPr>
              <a:t>7.3 Future Research</a:t>
            </a:r>
          </a:p>
        </p:txBody>
      </p:sp>
      <p:sp>
        <p:nvSpPr>
          <p:cNvPr id="3" name="Content Placeholder 2">
            <a:extLst>
              <a:ext uri="{FF2B5EF4-FFF2-40B4-BE49-F238E27FC236}">
                <a16:creationId xmlns:a16="http://schemas.microsoft.com/office/drawing/2014/main" id="{B5AA49C5-8442-04B8-79E7-93A6456B5E5F}"/>
              </a:ext>
            </a:extLst>
          </p:cNvPr>
          <p:cNvSpPr>
            <a:spLocks noGrp="1"/>
          </p:cNvSpPr>
          <p:nvPr>
            <p:ph idx="1"/>
          </p:nvPr>
        </p:nvSpPr>
        <p:spPr>
          <a:xfrm>
            <a:off x="411019" y="1825625"/>
            <a:ext cx="11266370" cy="4351338"/>
          </a:xfrm>
        </p:spPr>
        <p:txBody>
          <a:bodyPr vert="horz" lIns="91440" tIns="45720" rIns="91440" bIns="45720" rtlCol="0" anchor="t">
            <a:normAutofit/>
          </a:bodyPr>
          <a:lstStyle/>
          <a:p>
            <a:r>
              <a:rPr lang="en-US" dirty="0">
                <a:ea typeface="Calibri"/>
                <a:cs typeface="Calibri"/>
              </a:rPr>
              <a:t>Model validation using pilot or industrial scale data</a:t>
            </a:r>
          </a:p>
          <a:p>
            <a:r>
              <a:rPr lang="en-US" dirty="0">
                <a:ea typeface="Calibri"/>
                <a:cs typeface="Calibri"/>
              </a:rPr>
              <a:t>Pasteurization temperature control policy</a:t>
            </a:r>
          </a:p>
          <a:p>
            <a:r>
              <a:rPr lang="en-US" dirty="0">
                <a:ea typeface="Calibri"/>
                <a:cs typeface="Calibri"/>
              </a:rPr>
              <a:t>Cleaning operations scheduling</a:t>
            </a:r>
          </a:p>
          <a:p>
            <a:r>
              <a:rPr lang="en-US" dirty="0"/>
              <a:t>Effect of the feed flow rate on the integrated production chain</a:t>
            </a:r>
            <a:endParaRPr lang="en-US" dirty="0">
              <a:ea typeface="Calibri"/>
              <a:cs typeface="Calibri"/>
            </a:endParaRPr>
          </a:p>
          <a:p>
            <a:r>
              <a:rPr lang="en-US" dirty="0"/>
              <a:t>Impact of design parameters </a:t>
            </a:r>
            <a:endParaRPr lang="en-US" dirty="0">
              <a:ea typeface="Calibri"/>
              <a:cs typeface="Calibri"/>
            </a:endParaRPr>
          </a:p>
        </p:txBody>
      </p:sp>
    </p:spTree>
    <p:extLst>
      <p:ext uri="{BB962C8B-B14F-4D97-AF65-F5344CB8AC3E}">
        <p14:creationId xmlns:p14="http://schemas.microsoft.com/office/powerpoint/2010/main" val="361739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545</TotalTime>
  <Words>4051</Words>
  <Application>Microsoft Office PowerPoint</Application>
  <PresentationFormat>Ευρεία οθόνη</PresentationFormat>
  <Paragraphs>592</Paragraphs>
  <Slides>36</Slides>
  <Notes>36</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36</vt:i4>
      </vt:variant>
    </vt:vector>
  </HeadingPairs>
  <TitlesOfParts>
    <vt:vector size="41" baseType="lpstr">
      <vt:lpstr>Aptos</vt:lpstr>
      <vt:lpstr>Arial</vt:lpstr>
      <vt:lpstr>Calibri</vt:lpstr>
      <vt:lpstr>Calibri Light</vt:lpstr>
      <vt:lpstr>Office Theme</vt:lpstr>
      <vt:lpstr>Modeling, simulation and optimization of integrated milk pasteurization and membrane filtration processes</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4.1.3 Pasteurization model-Simulation results (1/5)</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Georgios Bampzelis</cp:lastModifiedBy>
  <cp:revision>966</cp:revision>
  <cp:lastPrinted>2026-07-10T16:12:35Z</cp:lastPrinted>
  <dcterms:created xsi:type="dcterms:W3CDTF">2025-11-16T11:27:38Z</dcterms:created>
  <dcterms:modified xsi:type="dcterms:W3CDTF">2026-07-10T20:10:05Z</dcterms:modified>
</cp:coreProperties>
</file>