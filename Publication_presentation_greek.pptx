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1"/>
  </p:sldMasterIdLst>
  <p:notesMasterIdLst>
    <p:notesMasterId r:id="rId24"/>
  </p:notesMasterIdLst>
  <p:sldIdLst>
    <p:sldId id="256" r:id="rId2"/>
    <p:sldId id="257" r:id="rId3"/>
    <p:sldId id="289" r:id="rId4"/>
    <p:sldId id="259" r:id="rId5"/>
    <p:sldId id="313" r:id="rId6"/>
    <p:sldId id="263" r:id="rId7"/>
    <p:sldId id="282" r:id="rId8"/>
    <p:sldId id="317" r:id="rId9"/>
    <p:sldId id="315" r:id="rId10"/>
    <p:sldId id="281" r:id="rId11"/>
    <p:sldId id="327" r:id="rId12"/>
    <p:sldId id="328" r:id="rId13"/>
    <p:sldId id="301" r:id="rId14"/>
    <p:sldId id="283" r:id="rId15"/>
    <p:sldId id="300" r:id="rId16"/>
    <p:sldId id="261" r:id="rId17"/>
    <p:sldId id="306" r:id="rId18"/>
    <p:sldId id="307" r:id="rId19"/>
    <p:sldId id="309" r:id="rId20"/>
    <p:sldId id="311" r:id="rId21"/>
    <p:sldId id="292" r:id="rId22"/>
    <p:sldId id="312"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CB9A919-7796-3DF3-DA1E-3ABEBCEADF1C}" name="Athina Bampzeli" initials="AB" userId="S::athinamn@office365.auth.gr::e4d35ae8-c5da-4975-ade8-f2775be00f34" providerId="AD"/>
  <p188:author id="{5C7D17E8-6CDD-EB4A-D2D1-257729573B88}" name="Georgios Bampzelis" initials="GB" userId="S::mpampzel@office365.auth.gr::a1683962-2698-4fa1-9079-3b55cebe44d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77777"/>
    <a:srgbClr val="595959"/>
    <a:srgbClr val="0563C1"/>
    <a:srgbClr val="FFFFFF"/>
    <a:srgbClr val="4472C4"/>
    <a:srgbClr val="DAE3F3"/>
    <a:srgbClr val="ECECEC"/>
    <a:srgbClr val="E9EB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978C81-DCE5-2055-B443-EB299F3E4F3C}" v="90" dt="2025-12-02T10:58:17.785"/>
    <p1510:client id="{521D5805-24D5-A25C-D3E9-B118334C51CD}" v="97" dt="2025-12-04T06:37:10.271"/>
    <p1510:client id="{9AAF744C-06C5-E803-1BC8-11D026B6339D}" v="137" dt="2025-12-03T18:15:08.58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Helle Formatvorlage 2 - Akz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74" autoAdjust="0"/>
    <p:restoredTop sz="54843" autoAdjust="0"/>
  </p:normalViewPr>
  <p:slideViewPr>
    <p:cSldViewPr snapToGrid="0">
      <p:cViewPr varScale="1">
        <p:scale>
          <a:sx n="60" d="100"/>
          <a:sy n="60" d="100"/>
        </p:scale>
        <p:origin x="2514" y="78"/>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8/10/relationships/authors" Target="author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georg\OneDrive\&#933;&#960;&#959;&#955;&#959;&#947;&#953;&#963;&#964;&#942;&#962;\Athina\diploma_thesis\files_after_17_2_26\figures_graphs\compare_diagram_mambrane.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georg\OneDrive\&#933;&#960;&#959;&#955;&#959;&#947;&#953;&#963;&#964;&#942;&#962;\Athina\diploma_thesis\files_after_17_2_26\figures_graphs\compare_diagram_mambrane.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l-G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Φύλλο1!$B$6</c:f>
              <c:strCache>
                <c:ptCount val="1"/>
                <c:pt idx="0">
                  <c:v>Συμπύκνωμα</c:v>
                </c:pt>
              </c:strCache>
            </c:strRef>
          </c:tx>
          <c:spPr>
            <a:solidFill>
              <a:schemeClr val="accent1"/>
            </a:solidFill>
            <a:ln>
              <a:noFill/>
            </a:ln>
            <a:effectLst/>
          </c:spPr>
          <c:invertIfNegative val="0"/>
          <c:cat>
            <c:strRef>
              <c:f>Φύλλο1!$A$7:$A$20</c:f>
              <c:strCache>
                <c:ptCount val="14"/>
                <c:pt idx="0">
                  <c:v>υδατάνθρακες</c:v>
                </c:pt>
                <c:pt idx="1">
                  <c:v>λίπος</c:v>
                </c:pt>
                <c:pt idx="2">
                  <c:v>άλατα</c:v>
                </c:pt>
                <c:pt idx="3">
                  <c:v>καζεΐνη</c:v>
                </c:pt>
                <c:pt idx="4">
                  <c:v>α-LA</c:v>
                </c:pt>
                <c:pt idx="5">
                  <c:v>β-LG</c:v>
                </c:pt>
                <c:pt idx="6">
                  <c:v>BSA</c:v>
                </c:pt>
                <c:pt idx="7">
                  <c:v>Ig</c:v>
                </c:pt>
                <c:pt idx="8">
                  <c:v>μετουσιωμένη α-LA</c:v>
                </c:pt>
                <c:pt idx="9">
                  <c:v>μετουσιωμένη β-LG</c:v>
                </c:pt>
                <c:pt idx="10">
                  <c:v>μετουσιωμένη Ig</c:v>
                </c:pt>
                <c:pt idx="11">
                  <c:v>συσσωματωμένη β-LG</c:v>
                </c:pt>
                <c:pt idx="12">
                  <c:v>συνολικές πρωτεΐνες</c:v>
                </c:pt>
                <c:pt idx="13">
                  <c:v>στερεά</c:v>
                </c:pt>
              </c:strCache>
            </c:strRef>
          </c:cat>
          <c:val>
            <c:numRef>
              <c:f>Φύλλο1!$B$7:$B$20</c:f>
              <c:numCache>
                <c:formatCode>General</c:formatCode>
                <c:ptCount val="14"/>
                <c:pt idx="0">
                  <c:v>1.9E-2</c:v>
                </c:pt>
                <c:pt idx="1">
                  <c:v>3.0000000000000001E-3</c:v>
                </c:pt>
                <c:pt idx="2">
                  <c:v>1.7999999999999999E-2</c:v>
                </c:pt>
                <c:pt idx="3">
                  <c:v>0.14000000000000001</c:v>
                </c:pt>
                <c:pt idx="4">
                  <c:v>3.0000000000000001E-3</c:v>
                </c:pt>
                <c:pt idx="5">
                  <c:v>6.0000000000000001E-3</c:v>
                </c:pt>
                <c:pt idx="6">
                  <c:v>2E-3</c:v>
                </c:pt>
                <c:pt idx="7">
                  <c:v>4.0000000000000001E-3</c:v>
                </c:pt>
                <c:pt idx="8">
                  <c:v>3.0000000000000004E-5</c:v>
                </c:pt>
                <c:pt idx="9">
                  <c:v>5.0000000000000001E-3</c:v>
                </c:pt>
                <c:pt idx="10">
                  <c:v>7.0000000000000007E-5</c:v>
                </c:pt>
                <c:pt idx="11">
                  <c:v>6.0000000000000002E-6</c:v>
                </c:pt>
                <c:pt idx="12">
                  <c:v>0.16</c:v>
                </c:pt>
                <c:pt idx="13">
                  <c:v>0.2</c:v>
                </c:pt>
              </c:numCache>
            </c:numRef>
          </c:val>
          <c:extLst>
            <c:ext xmlns:c16="http://schemas.microsoft.com/office/drawing/2014/chart" uri="{C3380CC4-5D6E-409C-BE32-E72D297353CC}">
              <c16:uniqueId val="{00000000-C071-4E5E-89D4-D3A49DAB5A06}"/>
            </c:ext>
          </c:extLst>
        </c:ser>
        <c:ser>
          <c:idx val="1"/>
          <c:order val="1"/>
          <c:tx>
            <c:strRef>
              <c:f>Φύλλο1!$C$6</c:f>
              <c:strCache>
                <c:ptCount val="1"/>
                <c:pt idx="0">
                  <c:v>Διήθημα</c:v>
                </c:pt>
              </c:strCache>
            </c:strRef>
          </c:tx>
          <c:spPr>
            <a:solidFill>
              <a:schemeClr val="accent2"/>
            </a:solidFill>
            <a:ln>
              <a:noFill/>
            </a:ln>
            <a:effectLst/>
          </c:spPr>
          <c:invertIfNegative val="0"/>
          <c:cat>
            <c:strRef>
              <c:f>Φύλλο1!$A$7:$A$20</c:f>
              <c:strCache>
                <c:ptCount val="14"/>
                <c:pt idx="0">
                  <c:v>υδατάνθρακες</c:v>
                </c:pt>
                <c:pt idx="1">
                  <c:v>λίπος</c:v>
                </c:pt>
                <c:pt idx="2">
                  <c:v>άλατα</c:v>
                </c:pt>
                <c:pt idx="3">
                  <c:v>καζεΐνη</c:v>
                </c:pt>
                <c:pt idx="4">
                  <c:v>α-LA</c:v>
                </c:pt>
                <c:pt idx="5">
                  <c:v>β-LG</c:v>
                </c:pt>
                <c:pt idx="6">
                  <c:v>BSA</c:v>
                </c:pt>
                <c:pt idx="7">
                  <c:v>Ig</c:v>
                </c:pt>
                <c:pt idx="8">
                  <c:v>μετουσιωμένη α-LA</c:v>
                </c:pt>
                <c:pt idx="9">
                  <c:v>μετουσιωμένη β-LG</c:v>
                </c:pt>
                <c:pt idx="10">
                  <c:v>μετουσιωμένη Ig</c:v>
                </c:pt>
                <c:pt idx="11">
                  <c:v>συσσωματωμένη β-LG</c:v>
                </c:pt>
                <c:pt idx="12">
                  <c:v>συνολικές πρωτεΐνες</c:v>
                </c:pt>
                <c:pt idx="13">
                  <c:v>στερεά</c:v>
                </c:pt>
              </c:strCache>
            </c:strRef>
          </c:cat>
          <c:val>
            <c:numRef>
              <c:f>Φύλλο1!$C$7:$C$20</c:f>
              <c:numCache>
                <c:formatCode>General</c:formatCode>
                <c:ptCount val="14"/>
                <c:pt idx="0">
                  <c:v>3.6999999999999998E-2</c:v>
                </c:pt>
                <c:pt idx="1">
                  <c:v>4.0000000000000002E-4</c:v>
                </c:pt>
                <c:pt idx="2">
                  <c:v>3.0000000000000001E-3</c:v>
                </c:pt>
                <c:pt idx="3">
                  <c:v>0</c:v>
                </c:pt>
                <c:pt idx="4">
                  <c:v>5.0000000000000001E-4</c:v>
                </c:pt>
                <c:pt idx="5">
                  <c:v>8.9999999999999998E-4</c:v>
                </c:pt>
                <c:pt idx="6">
                  <c:v>0</c:v>
                </c:pt>
                <c:pt idx="7">
                  <c:v>0</c:v>
                </c:pt>
                <c:pt idx="8">
                  <c:v>0</c:v>
                </c:pt>
                <c:pt idx="9">
                  <c:v>0</c:v>
                </c:pt>
                <c:pt idx="10">
                  <c:v>0</c:v>
                </c:pt>
                <c:pt idx="11">
                  <c:v>1.0000000000000001E-5</c:v>
                </c:pt>
                <c:pt idx="12">
                  <c:v>1E-3</c:v>
                </c:pt>
                <c:pt idx="13">
                  <c:v>4.7E-2</c:v>
                </c:pt>
              </c:numCache>
            </c:numRef>
          </c:val>
          <c:extLst>
            <c:ext xmlns:c16="http://schemas.microsoft.com/office/drawing/2014/chart" uri="{C3380CC4-5D6E-409C-BE32-E72D297353CC}">
              <c16:uniqueId val="{00000001-C071-4E5E-89D4-D3A49DAB5A06}"/>
            </c:ext>
          </c:extLst>
        </c:ser>
        <c:dLbls>
          <c:showLegendKey val="0"/>
          <c:showVal val="0"/>
          <c:showCatName val="0"/>
          <c:showSerName val="0"/>
          <c:showPercent val="0"/>
          <c:showBubbleSize val="0"/>
        </c:dLbls>
        <c:gapWidth val="0"/>
        <c:axId val="950445184"/>
        <c:axId val="950456704"/>
      </c:barChart>
      <c:catAx>
        <c:axId val="9504451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baseline="0">
                <a:solidFill>
                  <a:schemeClr val="tx1">
                    <a:lumMod val="65000"/>
                    <a:lumOff val="35000"/>
                  </a:schemeClr>
                </a:solidFill>
                <a:latin typeface="+mn-lt"/>
                <a:ea typeface="+mn-ea"/>
                <a:cs typeface="+mn-cs"/>
              </a:defRPr>
            </a:pPr>
            <a:endParaRPr lang="el-GR"/>
          </a:p>
        </c:txPr>
        <c:crossAx val="950456704"/>
        <c:crosses val="autoZero"/>
        <c:auto val="1"/>
        <c:lblAlgn val="ctr"/>
        <c:lblOffset val="100"/>
        <c:noMultiLvlLbl val="0"/>
      </c:catAx>
      <c:valAx>
        <c:axId val="95045670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900" b="0" i="0" u="none" strike="noStrike" baseline="0">
                    <a:solidFill>
                      <a:schemeClr val="tx1">
                        <a:lumMod val="65000"/>
                        <a:lumOff val="35000"/>
                      </a:schemeClr>
                    </a:solidFill>
                    <a:latin typeface="+mn-lt"/>
                    <a:ea typeface="+mn-ea"/>
                    <a:cs typeface="+mn-cs"/>
                  </a:defRPr>
                </a:pPr>
                <a:r>
                  <a:rPr lang="el-GR"/>
                  <a:t>Κλάσμα μάζας στερεών</a:t>
                </a:r>
                <a:r>
                  <a:rPr lang="el-GR" baseline="0"/>
                  <a:t> (</a:t>
                </a:r>
                <a:r>
                  <a:rPr lang="en-US" baseline="0"/>
                  <a:t>kg/kg)</a:t>
                </a:r>
                <a:endParaRPr lang="el-GR"/>
              </a:p>
            </c:rich>
          </c:tx>
          <c:overlay val="0"/>
          <c:spPr>
            <a:noFill/>
            <a:ln>
              <a:noFill/>
            </a:ln>
            <a:effectLst/>
          </c:spPr>
          <c:txPr>
            <a:bodyPr rot="-5400000" spcFirstLastPara="1" vertOverflow="ellipsis" vert="horz" wrap="square" anchor="ctr" anchorCtr="1"/>
            <a:lstStyle/>
            <a:p>
              <a:pPr>
                <a:defRPr sz="900" b="0" i="0" u="none" strike="noStrike" baseline="0">
                  <a:solidFill>
                    <a:schemeClr val="tx1">
                      <a:lumMod val="65000"/>
                      <a:lumOff val="35000"/>
                    </a:schemeClr>
                  </a:solidFill>
                  <a:latin typeface="+mn-lt"/>
                  <a:ea typeface="+mn-ea"/>
                  <a:cs typeface="+mn-cs"/>
                </a:defRPr>
              </a:pPr>
              <a:endParaRPr lang="el-GR"/>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baseline="0">
                <a:solidFill>
                  <a:schemeClr val="tx1">
                    <a:lumMod val="65000"/>
                    <a:lumOff val="35000"/>
                  </a:schemeClr>
                </a:solidFill>
                <a:latin typeface="+mn-lt"/>
                <a:ea typeface="+mn-ea"/>
                <a:cs typeface="+mn-cs"/>
              </a:defRPr>
            </a:pPr>
            <a:endParaRPr lang="el-GR"/>
          </a:p>
        </c:txPr>
        <c:crossAx val="95044518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baseline="0">
              <a:solidFill>
                <a:schemeClr val="tx1">
                  <a:lumMod val="65000"/>
                  <a:lumOff val="35000"/>
                </a:schemeClr>
              </a:solidFill>
              <a:latin typeface="+mn-lt"/>
              <a:ea typeface="+mn-ea"/>
              <a:cs typeface="+mn-cs"/>
            </a:defRPr>
          </a:pPr>
          <a:endParaRPr lang="el-G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pPr>
      <a:endParaRPr lang="el-G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l-G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Φύλλο1!$H$6</c:f>
              <c:strCache>
                <c:ptCount val="1"/>
                <c:pt idx="0">
                  <c:v>Συμπύκνωμα</c:v>
                </c:pt>
              </c:strCache>
            </c:strRef>
          </c:tx>
          <c:spPr>
            <a:solidFill>
              <a:schemeClr val="accent1"/>
            </a:solidFill>
            <a:ln>
              <a:noFill/>
            </a:ln>
            <a:effectLst/>
          </c:spPr>
          <c:invertIfNegative val="0"/>
          <c:cat>
            <c:strRef>
              <c:f>Φύλλο1!$G$7:$G$20</c:f>
              <c:strCache>
                <c:ptCount val="14"/>
                <c:pt idx="0">
                  <c:v>υδατάνθρακες</c:v>
                </c:pt>
                <c:pt idx="1">
                  <c:v>λίπος</c:v>
                </c:pt>
                <c:pt idx="2">
                  <c:v>άλατα</c:v>
                </c:pt>
                <c:pt idx="3">
                  <c:v>καζεΐνη</c:v>
                </c:pt>
                <c:pt idx="4">
                  <c:v>α-LA</c:v>
                </c:pt>
                <c:pt idx="5">
                  <c:v>β-LG</c:v>
                </c:pt>
                <c:pt idx="6">
                  <c:v>BSA</c:v>
                </c:pt>
                <c:pt idx="7">
                  <c:v>Ig</c:v>
                </c:pt>
                <c:pt idx="8">
                  <c:v>μετουσιωμένη α-LA</c:v>
                </c:pt>
                <c:pt idx="9">
                  <c:v>μετουσιωμένη β-LG</c:v>
                </c:pt>
                <c:pt idx="10">
                  <c:v>μετουσιωμένη Ig</c:v>
                </c:pt>
                <c:pt idx="11">
                  <c:v>συσσωματωμένη β-LG</c:v>
                </c:pt>
                <c:pt idx="12">
                  <c:v>συνολικές πρωτεΐνες</c:v>
                </c:pt>
                <c:pt idx="13">
                  <c:v>στερεά</c:v>
                </c:pt>
              </c:strCache>
            </c:strRef>
          </c:cat>
          <c:val>
            <c:numRef>
              <c:f>Φύλλο1!$H$7:$H$20</c:f>
              <c:numCache>
                <c:formatCode>General</c:formatCode>
                <c:ptCount val="14"/>
                <c:pt idx="0">
                  <c:v>2.1000000000000001E-2</c:v>
                </c:pt>
                <c:pt idx="1">
                  <c:v>3.0000000000000001E-3</c:v>
                </c:pt>
                <c:pt idx="2">
                  <c:v>1.9E-2</c:v>
                </c:pt>
                <c:pt idx="3">
                  <c:v>0.13400000000000001</c:v>
                </c:pt>
                <c:pt idx="4">
                  <c:v>3.0000000000000001E-3</c:v>
                </c:pt>
                <c:pt idx="5">
                  <c:v>6.0000000000000001E-3</c:v>
                </c:pt>
                <c:pt idx="6">
                  <c:v>2E-3</c:v>
                </c:pt>
                <c:pt idx="7">
                  <c:v>3.0000000000000001E-3</c:v>
                </c:pt>
                <c:pt idx="8">
                  <c:v>3.0000000000000004E-5</c:v>
                </c:pt>
                <c:pt idx="9">
                  <c:v>4.0000000000000001E-3</c:v>
                </c:pt>
                <c:pt idx="10">
                  <c:v>4.0000000000000003E-5</c:v>
                </c:pt>
                <c:pt idx="11">
                  <c:v>3.0000000000000004E-5</c:v>
                </c:pt>
                <c:pt idx="12">
                  <c:v>0.15</c:v>
                </c:pt>
                <c:pt idx="13">
                  <c:v>0.19500000000000001</c:v>
                </c:pt>
              </c:numCache>
            </c:numRef>
          </c:val>
          <c:extLst>
            <c:ext xmlns:c16="http://schemas.microsoft.com/office/drawing/2014/chart" uri="{C3380CC4-5D6E-409C-BE32-E72D297353CC}">
              <c16:uniqueId val="{00000000-A067-41F9-B37D-0F4C7B8ED427}"/>
            </c:ext>
          </c:extLst>
        </c:ser>
        <c:ser>
          <c:idx val="1"/>
          <c:order val="1"/>
          <c:tx>
            <c:strRef>
              <c:f>Φύλλο1!$I$6</c:f>
              <c:strCache>
                <c:ptCount val="1"/>
                <c:pt idx="0">
                  <c:v>Διήθημα</c:v>
                </c:pt>
              </c:strCache>
            </c:strRef>
          </c:tx>
          <c:spPr>
            <a:solidFill>
              <a:schemeClr val="accent2"/>
            </a:solidFill>
            <a:ln>
              <a:noFill/>
            </a:ln>
            <a:effectLst/>
          </c:spPr>
          <c:invertIfNegative val="0"/>
          <c:cat>
            <c:strRef>
              <c:f>Φύλλο1!$G$7:$G$20</c:f>
              <c:strCache>
                <c:ptCount val="14"/>
                <c:pt idx="0">
                  <c:v>υδατάνθρακες</c:v>
                </c:pt>
                <c:pt idx="1">
                  <c:v>λίπος</c:v>
                </c:pt>
                <c:pt idx="2">
                  <c:v>άλατα</c:v>
                </c:pt>
                <c:pt idx="3">
                  <c:v>καζεΐνη</c:v>
                </c:pt>
                <c:pt idx="4">
                  <c:v>α-LA</c:v>
                </c:pt>
                <c:pt idx="5">
                  <c:v>β-LG</c:v>
                </c:pt>
                <c:pt idx="6">
                  <c:v>BSA</c:v>
                </c:pt>
                <c:pt idx="7">
                  <c:v>Ig</c:v>
                </c:pt>
                <c:pt idx="8">
                  <c:v>μετουσιωμένη α-LA</c:v>
                </c:pt>
                <c:pt idx="9">
                  <c:v>μετουσιωμένη β-LG</c:v>
                </c:pt>
                <c:pt idx="10">
                  <c:v>μετουσιωμένη Ig</c:v>
                </c:pt>
                <c:pt idx="11">
                  <c:v>συσσωματωμένη β-LG</c:v>
                </c:pt>
                <c:pt idx="12">
                  <c:v>συνολικές πρωτεΐνες</c:v>
                </c:pt>
                <c:pt idx="13">
                  <c:v>στερεά</c:v>
                </c:pt>
              </c:strCache>
            </c:strRef>
          </c:cat>
          <c:val>
            <c:numRef>
              <c:f>Φύλλο1!$I$7:$I$20</c:f>
              <c:numCache>
                <c:formatCode>General</c:formatCode>
                <c:ptCount val="14"/>
                <c:pt idx="0">
                  <c:v>4.3999999999999997E-2</c:v>
                </c:pt>
                <c:pt idx="1">
                  <c:v>5.0000000000000001E-4</c:v>
                </c:pt>
                <c:pt idx="2">
                  <c:v>3.0000000000000001E-3</c:v>
                </c:pt>
                <c:pt idx="3">
                  <c:v>0</c:v>
                </c:pt>
                <c:pt idx="4">
                  <c:v>5.0000000000000001E-4</c:v>
                </c:pt>
                <c:pt idx="5">
                  <c:v>1E-3</c:v>
                </c:pt>
                <c:pt idx="6">
                  <c:v>0</c:v>
                </c:pt>
                <c:pt idx="7">
                  <c:v>0</c:v>
                </c:pt>
                <c:pt idx="8">
                  <c:v>0</c:v>
                </c:pt>
                <c:pt idx="9">
                  <c:v>0</c:v>
                </c:pt>
                <c:pt idx="10">
                  <c:v>0</c:v>
                </c:pt>
                <c:pt idx="11">
                  <c:v>6.0000000000000002E-6</c:v>
                </c:pt>
                <c:pt idx="12">
                  <c:v>1.6000000000000001E-3</c:v>
                </c:pt>
                <c:pt idx="13">
                  <c:v>4.9000000000000002E-2</c:v>
                </c:pt>
              </c:numCache>
            </c:numRef>
          </c:val>
          <c:extLst>
            <c:ext xmlns:c16="http://schemas.microsoft.com/office/drawing/2014/chart" uri="{C3380CC4-5D6E-409C-BE32-E72D297353CC}">
              <c16:uniqueId val="{00000001-A067-41F9-B37D-0F4C7B8ED427}"/>
            </c:ext>
          </c:extLst>
        </c:ser>
        <c:dLbls>
          <c:showLegendKey val="0"/>
          <c:showVal val="0"/>
          <c:showCatName val="0"/>
          <c:showSerName val="0"/>
          <c:showPercent val="0"/>
          <c:showBubbleSize val="0"/>
        </c:dLbls>
        <c:gapWidth val="0"/>
        <c:axId val="950445184"/>
        <c:axId val="950456704"/>
      </c:barChart>
      <c:catAx>
        <c:axId val="9504451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baseline="0">
                <a:solidFill>
                  <a:schemeClr val="tx1">
                    <a:lumMod val="65000"/>
                    <a:lumOff val="35000"/>
                  </a:schemeClr>
                </a:solidFill>
                <a:latin typeface="+mn-lt"/>
                <a:ea typeface="+mn-ea"/>
                <a:cs typeface="+mn-cs"/>
              </a:defRPr>
            </a:pPr>
            <a:endParaRPr lang="el-GR"/>
          </a:p>
        </c:txPr>
        <c:crossAx val="950456704"/>
        <c:crosses val="autoZero"/>
        <c:auto val="1"/>
        <c:lblAlgn val="ctr"/>
        <c:lblOffset val="100"/>
        <c:noMultiLvlLbl val="0"/>
      </c:catAx>
      <c:valAx>
        <c:axId val="95045670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900" b="0" i="0" u="none" strike="noStrike" baseline="0">
                    <a:solidFill>
                      <a:schemeClr val="tx1">
                        <a:lumMod val="65000"/>
                        <a:lumOff val="35000"/>
                      </a:schemeClr>
                    </a:solidFill>
                    <a:latin typeface="+mn-lt"/>
                    <a:ea typeface="+mn-ea"/>
                    <a:cs typeface="+mn-cs"/>
                  </a:defRPr>
                </a:pPr>
                <a:r>
                  <a:rPr lang="el-GR"/>
                  <a:t>Κλάσμα μάζας στερεών</a:t>
                </a:r>
                <a:r>
                  <a:rPr lang="el-GR" baseline="0"/>
                  <a:t> (</a:t>
                </a:r>
                <a:r>
                  <a:rPr lang="en-US" baseline="0"/>
                  <a:t>kg/kg)</a:t>
                </a:r>
                <a:endParaRPr lang="el-GR"/>
              </a:p>
            </c:rich>
          </c:tx>
          <c:overlay val="0"/>
          <c:spPr>
            <a:noFill/>
            <a:ln>
              <a:noFill/>
            </a:ln>
            <a:effectLst/>
          </c:spPr>
          <c:txPr>
            <a:bodyPr rot="-5400000" spcFirstLastPara="1" vertOverflow="ellipsis" vert="horz" wrap="square" anchor="ctr" anchorCtr="1"/>
            <a:lstStyle/>
            <a:p>
              <a:pPr>
                <a:defRPr sz="900" b="0" i="0" u="none" strike="noStrike" baseline="0">
                  <a:solidFill>
                    <a:schemeClr val="tx1">
                      <a:lumMod val="65000"/>
                      <a:lumOff val="35000"/>
                    </a:schemeClr>
                  </a:solidFill>
                  <a:latin typeface="+mn-lt"/>
                  <a:ea typeface="+mn-ea"/>
                  <a:cs typeface="+mn-cs"/>
                </a:defRPr>
              </a:pPr>
              <a:endParaRPr lang="el-GR"/>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baseline="0">
                <a:solidFill>
                  <a:schemeClr val="tx1">
                    <a:lumMod val="65000"/>
                    <a:lumOff val="35000"/>
                  </a:schemeClr>
                </a:solidFill>
                <a:latin typeface="+mn-lt"/>
                <a:ea typeface="+mn-ea"/>
                <a:cs typeface="+mn-cs"/>
              </a:defRPr>
            </a:pPr>
            <a:endParaRPr lang="el-GR"/>
          </a:p>
        </c:txPr>
        <c:crossAx val="95044518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baseline="0">
              <a:solidFill>
                <a:schemeClr val="tx1">
                  <a:lumMod val="65000"/>
                  <a:lumOff val="35000"/>
                </a:schemeClr>
              </a:solidFill>
              <a:latin typeface="+mn-lt"/>
              <a:ea typeface="+mn-ea"/>
              <a:cs typeface="+mn-cs"/>
            </a:defRPr>
          </a:pPr>
          <a:endParaRPr lang="el-G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pPr>
      <a:endParaRPr lang="el-G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κεφαλίδας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l-GR"/>
          </a:p>
        </p:txBody>
      </p:sp>
      <p:sp>
        <p:nvSpPr>
          <p:cNvPr id="3" name="Θέση ημερομηνίας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A4EEDF-0BF6-49B7-9731-1ECE4392628E}" type="datetimeFigureOut">
              <a:rPr lang="el-GR" smtClean="0"/>
              <a:t>10/7/2026</a:t>
            </a:fld>
            <a:endParaRPr lang="el-GR"/>
          </a:p>
        </p:txBody>
      </p:sp>
      <p:sp>
        <p:nvSpPr>
          <p:cNvPr id="4" name="Θέση εικόνας διαφάνειας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l-GR"/>
          </a:p>
        </p:txBody>
      </p:sp>
      <p:sp>
        <p:nvSpPr>
          <p:cNvPr id="5" name="Θέση σημειώσεων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6" name="Θέση υποσέλιδου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l-GR"/>
          </a:p>
        </p:txBody>
      </p:sp>
      <p:sp>
        <p:nvSpPr>
          <p:cNvPr id="7" name="Θέση αριθμού διαφάνειας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291EF5-A7F0-43F3-9480-D0F04B649033}" type="slidenum">
              <a:rPr lang="el-GR" smtClean="0"/>
              <a:t>‹#›</a:t>
            </a:fld>
            <a:endParaRPr lang="el-GR"/>
          </a:p>
        </p:txBody>
      </p:sp>
    </p:spTree>
    <p:extLst>
      <p:ext uri="{BB962C8B-B14F-4D97-AF65-F5344CB8AC3E}">
        <p14:creationId xmlns:p14="http://schemas.microsoft.com/office/powerpoint/2010/main" val="30952263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200" kern="1200" dirty="0">
                <a:solidFill>
                  <a:schemeClr val="tx1"/>
                </a:solidFill>
                <a:effectLst/>
                <a:latin typeface="+mn-lt"/>
                <a:ea typeface="+mn-ea"/>
                <a:cs typeface="+mn-cs"/>
              </a:rPr>
              <a:t>Καλημέρα σας. Ονομάζομαι </a:t>
            </a:r>
            <a:r>
              <a:rPr lang="el-GR" sz="1200" kern="1200" dirty="0" err="1">
                <a:solidFill>
                  <a:schemeClr val="tx1"/>
                </a:solidFill>
                <a:effectLst/>
                <a:latin typeface="+mn-lt"/>
                <a:ea typeface="+mn-ea"/>
                <a:cs typeface="+mn-cs"/>
              </a:rPr>
              <a:t>Μπαμπζέλη</a:t>
            </a:r>
            <a:r>
              <a:rPr lang="el-GR" sz="1200" kern="1200" dirty="0">
                <a:solidFill>
                  <a:schemeClr val="tx1"/>
                </a:solidFill>
                <a:effectLst/>
                <a:latin typeface="+mn-lt"/>
                <a:ea typeface="+mn-ea"/>
                <a:cs typeface="+mn-cs"/>
              </a:rPr>
              <a:t> Αθηνά, είμαι απόφοιτη Χημικός Μηχανικός από το Αριστοτέλειο Πανεπιστήμιο Θεσσαλονίκης και θα σας παρουσιάσω την εργασία μου με θέμα «</a:t>
            </a:r>
            <a:r>
              <a:rPr lang="el-GR" sz="1200" kern="1200" dirty="0" err="1">
                <a:solidFill>
                  <a:schemeClr val="tx1"/>
                </a:solidFill>
                <a:effectLst/>
                <a:latin typeface="+mn-lt"/>
                <a:ea typeface="+mn-ea"/>
                <a:cs typeface="+mn-cs"/>
              </a:rPr>
              <a:t>Μοντελοποίηση</a:t>
            </a:r>
            <a:r>
              <a:rPr lang="el-GR" sz="1200" kern="1200" dirty="0">
                <a:solidFill>
                  <a:schemeClr val="tx1"/>
                </a:solidFill>
                <a:effectLst/>
                <a:latin typeface="+mn-lt"/>
                <a:ea typeface="+mn-ea"/>
                <a:cs typeface="+mn-cs"/>
              </a:rPr>
              <a:t>, προσομοίωση και βελτιστοποίηση ολοκληρωμένων διεργασιών παστερίωσης γάλακτος και διήθησης με μεμβράνη». Η μελέτη υλοποιήθηκε στο πλαίσιο της διπλωματικής μου εργασίας με επιβλέποντα τον καθηγητή Μιχαήλ Γεωργιάδη, σε συνεργασία με τον </a:t>
            </a:r>
            <a:r>
              <a:rPr lang="el-GR" sz="1200" kern="1200" dirty="0" err="1">
                <a:solidFill>
                  <a:schemeClr val="tx1"/>
                </a:solidFill>
                <a:effectLst/>
                <a:latin typeface="+mn-lt"/>
                <a:ea typeface="+mn-ea"/>
                <a:cs typeface="+mn-cs"/>
              </a:rPr>
              <a:t>κο</a:t>
            </a:r>
            <a:r>
              <a:rPr lang="el-GR" sz="1200" kern="1200" dirty="0">
                <a:solidFill>
                  <a:schemeClr val="tx1"/>
                </a:solidFill>
                <a:effectLst/>
                <a:latin typeface="+mn-lt"/>
                <a:ea typeface="+mn-ea"/>
                <a:cs typeface="+mn-cs"/>
              </a:rPr>
              <a:t>. Λευτέρη </a:t>
            </a:r>
            <a:r>
              <a:rPr lang="el-GR" sz="1200" kern="1200" dirty="0" err="1">
                <a:solidFill>
                  <a:schemeClr val="tx1"/>
                </a:solidFill>
                <a:effectLst/>
                <a:latin typeface="+mn-lt"/>
                <a:ea typeface="+mn-ea"/>
                <a:cs typeface="+mn-cs"/>
              </a:rPr>
              <a:t>Χαρακλειά</a:t>
            </a:r>
            <a:r>
              <a:rPr lang="en-US" sz="1200" kern="1200" dirty="0">
                <a:solidFill>
                  <a:schemeClr val="tx1"/>
                </a:solidFill>
                <a:effectLst/>
                <a:latin typeface="+mn-lt"/>
                <a:ea typeface="+mn-ea"/>
                <a:cs typeface="+mn-cs"/>
              </a:rPr>
              <a:t>, senior applications engineer </a:t>
            </a:r>
            <a:r>
              <a:rPr lang="el-GR" sz="1200" kern="1200" dirty="0">
                <a:solidFill>
                  <a:schemeClr val="tx1"/>
                </a:solidFill>
                <a:effectLst/>
                <a:latin typeface="+mn-lt"/>
                <a:ea typeface="+mn-ea"/>
                <a:cs typeface="+mn-cs"/>
              </a:rPr>
              <a:t>στη</a:t>
            </a:r>
            <a:r>
              <a:rPr lang="en-US" sz="1200" kern="1200" dirty="0">
                <a:solidFill>
                  <a:schemeClr val="tx1"/>
                </a:solidFill>
                <a:effectLst/>
                <a:latin typeface="+mn-lt"/>
                <a:ea typeface="+mn-ea"/>
                <a:cs typeface="+mn-cs"/>
              </a:rPr>
              <a:t> Siemens Digital Industries Software. </a:t>
            </a:r>
            <a:r>
              <a:rPr lang="el-GR" sz="1200" kern="1200" dirty="0">
                <a:solidFill>
                  <a:schemeClr val="tx1"/>
                </a:solidFill>
                <a:effectLst/>
                <a:latin typeface="+mn-lt"/>
                <a:ea typeface="+mn-ea"/>
                <a:cs typeface="+mn-cs"/>
              </a:rPr>
              <a:t>Η εργασία δημοσιεύθηκε στο περιοδικό </a:t>
            </a:r>
            <a:r>
              <a:rPr lang="en-US" sz="1200" kern="1200" dirty="0">
                <a:solidFill>
                  <a:schemeClr val="tx1"/>
                </a:solidFill>
                <a:effectLst/>
                <a:latin typeface="+mn-lt"/>
                <a:ea typeface="+mn-ea"/>
                <a:cs typeface="+mn-cs"/>
              </a:rPr>
              <a:t>Food and Bioproducts Processing</a:t>
            </a:r>
            <a:r>
              <a:rPr lang="el-GR" sz="1200" kern="1200" dirty="0">
                <a:solidFill>
                  <a:schemeClr val="tx1"/>
                </a:solidFill>
                <a:effectLst/>
                <a:latin typeface="+mn-lt"/>
                <a:ea typeface="+mn-ea"/>
                <a:cs typeface="+mn-cs"/>
              </a:rPr>
              <a:t> και είναι ελεύθερα </a:t>
            </a:r>
            <a:r>
              <a:rPr lang="el-GR" sz="1200" kern="1200" dirty="0" err="1">
                <a:solidFill>
                  <a:schemeClr val="tx1"/>
                </a:solidFill>
                <a:effectLst/>
                <a:latin typeface="+mn-lt"/>
                <a:ea typeface="+mn-ea"/>
                <a:cs typeface="+mn-cs"/>
              </a:rPr>
              <a:t>προσβάσιμη</a:t>
            </a:r>
            <a:r>
              <a:rPr lang="el-GR" sz="1200" kern="1200" dirty="0">
                <a:solidFill>
                  <a:schemeClr val="tx1"/>
                </a:solidFill>
                <a:effectLst/>
                <a:latin typeface="+mn-lt"/>
                <a:ea typeface="+mn-ea"/>
                <a:cs typeface="+mn-cs"/>
              </a:rPr>
              <a:t>.</a:t>
            </a:r>
          </a:p>
          <a:p>
            <a:endParaRPr lang="el-GR" dirty="0"/>
          </a:p>
        </p:txBody>
      </p:sp>
      <p:sp>
        <p:nvSpPr>
          <p:cNvPr id="4" name="Θέση αριθμού διαφάνειας 3"/>
          <p:cNvSpPr>
            <a:spLocks noGrp="1"/>
          </p:cNvSpPr>
          <p:nvPr>
            <p:ph type="sldNum" sz="quarter" idx="5"/>
          </p:nvPr>
        </p:nvSpPr>
        <p:spPr/>
        <p:txBody>
          <a:bodyPr/>
          <a:lstStyle/>
          <a:p>
            <a:fld id="{87291EF5-A7F0-43F3-9480-D0F04B649033}" type="slidenum">
              <a:rPr lang="el-GR" smtClean="0"/>
              <a:t>1</a:t>
            </a:fld>
            <a:endParaRPr lang="el-GR"/>
          </a:p>
        </p:txBody>
      </p:sp>
    </p:spTree>
    <p:extLst>
      <p:ext uri="{BB962C8B-B14F-4D97-AF65-F5344CB8AC3E}">
        <p14:creationId xmlns:p14="http://schemas.microsoft.com/office/powerpoint/2010/main" val="25467980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200" kern="1200" dirty="0">
                <a:solidFill>
                  <a:schemeClr val="tx1"/>
                </a:solidFill>
                <a:effectLst/>
                <a:latin typeface="+mn-lt"/>
                <a:ea typeface="+mn-ea"/>
                <a:cs typeface="+mn-cs"/>
              </a:rPr>
              <a:t>Η παρουσίαση απαρτίζεται συνοπτικά από την εισαγωγή, τους στόχους και τη μεθοδολογία που ακολουθείται στην παρούσα εργασία, τις θεωρητικές αρχές των διεργασιών, τη </a:t>
            </a:r>
            <a:r>
              <a:rPr lang="el-GR" sz="1200" kern="1200" dirty="0" err="1">
                <a:solidFill>
                  <a:schemeClr val="tx1"/>
                </a:solidFill>
                <a:effectLst/>
                <a:latin typeface="+mn-lt"/>
                <a:ea typeface="+mn-ea"/>
                <a:cs typeface="+mn-cs"/>
              </a:rPr>
              <a:t>μοντελοποίηση</a:t>
            </a:r>
            <a:r>
              <a:rPr lang="el-GR" sz="1200" kern="1200" dirty="0">
                <a:solidFill>
                  <a:schemeClr val="tx1"/>
                </a:solidFill>
                <a:effectLst/>
                <a:latin typeface="+mn-lt"/>
                <a:ea typeface="+mn-ea"/>
                <a:cs typeface="+mn-cs"/>
              </a:rPr>
              <a:t>, ανάλυση συστήματος, βελτιστοποίηση και τα συμπεράσματα.</a:t>
            </a:r>
          </a:p>
          <a:p>
            <a:endParaRPr lang="el-GR" dirty="0"/>
          </a:p>
        </p:txBody>
      </p:sp>
      <p:sp>
        <p:nvSpPr>
          <p:cNvPr id="4" name="Θέση αριθμού διαφάνειας 3"/>
          <p:cNvSpPr>
            <a:spLocks noGrp="1"/>
          </p:cNvSpPr>
          <p:nvPr>
            <p:ph type="sldNum" sz="quarter" idx="5"/>
          </p:nvPr>
        </p:nvSpPr>
        <p:spPr/>
        <p:txBody>
          <a:bodyPr/>
          <a:lstStyle/>
          <a:p>
            <a:fld id="{87291EF5-A7F0-43F3-9480-D0F04B649033}" type="slidenum">
              <a:rPr lang="el-GR" smtClean="0"/>
              <a:t>2</a:t>
            </a:fld>
            <a:endParaRPr lang="el-GR"/>
          </a:p>
        </p:txBody>
      </p:sp>
    </p:spTree>
    <p:extLst>
      <p:ext uri="{BB962C8B-B14F-4D97-AF65-F5344CB8AC3E}">
        <p14:creationId xmlns:p14="http://schemas.microsoft.com/office/powerpoint/2010/main" val="28228812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r>
              <a:rPr lang="el-GR" sz="1200" kern="1200" dirty="0">
                <a:solidFill>
                  <a:schemeClr val="tx1"/>
                </a:solidFill>
                <a:effectLst/>
                <a:latin typeface="+mn-lt"/>
                <a:ea typeface="+mn-ea"/>
                <a:cs typeface="+mn-cs"/>
              </a:rPr>
              <a:t>Η γαλακτοβιομηχανία περιλαμβάνει διεργασίες με υψηλή κατανάλωση σε ενέργεια και νερό, η οποία συνεπάγεται αυξημένο λειτουργικό κόστος. Δεδομένου ότι η τιμή πώλησης του γάλακτος παραμένει χαμηλή, η σύγχρονη τάση είναι η στροφή προς προϊόντα υψηλής προστιθέμενης αξίας, όπως τυριά, γιαούρτια, συμπυκνώματα και σκόνες γάλακτος. Η σκόνη γάλακτος καταλαμβάνει μικρότερο όγκο και μπορεί να αποθηκευτεί εκτός ψυγείου και για μεγαλύτερο χρονικό διάστημα σε σχέση με το γάλα. Στην εικόνα παρουσιάζονται οι διεργασίες κατά την παραγωγή σκόνης γάλακτος. Η παστερίωση στοχεύει στην απενεργοποίηση ενζύμων επιβλαβών για την ανθρώπινη υγεία. Στη συνέχεια, ακολουθούν διεργασίες για τη συμπύκνωση του γάλακτος που απαιτούν θέρμανση. </a:t>
            </a:r>
            <a:r>
              <a:rPr lang="el-GR" sz="1200" kern="1200" dirty="0">
                <a:solidFill>
                  <a:schemeClr val="tx1"/>
                </a:solidFill>
                <a:effectLst/>
                <a:highlight>
                  <a:srgbClr val="FFFF00"/>
                </a:highlight>
                <a:latin typeface="+mn-lt"/>
                <a:ea typeface="+mn-ea"/>
                <a:cs typeface="+mn-cs"/>
              </a:rPr>
              <a:t>Η διήθηση </a:t>
            </a:r>
            <a:r>
              <a:rPr lang="el-GR" sz="1200" kern="1200" dirty="0">
                <a:solidFill>
                  <a:schemeClr val="tx1"/>
                </a:solidFill>
                <a:effectLst/>
                <a:latin typeface="+mn-lt"/>
                <a:ea typeface="+mn-ea"/>
                <a:cs typeface="+mn-cs"/>
              </a:rPr>
              <a:t>με μεμβράνη μπορεί να προηγηθεί των διεργασιών της εξάτμισης και ξήρανσης, ώστε ένα ποσοστό της συμπύκνωσης να πραγματοποιηθεί χωρίς να καταναλωθεί τόση ενέργεια και το συμπύκνωμα να είναι εμπλουτισμένο σε πρωτεΐνες.</a:t>
            </a:r>
            <a:endParaRPr lang="el-GR" dirty="0"/>
          </a:p>
        </p:txBody>
      </p:sp>
      <p:sp>
        <p:nvSpPr>
          <p:cNvPr id="4" name="Θέση αριθμού διαφάνειας 3"/>
          <p:cNvSpPr>
            <a:spLocks noGrp="1"/>
          </p:cNvSpPr>
          <p:nvPr>
            <p:ph type="sldNum" sz="quarter" idx="5"/>
          </p:nvPr>
        </p:nvSpPr>
        <p:spPr/>
        <p:txBody>
          <a:bodyPr/>
          <a:lstStyle/>
          <a:p>
            <a:fld id="{87291EF5-A7F0-43F3-9480-D0F04B649033}" type="slidenum">
              <a:rPr lang="el-GR" smtClean="0"/>
              <a:t>3</a:t>
            </a:fld>
            <a:endParaRPr lang="el-GR"/>
          </a:p>
        </p:txBody>
      </p:sp>
    </p:spTree>
    <p:extLst>
      <p:ext uri="{BB962C8B-B14F-4D97-AF65-F5344CB8AC3E}">
        <p14:creationId xmlns:p14="http://schemas.microsoft.com/office/powerpoint/2010/main" val="28934205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r>
              <a:rPr lang="el-GR" sz="1200" kern="1200" dirty="0">
                <a:solidFill>
                  <a:schemeClr val="tx1"/>
                </a:solidFill>
                <a:effectLst/>
                <a:latin typeface="+mn-lt"/>
                <a:ea typeface="+mn-ea"/>
                <a:cs typeface="+mn-cs"/>
              </a:rPr>
              <a:t>Οι στόχοι της μελέτης είναι:</a:t>
            </a:r>
          </a:p>
          <a:p>
            <a:pPr lvl="0"/>
            <a:r>
              <a:rPr lang="el-GR" sz="1200" kern="1200" dirty="0">
                <a:solidFill>
                  <a:schemeClr val="tx1"/>
                </a:solidFill>
                <a:effectLst/>
                <a:latin typeface="+mn-lt"/>
                <a:ea typeface="+mn-ea"/>
                <a:cs typeface="+mn-cs"/>
              </a:rPr>
              <a:t>Να </a:t>
            </a:r>
            <a:r>
              <a:rPr lang="el-GR" sz="1200" kern="1200" dirty="0" err="1">
                <a:solidFill>
                  <a:schemeClr val="tx1"/>
                </a:solidFill>
                <a:effectLst/>
                <a:latin typeface="+mn-lt"/>
                <a:ea typeface="+mn-ea"/>
                <a:cs typeface="+mn-cs"/>
              </a:rPr>
              <a:t>μοντελοποιηθεί</a:t>
            </a:r>
            <a:r>
              <a:rPr lang="el-GR" sz="1200" kern="1200" dirty="0">
                <a:solidFill>
                  <a:schemeClr val="tx1"/>
                </a:solidFill>
                <a:effectLst/>
                <a:latin typeface="+mn-lt"/>
                <a:ea typeface="+mn-ea"/>
                <a:cs typeface="+mn-cs"/>
              </a:rPr>
              <a:t> και να προσομοιωθεί η ολοκληρωμένη διεργασία παστερίωσης και διήθησης με μεμβράνη για την παραγωγή συμπυκνωμένου γάλακτος με 20% στερεά</a:t>
            </a:r>
          </a:p>
          <a:p>
            <a:pPr lvl="0"/>
            <a:r>
              <a:rPr lang="el-GR" sz="1200" kern="1200" dirty="0">
                <a:solidFill>
                  <a:schemeClr val="tx1"/>
                </a:solidFill>
                <a:effectLst/>
                <a:latin typeface="+mn-lt"/>
                <a:ea typeface="+mn-ea"/>
                <a:cs typeface="+mn-cs"/>
              </a:rPr>
              <a:t>Να αξιολογηθεί πώς τα φυσικοχημικά και βιολογικά φαινόμενα που λαμβάνουν χώρα, οι συνθήκες λειτουργίας και οι παράμετροι του μοντέλου επιδρούν στη συνολική απόδοση.</a:t>
            </a:r>
          </a:p>
          <a:p>
            <a:pPr lvl="0"/>
            <a:r>
              <a:rPr lang="el-GR" sz="1200" kern="1200" dirty="0">
                <a:solidFill>
                  <a:schemeClr val="tx1"/>
                </a:solidFill>
                <a:effectLst/>
                <a:latin typeface="+mn-lt"/>
                <a:ea typeface="+mn-ea"/>
                <a:cs typeface="+mn-cs"/>
              </a:rPr>
              <a:t>Στόχος είναι να μειωθούν οι επιπτώσεις της αβεβαιότητας των παραμέτρων, να επικεντρωθεί ο έλεγχος και τα πειράματα στους πιο </a:t>
            </a:r>
            <a:r>
              <a:rPr lang="el-GR" sz="1200" kern="1200" dirty="0" err="1">
                <a:solidFill>
                  <a:schemeClr val="tx1"/>
                </a:solidFill>
                <a:effectLst/>
                <a:latin typeface="+mn-lt"/>
                <a:ea typeface="+mn-ea"/>
                <a:cs typeface="+mn-cs"/>
              </a:rPr>
              <a:t>επιδραστικούς</a:t>
            </a:r>
            <a:r>
              <a:rPr lang="el-GR" sz="1200" kern="1200" dirty="0">
                <a:solidFill>
                  <a:schemeClr val="tx1"/>
                </a:solidFill>
                <a:effectLst/>
                <a:latin typeface="+mn-lt"/>
                <a:ea typeface="+mn-ea"/>
                <a:cs typeface="+mn-cs"/>
              </a:rPr>
              <a:t> παράγοντες και να παρθούν πιο ενημερωμένες αποφάσεις κατά τη λειτουργία του εργοστασίου.</a:t>
            </a:r>
          </a:p>
          <a:p>
            <a:pPr lvl="0"/>
            <a:r>
              <a:rPr lang="el-GR" sz="1200" kern="1200" dirty="0">
                <a:solidFill>
                  <a:schemeClr val="tx1"/>
                </a:solidFill>
                <a:effectLst/>
                <a:latin typeface="+mn-lt"/>
                <a:ea typeface="+mn-ea"/>
                <a:cs typeface="+mn-cs"/>
              </a:rPr>
              <a:t>Ένας επιπλέον στόχος επίσης είναι η οικονομική βελτιστοποίηση τόσο των δύο επιμέρους σταδίων της διεργασίας όσο και της ολοκληρωμένης διεργασίας, τηρώντας τους περιορισμούς ποιότητας και ασφάλειας.</a:t>
            </a:r>
          </a:p>
          <a:p>
            <a:endParaRPr lang="el-GR" dirty="0"/>
          </a:p>
        </p:txBody>
      </p:sp>
      <p:sp>
        <p:nvSpPr>
          <p:cNvPr id="4" name="Θέση αριθμού διαφάνειας 3"/>
          <p:cNvSpPr>
            <a:spLocks noGrp="1"/>
          </p:cNvSpPr>
          <p:nvPr>
            <p:ph type="sldNum" sz="quarter" idx="5"/>
          </p:nvPr>
        </p:nvSpPr>
        <p:spPr/>
        <p:txBody>
          <a:bodyPr/>
          <a:lstStyle/>
          <a:p>
            <a:fld id="{87291EF5-A7F0-43F3-9480-D0F04B649033}" type="slidenum">
              <a:rPr lang="el-GR" smtClean="0"/>
              <a:t>4</a:t>
            </a:fld>
            <a:endParaRPr lang="el-GR"/>
          </a:p>
        </p:txBody>
      </p:sp>
    </p:spTree>
    <p:extLst>
      <p:ext uri="{BB962C8B-B14F-4D97-AF65-F5344CB8AC3E}">
        <p14:creationId xmlns:p14="http://schemas.microsoft.com/office/powerpoint/2010/main" val="23551542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r>
              <a:rPr lang="el-GR" sz="1200" kern="1200" dirty="0">
                <a:solidFill>
                  <a:schemeClr val="tx1"/>
                </a:solidFill>
                <a:effectLst/>
                <a:latin typeface="+mn-lt"/>
                <a:ea typeface="+mn-ea"/>
                <a:cs typeface="+mn-cs"/>
              </a:rPr>
              <a:t>Όσον αφορά τη μεθοδολογία που ακολουθείται, αρχικά, αναπτύσσονται δύο μοντέλα δυναμικής κατάστασης, ένα για κάθε διεργασία, και στη συνέχεια, αυτά προσομοιώνονται. Ακολουθεί ανάλυση ευαισθησίας και αβεβαιότητας και βελτιστοποίηση των μοντέλων παστερίωσης και διήθησης με μεμβράνη. Τα αποτελέσματα και οι αποφάσεις από τη βελτιστοποίηση των προηγούμενων μοντέλων ενσωματώνονται κατά την ανάπτυξη του ολοκληρωμένου μοντέλου, το οποίο προσομοιώνεται. Ακολουθούν αντίστοιχα αναλύσεις ευαισθησίας, αβεβαιότητας και βελτιστοποίηση της ολοκληρωμένης διεργασίας. Τα προαναφερθέντα υλοποιούνται στο περιβάλλον </a:t>
            </a:r>
            <a:r>
              <a:rPr lang="en-US" sz="1200" kern="1200" dirty="0" err="1">
                <a:solidFill>
                  <a:schemeClr val="tx1"/>
                </a:solidFill>
                <a:effectLst/>
                <a:latin typeface="+mn-lt"/>
                <a:ea typeface="+mn-ea"/>
                <a:cs typeface="+mn-cs"/>
              </a:rPr>
              <a:t>gPROMS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FormulatedProducts</a:t>
            </a:r>
            <a:r>
              <a:rPr lang="en-US" sz="1200" kern="1200" dirty="0">
                <a:solidFill>
                  <a:schemeClr val="tx1"/>
                </a:solidFill>
                <a:effectLst/>
                <a:latin typeface="+mn-lt"/>
                <a:ea typeface="+mn-ea"/>
                <a:cs typeface="+mn-cs"/>
              </a:rPr>
              <a:t> </a:t>
            </a:r>
            <a:r>
              <a:rPr lang="el-GR" sz="1200" kern="1200" dirty="0">
                <a:solidFill>
                  <a:schemeClr val="tx1"/>
                </a:solidFill>
                <a:effectLst/>
                <a:latin typeface="+mn-lt"/>
                <a:ea typeface="+mn-ea"/>
                <a:cs typeface="+mn-cs"/>
              </a:rPr>
              <a:t>της </a:t>
            </a:r>
            <a:r>
              <a:rPr lang="en-US" sz="1200" kern="1200" dirty="0">
                <a:solidFill>
                  <a:schemeClr val="tx1"/>
                </a:solidFill>
                <a:effectLst/>
                <a:latin typeface="+mn-lt"/>
                <a:ea typeface="+mn-ea"/>
                <a:cs typeface="+mn-cs"/>
              </a:rPr>
              <a:t>Siemens Digital Industries Software</a:t>
            </a:r>
            <a:r>
              <a:rPr lang="el-GR" sz="1200" kern="1200" dirty="0">
                <a:solidFill>
                  <a:schemeClr val="tx1"/>
                </a:solidFill>
                <a:effectLst/>
                <a:latin typeface="+mn-lt"/>
                <a:ea typeface="+mn-ea"/>
                <a:cs typeface="+mn-cs"/>
              </a:rPr>
              <a:t>.</a:t>
            </a:r>
            <a:endParaRPr lang="el-GR" dirty="0"/>
          </a:p>
        </p:txBody>
      </p:sp>
      <p:sp>
        <p:nvSpPr>
          <p:cNvPr id="4" name="Θέση αριθμού διαφάνειας 3"/>
          <p:cNvSpPr>
            <a:spLocks noGrp="1"/>
          </p:cNvSpPr>
          <p:nvPr>
            <p:ph type="sldNum" sz="quarter" idx="5"/>
          </p:nvPr>
        </p:nvSpPr>
        <p:spPr/>
        <p:txBody>
          <a:bodyPr/>
          <a:lstStyle/>
          <a:p>
            <a:fld id="{87291EF5-A7F0-43F3-9480-D0F04B649033}" type="slidenum">
              <a:rPr lang="el-GR" smtClean="0"/>
              <a:t>5</a:t>
            </a:fld>
            <a:endParaRPr lang="el-GR"/>
          </a:p>
        </p:txBody>
      </p:sp>
    </p:spTree>
    <p:extLst>
      <p:ext uri="{BB962C8B-B14F-4D97-AF65-F5344CB8AC3E}">
        <p14:creationId xmlns:p14="http://schemas.microsoft.com/office/powerpoint/2010/main" val="1276507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200" kern="1200" dirty="0">
                <a:solidFill>
                  <a:schemeClr val="tx1"/>
                </a:solidFill>
                <a:effectLst/>
                <a:latin typeface="+mn-lt"/>
                <a:ea typeface="+mn-ea"/>
                <a:cs typeface="+mn-cs"/>
              </a:rPr>
              <a:t>Κατά την παστερίωση, το γάλα υπόκειται θερμική καταπόνηση. Η </a:t>
            </a:r>
            <a:r>
              <a:rPr lang="el-GR" sz="1200" kern="1200" dirty="0" err="1">
                <a:solidFill>
                  <a:schemeClr val="tx1"/>
                </a:solidFill>
                <a:effectLst/>
                <a:latin typeface="+mn-lt"/>
                <a:ea typeface="+mn-ea"/>
                <a:cs typeface="+mn-cs"/>
              </a:rPr>
              <a:t>φωσφατάση</a:t>
            </a:r>
            <a:r>
              <a:rPr lang="el-GR" sz="1200" kern="1200" dirty="0">
                <a:solidFill>
                  <a:schemeClr val="tx1"/>
                </a:solidFill>
                <a:effectLst/>
                <a:latin typeface="+mn-lt"/>
                <a:ea typeface="+mn-ea"/>
                <a:cs typeface="+mn-cs"/>
              </a:rPr>
              <a:t> αποτελεί ένζυμο-δείκτη για την επιτυχία της παστερίωσης, καθώς η θερμική απενεργοποίησή της σηματοδοτεί την ασφάλεια του προϊόντος. Ωστόσο, πραγματοποιείται παράλληλα και μετουσίωση των πρωτεϊνών του γάλακτος, κυρίως της β-</a:t>
            </a:r>
            <a:r>
              <a:rPr lang="el-GR" sz="1200" kern="1200" dirty="0" err="1">
                <a:solidFill>
                  <a:schemeClr val="tx1"/>
                </a:solidFill>
                <a:effectLst/>
                <a:latin typeface="+mn-lt"/>
                <a:ea typeface="+mn-ea"/>
                <a:cs typeface="+mn-cs"/>
              </a:rPr>
              <a:t>Λακτοσφαιρίνης</a:t>
            </a:r>
            <a:r>
              <a:rPr lang="el-GR" sz="1200" kern="1200" dirty="0">
                <a:solidFill>
                  <a:schemeClr val="tx1"/>
                </a:solidFill>
                <a:effectLst/>
                <a:latin typeface="+mn-lt"/>
                <a:ea typeface="+mn-ea"/>
                <a:cs typeface="+mn-cs"/>
              </a:rPr>
              <a:t>, της α-</a:t>
            </a:r>
            <a:r>
              <a:rPr lang="el-GR" sz="1200" kern="1200" dirty="0" err="1">
                <a:solidFill>
                  <a:schemeClr val="tx1"/>
                </a:solidFill>
                <a:effectLst/>
                <a:latin typeface="+mn-lt"/>
                <a:ea typeface="+mn-ea"/>
                <a:cs typeface="+mn-cs"/>
              </a:rPr>
              <a:t>Λακταλβουμίνης</a:t>
            </a:r>
            <a:r>
              <a:rPr lang="el-GR" sz="1200" kern="1200" dirty="0">
                <a:solidFill>
                  <a:schemeClr val="tx1"/>
                </a:solidFill>
                <a:effectLst/>
                <a:latin typeface="+mn-lt"/>
                <a:ea typeface="+mn-ea"/>
                <a:cs typeface="+mn-cs"/>
              </a:rPr>
              <a:t> και της </a:t>
            </a:r>
            <a:r>
              <a:rPr lang="el-GR" sz="1200" kern="1200" dirty="0" err="1">
                <a:solidFill>
                  <a:schemeClr val="tx1"/>
                </a:solidFill>
                <a:effectLst/>
                <a:latin typeface="+mn-lt"/>
                <a:ea typeface="+mn-ea"/>
                <a:cs typeface="+mn-cs"/>
              </a:rPr>
              <a:t>Ανοσοσφαιρίνης</a:t>
            </a:r>
            <a:r>
              <a:rPr lang="el-GR" sz="1200" kern="1200" dirty="0">
                <a:solidFill>
                  <a:schemeClr val="tx1"/>
                </a:solidFill>
                <a:effectLst/>
                <a:latin typeface="+mn-lt"/>
                <a:ea typeface="+mn-ea"/>
                <a:cs typeface="+mn-cs"/>
              </a:rPr>
              <a:t>, που υποβαθμίζει την ποιότητα του προϊόντος. Οι επικαθήσεις που αναπτύσσονται στα τοιχώματα του εξοπλισμού και οι μικροοργανισμοί, όπως το βακτήριο </a:t>
            </a:r>
            <a:r>
              <a:rPr lang="el-GR" sz="1200" kern="1200" dirty="0" err="1">
                <a:solidFill>
                  <a:schemeClr val="tx1"/>
                </a:solidFill>
                <a:effectLst/>
                <a:latin typeface="+mn-lt"/>
                <a:ea typeface="+mn-ea"/>
                <a:cs typeface="+mn-cs"/>
              </a:rPr>
              <a:t>Streptococcus</a:t>
            </a:r>
            <a:r>
              <a:rPr lang="el-GR" sz="1200" kern="1200" dirty="0">
                <a:solidFill>
                  <a:schemeClr val="tx1"/>
                </a:solidFill>
                <a:effectLst/>
                <a:latin typeface="+mn-lt"/>
                <a:ea typeface="+mn-ea"/>
                <a:cs typeface="+mn-cs"/>
              </a:rPr>
              <a:t> </a:t>
            </a:r>
            <a:r>
              <a:rPr lang="el-GR" sz="1200" kern="1200" dirty="0" err="1">
                <a:solidFill>
                  <a:schemeClr val="tx1"/>
                </a:solidFill>
                <a:effectLst/>
                <a:latin typeface="+mn-lt"/>
                <a:ea typeface="+mn-ea"/>
                <a:cs typeface="+mn-cs"/>
              </a:rPr>
              <a:t>thermophilus</a:t>
            </a:r>
            <a:r>
              <a:rPr lang="el-GR" sz="1200" kern="1200" dirty="0">
                <a:solidFill>
                  <a:schemeClr val="tx1"/>
                </a:solidFill>
                <a:effectLst/>
                <a:latin typeface="+mn-lt"/>
                <a:ea typeface="+mn-ea"/>
                <a:cs typeface="+mn-cs"/>
              </a:rPr>
              <a:t>, καθιστούν κρίσιμη την αυστηρή παρακολούθηση των συνθηκών παστερίωσης και τον τακτικό καθαρισμό του εξοπλισμού. Αφενός τα φαινόμενα αυτά δυσχεραίνουν τη μεταφορά θερμότητας, αφετέρου εγείρουν θέματα ασφάλειας αν περάσουν οι ουσίες στην κύρια μάζα του γάλακτος.</a:t>
            </a: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l-GR" sz="1200" kern="1200" dirty="0">
                <a:solidFill>
                  <a:schemeClr val="tx1"/>
                </a:solidFill>
                <a:effectLst/>
                <a:latin typeface="+mn-lt"/>
                <a:ea typeface="+mn-ea"/>
                <a:cs typeface="+mn-cs"/>
              </a:rPr>
              <a:t>Κατά τη διήθηση με μεμβράνη τα στερεά επικάθονται στους πόρους της και δημιουργούν στρώμα που δυσκολεύει τον διαχωρισμό.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l-GR" sz="1200" kern="1200" dirty="0">
              <a:solidFill>
                <a:schemeClr val="tx1"/>
              </a:solidFill>
              <a:effectLst/>
              <a:latin typeface="+mn-lt"/>
              <a:ea typeface="+mn-ea"/>
              <a:cs typeface="+mn-cs"/>
            </a:endParaRPr>
          </a:p>
          <a:p>
            <a:endParaRPr lang="el-GR" dirty="0"/>
          </a:p>
        </p:txBody>
      </p:sp>
      <p:sp>
        <p:nvSpPr>
          <p:cNvPr id="4" name="Θέση αριθμού διαφάνειας 3"/>
          <p:cNvSpPr>
            <a:spLocks noGrp="1"/>
          </p:cNvSpPr>
          <p:nvPr>
            <p:ph type="sldNum" sz="quarter" idx="5"/>
          </p:nvPr>
        </p:nvSpPr>
        <p:spPr/>
        <p:txBody>
          <a:bodyPr/>
          <a:lstStyle/>
          <a:p>
            <a:fld id="{87291EF5-A7F0-43F3-9480-D0F04B649033}" type="slidenum">
              <a:rPr lang="el-GR" smtClean="0"/>
              <a:t>6</a:t>
            </a:fld>
            <a:endParaRPr lang="el-GR"/>
          </a:p>
        </p:txBody>
      </p:sp>
    </p:spTree>
    <p:extLst>
      <p:ext uri="{BB962C8B-B14F-4D97-AF65-F5344CB8AC3E}">
        <p14:creationId xmlns:p14="http://schemas.microsoft.com/office/powerpoint/2010/main" val="17741970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200" kern="1200" dirty="0">
                <a:solidFill>
                  <a:schemeClr val="tx1"/>
                </a:solidFill>
                <a:effectLst/>
                <a:latin typeface="+mn-lt"/>
                <a:ea typeface="+mn-ea"/>
                <a:cs typeface="+mn-cs"/>
              </a:rPr>
              <a:t>Παρακάτω παρουσιάζονται οι βασικές εξισώσεις του μαθηματικού μοντέλου της διεργασίας της παστερίωσης, που αφορούν τις κινητικές της μετουσίωσης των πρωτεϊνών, απενεργοποίησης της </a:t>
            </a:r>
            <a:r>
              <a:rPr lang="el-GR" sz="1200" kern="1200" dirty="0" err="1">
                <a:solidFill>
                  <a:schemeClr val="tx1"/>
                </a:solidFill>
                <a:effectLst/>
                <a:latin typeface="+mn-lt"/>
                <a:ea typeface="+mn-ea"/>
                <a:cs typeface="+mn-cs"/>
              </a:rPr>
              <a:t>φωσφατάσης</a:t>
            </a:r>
            <a:r>
              <a:rPr lang="el-GR" sz="1200" kern="1200" dirty="0">
                <a:solidFill>
                  <a:schemeClr val="tx1"/>
                </a:solidFill>
                <a:effectLst/>
                <a:latin typeface="+mn-lt"/>
                <a:ea typeface="+mn-ea"/>
                <a:cs typeface="+mn-cs"/>
              </a:rPr>
              <a:t>, δημιουργίας </a:t>
            </a:r>
            <a:r>
              <a:rPr lang="el-GR" sz="1200" kern="1200" dirty="0" err="1">
                <a:solidFill>
                  <a:schemeClr val="tx1"/>
                </a:solidFill>
                <a:effectLst/>
                <a:latin typeface="+mn-lt"/>
                <a:ea typeface="+mn-ea"/>
                <a:cs typeface="+mn-cs"/>
              </a:rPr>
              <a:t>επικαθήσεων</a:t>
            </a:r>
            <a:r>
              <a:rPr lang="el-GR" sz="1200" kern="1200" dirty="0">
                <a:solidFill>
                  <a:schemeClr val="tx1"/>
                </a:solidFill>
                <a:effectLst/>
                <a:latin typeface="+mn-lt"/>
                <a:ea typeface="+mn-ea"/>
                <a:cs typeface="+mn-cs"/>
              </a:rPr>
              <a:t>, ανάπτυξης του </a:t>
            </a:r>
            <a:r>
              <a:rPr lang="en-US" sz="1200" kern="1200" dirty="0">
                <a:solidFill>
                  <a:schemeClr val="tx1"/>
                </a:solidFill>
                <a:effectLst/>
                <a:latin typeface="+mn-lt"/>
                <a:ea typeface="+mn-ea"/>
                <a:cs typeface="+mn-cs"/>
              </a:rPr>
              <a:t>S</a:t>
            </a:r>
            <a:r>
              <a:rPr lang="el-GR" sz="1200"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thermophilus</a:t>
            </a:r>
            <a:r>
              <a:rPr lang="el-GR" sz="1200" kern="1200" dirty="0">
                <a:solidFill>
                  <a:schemeClr val="tx1"/>
                </a:solidFill>
                <a:effectLst/>
                <a:latin typeface="+mn-lt"/>
                <a:ea typeface="+mn-ea"/>
                <a:cs typeface="+mn-cs"/>
              </a:rPr>
              <a:t>.</a:t>
            </a:r>
          </a:p>
          <a:p>
            <a:endParaRPr lang="el-GR" dirty="0"/>
          </a:p>
        </p:txBody>
      </p:sp>
      <p:sp>
        <p:nvSpPr>
          <p:cNvPr id="4" name="Θέση αριθμού διαφάνειας 3"/>
          <p:cNvSpPr>
            <a:spLocks noGrp="1"/>
          </p:cNvSpPr>
          <p:nvPr>
            <p:ph type="sldNum" sz="quarter" idx="5"/>
          </p:nvPr>
        </p:nvSpPr>
        <p:spPr/>
        <p:txBody>
          <a:bodyPr/>
          <a:lstStyle/>
          <a:p>
            <a:fld id="{87291EF5-A7F0-43F3-9480-D0F04B649033}" type="slidenum">
              <a:rPr lang="el-GR" smtClean="0"/>
              <a:t>7</a:t>
            </a:fld>
            <a:endParaRPr lang="el-GR"/>
          </a:p>
        </p:txBody>
      </p:sp>
    </p:spTree>
    <p:extLst>
      <p:ext uri="{BB962C8B-B14F-4D97-AF65-F5344CB8AC3E}">
        <p14:creationId xmlns:p14="http://schemas.microsoft.com/office/powerpoint/2010/main" val="23410806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200" kern="1200" dirty="0">
                <a:solidFill>
                  <a:schemeClr val="tx1"/>
                </a:solidFill>
                <a:effectLst/>
                <a:latin typeface="+mn-lt"/>
                <a:ea typeface="+mn-ea"/>
                <a:cs typeface="+mn-cs"/>
              </a:rPr>
              <a:t>Εδώ απεικονίζεται το μοντέλο της παστερίωσης. Περιλαμβάνονται 3 πλακοειδείς </a:t>
            </a:r>
            <a:r>
              <a:rPr lang="el-GR" sz="1200" kern="1200" dirty="0" err="1">
                <a:solidFill>
                  <a:schemeClr val="tx1"/>
                </a:solidFill>
                <a:effectLst/>
                <a:latin typeface="+mn-lt"/>
                <a:ea typeface="+mn-ea"/>
                <a:cs typeface="+mn-cs"/>
              </a:rPr>
              <a:t>εναλλάκτες</a:t>
            </a:r>
            <a:r>
              <a:rPr lang="el-GR" sz="1200" kern="1200" dirty="0">
                <a:solidFill>
                  <a:schemeClr val="tx1"/>
                </a:solidFill>
                <a:effectLst/>
                <a:latin typeface="+mn-lt"/>
                <a:ea typeface="+mn-ea"/>
                <a:cs typeface="+mn-cs"/>
              </a:rPr>
              <a:t> θερμότητας που λειτουργούν κατ’ </a:t>
            </a:r>
            <a:r>
              <a:rPr lang="el-GR" sz="1200" kern="1200" dirty="0" err="1">
                <a:solidFill>
                  <a:schemeClr val="tx1"/>
                </a:solidFill>
                <a:effectLst/>
                <a:latin typeface="+mn-lt"/>
                <a:ea typeface="+mn-ea"/>
                <a:cs typeface="+mn-cs"/>
              </a:rPr>
              <a:t>αντιρροή</a:t>
            </a:r>
            <a:r>
              <a:rPr lang="el-GR" sz="1200" kern="1200" dirty="0">
                <a:solidFill>
                  <a:schemeClr val="tx1"/>
                </a:solidFill>
                <a:effectLst/>
                <a:latin typeface="+mn-lt"/>
                <a:ea typeface="+mn-ea"/>
                <a:cs typeface="+mn-cs"/>
              </a:rPr>
              <a:t>, η αναγεννητική μονάδα, ο προθερμαντήρας και ο </a:t>
            </a:r>
            <a:r>
              <a:rPr lang="el-GR" sz="1200" kern="1200" dirty="0" err="1">
                <a:solidFill>
                  <a:schemeClr val="tx1"/>
                </a:solidFill>
                <a:effectLst/>
                <a:latin typeface="+mn-lt"/>
                <a:ea typeface="+mn-ea"/>
                <a:cs typeface="+mn-cs"/>
              </a:rPr>
              <a:t>ψύκτης</a:t>
            </a:r>
            <a:r>
              <a:rPr lang="el-GR" sz="1200" kern="1200" dirty="0">
                <a:solidFill>
                  <a:schemeClr val="tx1"/>
                </a:solidFill>
                <a:effectLst/>
                <a:latin typeface="+mn-lt"/>
                <a:ea typeface="+mn-ea"/>
                <a:cs typeface="+mn-cs"/>
              </a:rPr>
              <a:t>). Αποτελείται επίσης από τον θάλαμο συγκράτησης και 2 ρυθμιστές. Με μπλε χρώμα παρουσιάζονται οι λειτουργικές παράμετροι που έχουν οριστεί εξαρχής στο μοντέλο και με κόκκινο φαίνονται τα αποτελέσματα της προσομοίωσης. 2500 </a:t>
            </a:r>
            <a:r>
              <a:rPr lang="en-US" sz="1200" kern="1200" dirty="0">
                <a:solidFill>
                  <a:schemeClr val="tx1"/>
                </a:solidFill>
                <a:effectLst/>
                <a:latin typeface="+mn-lt"/>
                <a:ea typeface="+mn-ea"/>
                <a:cs typeface="+mn-cs"/>
              </a:rPr>
              <a:t>kg</a:t>
            </a:r>
            <a:r>
              <a:rPr lang="el-GR" sz="1200"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h</a:t>
            </a:r>
            <a:r>
              <a:rPr lang="el-GR" sz="1200" kern="1200" dirty="0">
                <a:solidFill>
                  <a:schemeClr val="tx1"/>
                </a:solidFill>
                <a:effectLst/>
                <a:latin typeface="+mn-lt"/>
                <a:ea typeface="+mn-ea"/>
                <a:cs typeface="+mn-cs"/>
              </a:rPr>
              <a:t> γάλακτος εισέρχονται σε θερμοκρασία 5 κελσίου στην αναγεννητική μονάδα όπου θερμαίνονται από το ρεύμα ανακύκλωσης του παστεριωμένου γάλακτος. Στη συνέχεια το γάλα θερμαίνεται στον προθερμαντήρα στη θερμοκρασία παστερίωσης, η οποία έχει οριστεί στους 75 κελσίου και αποτελεί το σημείο ρύθμισης του πρώτου ρυθμιστή. Στη συνέχεια το γάλα παραμένει στον θάλαμο συγκράτησης σε θερμοκρασία παστερίωσης και περνάει έπειτα στο κέλυφος της αναγεννητικής μονάδας, από όπου και ψύχεται από το κρύο γάλα της τροφοδοσίας. Τέλος, το γάλα ψύχεται περαιτέρω στον </a:t>
            </a:r>
            <a:r>
              <a:rPr lang="el-GR" sz="1200" kern="1200" dirty="0" err="1">
                <a:solidFill>
                  <a:schemeClr val="tx1"/>
                </a:solidFill>
                <a:effectLst/>
                <a:latin typeface="+mn-lt"/>
                <a:ea typeface="+mn-ea"/>
                <a:cs typeface="+mn-cs"/>
              </a:rPr>
              <a:t>ψύκτη</a:t>
            </a:r>
            <a:r>
              <a:rPr lang="el-GR" sz="1200" kern="1200" dirty="0">
                <a:solidFill>
                  <a:schemeClr val="tx1"/>
                </a:solidFill>
                <a:effectLst/>
                <a:latin typeface="+mn-lt"/>
                <a:ea typeface="+mn-ea"/>
                <a:cs typeface="+mn-cs"/>
              </a:rPr>
              <a:t> μέχρι τους 20 κελσίου, το οποίο αποτελεί το σημείο ρύθμισης του δεύτερου ρυθμιστή. Πρόκειται για δυναμική </a:t>
            </a:r>
            <a:r>
              <a:rPr lang="el-GR" sz="1200" kern="1200" dirty="0" err="1">
                <a:solidFill>
                  <a:schemeClr val="tx1"/>
                </a:solidFill>
                <a:effectLst/>
                <a:latin typeface="+mn-lt"/>
                <a:ea typeface="+mn-ea"/>
                <a:cs typeface="+mn-cs"/>
              </a:rPr>
              <a:t>μοντελοποίηση</a:t>
            </a:r>
            <a:r>
              <a:rPr lang="el-GR" sz="1200" kern="1200" dirty="0">
                <a:solidFill>
                  <a:schemeClr val="tx1"/>
                </a:solidFill>
                <a:effectLst/>
                <a:latin typeface="+mn-lt"/>
                <a:ea typeface="+mn-ea"/>
                <a:cs typeface="+mn-cs"/>
              </a:rPr>
              <a:t> και προσομοίωση της διεργασίας και όσον αφορά τα αποτελέσματα στη μόνιμη κατάσταση παρατηρούμε τις μεγάλες τιμές της ροής του νερού θέρμανσης, περίπου 2900 </a:t>
            </a:r>
            <a:r>
              <a:rPr lang="en-US" sz="1200" kern="1200" dirty="0">
                <a:solidFill>
                  <a:schemeClr val="tx1"/>
                </a:solidFill>
                <a:effectLst/>
                <a:latin typeface="+mn-lt"/>
                <a:ea typeface="+mn-ea"/>
                <a:cs typeface="+mn-cs"/>
              </a:rPr>
              <a:t>kg</a:t>
            </a:r>
            <a:r>
              <a:rPr lang="el-GR" sz="1200"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h</a:t>
            </a:r>
            <a:r>
              <a:rPr lang="el-GR" sz="1200" kern="1200" dirty="0">
                <a:solidFill>
                  <a:schemeClr val="tx1"/>
                </a:solidFill>
                <a:effectLst/>
                <a:latin typeface="+mn-lt"/>
                <a:ea typeface="+mn-ea"/>
                <a:cs typeface="+mn-cs"/>
              </a:rPr>
              <a:t>, σε σχέση με τη ροή του γάλακτος 2500 </a:t>
            </a:r>
            <a:r>
              <a:rPr lang="en-US" sz="1200" kern="1200" dirty="0">
                <a:solidFill>
                  <a:schemeClr val="tx1"/>
                </a:solidFill>
                <a:effectLst/>
                <a:latin typeface="+mn-lt"/>
                <a:ea typeface="+mn-ea"/>
                <a:cs typeface="+mn-cs"/>
              </a:rPr>
              <a:t>kg</a:t>
            </a:r>
            <a:r>
              <a:rPr lang="el-GR" sz="1200"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h</a:t>
            </a:r>
            <a:r>
              <a:rPr lang="el-GR" sz="1200" kern="1200" dirty="0">
                <a:solidFill>
                  <a:schemeClr val="tx1"/>
                </a:solidFill>
                <a:effectLst/>
                <a:latin typeface="+mn-lt"/>
                <a:ea typeface="+mn-ea"/>
                <a:cs typeface="+mn-cs"/>
              </a:rPr>
              <a:t>.</a:t>
            </a:r>
          </a:p>
          <a:p>
            <a:endParaRPr lang="el-GR" dirty="0"/>
          </a:p>
        </p:txBody>
      </p:sp>
      <p:sp>
        <p:nvSpPr>
          <p:cNvPr id="4" name="Θέση αριθμού διαφάνειας 3"/>
          <p:cNvSpPr>
            <a:spLocks noGrp="1"/>
          </p:cNvSpPr>
          <p:nvPr>
            <p:ph type="sldNum" sz="quarter" idx="5"/>
          </p:nvPr>
        </p:nvSpPr>
        <p:spPr/>
        <p:txBody>
          <a:bodyPr/>
          <a:lstStyle/>
          <a:p>
            <a:fld id="{87291EF5-A7F0-43F3-9480-D0F04B649033}" type="slidenum">
              <a:rPr lang="el-GR" smtClean="0"/>
              <a:t>8</a:t>
            </a:fld>
            <a:endParaRPr lang="el-GR"/>
          </a:p>
        </p:txBody>
      </p:sp>
    </p:spTree>
    <p:extLst>
      <p:ext uri="{BB962C8B-B14F-4D97-AF65-F5344CB8AC3E}">
        <p14:creationId xmlns:p14="http://schemas.microsoft.com/office/powerpoint/2010/main" val="5495803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200" kern="1200" dirty="0">
                <a:solidFill>
                  <a:schemeClr val="tx1"/>
                </a:solidFill>
                <a:effectLst/>
                <a:latin typeface="+mn-lt"/>
                <a:ea typeface="+mn-ea"/>
                <a:cs typeface="+mn-cs"/>
              </a:rPr>
              <a:t>Στο πάνω διάγραμμα παρατηρούμε τη συγκέντρωση της </a:t>
            </a:r>
            <a:r>
              <a:rPr lang="el-GR" sz="1200" kern="1200" dirty="0" err="1">
                <a:solidFill>
                  <a:schemeClr val="tx1"/>
                </a:solidFill>
                <a:effectLst/>
                <a:latin typeface="+mn-lt"/>
                <a:ea typeface="+mn-ea"/>
                <a:cs typeface="+mn-cs"/>
              </a:rPr>
              <a:t>φωσφατάσης</a:t>
            </a:r>
            <a:r>
              <a:rPr lang="el-GR" sz="1200" kern="1200" dirty="0">
                <a:solidFill>
                  <a:schemeClr val="tx1"/>
                </a:solidFill>
                <a:effectLst/>
                <a:latin typeface="+mn-lt"/>
                <a:ea typeface="+mn-ea"/>
                <a:cs typeface="+mn-cs"/>
              </a:rPr>
              <a:t> και στο κάτω των πρωτεϊνών του ορού γάλακτος ως προς τον χρόνο παραμονής στους </a:t>
            </a:r>
            <a:r>
              <a:rPr lang="el-GR" sz="1200" kern="1200" dirty="0" err="1">
                <a:solidFill>
                  <a:schemeClr val="tx1"/>
                </a:solidFill>
                <a:effectLst/>
                <a:latin typeface="+mn-lt"/>
                <a:ea typeface="+mn-ea"/>
                <a:cs typeface="+mn-cs"/>
              </a:rPr>
              <a:t>εναλλάκτες</a:t>
            </a:r>
            <a:r>
              <a:rPr lang="el-GR" sz="1200" kern="1200" dirty="0">
                <a:solidFill>
                  <a:schemeClr val="tx1"/>
                </a:solidFill>
                <a:effectLst/>
                <a:latin typeface="+mn-lt"/>
                <a:ea typeface="+mn-ea"/>
                <a:cs typeface="+mn-cs"/>
              </a:rPr>
              <a:t> θερμότητας. Η απενεργοποίηση της </a:t>
            </a:r>
            <a:r>
              <a:rPr lang="el-GR" sz="1200" kern="1200" dirty="0" err="1">
                <a:solidFill>
                  <a:schemeClr val="tx1"/>
                </a:solidFill>
                <a:effectLst/>
                <a:latin typeface="+mn-lt"/>
                <a:ea typeface="+mn-ea"/>
                <a:cs typeface="+mn-cs"/>
              </a:rPr>
              <a:t>φωσφατάσης</a:t>
            </a:r>
            <a:r>
              <a:rPr lang="el-GR" sz="1200" kern="1200" dirty="0">
                <a:solidFill>
                  <a:schemeClr val="tx1"/>
                </a:solidFill>
                <a:effectLst/>
                <a:latin typeface="+mn-lt"/>
                <a:ea typeface="+mn-ea"/>
                <a:cs typeface="+mn-cs"/>
              </a:rPr>
              <a:t> λαμβάνει χώρα κυρίως στον προθερμαντήρα, ενώ η μετουσίωση των πρωτεϊνών πραγματοποιείται κυρίως στον θάλαμο συγκράτησης που έπεται. Αυτό αναδεικνύει περιθώρια βελτιστοποίησης. Από τις τρεις πρωτεΐνες του ορού γάλακτος που εξετάζονται, η β-</a:t>
            </a:r>
            <a:r>
              <a:rPr lang="el-GR" sz="1200" kern="1200" dirty="0" err="1">
                <a:solidFill>
                  <a:schemeClr val="tx1"/>
                </a:solidFill>
                <a:effectLst/>
                <a:latin typeface="+mn-lt"/>
                <a:ea typeface="+mn-ea"/>
                <a:cs typeface="+mn-cs"/>
              </a:rPr>
              <a:t>Λακτοσφαιρίνη</a:t>
            </a:r>
            <a:r>
              <a:rPr lang="el-GR" sz="1200" kern="1200" dirty="0">
                <a:solidFill>
                  <a:schemeClr val="tx1"/>
                </a:solidFill>
                <a:effectLst/>
                <a:latin typeface="+mn-lt"/>
                <a:ea typeface="+mn-ea"/>
                <a:cs typeface="+mn-cs"/>
              </a:rPr>
              <a:t> εμφανίζει τη μεγαλύτερη τάση μετουσίωσης και εναπόθεσης.</a:t>
            </a:r>
          </a:p>
          <a:p>
            <a:endParaRPr lang="el-GR" dirty="0"/>
          </a:p>
        </p:txBody>
      </p:sp>
      <p:sp>
        <p:nvSpPr>
          <p:cNvPr id="4" name="Θέση αριθμού διαφάνειας 3"/>
          <p:cNvSpPr>
            <a:spLocks noGrp="1"/>
          </p:cNvSpPr>
          <p:nvPr>
            <p:ph type="sldNum" sz="quarter" idx="5"/>
          </p:nvPr>
        </p:nvSpPr>
        <p:spPr/>
        <p:txBody>
          <a:bodyPr/>
          <a:lstStyle/>
          <a:p>
            <a:fld id="{87291EF5-A7F0-43F3-9480-D0F04B649033}" type="slidenum">
              <a:rPr lang="el-GR" smtClean="0"/>
              <a:t>9</a:t>
            </a:fld>
            <a:endParaRPr lang="el-GR"/>
          </a:p>
        </p:txBody>
      </p:sp>
    </p:spTree>
    <p:extLst>
      <p:ext uri="{BB962C8B-B14F-4D97-AF65-F5344CB8AC3E}">
        <p14:creationId xmlns:p14="http://schemas.microsoft.com/office/powerpoint/2010/main" val="7055390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200" kern="1200" dirty="0">
                <a:solidFill>
                  <a:schemeClr val="tx1"/>
                </a:solidFill>
                <a:effectLst/>
                <a:latin typeface="+mn-lt"/>
                <a:ea typeface="+mn-ea"/>
                <a:cs typeface="+mn-cs"/>
              </a:rPr>
              <a:t>Παρακάτω παρουσιάζονται οι εξισώσεις του μαθηματικού μοντέλου της διεργασίας διήθησης με μεμβράνη. Αφορούν τα ισοζύγια μάζας, τη στατική και δυναμική αντίσταση στη ροή λόγω των χαρακτηριστικών της μεμβράνης και των </a:t>
            </a:r>
            <a:r>
              <a:rPr lang="el-GR" sz="1200" kern="1200" dirty="0" err="1">
                <a:solidFill>
                  <a:schemeClr val="tx1"/>
                </a:solidFill>
                <a:effectLst/>
                <a:latin typeface="+mn-lt"/>
                <a:ea typeface="+mn-ea"/>
                <a:cs typeface="+mn-cs"/>
              </a:rPr>
              <a:t>επικαθήσεων</a:t>
            </a:r>
            <a:r>
              <a:rPr lang="el-GR" sz="1200" kern="1200" dirty="0">
                <a:solidFill>
                  <a:schemeClr val="tx1"/>
                </a:solidFill>
                <a:effectLst/>
                <a:latin typeface="+mn-lt"/>
                <a:ea typeface="+mn-ea"/>
                <a:cs typeface="+mn-cs"/>
              </a:rPr>
              <a:t>, και τον παράγοντα κατακράτησης που καθορίζει την κατακράτηση των στερεών.</a:t>
            </a:r>
          </a:p>
          <a:p>
            <a:endParaRPr lang="el-GR" dirty="0"/>
          </a:p>
        </p:txBody>
      </p:sp>
      <p:sp>
        <p:nvSpPr>
          <p:cNvPr id="4" name="Θέση αριθμού διαφάνειας 3"/>
          <p:cNvSpPr>
            <a:spLocks noGrp="1"/>
          </p:cNvSpPr>
          <p:nvPr>
            <p:ph type="sldNum" sz="quarter" idx="5"/>
          </p:nvPr>
        </p:nvSpPr>
        <p:spPr/>
        <p:txBody>
          <a:bodyPr/>
          <a:lstStyle/>
          <a:p>
            <a:fld id="{87291EF5-A7F0-43F3-9480-D0F04B649033}" type="slidenum">
              <a:rPr lang="el-GR" smtClean="0"/>
              <a:t>10</a:t>
            </a:fld>
            <a:endParaRPr lang="el-GR"/>
          </a:p>
        </p:txBody>
      </p:sp>
    </p:spTree>
    <p:extLst>
      <p:ext uri="{BB962C8B-B14F-4D97-AF65-F5344CB8AC3E}">
        <p14:creationId xmlns:p14="http://schemas.microsoft.com/office/powerpoint/2010/main" val="33187925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200" kern="1200" dirty="0">
                <a:solidFill>
                  <a:schemeClr val="tx1"/>
                </a:solidFill>
                <a:effectLst/>
                <a:latin typeface="+mn-lt"/>
                <a:ea typeface="+mn-ea"/>
                <a:cs typeface="+mn-cs"/>
              </a:rPr>
              <a:t>Το μοντέλο διήθησης με μεμβράνη αποτελείται από τη μεμβράνη </a:t>
            </a:r>
            <a:r>
              <a:rPr lang="el-GR" sz="1200" kern="1200" dirty="0" err="1">
                <a:solidFill>
                  <a:schemeClr val="tx1"/>
                </a:solidFill>
                <a:effectLst/>
                <a:latin typeface="+mn-lt"/>
                <a:ea typeface="+mn-ea"/>
                <a:cs typeface="+mn-cs"/>
              </a:rPr>
              <a:t>υπερδιήθησης</a:t>
            </a:r>
            <a:r>
              <a:rPr lang="el-GR" sz="1200" kern="1200" dirty="0">
                <a:solidFill>
                  <a:schemeClr val="tx1"/>
                </a:solidFill>
                <a:effectLst/>
                <a:latin typeface="+mn-lt"/>
                <a:ea typeface="+mn-ea"/>
                <a:cs typeface="+mn-cs"/>
              </a:rPr>
              <a:t> και 2 ρυθμιστές. Το γάλα εισέρχεται στους 20 κελσίου, ίδια θερμοκρασία με αυτή της εξόδου στο προηγούμενο μοντέλο της παστερίωσης, και εισέρχεται και νερό </a:t>
            </a:r>
            <a:r>
              <a:rPr lang="el-GR" sz="1200" kern="1200" dirty="0" err="1">
                <a:solidFill>
                  <a:schemeClr val="tx1"/>
                </a:solidFill>
                <a:effectLst/>
                <a:latin typeface="+mn-lt"/>
                <a:ea typeface="+mn-ea"/>
                <a:cs typeface="+mn-cs"/>
              </a:rPr>
              <a:t>διαδιήθησης</a:t>
            </a:r>
            <a:r>
              <a:rPr lang="el-GR" sz="1200" kern="1200" dirty="0">
                <a:solidFill>
                  <a:schemeClr val="tx1"/>
                </a:solidFill>
                <a:effectLst/>
                <a:latin typeface="+mn-lt"/>
                <a:ea typeface="+mn-ea"/>
                <a:cs typeface="+mn-cs"/>
              </a:rPr>
              <a:t> στους 20 κελσίου. Στόχος είναι να διαχωριστεί η τροφοδοσία σε δύο ρεύματα εξόδου, με το συμπύκνωμα να αποτελείται από 20% στερεά, τα οποία είναι κυρίως πρωτεΐνες. Τα 20% στερεά είναι το σημείο ρύθμισης του ελεγκτή που ρυθμίζει τη ροή του νερού </a:t>
            </a:r>
            <a:r>
              <a:rPr lang="el-GR" sz="1200" kern="1200" dirty="0" err="1">
                <a:solidFill>
                  <a:schemeClr val="tx1"/>
                </a:solidFill>
                <a:effectLst/>
                <a:latin typeface="+mn-lt"/>
                <a:ea typeface="+mn-ea"/>
                <a:cs typeface="+mn-cs"/>
              </a:rPr>
              <a:t>διαδιήθησης</a:t>
            </a:r>
            <a:r>
              <a:rPr lang="el-GR" sz="1200" kern="1200" dirty="0">
                <a:solidFill>
                  <a:schemeClr val="tx1"/>
                </a:solidFill>
                <a:effectLst/>
                <a:latin typeface="+mn-lt"/>
                <a:ea typeface="+mn-ea"/>
                <a:cs typeface="+mn-cs"/>
              </a:rPr>
              <a:t>. Ο ρυθμιστής μάζας έχει σημείο ρύθμισης 16% πρωτεΐνες στο συμπύκνωμα και ρυθμίζει τη ροή του εισερχόμενου γάλακτος. Από τα αποτελέσματα της προσομοίωσης που παρουσιάζονται με κόκκινο χρώμα, η ροή του διηθήματος είναι 6.4 φορές μεγαλύτερη από του συμπυκνώματος, λόγω της μεγάλης περιεκτικότητας του γάλακτος σε νερό και της εισροής 1063 </a:t>
            </a:r>
            <a:r>
              <a:rPr lang="en-US" sz="1200" kern="1200" dirty="0">
                <a:solidFill>
                  <a:schemeClr val="tx1"/>
                </a:solidFill>
                <a:effectLst/>
                <a:latin typeface="+mn-lt"/>
                <a:ea typeface="+mn-ea"/>
                <a:cs typeface="+mn-cs"/>
              </a:rPr>
              <a:t>kg</a:t>
            </a:r>
            <a:r>
              <a:rPr lang="el-GR" sz="1200"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h</a:t>
            </a:r>
            <a:r>
              <a:rPr lang="el-GR" sz="1200" kern="1200" dirty="0">
                <a:solidFill>
                  <a:schemeClr val="tx1"/>
                </a:solidFill>
                <a:effectLst/>
                <a:latin typeface="+mn-lt"/>
                <a:ea typeface="+mn-ea"/>
                <a:cs typeface="+mn-cs"/>
              </a:rPr>
              <a:t> νερού </a:t>
            </a:r>
            <a:r>
              <a:rPr lang="el-GR" sz="1200" kern="1200" dirty="0" err="1">
                <a:solidFill>
                  <a:schemeClr val="tx1"/>
                </a:solidFill>
                <a:effectLst/>
                <a:latin typeface="+mn-lt"/>
                <a:ea typeface="+mn-ea"/>
                <a:cs typeface="+mn-cs"/>
              </a:rPr>
              <a:t>διαδιήθησης</a:t>
            </a:r>
            <a:r>
              <a:rPr lang="el-GR" sz="1200" kern="1200" dirty="0">
                <a:solidFill>
                  <a:schemeClr val="tx1"/>
                </a:solidFill>
                <a:effectLst/>
                <a:latin typeface="+mn-lt"/>
                <a:ea typeface="+mn-ea"/>
                <a:cs typeface="+mn-cs"/>
              </a:rPr>
              <a:t> μαζί με την τροφοδοσία.</a:t>
            </a:r>
          </a:p>
          <a:p>
            <a:endParaRPr lang="el-GR" dirty="0"/>
          </a:p>
        </p:txBody>
      </p:sp>
      <p:sp>
        <p:nvSpPr>
          <p:cNvPr id="4" name="Θέση αριθμού διαφάνειας 3"/>
          <p:cNvSpPr>
            <a:spLocks noGrp="1"/>
          </p:cNvSpPr>
          <p:nvPr>
            <p:ph type="sldNum" sz="quarter" idx="5"/>
          </p:nvPr>
        </p:nvSpPr>
        <p:spPr/>
        <p:txBody>
          <a:bodyPr/>
          <a:lstStyle/>
          <a:p>
            <a:fld id="{87291EF5-A7F0-43F3-9480-D0F04B649033}" type="slidenum">
              <a:rPr lang="el-GR" smtClean="0"/>
              <a:t>11</a:t>
            </a:fld>
            <a:endParaRPr lang="el-GR"/>
          </a:p>
        </p:txBody>
      </p:sp>
    </p:spTree>
    <p:extLst>
      <p:ext uri="{BB962C8B-B14F-4D97-AF65-F5344CB8AC3E}">
        <p14:creationId xmlns:p14="http://schemas.microsoft.com/office/powerpoint/2010/main" val="731829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r>
              <a:rPr lang="el-GR" sz="1200" kern="1200" dirty="0">
                <a:solidFill>
                  <a:schemeClr val="tx1"/>
                </a:solidFill>
                <a:effectLst/>
                <a:latin typeface="+mn-lt"/>
                <a:ea typeface="+mn-ea"/>
                <a:cs typeface="+mn-cs"/>
              </a:rPr>
              <a:t>Στο ολοκληρωμένο μοντέλο χρησιμοποιούνται οι συσκευές που παρουσιάστηκαν στα προηγούμενα δύο μοντέλα, εκτός από τους ρυθμιστές. Οι ροές των βοηθητικών παροχών ορίζονται με βάση τα αποτελέσματα των βελτιστοποιήσεων των δύο προηγούμενων μοντέλων. </a:t>
            </a:r>
          </a:p>
          <a:p>
            <a:r>
              <a:rPr lang="el-GR" sz="1200" kern="1200" dirty="0">
                <a:solidFill>
                  <a:schemeClr val="tx1"/>
                </a:solidFill>
                <a:effectLst/>
                <a:latin typeface="+mn-lt"/>
                <a:ea typeface="+mn-ea"/>
                <a:cs typeface="+mn-cs"/>
              </a:rPr>
              <a:t>Με κόκκινο φαίνονται και πάλι τα αποτελέσματα της προσομοίωσης. Βασική διαφορά είναι ότι η θερμοκρασία παστερίωσης μειώθηκε από 75 σε 73 κελσίου. Η ροή του διηθήματος έναντι του συμπυκνώματος είναι επίσης 5 φορές μεγαλύτερη σε σχέση με 6.4 φορές που ήταν πριν.</a:t>
            </a:r>
          </a:p>
          <a:p>
            <a:endParaRPr lang="el-GR" dirty="0"/>
          </a:p>
        </p:txBody>
      </p:sp>
      <p:sp>
        <p:nvSpPr>
          <p:cNvPr id="4" name="Θέση αριθμού διαφάνειας 3"/>
          <p:cNvSpPr>
            <a:spLocks noGrp="1"/>
          </p:cNvSpPr>
          <p:nvPr>
            <p:ph type="sldNum" sz="quarter" idx="5"/>
          </p:nvPr>
        </p:nvSpPr>
        <p:spPr/>
        <p:txBody>
          <a:bodyPr/>
          <a:lstStyle/>
          <a:p>
            <a:fld id="{87291EF5-A7F0-43F3-9480-D0F04B649033}" type="slidenum">
              <a:rPr lang="el-GR" smtClean="0"/>
              <a:t>12</a:t>
            </a:fld>
            <a:endParaRPr lang="el-GR"/>
          </a:p>
        </p:txBody>
      </p:sp>
    </p:spTree>
    <p:extLst>
      <p:ext uri="{BB962C8B-B14F-4D97-AF65-F5344CB8AC3E}">
        <p14:creationId xmlns:p14="http://schemas.microsoft.com/office/powerpoint/2010/main" val="25780327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200" kern="1200" dirty="0">
                <a:solidFill>
                  <a:schemeClr val="tx1"/>
                </a:solidFill>
                <a:effectLst/>
                <a:latin typeface="+mn-lt"/>
                <a:ea typeface="+mn-ea"/>
                <a:cs typeface="+mn-cs"/>
              </a:rPr>
              <a:t>Στις επόμενες διαφάνειες συγκρίνονται τα αποτελέσματα της προσομοίωσης του ολοκληρωμένου μοντέλου, με τα αποτελέσματα των προηγούμενων δύο μοντέλων. Ο συντελεστής μεταφοράς θερμότητας στο θερμό τμήμα της αναγεννητικής μονάδας μειώνεται κυρίως στην αρχή του </a:t>
            </a:r>
            <a:r>
              <a:rPr lang="el-GR" sz="1200" kern="1200" dirty="0" err="1">
                <a:solidFill>
                  <a:schemeClr val="tx1"/>
                </a:solidFill>
                <a:effectLst/>
                <a:latin typeface="+mn-lt"/>
                <a:ea typeface="+mn-ea"/>
                <a:cs typeface="+mn-cs"/>
              </a:rPr>
              <a:t>εναλλάκτη</a:t>
            </a:r>
            <a:r>
              <a:rPr lang="el-GR" sz="1200" kern="1200" dirty="0">
                <a:solidFill>
                  <a:schemeClr val="tx1"/>
                </a:solidFill>
                <a:effectLst/>
                <a:latin typeface="+mn-lt"/>
                <a:ea typeface="+mn-ea"/>
                <a:cs typeface="+mn-cs"/>
              </a:rPr>
              <a:t>, όπως φαίνεται από τη μπλε γραμμή. Ωστόσο, στο ολοκληρωμένο μοντέλο στα δεξιά, μειώνεται από τα 1300 στα 1200 σε σχέση με το 1100 </a:t>
            </a:r>
            <a:r>
              <a:rPr lang="en-US" sz="1200" kern="1200" dirty="0">
                <a:solidFill>
                  <a:schemeClr val="tx1"/>
                </a:solidFill>
                <a:effectLst/>
                <a:latin typeface="+mn-lt"/>
                <a:ea typeface="+mn-ea"/>
                <a:cs typeface="+mn-cs"/>
              </a:rPr>
              <a:t>W</a:t>
            </a:r>
            <a:r>
              <a:rPr lang="el-GR" sz="1200"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m</a:t>
            </a:r>
            <a:r>
              <a:rPr lang="el-GR" sz="1200" kern="1200" dirty="0">
                <a:solidFill>
                  <a:schemeClr val="tx1"/>
                </a:solidFill>
                <a:effectLst/>
                <a:latin typeface="+mn-lt"/>
                <a:ea typeface="+mn-ea"/>
                <a:cs typeface="+mn-cs"/>
              </a:rPr>
              <a:t>2 </a:t>
            </a:r>
            <a:r>
              <a:rPr lang="en-US" sz="1200" kern="1200" dirty="0">
                <a:solidFill>
                  <a:schemeClr val="tx1"/>
                </a:solidFill>
                <a:effectLst/>
                <a:latin typeface="+mn-lt"/>
                <a:ea typeface="+mn-ea"/>
                <a:cs typeface="+mn-cs"/>
              </a:rPr>
              <a:t>K</a:t>
            </a:r>
            <a:r>
              <a:rPr lang="el-GR" sz="1200" kern="1200" dirty="0">
                <a:solidFill>
                  <a:schemeClr val="tx1"/>
                </a:solidFill>
                <a:effectLst/>
                <a:latin typeface="+mn-lt"/>
                <a:ea typeface="+mn-ea"/>
                <a:cs typeface="+mn-cs"/>
              </a:rPr>
              <a:t>) του μοντέλου της παστερίωσης. Αυτό συμβαίνει λόγω της μικρότερης θερμοκρασίας παστερίωσης που συντελεί σε λιγότερη μετουσίωση και επικαθήσεις β-</a:t>
            </a:r>
            <a:r>
              <a:rPr lang="el-GR" sz="1200" kern="1200" dirty="0" err="1">
                <a:solidFill>
                  <a:schemeClr val="tx1"/>
                </a:solidFill>
                <a:effectLst/>
                <a:latin typeface="+mn-lt"/>
                <a:ea typeface="+mn-ea"/>
                <a:cs typeface="+mn-cs"/>
              </a:rPr>
              <a:t>Λακτοσφαιρίνης</a:t>
            </a:r>
            <a:r>
              <a:rPr lang="el-GR" sz="1200" kern="1200" dirty="0">
                <a:solidFill>
                  <a:schemeClr val="tx1"/>
                </a:solidFill>
                <a:effectLst/>
                <a:latin typeface="+mn-lt"/>
                <a:ea typeface="+mn-ea"/>
                <a:cs typeface="+mn-cs"/>
              </a:rPr>
              <a:t>.</a:t>
            </a:r>
          </a:p>
          <a:p>
            <a:endParaRPr lang="el-GR" dirty="0"/>
          </a:p>
        </p:txBody>
      </p:sp>
      <p:sp>
        <p:nvSpPr>
          <p:cNvPr id="4" name="Θέση αριθμού διαφάνειας 3"/>
          <p:cNvSpPr>
            <a:spLocks noGrp="1"/>
          </p:cNvSpPr>
          <p:nvPr>
            <p:ph type="sldNum" sz="quarter" idx="5"/>
          </p:nvPr>
        </p:nvSpPr>
        <p:spPr/>
        <p:txBody>
          <a:bodyPr/>
          <a:lstStyle/>
          <a:p>
            <a:fld id="{87291EF5-A7F0-43F3-9480-D0F04B649033}" type="slidenum">
              <a:rPr lang="el-GR" smtClean="0"/>
              <a:t>13</a:t>
            </a:fld>
            <a:endParaRPr lang="el-GR"/>
          </a:p>
        </p:txBody>
      </p:sp>
    </p:spTree>
    <p:extLst>
      <p:ext uri="{BB962C8B-B14F-4D97-AF65-F5344CB8AC3E}">
        <p14:creationId xmlns:p14="http://schemas.microsoft.com/office/powerpoint/2010/main" val="31091568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200" kern="1200" dirty="0">
                <a:solidFill>
                  <a:schemeClr val="tx1"/>
                </a:solidFill>
                <a:effectLst/>
                <a:latin typeface="+mn-lt"/>
                <a:ea typeface="+mn-ea"/>
                <a:cs typeface="+mn-cs"/>
              </a:rPr>
              <a:t>Η καμπύλη συγκέντρωσης του </a:t>
            </a:r>
            <a:r>
              <a:rPr lang="en-US" sz="1200" kern="1200" dirty="0">
                <a:solidFill>
                  <a:schemeClr val="tx1"/>
                </a:solidFill>
                <a:effectLst/>
                <a:latin typeface="+mn-lt"/>
                <a:ea typeface="+mn-ea"/>
                <a:cs typeface="+mn-cs"/>
              </a:rPr>
              <a:t>S</a:t>
            </a:r>
            <a:r>
              <a:rPr lang="el-GR" sz="1200"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thermophilus </a:t>
            </a:r>
            <a:r>
              <a:rPr lang="el-GR" sz="1200" kern="1200" dirty="0">
                <a:solidFill>
                  <a:schemeClr val="tx1"/>
                </a:solidFill>
                <a:effectLst/>
                <a:latin typeface="+mn-lt"/>
                <a:ea typeface="+mn-ea"/>
                <a:cs typeface="+mn-cs"/>
              </a:rPr>
              <a:t>στα τοιχώματα της αναγεννητικής μονάδας παραμένει παρόμοια για το μοντέλο παστερίωσης και το ολοκληρωμένο μοντέλο.</a:t>
            </a:r>
          </a:p>
          <a:p>
            <a:endParaRPr lang="el-GR" dirty="0"/>
          </a:p>
        </p:txBody>
      </p:sp>
      <p:sp>
        <p:nvSpPr>
          <p:cNvPr id="4" name="Θέση αριθμού διαφάνειας 3"/>
          <p:cNvSpPr>
            <a:spLocks noGrp="1"/>
          </p:cNvSpPr>
          <p:nvPr>
            <p:ph type="sldNum" sz="quarter" idx="5"/>
          </p:nvPr>
        </p:nvSpPr>
        <p:spPr/>
        <p:txBody>
          <a:bodyPr/>
          <a:lstStyle/>
          <a:p>
            <a:fld id="{87291EF5-A7F0-43F3-9480-D0F04B649033}" type="slidenum">
              <a:rPr lang="el-GR" smtClean="0"/>
              <a:t>14</a:t>
            </a:fld>
            <a:endParaRPr lang="el-GR"/>
          </a:p>
        </p:txBody>
      </p:sp>
    </p:spTree>
    <p:extLst>
      <p:ext uri="{BB962C8B-B14F-4D97-AF65-F5344CB8AC3E}">
        <p14:creationId xmlns:p14="http://schemas.microsoft.com/office/powerpoint/2010/main" val="10903766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200" kern="1200" dirty="0">
                <a:solidFill>
                  <a:schemeClr val="tx1"/>
                </a:solidFill>
                <a:effectLst/>
                <a:latin typeface="+mn-lt"/>
                <a:ea typeface="+mn-ea"/>
                <a:cs typeface="+mn-cs"/>
              </a:rPr>
              <a:t>Συγκρίνοντας τα διαγράμματα των συστάσεων του διηθήματος και του συμπυκνώματος στις στερεές ουσίες δεν υπάρχουν μεγάλες διαφορές. Οι πρωτεΐνες και τα συνολικά στερεά παραμένουν αναλογικά περισσότερα στο συμπύκνωμα σε σχέση με το διήθημα. </a:t>
            </a:r>
          </a:p>
          <a:p>
            <a:endParaRPr lang="el-GR" dirty="0"/>
          </a:p>
        </p:txBody>
      </p:sp>
      <p:sp>
        <p:nvSpPr>
          <p:cNvPr id="4" name="Θέση αριθμού διαφάνειας 3"/>
          <p:cNvSpPr>
            <a:spLocks noGrp="1"/>
          </p:cNvSpPr>
          <p:nvPr>
            <p:ph type="sldNum" sz="quarter" idx="5"/>
          </p:nvPr>
        </p:nvSpPr>
        <p:spPr/>
        <p:txBody>
          <a:bodyPr/>
          <a:lstStyle/>
          <a:p>
            <a:fld id="{87291EF5-A7F0-43F3-9480-D0F04B649033}" type="slidenum">
              <a:rPr lang="el-GR" smtClean="0"/>
              <a:t>15</a:t>
            </a:fld>
            <a:endParaRPr lang="el-GR"/>
          </a:p>
        </p:txBody>
      </p:sp>
    </p:spTree>
    <p:extLst>
      <p:ext uri="{BB962C8B-B14F-4D97-AF65-F5344CB8AC3E}">
        <p14:creationId xmlns:p14="http://schemas.microsoft.com/office/powerpoint/2010/main" val="39757511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r>
              <a:rPr lang="el-GR" sz="1200" kern="1200" dirty="0">
                <a:solidFill>
                  <a:schemeClr val="tx1"/>
                </a:solidFill>
                <a:effectLst/>
                <a:latin typeface="+mn-lt"/>
                <a:ea typeface="+mn-ea"/>
                <a:cs typeface="+mn-cs"/>
              </a:rPr>
              <a:t>Η ανάλυση συστήματος πραγματοποιείται με το εργαλείο </a:t>
            </a:r>
            <a:r>
              <a:rPr lang="en-US" sz="1200" kern="1200" dirty="0">
                <a:solidFill>
                  <a:schemeClr val="tx1"/>
                </a:solidFill>
                <a:effectLst/>
                <a:latin typeface="+mn-lt"/>
                <a:ea typeface="+mn-ea"/>
                <a:cs typeface="+mn-cs"/>
              </a:rPr>
              <a:t>Global System Analysis</a:t>
            </a:r>
            <a:r>
              <a:rPr lang="el-GR" sz="1200" kern="1200" dirty="0">
                <a:solidFill>
                  <a:schemeClr val="tx1"/>
                </a:solidFill>
                <a:effectLst/>
                <a:latin typeface="+mn-lt"/>
                <a:ea typeface="+mn-ea"/>
                <a:cs typeface="+mn-cs"/>
              </a:rPr>
              <a:t> μέσω αναλύσεων ευαισθησίας και αβεβαιότητας. Για την ποσοτικοποίηση με οικονομικούς όρους υπολογίζεται το κόστος των βοηθητικών παροχών και τα έσοδα από την παραγωγή συμπυκνωμένου γάλακτος.</a:t>
            </a:r>
          </a:p>
          <a:p>
            <a:r>
              <a:rPr lang="el-GR" sz="1200" kern="1200" dirty="0">
                <a:solidFill>
                  <a:schemeClr val="tx1"/>
                </a:solidFill>
                <a:effectLst/>
                <a:latin typeface="+mn-lt"/>
                <a:ea typeface="+mn-ea"/>
                <a:cs typeface="+mn-cs"/>
              </a:rPr>
              <a:t>Λόγω χρόνου παρουσιάζεται η ανάλυση μόνο του ολοκληρωμένου μοντέλου που αφορά στη συγκέντρωση του </a:t>
            </a:r>
            <a:r>
              <a:rPr lang="en-US" sz="1200" kern="1200" dirty="0">
                <a:solidFill>
                  <a:schemeClr val="tx1"/>
                </a:solidFill>
                <a:effectLst/>
                <a:latin typeface="+mn-lt"/>
                <a:ea typeface="+mn-ea"/>
                <a:cs typeface="+mn-cs"/>
              </a:rPr>
              <a:t>S</a:t>
            </a:r>
            <a:r>
              <a:rPr lang="el-GR" sz="1200"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thermophilus </a:t>
            </a:r>
            <a:r>
              <a:rPr lang="el-GR" sz="1200" kern="1200" dirty="0">
                <a:solidFill>
                  <a:schemeClr val="tx1"/>
                </a:solidFill>
                <a:effectLst/>
                <a:latin typeface="+mn-lt"/>
                <a:ea typeface="+mn-ea"/>
                <a:cs typeface="+mn-cs"/>
              </a:rPr>
              <a:t>στα τοιχώματα της αναγεννητικής μονάδας. Όσο αυξάνεται η διάρκεια της προσομοίωσης και μειώνεται η ελάχιστη θερμοκρασία ανάπτυξης τόσο πιο αυξημένη είναι η επιφανειακή συγκέντρωση.</a:t>
            </a:r>
          </a:p>
          <a:p>
            <a:endParaRPr lang="el-GR" dirty="0"/>
          </a:p>
        </p:txBody>
      </p:sp>
      <p:sp>
        <p:nvSpPr>
          <p:cNvPr id="4" name="Θέση αριθμού διαφάνειας 3"/>
          <p:cNvSpPr>
            <a:spLocks noGrp="1"/>
          </p:cNvSpPr>
          <p:nvPr>
            <p:ph type="sldNum" sz="quarter" idx="5"/>
          </p:nvPr>
        </p:nvSpPr>
        <p:spPr/>
        <p:txBody>
          <a:bodyPr/>
          <a:lstStyle/>
          <a:p>
            <a:fld id="{87291EF5-A7F0-43F3-9480-D0F04B649033}" type="slidenum">
              <a:rPr lang="el-GR" smtClean="0"/>
              <a:t>16</a:t>
            </a:fld>
            <a:endParaRPr lang="el-GR"/>
          </a:p>
        </p:txBody>
      </p:sp>
    </p:spTree>
    <p:extLst>
      <p:ext uri="{BB962C8B-B14F-4D97-AF65-F5344CB8AC3E}">
        <p14:creationId xmlns:p14="http://schemas.microsoft.com/office/powerpoint/2010/main" val="10742245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r>
              <a:rPr lang="el-GR" sz="1200" kern="1200" dirty="0">
                <a:solidFill>
                  <a:schemeClr val="tx1"/>
                </a:solidFill>
                <a:effectLst/>
                <a:latin typeface="+mn-lt"/>
                <a:ea typeface="+mn-ea"/>
                <a:cs typeface="+mn-cs"/>
              </a:rPr>
              <a:t>Κατά τη βελτιστοποίηση του μοντέλου παστερίωσης, το καταναλισκόμενο νερό θέρμανσης μειώνεται κατά 30%, λόγω μείωσης της θερμοκρασίας παστερίωσης από 75 σε 73 κελσίου.</a:t>
            </a:r>
            <a:endParaRPr lang="el-GR" dirty="0"/>
          </a:p>
        </p:txBody>
      </p:sp>
      <p:sp>
        <p:nvSpPr>
          <p:cNvPr id="4" name="Θέση αριθμού διαφάνειας 3"/>
          <p:cNvSpPr>
            <a:spLocks noGrp="1"/>
          </p:cNvSpPr>
          <p:nvPr>
            <p:ph type="sldNum" sz="quarter" idx="5"/>
          </p:nvPr>
        </p:nvSpPr>
        <p:spPr/>
        <p:txBody>
          <a:bodyPr/>
          <a:lstStyle/>
          <a:p>
            <a:fld id="{87291EF5-A7F0-43F3-9480-D0F04B649033}" type="slidenum">
              <a:rPr lang="el-GR" smtClean="0"/>
              <a:t>17</a:t>
            </a:fld>
            <a:endParaRPr lang="el-GR"/>
          </a:p>
        </p:txBody>
      </p:sp>
    </p:spTree>
    <p:extLst>
      <p:ext uri="{BB962C8B-B14F-4D97-AF65-F5344CB8AC3E}">
        <p14:creationId xmlns:p14="http://schemas.microsoft.com/office/powerpoint/2010/main" val="21364816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200" kern="1200" dirty="0">
                <a:solidFill>
                  <a:schemeClr val="tx1"/>
                </a:solidFill>
                <a:effectLst/>
                <a:latin typeface="+mn-lt"/>
                <a:ea typeface="+mn-ea"/>
                <a:cs typeface="+mn-cs"/>
              </a:rPr>
              <a:t>Κατά τη βελτιστοποίηση του μοντέλου διήθησης με μεμβράνη, το καταναλισκόμενο νερό </a:t>
            </a:r>
            <a:r>
              <a:rPr lang="el-GR" sz="1200" kern="1200" dirty="0" err="1">
                <a:solidFill>
                  <a:schemeClr val="tx1"/>
                </a:solidFill>
                <a:effectLst/>
                <a:latin typeface="+mn-lt"/>
                <a:ea typeface="+mn-ea"/>
                <a:cs typeface="+mn-cs"/>
              </a:rPr>
              <a:t>διαδιήθησης</a:t>
            </a:r>
            <a:r>
              <a:rPr lang="el-GR" sz="1200" kern="1200" dirty="0">
                <a:solidFill>
                  <a:schemeClr val="tx1"/>
                </a:solidFill>
                <a:effectLst/>
                <a:latin typeface="+mn-lt"/>
                <a:ea typeface="+mn-ea"/>
                <a:cs typeface="+mn-cs"/>
              </a:rPr>
              <a:t> μειώνεται κατά 49%, επειδή το νερό </a:t>
            </a:r>
            <a:r>
              <a:rPr lang="el-GR" sz="1200" kern="1200" dirty="0" err="1">
                <a:solidFill>
                  <a:schemeClr val="tx1"/>
                </a:solidFill>
                <a:effectLst/>
                <a:latin typeface="+mn-lt"/>
                <a:ea typeface="+mn-ea"/>
                <a:cs typeface="+mn-cs"/>
              </a:rPr>
              <a:t>διαδιήθησης</a:t>
            </a:r>
            <a:r>
              <a:rPr lang="el-GR" sz="1200" kern="1200" dirty="0">
                <a:solidFill>
                  <a:schemeClr val="tx1"/>
                </a:solidFill>
                <a:effectLst/>
                <a:latin typeface="+mn-lt"/>
                <a:ea typeface="+mn-ea"/>
                <a:cs typeface="+mn-cs"/>
              </a:rPr>
              <a:t> εισάγεται εξολοκλήρου στο τρίτο και τελευταίο στάδιο της μεμβράνης.</a:t>
            </a:r>
          </a:p>
          <a:p>
            <a:endParaRPr lang="el-GR" dirty="0"/>
          </a:p>
        </p:txBody>
      </p:sp>
      <p:sp>
        <p:nvSpPr>
          <p:cNvPr id="4" name="Θέση αριθμού διαφάνειας 3"/>
          <p:cNvSpPr>
            <a:spLocks noGrp="1"/>
          </p:cNvSpPr>
          <p:nvPr>
            <p:ph type="sldNum" sz="quarter" idx="5"/>
          </p:nvPr>
        </p:nvSpPr>
        <p:spPr/>
        <p:txBody>
          <a:bodyPr/>
          <a:lstStyle/>
          <a:p>
            <a:fld id="{87291EF5-A7F0-43F3-9480-D0F04B649033}" type="slidenum">
              <a:rPr lang="el-GR" smtClean="0"/>
              <a:t>18</a:t>
            </a:fld>
            <a:endParaRPr lang="el-GR"/>
          </a:p>
        </p:txBody>
      </p:sp>
    </p:spTree>
    <p:extLst>
      <p:ext uri="{BB962C8B-B14F-4D97-AF65-F5344CB8AC3E}">
        <p14:creationId xmlns:p14="http://schemas.microsoft.com/office/powerpoint/2010/main" val="38106539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200" kern="1200" dirty="0">
                <a:solidFill>
                  <a:schemeClr val="tx1"/>
                </a:solidFill>
                <a:effectLst/>
                <a:latin typeface="+mn-lt"/>
                <a:ea typeface="+mn-ea"/>
                <a:cs typeface="+mn-cs"/>
              </a:rPr>
              <a:t>Κατά τη βελτιστοποίηση του ολοκληρωμένου μοντέλου, το συνολικό κέρδος αυξάνεται κατά 10%, λόγω της αύξησης της ροής της τροφοδοσίας.</a:t>
            </a:r>
          </a:p>
          <a:p>
            <a:endParaRPr lang="el-GR" dirty="0"/>
          </a:p>
        </p:txBody>
      </p:sp>
      <p:sp>
        <p:nvSpPr>
          <p:cNvPr id="4" name="Θέση αριθμού διαφάνειας 3"/>
          <p:cNvSpPr>
            <a:spLocks noGrp="1"/>
          </p:cNvSpPr>
          <p:nvPr>
            <p:ph type="sldNum" sz="quarter" idx="5"/>
          </p:nvPr>
        </p:nvSpPr>
        <p:spPr/>
        <p:txBody>
          <a:bodyPr/>
          <a:lstStyle/>
          <a:p>
            <a:fld id="{87291EF5-A7F0-43F3-9480-D0F04B649033}" type="slidenum">
              <a:rPr lang="el-GR" smtClean="0"/>
              <a:t>19</a:t>
            </a:fld>
            <a:endParaRPr lang="el-GR"/>
          </a:p>
        </p:txBody>
      </p:sp>
    </p:spTree>
    <p:extLst>
      <p:ext uri="{BB962C8B-B14F-4D97-AF65-F5344CB8AC3E}">
        <p14:creationId xmlns:p14="http://schemas.microsoft.com/office/powerpoint/2010/main" val="4312482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200" kern="1200" dirty="0">
                <a:solidFill>
                  <a:schemeClr val="tx1"/>
                </a:solidFill>
                <a:effectLst/>
                <a:latin typeface="+mn-lt"/>
                <a:ea typeface="+mn-ea"/>
                <a:cs typeface="+mn-cs"/>
              </a:rPr>
              <a:t>Ο πιο </a:t>
            </a:r>
            <a:r>
              <a:rPr lang="el-GR" sz="1200" kern="1200" dirty="0" err="1">
                <a:solidFill>
                  <a:schemeClr val="tx1"/>
                </a:solidFill>
                <a:effectLst/>
                <a:latin typeface="+mn-lt"/>
                <a:ea typeface="+mn-ea"/>
                <a:cs typeface="+mn-cs"/>
              </a:rPr>
              <a:t>επιδραστικός</a:t>
            </a:r>
            <a:r>
              <a:rPr lang="el-GR" sz="1200" kern="1200" dirty="0">
                <a:solidFill>
                  <a:schemeClr val="tx1"/>
                </a:solidFill>
                <a:effectLst/>
                <a:latin typeface="+mn-lt"/>
                <a:ea typeface="+mn-ea"/>
                <a:cs typeface="+mn-cs"/>
              </a:rPr>
              <a:t> παράγοντας είναι η ροή της τροφοδοσίας του γάλακτος. Η πιο </a:t>
            </a:r>
            <a:r>
              <a:rPr lang="el-GR" sz="1200" kern="1200" dirty="0" err="1">
                <a:solidFill>
                  <a:schemeClr val="tx1"/>
                </a:solidFill>
                <a:effectLst/>
                <a:latin typeface="+mn-lt"/>
                <a:ea typeface="+mn-ea"/>
                <a:cs typeface="+mn-cs"/>
              </a:rPr>
              <a:t>κοστοφόρα</a:t>
            </a:r>
            <a:r>
              <a:rPr lang="el-GR" sz="1200" kern="1200" dirty="0">
                <a:solidFill>
                  <a:schemeClr val="tx1"/>
                </a:solidFill>
                <a:effectLst/>
                <a:latin typeface="+mn-lt"/>
                <a:ea typeface="+mn-ea"/>
                <a:cs typeface="+mn-cs"/>
              </a:rPr>
              <a:t> μεταβλητή είναι το νερό θέρμανσης. Η </a:t>
            </a:r>
            <a:r>
              <a:rPr lang="el-GR" sz="1200" kern="1200" dirty="0" err="1">
                <a:solidFill>
                  <a:schemeClr val="tx1"/>
                </a:solidFill>
                <a:effectLst/>
                <a:latin typeface="+mn-lt"/>
                <a:ea typeface="+mn-ea"/>
                <a:cs typeface="+mn-cs"/>
              </a:rPr>
              <a:t>φωσφατάση</a:t>
            </a:r>
            <a:r>
              <a:rPr lang="el-GR" sz="1200" kern="1200" dirty="0">
                <a:solidFill>
                  <a:schemeClr val="tx1"/>
                </a:solidFill>
                <a:effectLst/>
                <a:latin typeface="+mn-lt"/>
                <a:ea typeface="+mn-ea"/>
                <a:cs typeface="+mn-cs"/>
              </a:rPr>
              <a:t> απενεργοποιείται κυρίως στον προθερμαντήρα. Οι πρωτεΐνες και κυρίως η β-</a:t>
            </a:r>
            <a:r>
              <a:rPr lang="el-GR" sz="1200" kern="1200" dirty="0" err="1">
                <a:solidFill>
                  <a:schemeClr val="tx1"/>
                </a:solidFill>
                <a:effectLst/>
                <a:latin typeface="+mn-lt"/>
                <a:ea typeface="+mn-ea"/>
                <a:cs typeface="+mn-cs"/>
              </a:rPr>
              <a:t>Λακτοσφαιρίνη</a:t>
            </a:r>
            <a:r>
              <a:rPr lang="el-GR" sz="1200" kern="1200" dirty="0">
                <a:solidFill>
                  <a:schemeClr val="tx1"/>
                </a:solidFill>
                <a:effectLst/>
                <a:latin typeface="+mn-lt"/>
                <a:ea typeface="+mn-ea"/>
                <a:cs typeface="+mn-cs"/>
              </a:rPr>
              <a:t> μετουσιώνεται κυρίως στον θάλαμο συγκράτησης. Οι επικαθήσεις είναι αμελητέες και εμφανίζονται κυρίως στην αναγεννητική μονάδα. Ο μικροοργανισμός </a:t>
            </a:r>
            <a:r>
              <a:rPr lang="en-US" sz="1200" kern="1200" dirty="0">
                <a:solidFill>
                  <a:schemeClr val="tx1"/>
                </a:solidFill>
                <a:effectLst/>
                <a:latin typeface="+mn-lt"/>
                <a:ea typeface="+mn-ea"/>
                <a:cs typeface="+mn-cs"/>
              </a:rPr>
              <a:t>S</a:t>
            </a:r>
            <a:r>
              <a:rPr lang="el-GR" sz="1200"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thermophilus </a:t>
            </a:r>
            <a:r>
              <a:rPr lang="el-GR" sz="1200" kern="1200" dirty="0">
                <a:solidFill>
                  <a:schemeClr val="tx1"/>
                </a:solidFill>
                <a:effectLst/>
                <a:latin typeface="+mn-lt"/>
                <a:ea typeface="+mn-ea"/>
                <a:cs typeface="+mn-cs"/>
              </a:rPr>
              <a:t>αναπτύσσεται κυρίως στην αναγεννητική μονάδα. Κατά τη βελτιστοποίηση του ολοκληρωμένου μοντέλου το κέρδος αυξάνεται κατά 10%.</a:t>
            </a:r>
          </a:p>
          <a:p>
            <a:endParaRPr lang="el-GR" dirty="0"/>
          </a:p>
        </p:txBody>
      </p:sp>
      <p:sp>
        <p:nvSpPr>
          <p:cNvPr id="4" name="Θέση αριθμού διαφάνειας 3"/>
          <p:cNvSpPr>
            <a:spLocks noGrp="1"/>
          </p:cNvSpPr>
          <p:nvPr>
            <p:ph type="sldNum" sz="quarter" idx="5"/>
          </p:nvPr>
        </p:nvSpPr>
        <p:spPr/>
        <p:txBody>
          <a:bodyPr/>
          <a:lstStyle/>
          <a:p>
            <a:fld id="{87291EF5-A7F0-43F3-9480-D0F04B649033}" type="slidenum">
              <a:rPr lang="el-GR" smtClean="0"/>
              <a:t>20</a:t>
            </a:fld>
            <a:endParaRPr lang="el-GR"/>
          </a:p>
        </p:txBody>
      </p:sp>
    </p:spTree>
    <p:extLst>
      <p:ext uri="{BB962C8B-B14F-4D97-AF65-F5344CB8AC3E}">
        <p14:creationId xmlns:p14="http://schemas.microsoft.com/office/powerpoint/2010/main" val="26838882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200" kern="1200" dirty="0">
                <a:solidFill>
                  <a:schemeClr val="tx1"/>
                </a:solidFill>
                <a:effectLst/>
                <a:latin typeface="+mn-lt"/>
                <a:ea typeface="+mn-ea"/>
                <a:cs typeface="+mn-cs"/>
              </a:rPr>
              <a:t>Μελλοντική έρευνα θα μπορούσε να περιλαμβάνει αξιολόγηση του μοντέλου με χρήση δεδομένων πιλοτικής ή βιομηχανικής κλίμακας. Μια άλλη πρόταση είναι η ανάπτυξη πολιτικής ελέγχου της θερμοκρασίας παστερίωσης  και ο χρονοπρογραμματισμός του καθαρισμού με βάση το ολοκληρωμένο μοντέλο. Τέλος, θα μπορούσε να μελετηθεί η επίδραση της ροής τροφοδοσίας στην ολοκληρωμένη αλυσίδα παραγωγής όπως και η επίδραση σχεδιαστικών παραμέτρων στους βασικούς δείκτες απόδοσης.</a:t>
            </a:r>
          </a:p>
          <a:p>
            <a:endParaRPr lang="el-GR" dirty="0"/>
          </a:p>
        </p:txBody>
      </p:sp>
      <p:sp>
        <p:nvSpPr>
          <p:cNvPr id="4" name="Θέση αριθμού διαφάνειας 3"/>
          <p:cNvSpPr>
            <a:spLocks noGrp="1"/>
          </p:cNvSpPr>
          <p:nvPr>
            <p:ph type="sldNum" sz="quarter" idx="5"/>
          </p:nvPr>
        </p:nvSpPr>
        <p:spPr/>
        <p:txBody>
          <a:bodyPr/>
          <a:lstStyle/>
          <a:p>
            <a:fld id="{87291EF5-A7F0-43F3-9480-D0F04B649033}" type="slidenum">
              <a:rPr lang="el-GR" smtClean="0"/>
              <a:t>21</a:t>
            </a:fld>
            <a:endParaRPr lang="el-GR"/>
          </a:p>
        </p:txBody>
      </p:sp>
    </p:spTree>
    <p:extLst>
      <p:ext uri="{BB962C8B-B14F-4D97-AF65-F5344CB8AC3E}">
        <p14:creationId xmlns:p14="http://schemas.microsoft.com/office/powerpoint/2010/main" val="2678524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r>
              <a:rPr lang="el-GR" dirty="0"/>
              <a:t>Ευχαριστώ για την προσοχή σας. Να αναφέρω ξανά ότι η εργασία μου έχει δημοσιευθεί και είναι ελεύθερα </a:t>
            </a:r>
            <a:r>
              <a:rPr lang="el-GR" dirty="0" err="1"/>
              <a:t>προσβάσιμη</a:t>
            </a:r>
            <a:r>
              <a:rPr lang="el-GR" dirty="0"/>
              <a:t>. Για περισσότερες πληροφορίες μπορείτε να επισκεφτείτε την ιστοσελίδα μου </a:t>
            </a:r>
            <a:r>
              <a:rPr lang="en-US" dirty="0"/>
              <a:t>athinabampzeli.com</a:t>
            </a:r>
            <a:r>
              <a:rPr lang="el-GR" dirty="0"/>
              <a:t>.</a:t>
            </a:r>
          </a:p>
        </p:txBody>
      </p:sp>
      <p:sp>
        <p:nvSpPr>
          <p:cNvPr id="4" name="Θέση αριθμού διαφάνειας 3"/>
          <p:cNvSpPr>
            <a:spLocks noGrp="1"/>
          </p:cNvSpPr>
          <p:nvPr>
            <p:ph type="sldNum" sz="quarter" idx="5"/>
          </p:nvPr>
        </p:nvSpPr>
        <p:spPr/>
        <p:txBody>
          <a:bodyPr/>
          <a:lstStyle/>
          <a:p>
            <a:fld id="{87291EF5-A7F0-43F3-9480-D0F04B649033}" type="slidenum">
              <a:rPr lang="el-GR" smtClean="0"/>
              <a:t>22</a:t>
            </a:fld>
            <a:endParaRPr lang="el-GR"/>
          </a:p>
        </p:txBody>
      </p:sp>
    </p:spTree>
    <p:extLst>
      <p:ext uri="{BB962C8B-B14F-4D97-AF65-F5344CB8AC3E}">
        <p14:creationId xmlns:p14="http://schemas.microsoft.com/office/powerpoint/2010/main" val="7140262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7/10/2026</a:t>
            </a:fld>
            <a:endParaRPr lang="en-US"/>
          </a:p>
        </p:txBody>
      </p:sp>
      <p:sp>
        <p:nvSpPr>
          <p:cNvPr id="5" name="Footer Placeholder 4"/>
          <p:cNvSpPr>
            <a:spLocks noGrp="1"/>
          </p:cNvSpPr>
          <p:nvPr>
            <p:ph type="ftr" sz="quarter" idx="11"/>
          </p:nvPr>
        </p:nvSpPr>
        <p:spPr/>
        <p:txBody>
          <a:bodyPr/>
          <a:lstStyle/>
          <a:p>
            <a:r>
              <a:rPr lang="en-US"/>
              <a:t>dds</a:t>
            </a:r>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40527455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7/10/2026</a:t>
            </a:fld>
            <a:endParaRPr lang="en-US"/>
          </a:p>
        </p:txBody>
      </p:sp>
      <p:sp>
        <p:nvSpPr>
          <p:cNvPr id="5" name="Footer Placeholder 4"/>
          <p:cNvSpPr>
            <a:spLocks noGrp="1"/>
          </p:cNvSpPr>
          <p:nvPr>
            <p:ph type="ftr" sz="quarter" idx="11"/>
          </p:nvPr>
        </p:nvSpPr>
        <p:spPr/>
        <p:txBody>
          <a:bodyPr/>
          <a:lstStyle/>
          <a:p>
            <a:r>
              <a:rPr lang="en-US"/>
              <a:t>dds</a:t>
            </a:r>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9250840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7/10/2026</a:t>
            </a:fld>
            <a:endParaRPr lang="en-US"/>
          </a:p>
        </p:txBody>
      </p:sp>
      <p:sp>
        <p:nvSpPr>
          <p:cNvPr id="5" name="Footer Placeholder 4"/>
          <p:cNvSpPr>
            <a:spLocks noGrp="1"/>
          </p:cNvSpPr>
          <p:nvPr>
            <p:ph type="ftr" sz="quarter" idx="11"/>
          </p:nvPr>
        </p:nvSpPr>
        <p:spPr/>
        <p:txBody>
          <a:bodyPr/>
          <a:lstStyle/>
          <a:p>
            <a:r>
              <a:rPr lang="en-US"/>
              <a:t>dds</a:t>
            </a:r>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570924275"/>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7/10/2026</a:t>
            </a:fld>
            <a:endParaRPr lang="en-US"/>
          </a:p>
        </p:txBody>
      </p:sp>
      <p:sp>
        <p:nvSpPr>
          <p:cNvPr id="6" name="Footer Placeholder 5"/>
          <p:cNvSpPr>
            <a:spLocks noGrp="1"/>
          </p:cNvSpPr>
          <p:nvPr>
            <p:ph type="ftr" sz="quarter" idx="11"/>
          </p:nvPr>
        </p:nvSpPr>
        <p:spPr/>
        <p:txBody>
          <a:bodyPr/>
          <a:lstStyle/>
          <a:p>
            <a:r>
              <a:rPr lang="en-US"/>
              <a:t>dds</a:t>
            </a:r>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004397752"/>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7/10/2026</a:t>
            </a:fld>
            <a:endParaRPr lang="en-US"/>
          </a:p>
        </p:txBody>
      </p:sp>
      <p:sp>
        <p:nvSpPr>
          <p:cNvPr id="8" name="Footer Placeholder 7"/>
          <p:cNvSpPr>
            <a:spLocks noGrp="1"/>
          </p:cNvSpPr>
          <p:nvPr>
            <p:ph type="ftr" sz="quarter" idx="11"/>
          </p:nvPr>
        </p:nvSpPr>
        <p:spPr/>
        <p:txBody>
          <a:bodyPr/>
          <a:lstStyle/>
          <a:p>
            <a:r>
              <a:rPr lang="en-US"/>
              <a:t>dds</a:t>
            </a:r>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434242697"/>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7/10/2026</a:t>
            </a:fld>
            <a:endParaRPr lang="en-US"/>
          </a:p>
        </p:txBody>
      </p:sp>
      <p:sp>
        <p:nvSpPr>
          <p:cNvPr id="4" name="Footer Placeholder 3"/>
          <p:cNvSpPr>
            <a:spLocks noGrp="1"/>
          </p:cNvSpPr>
          <p:nvPr>
            <p:ph type="ftr" sz="quarter" idx="11"/>
          </p:nvPr>
        </p:nvSpPr>
        <p:spPr/>
        <p:txBody>
          <a:bodyPr/>
          <a:lstStyle/>
          <a:p>
            <a:r>
              <a:rPr lang="en-US"/>
              <a:t>dds</a:t>
            </a:r>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148421842"/>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7/10/2026</a:t>
            </a:fld>
            <a:endParaRPr lang="en-US"/>
          </a:p>
        </p:txBody>
      </p:sp>
      <p:sp>
        <p:nvSpPr>
          <p:cNvPr id="3" name="Footer Placeholder 2"/>
          <p:cNvSpPr>
            <a:spLocks noGrp="1"/>
          </p:cNvSpPr>
          <p:nvPr>
            <p:ph type="ftr" sz="quarter" idx="11"/>
          </p:nvPr>
        </p:nvSpPr>
        <p:spPr/>
        <p:txBody>
          <a:bodyPr/>
          <a:lstStyle/>
          <a:p>
            <a:r>
              <a:rPr lang="en-US"/>
              <a:t>dds</a:t>
            </a:r>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57702579"/>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7/10/2026</a:t>
            </a:fld>
            <a:endParaRPr lang="en-US"/>
          </a:p>
        </p:txBody>
      </p:sp>
      <p:sp>
        <p:nvSpPr>
          <p:cNvPr id="6" name="Footer Placeholder 5"/>
          <p:cNvSpPr>
            <a:spLocks noGrp="1"/>
          </p:cNvSpPr>
          <p:nvPr>
            <p:ph type="ftr" sz="quarter" idx="11"/>
          </p:nvPr>
        </p:nvSpPr>
        <p:spPr/>
        <p:txBody>
          <a:bodyPr/>
          <a:lstStyle/>
          <a:p>
            <a:r>
              <a:rPr lang="en-US"/>
              <a:t>dds</a:t>
            </a:r>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265489514"/>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7/10/2026</a:t>
            </a:fld>
            <a:endParaRPr lang="en-US"/>
          </a:p>
        </p:txBody>
      </p:sp>
      <p:sp>
        <p:nvSpPr>
          <p:cNvPr id="6" name="Footer Placeholder 5"/>
          <p:cNvSpPr>
            <a:spLocks noGrp="1"/>
          </p:cNvSpPr>
          <p:nvPr>
            <p:ph type="ftr" sz="quarter" idx="11"/>
          </p:nvPr>
        </p:nvSpPr>
        <p:spPr/>
        <p:txBody>
          <a:bodyPr/>
          <a:lstStyle/>
          <a:p>
            <a:r>
              <a:rPr lang="en-US"/>
              <a:t>dds</a:t>
            </a:r>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750036818"/>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7/10/2026</a:t>
            </a:fld>
            <a:endParaRPr lang="en-US"/>
          </a:p>
        </p:txBody>
      </p:sp>
      <p:sp>
        <p:nvSpPr>
          <p:cNvPr id="5" name="Footer Placeholder 4"/>
          <p:cNvSpPr>
            <a:spLocks noGrp="1"/>
          </p:cNvSpPr>
          <p:nvPr>
            <p:ph type="ftr" sz="quarter" idx="11"/>
          </p:nvPr>
        </p:nvSpPr>
        <p:spPr/>
        <p:txBody>
          <a:bodyPr/>
          <a:lstStyle/>
          <a:p>
            <a:r>
              <a:rPr lang="en-US"/>
              <a:t>dds</a:t>
            </a:r>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913950058"/>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7/10/2026</a:t>
            </a:fld>
            <a:endParaRPr lang="en-US"/>
          </a:p>
        </p:txBody>
      </p:sp>
      <p:sp>
        <p:nvSpPr>
          <p:cNvPr id="5" name="Footer Placeholder 4"/>
          <p:cNvSpPr>
            <a:spLocks noGrp="1"/>
          </p:cNvSpPr>
          <p:nvPr>
            <p:ph type="ftr" sz="quarter" idx="11"/>
          </p:nvPr>
        </p:nvSpPr>
        <p:spPr/>
        <p:txBody>
          <a:bodyPr/>
          <a:lstStyle/>
          <a:p>
            <a:r>
              <a:rPr lang="en-US"/>
              <a:t>dds</a:t>
            </a:r>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364623649"/>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7/10/2026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dds</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407835339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proquest.com/dissertations-theses/redesign-milk-powder-production-chain-assessment/docview/2518745891/se-2"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6.png"/><Relationship Id="rId5" Type="http://schemas.openxmlformats.org/officeDocument/2006/relationships/image" Target="../media/image5.jpeg"/><Relationship Id="rId10" Type="http://schemas.openxmlformats.org/officeDocument/2006/relationships/hyperlink" Target="https://doi.org/10.1016/j.fbp.2026.04.006" TargetMode="External"/><Relationship Id="rId4" Type="http://schemas.openxmlformats.org/officeDocument/2006/relationships/image" Target="../media/image4.png"/><Relationship Id="rId9" Type="http://schemas.openxmlformats.org/officeDocument/2006/relationships/image" Target="../media/image9.jpe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hyperlink" Target="https://doi.org/10.1016/j.fbp.2026.04.006" TargetMode="Externa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mailto:athbabzeli@gmail.com" TargetMode="External"/><Relationship Id="rId7"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hyperlink" Target="https://doi.org/10.1016/j.fbp.2026.04.006" TargetMode="External"/><Relationship Id="rId5" Type="http://schemas.openxmlformats.org/officeDocument/2006/relationships/image" Target="../media/image23.svg"/><Relationship Id="rId4" Type="http://schemas.openxmlformats.org/officeDocument/2006/relationships/image" Target="../media/image2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5340" y="1424373"/>
            <a:ext cx="11861320" cy="1498955"/>
          </a:xfrm>
        </p:spPr>
        <p:txBody>
          <a:bodyPr vert="horz" lIns="91440" tIns="45720" rIns="91440" bIns="45720" rtlCol="0" anchor="b">
            <a:noAutofit/>
          </a:bodyPr>
          <a:lstStyle/>
          <a:p>
            <a:r>
              <a:rPr lang="en-US" sz="4400" dirty="0" err="1">
                <a:ea typeface="Calibri Light"/>
                <a:cs typeface="Calibri Light"/>
              </a:rPr>
              <a:t>Μοντελο</a:t>
            </a:r>
            <a:r>
              <a:rPr lang="en-US" sz="4400" dirty="0">
                <a:ea typeface="Calibri Light"/>
                <a:cs typeface="Calibri Light"/>
              </a:rPr>
              <a:t>ποίηση, Προσομοίωση και Βελτιστοποίηση Ολοκληρωμένων Διεργασιών Παστερίωσης Γάλακτος και Διήθησης με Μεμβράνη</a:t>
            </a:r>
          </a:p>
        </p:txBody>
      </p:sp>
      <p:sp>
        <p:nvSpPr>
          <p:cNvPr id="3" name="Subtitle 2"/>
          <p:cNvSpPr>
            <a:spLocks noGrp="1"/>
          </p:cNvSpPr>
          <p:nvPr>
            <p:ph type="subTitle" idx="1"/>
          </p:nvPr>
        </p:nvSpPr>
        <p:spPr>
          <a:xfrm>
            <a:off x="445008" y="4152645"/>
            <a:ext cx="11301984" cy="1846193"/>
          </a:xfrm>
        </p:spPr>
        <p:txBody>
          <a:bodyPr vert="horz" lIns="91440" tIns="45720" rIns="91440" bIns="45720" rtlCol="0" anchor="t">
            <a:normAutofit/>
          </a:bodyPr>
          <a:lstStyle/>
          <a:p>
            <a:r>
              <a:rPr lang="en-US" sz="2800" u="sng" dirty="0" err="1">
                <a:ea typeface="Calibri"/>
                <a:cs typeface="Calibri"/>
              </a:rPr>
              <a:t>Αθηνά</a:t>
            </a:r>
            <a:r>
              <a:rPr lang="en-US" sz="2800" u="sng" dirty="0">
                <a:ea typeface="Calibri"/>
                <a:cs typeface="Calibri"/>
              </a:rPr>
              <a:t> Μπαμπ</a:t>
            </a:r>
            <a:r>
              <a:rPr lang="en-US" sz="2800" u="sng" dirty="0" err="1">
                <a:ea typeface="Calibri"/>
                <a:cs typeface="Calibri"/>
              </a:rPr>
              <a:t>ζέλη</a:t>
            </a:r>
            <a:r>
              <a:rPr lang="el-GR" sz="2800" u="sng" baseline="30000" dirty="0">
                <a:ea typeface="Calibri"/>
                <a:cs typeface="Calibri"/>
              </a:rPr>
              <a:t>1</a:t>
            </a:r>
            <a:r>
              <a:rPr lang="en-US" sz="2800" dirty="0">
                <a:ea typeface="Calibri"/>
                <a:cs typeface="Calibri"/>
              </a:rPr>
              <a:t>, Eleftherios </a:t>
            </a:r>
            <a:r>
              <a:rPr lang="en-US" sz="2800" dirty="0" err="1">
                <a:ea typeface="Calibri"/>
                <a:cs typeface="Calibri"/>
              </a:rPr>
              <a:t>Charakleias</a:t>
            </a:r>
            <a:r>
              <a:rPr lang="el-GR" sz="2800" baseline="30000" dirty="0">
                <a:ea typeface="Calibri"/>
                <a:cs typeface="Calibri"/>
              </a:rPr>
              <a:t>2</a:t>
            </a:r>
            <a:r>
              <a:rPr lang="en-US" sz="2800" dirty="0">
                <a:ea typeface="Calibri"/>
                <a:cs typeface="Calibri"/>
              </a:rPr>
              <a:t>,</a:t>
            </a:r>
            <a:r>
              <a:rPr lang="el-GR" sz="2800" dirty="0">
                <a:ea typeface="Calibri"/>
                <a:cs typeface="Calibri"/>
              </a:rPr>
              <a:t> Μιχαήλ Γεωργιάδης</a:t>
            </a:r>
            <a:r>
              <a:rPr lang="el-GR" sz="2800" baseline="30000" dirty="0">
                <a:ea typeface="Calibri"/>
                <a:cs typeface="Calibri"/>
              </a:rPr>
              <a:t>1</a:t>
            </a:r>
            <a:r>
              <a:rPr lang="en-US" sz="2800" dirty="0">
                <a:ea typeface="Calibri"/>
                <a:cs typeface="Calibri"/>
              </a:rPr>
              <a:t> </a:t>
            </a:r>
          </a:p>
          <a:p>
            <a:endParaRPr lang="el-GR" sz="2000" baseline="30000" dirty="0">
              <a:ea typeface="Calibri"/>
              <a:cs typeface="Calibri"/>
            </a:endParaRPr>
          </a:p>
          <a:p>
            <a:r>
              <a:rPr lang="el-GR" sz="2000" baseline="30000" dirty="0">
                <a:ea typeface="Calibri"/>
                <a:cs typeface="Calibri"/>
              </a:rPr>
              <a:t>1</a:t>
            </a:r>
            <a:r>
              <a:rPr lang="el-GR" sz="2000" dirty="0">
                <a:ea typeface="Calibri"/>
                <a:cs typeface="Calibri"/>
              </a:rPr>
              <a:t>Αριστοτέλειο Πανεπιστήμιο Θεσσαλονίκης, Τμήμα Χημικών Μηχανικών</a:t>
            </a:r>
          </a:p>
          <a:p>
            <a:r>
              <a:rPr lang="el-GR" sz="2000" baseline="30000" dirty="0">
                <a:ea typeface="Calibri"/>
                <a:cs typeface="Calibri"/>
              </a:rPr>
              <a:t>2</a:t>
            </a:r>
            <a:r>
              <a:rPr lang="en-US" sz="2000" dirty="0">
                <a:ea typeface="Calibri"/>
                <a:cs typeface="Calibri"/>
              </a:rPr>
              <a:t>Siemens Digital Industries Software, Senior Applications Engineer</a:t>
            </a:r>
          </a:p>
          <a:p>
            <a:endParaRPr lang="en-US" sz="2000" dirty="0">
              <a:ea typeface="Calibri"/>
              <a:cs typeface="Calibri"/>
            </a:endParaRPr>
          </a:p>
        </p:txBody>
      </p:sp>
      <p:pic>
        <p:nvPicPr>
          <p:cNvPr id="4" name="Picture 3">
            <a:extLst>
              <a:ext uri="{FF2B5EF4-FFF2-40B4-BE49-F238E27FC236}">
                <a16:creationId xmlns:a16="http://schemas.microsoft.com/office/drawing/2014/main" id="{BF52ABD3-3480-9FA3-9E6A-7AE207D9F939}"/>
              </a:ext>
            </a:extLst>
          </p:cNvPr>
          <p:cNvPicPr>
            <a:picLocks noChangeAspect="1"/>
          </p:cNvPicPr>
          <p:nvPr/>
        </p:nvPicPr>
        <p:blipFill>
          <a:blip r:embed="rId3"/>
          <a:stretch>
            <a:fillRect/>
          </a:stretch>
        </p:blipFill>
        <p:spPr>
          <a:xfrm>
            <a:off x="10088517" y="4717855"/>
            <a:ext cx="715772" cy="715772"/>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1532E7-4CE0-796F-4B2F-0C853914A987}"/>
              </a:ext>
            </a:extLst>
          </p:cNvPr>
          <p:cNvSpPr>
            <a:spLocks noGrp="1"/>
          </p:cNvSpPr>
          <p:nvPr>
            <p:ph idx="1"/>
          </p:nvPr>
        </p:nvSpPr>
        <p:spPr>
          <a:xfrm>
            <a:off x="838200" y="1825625"/>
            <a:ext cx="10515600" cy="3813878"/>
          </a:xfrm>
        </p:spPr>
        <p:txBody>
          <a:bodyPr vert="horz" lIns="91440" tIns="45720" rIns="91440" bIns="45720" rtlCol="0" anchor="t">
            <a:normAutofit/>
          </a:bodyPr>
          <a:lstStyle/>
          <a:p>
            <a:pPr marL="514350" indent="-514350">
              <a:buAutoNum type="arabicPeriod"/>
            </a:pPr>
            <a:r>
              <a:rPr lang="en-US" err="1">
                <a:ea typeface="Calibri"/>
                <a:cs typeface="Calibri"/>
              </a:rPr>
              <a:t>Εισ</a:t>
            </a:r>
            <a:r>
              <a:rPr lang="en-US">
                <a:ea typeface="Calibri"/>
                <a:cs typeface="Calibri"/>
              </a:rPr>
              <a:t>α</a:t>
            </a:r>
            <a:r>
              <a:rPr lang="en-US" err="1">
                <a:ea typeface="Calibri"/>
                <a:cs typeface="Calibri"/>
              </a:rPr>
              <a:t>γωγή</a:t>
            </a:r>
            <a:endParaRPr lang="en-US" err="1"/>
          </a:p>
          <a:p>
            <a:pPr marL="514350" indent="-514350">
              <a:buAutoNum type="arabicPeriod"/>
            </a:pPr>
            <a:r>
              <a:rPr lang="en-US" err="1">
                <a:ea typeface="Calibri"/>
                <a:cs typeface="Calibri"/>
              </a:rPr>
              <a:t>Στόχοι</a:t>
            </a:r>
            <a:r>
              <a:rPr lang="en-US">
                <a:ea typeface="Calibri"/>
                <a:cs typeface="Calibri"/>
              </a:rPr>
              <a:t> </a:t>
            </a:r>
            <a:r>
              <a:rPr lang="en-US" err="1">
                <a:ea typeface="Calibri"/>
                <a:cs typeface="Calibri"/>
              </a:rPr>
              <a:t>μελέτης-Μεθοδολογί</a:t>
            </a:r>
            <a:r>
              <a:rPr lang="en-US">
                <a:ea typeface="Calibri"/>
                <a:cs typeface="Calibri"/>
              </a:rPr>
              <a:t>α</a:t>
            </a:r>
            <a:endParaRPr lang="en-US" err="1">
              <a:ea typeface="Calibri"/>
              <a:cs typeface="Calibri"/>
            </a:endParaRPr>
          </a:p>
          <a:p>
            <a:pPr marL="514350" indent="-514350">
              <a:buAutoNum type="arabicPeriod"/>
            </a:pPr>
            <a:r>
              <a:rPr lang="en-US" err="1">
                <a:ea typeface="Calibri"/>
                <a:cs typeface="Calibri"/>
              </a:rPr>
              <a:t>Θεωρητικό</a:t>
            </a:r>
            <a:r>
              <a:rPr lang="en-US">
                <a:ea typeface="Calibri"/>
                <a:cs typeface="Calibri"/>
              </a:rPr>
              <a:t> υπόβα</a:t>
            </a:r>
            <a:r>
              <a:rPr lang="en-US" err="1">
                <a:ea typeface="Calibri"/>
                <a:cs typeface="Calibri"/>
              </a:rPr>
              <a:t>θρο</a:t>
            </a:r>
            <a:endParaRPr lang="en-US">
              <a:ea typeface="Calibri"/>
              <a:cs typeface="Calibri"/>
            </a:endParaRPr>
          </a:p>
          <a:p>
            <a:pPr marL="514350" indent="-514350">
              <a:buAutoNum type="arabicPeriod"/>
            </a:pPr>
            <a:r>
              <a:rPr lang="en-US" err="1">
                <a:ea typeface="Calibri"/>
                <a:cs typeface="Calibri"/>
              </a:rPr>
              <a:t>Δυν</a:t>
            </a:r>
            <a:r>
              <a:rPr lang="en-US">
                <a:ea typeface="Calibri"/>
                <a:cs typeface="Calibri"/>
              </a:rPr>
              <a:t>α</a:t>
            </a:r>
            <a:r>
              <a:rPr lang="en-US" err="1">
                <a:ea typeface="Calibri"/>
                <a:cs typeface="Calibri"/>
              </a:rPr>
              <a:t>μική</a:t>
            </a:r>
            <a:r>
              <a:rPr lang="en-US">
                <a:ea typeface="Calibri"/>
                <a:cs typeface="Calibri"/>
              </a:rPr>
              <a:t> </a:t>
            </a:r>
            <a:r>
              <a:rPr lang="en-US" err="1">
                <a:ea typeface="Calibri"/>
                <a:cs typeface="Calibri"/>
              </a:rPr>
              <a:t>Μοντελο</a:t>
            </a:r>
            <a:r>
              <a:rPr lang="en-US">
                <a:ea typeface="Calibri"/>
                <a:cs typeface="Calibri"/>
              </a:rPr>
              <a:t>π</a:t>
            </a:r>
            <a:r>
              <a:rPr lang="en-US" err="1">
                <a:ea typeface="Calibri"/>
                <a:cs typeface="Calibri"/>
              </a:rPr>
              <a:t>οίηση</a:t>
            </a:r>
            <a:r>
              <a:rPr lang="en-US">
                <a:ea typeface="Calibri"/>
                <a:cs typeface="Calibri"/>
              </a:rPr>
              <a:t> και </a:t>
            </a:r>
            <a:r>
              <a:rPr lang="en-US" err="1">
                <a:ea typeface="Calibri"/>
                <a:cs typeface="Calibri"/>
              </a:rPr>
              <a:t>Προσομοίωση</a:t>
            </a:r>
          </a:p>
          <a:p>
            <a:pPr marL="514350" indent="-514350">
              <a:buAutoNum type="arabicPeriod"/>
            </a:pPr>
            <a:r>
              <a:rPr lang="en-US" err="1">
                <a:ea typeface="Calibri"/>
                <a:cs typeface="Calibri"/>
              </a:rPr>
              <a:t>Ανάλυση</a:t>
            </a:r>
            <a:r>
              <a:rPr lang="en-US">
                <a:ea typeface="Calibri"/>
                <a:cs typeface="Calibri"/>
              </a:rPr>
              <a:t> </a:t>
            </a:r>
            <a:r>
              <a:rPr lang="en-US" err="1">
                <a:ea typeface="Calibri"/>
                <a:cs typeface="Calibri"/>
              </a:rPr>
              <a:t>Συστήμ</a:t>
            </a:r>
            <a:r>
              <a:rPr lang="en-US">
                <a:ea typeface="Calibri"/>
                <a:cs typeface="Calibri"/>
              </a:rPr>
              <a:t>α</a:t>
            </a:r>
            <a:r>
              <a:rPr lang="en-US" err="1">
                <a:ea typeface="Calibri"/>
                <a:cs typeface="Calibri"/>
              </a:rPr>
              <a:t>τος</a:t>
            </a:r>
            <a:endParaRPr lang="en-US">
              <a:ea typeface="Calibri"/>
              <a:cs typeface="Calibri"/>
            </a:endParaRPr>
          </a:p>
          <a:p>
            <a:pPr marL="514350" indent="-514350">
              <a:buAutoNum type="arabicPeriod"/>
            </a:pPr>
            <a:r>
              <a:rPr lang="en-US" err="1">
                <a:ea typeface="Calibri"/>
                <a:cs typeface="Calibri"/>
              </a:rPr>
              <a:t>Βελτιστο</a:t>
            </a:r>
            <a:r>
              <a:rPr lang="en-US">
                <a:ea typeface="Calibri"/>
                <a:cs typeface="Calibri"/>
              </a:rPr>
              <a:t>π</a:t>
            </a:r>
            <a:r>
              <a:rPr lang="en-US" err="1">
                <a:ea typeface="Calibri"/>
                <a:cs typeface="Calibri"/>
              </a:rPr>
              <a:t>οίηση</a:t>
            </a:r>
            <a:endParaRPr lang="en-US">
              <a:ea typeface="Calibri"/>
              <a:cs typeface="Calibri"/>
            </a:endParaRPr>
          </a:p>
          <a:p>
            <a:pPr marL="514350" indent="-514350">
              <a:buAutoNum type="arabicPeriod"/>
            </a:pPr>
            <a:r>
              <a:rPr lang="en-US" err="1">
                <a:ea typeface="Calibri"/>
                <a:cs typeface="Calibri"/>
              </a:rPr>
              <a:t>Συμ</a:t>
            </a:r>
            <a:r>
              <a:rPr lang="en-US">
                <a:ea typeface="Calibri"/>
                <a:cs typeface="Calibri"/>
              </a:rPr>
              <a:t>π</a:t>
            </a:r>
            <a:r>
              <a:rPr lang="en-US" err="1">
                <a:ea typeface="Calibri"/>
                <a:cs typeface="Calibri"/>
              </a:rPr>
              <a:t>εράσμ</a:t>
            </a:r>
            <a:r>
              <a:rPr lang="en-US">
                <a:ea typeface="Calibri"/>
                <a:cs typeface="Calibri"/>
              </a:rPr>
              <a:t>ατα-</a:t>
            </a:r>
            <a:r>
              <a:rPr lang="en-US" err="1">
                <a:ea typeface="Calibri"/>
                <a:cs typeface="Calibri"/>
              </a:rPr>
              <a:t>Προτάσεις</a:t>
            </a:r>
            <a:r>
              <a:rPr lang="en-US">
                <a:ea typeface="Calibri"/>
                <a:cs typeface="Calibri"/>
              </a:rPr>
              <a:t> </a:t>
            </a:r>
            <a:r>
              <a:rPr lang="en-US" err="1">
                <a:ea typeface="Calibri"/>
                <a:cs typeface="Calibri"/>
              </a:rPr>
              <a:t>γι</a:t>
            </a:r>
            <a:r>
              <a:rPr lang="en-US">
                <a:ea typeface="Calibri"/>
                <a:cs typeface="Calibri"/>
              </a:rPr>
              <a:t>α </a:t>
            </a:r>
            <a:r>
              <a:rPr lang="en-US" err="1">
                <a:ea typeface="Calibri"/>
                <a:cs typeface="Calibri"/>
              </a:rPr>
              <a:t>μελλοντική</a:t>
            </a:r>
            <a:r>
              <a:rPr lang="en-US">
                <a:ea typeface="Calibri"/>
                <a:cs typeface="Calibri"/>
              </a:rPr>
              <a:t> </a:t>
            </a:r>
            <a:r>
              <a:rPr lang="en-US" err="1">
                <a:ea typeface="Calibri"/>
                <a:cs typeface="Calibri"/>
              </a:rPr>
              <a:t>έρευν</a:t>
            </a:r>
            <a:r>
              <a:rPr lang="en-US">
                <a:ea typeface="Calibri"/>
                <a:cs typeface="Calibri"/>
              </a:rPr>
              <a:t>α</a:t>
            </a:r>
          </a:p>
        </p:txBody>
      </p:sp>
      <p:sp>
        <p:nvSpPr>
          <p:cNvPr id="4" name="Slide Number Placeholder 3">
            <a:extLst>
              <a:ext uri="{FF2B5EF4-FFF2-40B4-BE49-F238E27FC236}">
                <a16:creationId xmlns:a16="http://schemas.microsoft.com/office/drawing/2014/main" id="{CDD16C85-8CF8-B83E-6CC1-97C00E59007B}"/>
              </a:ext>
            </a:extLst>
          </p:cNvPr>
          <p:cNvSpPr>
            <a:spLocks noGrp="1"/>
          </p:cNvSpPr>
          <p:nvPr>
            <p:ph type="sldNum" sz="quarter" idx="12"/>
          </p:nvPr>
        </p:nvSpPr>
        <p:spPr/>
        <p:txBody>
          <a:bodyPr/>
          <a:lstStyle/>
          <a:p>
            <a:r>
              <a:rPr lang="en-US" dirty="0"/>
              <a:t>2/</a:t>
            </a:r>
            <a:r>
              <a:rPr lang="el-GR" dirty="0"/>
              <a:t>2</a:t>
            </a:r>
            <a:r>
              <a:rPr lang="en-US" dirty="0"/>
              <a:t>2</a:t>
            </a:r>
            <a:endParaRPr lang="en-US" dirty="0">
              <a:ea typeface="Calibri"/>
              <a:cs typeface="Calibri"/>
            </a:endParaRPr>
          </a:p>
        </p:txBody>
      </p:sp>
      <p:sp>
        <p:nvSpPr>
          <p:cNvPr id="7" name="Title 1">
            <a:extLst>
              <a:ext uri="{FF2B5EF4-FFF2-40B4-BE49-F238E27FC236}">
                <a16:creationId xmlns:a16="http://schemas.microsoft.com/office/drawing/2014/main" id="{8B42318E-3915-980A-159A-A4C249F57F4B}"/>
              </a:ext>
            </a:extLst>
          </p:cNvPr>
          <p:cNvSpPr txBox="1">
            <a:spLocks/>
          </p:cNvSpPr>
          <p:nvPr/>
        </p:nvSpPr>
        <p:spPr>
          <a:xfrm>
            <a:off x="103898" y="138893"/>
            <a:ext cx="11992238" cy="6868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a:ea typeface="Calibri Light"/>
                <a:cs typeface="Calibri Light"/>
              </a:rPr>
              <a:t>Περιεχόμενα </a:t>
            </a:r>
          </a:p>
        </p:txBody>
      </p:sp>
    </p:spTree>
    <p:extLst>
      <p:ext uri="{BB962C8B-B14F-4D97-AF65-F5344CB8AC3E}">
        <p14:creationId xmlns:p14="http://schemas.microsoft.com/office/powerpoint/2010/main" val="31391929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635F58-59D5-915C-3860-D87EC9738195}"/>
              </a:ext>
            </a:extLst>
          </p:cNvPr>
          <p:cNvSpPr txBox="1"/>
          <p:nvPr/>
        </p:nvSpPr>
        <p:spPr>
          <a:xfrm>
            <a:off x="75659" y="5817054"/>
            <a:ext cx="11990716" cy="1077218"/>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just"/>
            <a:r>
              <a:rPr lang="en-US" sz="1600" baseline="0" dirty="0" err="1">
                <a:latin typeface="Calibri"/>
              </a:rPr>
              <a:t>Moejes</a:t>
            </a:r>
            <a:r>
              <a:rPr lang="en-US" sz="1600" baseline="0" dirty="0">
                <a:latin typeface="Calibri"/>
              </a:rPr>
              <a:t>, S. N. (2019). Redesign of the milk powder production chain: Assessment of innovative technologies [Doctoral dissertation, ProQuest Dissertations &amp; Theses Global] </a:t>
            </a:r>
            <a:r>
              <a:rPr lang="en-US" sz="1600" u="sng" strike="noStrike" baseline="0" dirty="0">
                <a:solidFill>
                  <a:srgbClr val="0563C1"/>
                </a:solidFill>
                <a:latin typeface="Calibri"/>
                <a:ea typeface="Segoe UI"/>
                <a:cs typeface="Segoe UI"/>
                <a:hlinkClick r:id="rId3"/>
              </a:rPr>
              <a:t>https://www.proquest.com/dissertations-theses/redesign-milk-powder-production-chain-assessment/docview/2518745891/se-2</a:t>
            </a:r>
            <a:r>
              <a:rPr sz="1600" dirty="0">
                <a:latin typeface="Calibri"/>
                <a:ea typeface="Calibri"/>
                <a:cs typeface="Calibri"/>
              </a:rPr>
              <a:t>​</a:t>
            </a:r>
            <a:endParaRPr lang="en-US" sz="1600" dirty="0">
              <a:ea typeface="Calibri"/>
              <a:cs typeface="Calibri"/>
            </a:endParaRPr>
          </a:p>
          <a:p>
            <a:pPr algn="ctr"/>
            <a:endParaRPr lang="en-US" sz="1600" dirty="0">
              <a:ea typeface="Calibri"/>
              <a:cs typeface="Calibri"/>
            </a:endParaRPr>
          </a:p>
        </p:txBody>
      </p:sp>
      <p:sp>
        <p:nvSpPr>
          <p:cNvPr id="13" name="Textfeld 12">
            <a:extLst>
              <a:ext uri="{FF2B5EF4-FFF2-40B4-BE49-F238E27FC236}">
                <a16:creationId xmlns:a16="http://schemas.microsoft.com/office/drawing/2014/main" id="{0229B80E-7697-81DD-C95A-A179AA16D577}"/>
              </a:ext>
            </a:extLst>
          </p:cNvPr>
          <p:cNvSpPr txBox="1"/>
          <p:nvPr/>
        </p:nvSpPr>
        <p:spPr>
          <a:xfrm>
            <a:off x="494955" y="2994218"/>
            <a:ext cx="11154977" cy="2249079"/>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de-DE" sz="2000"/>
          </a:p>
        </p:txBody>
      </p:sp>
      <p:sp>
        <p:nvSpPr>
          <p:cNvPr id="4" name="Foliennummernplatzhalter 3">
            <a:extLst>
              <a:ext uri="{FF2B5EF4-FFF2-40B4-BE49-F238E27FC236}">
                <a16:creationId xmlns:a16="http://schemas.microsoft.com/office/drawing/2014/main" id="{28616CF7-A35D-0957-9A8A-84BB20088825}"/>
              </a:ext>
            </a:extLst>
          </p:cNvPr>
          <p:cNvSpPr>
            <a:spLocks noGrp="1"/>
          </p:cNvSpPr>
          <p:nvPr>
            <p:ph type="sldNum" sz="quarter" idx="12"/>
          </p:nvPr>
        </p:nvSpPr>
        <p:spPr/>
        <p:txBody>
          <a:bodyPr/>
          <a:lstStyle/>
          <a:p>
            <a:fld id="{48F63A3B-78C7-47BE-AE5E-E10140E04643}" type="slidenum">
              <a:rPr lang="en-US" smtClean="0"/>
              <a:t>3</a:t>
            </a:fld>
            <a:r>
              <a:rPr lang="en-US" dirty="0"/>
              <a:t>/</a:t>
            </a:r>
            <a:r>
              <a:rPr lang="el-GR" dirty="0"/>
              <a:t>2</a:t>
            </a:r>
            <a:r>
              <a:rPr lang="en-US" dirty="0"/>
              <a:t>2</a:t>
            </a:r>
          </a:p>
        </p:txBody>
      </p:sp>
      <p:sp>
        <p:nvSpPr>
          <p:cNvPr id="6" name="Pfeil: Fünfeck 5">
            <a:extLst>
              <a:ext uri="{FF2B5EF4-FFF2-40B4-BE49-F238E27FC236}">
                <a16:creationId xmlns:a16="http://schemas.microsoft.com/office/drawing/2014/main" id="{F7D20BDA-4053-6F3C-D2F0-2831C1A478E2}"/>
              </a:ext>
            </a:extLst>
          </p:cNvPr>
          <p:cNvSpPr/>
          <p:nvPr/>
        </p:nvSpPr>
        <p:spPr>
          <a:xfrm>
            <a:off x="1720821" y="1947130"/>
            <a:ext cx="2991555" cy="65694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2" name="Content Placeholder 4" descr="A diagram of evaporation&#10;&#10;AI-generated content may be incorrect.">
            <a:extLst>
              <a:ext uri="{FF2B5EF4-FFF2-40B4-BE49-F238E27FC236}">
                <a16:creationId xmlns:a16="http://schemas.microsoft.com/office/drawing/2014/main" id="{F5937733-EB3D-0887-3CE7-5ACBB3CDE865}"/>
              </a:ext>
            </a:extLst>
          </p:cNvPr>
          <p:cNvPicPr>
            <a:picLocks noGrp="1" noChangeAspect="1"/>
          </p:cNvPicPr>
          <p:nvPr>
            <p:ph idx="1"/>
          </p:nvPr>
        </p:nvPicPr>
        <p:blipFill>
          <a:blip r:embed="rId4"/>
          <a:srcRect l="71316" t="56906" r="5990" b="17335"/>
          <a:stretch>
            <a:fillRect/>
          </a:stretch>
        </p:blipFill>
        <p:spPr>
          <a:xfrm>
            <a:off x="8355169" y="4033568"/>
            <a:ext cx="2443691" cy="484721"/>
          </a:xfrm>
          <a:prstGeom prst="rect">
            <a:avLst/>
          </a:prstGeom>
        </p:spPr>
      </p:pic>
      <p:sp>
        <p:nvSpPr>
          <p:cNvPr id="16" name="TextBox 5">
            <a:extLst>
              <a:ext uri="{FF2B5EF4-FFF2-40B4-BE49-F238E27FC236}">
                <a16:creationId xmlns:a16="http://schemas.microsoft.com/office/drawing/2014/main" id="{ED15BF12-E588-30D1-0AF8-7E2453154A0C}"/>
              </a:ext>
            </a:extLst>
          </p:cNvPr>
          <p:cNvSpPr txBox="1"/>
          <p:nvPr/>
        </p:nvSpPr>
        <p:spPr>
          <a:xfrm>
            <a:off x="711861" y="5317770"/>
            <a:ext cx="1060106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err="1">
                <a:ea typeface="Calibri"/>
                <a:cs typeface="Calibri"/>
              </a:rPr>
              <a:t>Εικόν</a:t>
            </a:r>
            <a:r>
              <a:rPr lang="en-US" sz="2000">
                <a:ea typeface="Calibri"/>
                <a:cs typeface="Calibri"/>
              </a:rPr>
              <a:t>α 1: </a:t>
            </a:r>
            <a:r>
              <a:rPr lang="en-US" sz="2000" err="1">
                <a:ea typeface="Calibri"/>
                <a:cs typeface="Calibri"/>
              </a:rPr>
              <a:t>Κύριες</a:t>
            </a:r>
            <a:r>
              <a:rPr lang="en-US" sz="2000">
                <a:ea typeface="Calibri"/>
                <a:cs typeface="Calibri"/>
              </a:rPr>
              <a:t> </a:t>
            </a:r>
            <a:r>
              <a:rPr lang="en-US" sz="2000" err="1">
                <a:ea typeface="Calibri"/>
                <a:cs typeface="Calibri"/>
              </a:rPr>
              <a:t>διεργ</a:t>
            </a:r>
            <a:r>
              <a:rPr lang="en-US" sz="2000">
                <a:ea typeface="Calibri"/>
                <a:cs typeface="Calibri"/>
              </a:rPr>
              <a:t>α</a:t>
            </a:r>
            <a:r>
              <a:rPr lang="en-US" sz="2000" err="1">
                <a:ea typeface="Calibri"/>
                <a:cs typeface="Calibri"/>
              </a:rPr>
              <a:t>σίες</a:t>
            </a:r>
            <a:r>
              <a:rPr lang="en-US" sz="2000">
                <a:ea typeface="Calibri"/>
                <a:cs typeface="Calibri"/>
              </a:rPr>
              <a:t> κα</a:t>
            </a:r>
            <a:r>
              <a:rPr lang="en-US" sz="2000" err="1">
                <a:ea typeface="Calibri"/>
                <a:cs typeface="Calibri"/>
              </a:rPr>
              <a:t>τά</a:t>
            </a:r>
            <a:r>
              <a:rPr lang="en-US" sz="2000">
                <a:ea typeface="Calibri"/>
                <a:cs typeface="Calibri"/>
              </a:rPr>
              <a:t> </a:t>
            </a:r>
            <a:r>
              <a:rPr lang="en-US" sz="2000" err="1">
                <a:ea typeface="Calibri"/>
                <a:cs typeface="Calibri"/>
              </a:rPr>
              <a:t>την</a:t>
            </a:r>
            <a:r>
              <a:rPr lang="en-US" sz="2000">
                <a:ea typeface="Calibri"/>
                <a:cs typeface="Calibri"/>
              </a:rPr>
              <a:t> παρα</a:t>
            </a:r>
            <a:r>
              <a:rPr lang="en-US" sz="2000" err="1">
                <a:ea typeface="Calibri"/>
                <a:cs typeface="Calibri"/>
              </a:rPr>
              <a:t>σκευή</a:t>
            </a:r>
            <a:r>
              <a:rPr lang="en-US" sz="2000">
                <a:ea typeface="Calibri"/>
                <a:cs typeface="Calibri"/>
              </a:rPr>
              <a:t> </a:t>
            </a:r>
            <a:r>
              <a:rPr lang="en-US" sz="2000" err="1">
                <a:ea typeface="Calibri"/>
                <a:cs typeface="Calibri"/>
              </a:rPr>
              <a:t>σκόνης</a:t>
            </a:r>
            <a:r>
              <a:rPr lang="en-US" sz="2000">
                <a:ea typeface="Calibri"/>
                <a:cs typeface="Calibri"/>
              </a:rPr>
              <a:t> </a:t>
            </a:r>
            <a:r>
              <a:rPr lang="en-US" sz="2000" err="1">
                <a:ea typeface="Calibri"/>
                <a:cs typeface="Calibri"/>
              </a:rPr>
              <a:t>γάλ</a:t>
            </a:r>
            <a:r>
              <a:rPr lang="en-US" sz="2000">
                <a:ea typeface="Calibri"/>
                <a:cs typeface="Calibri"/>
              </a:rPr>
              <a:t>α</a:t>
            </a:r>
            <a:r>
              <a:rPr lang="en-US" sz="2000" err="1">
                <a:ea typeface="Calibri"/>
                <a:cs typeface="Calibri"/>
              </a:rPr>
              <a:t>κτος</a:t>
            </a:r>
            <a:r>
              <a:rPr lang="en-US" sz="2000">
                <a:ea typeface="Calibri"/>
                <a:cs typeface="Calibri"/>
              </a:rPr>
              <a:t> (</a:t>
            </a:r>
            <a:r>
              <a:rPr lang="en-US" sz="2000" err="1">
                <a:ea typeface="Calibri"/>
                <a:cs typeface="Calibri"/>
              </a:rPr>
              <a:t>Moejes</a:t>
            </a:r>
            <a:r>
              <a:rPr lang="en-US" sz="2000">
                <a:ea typeface="Calibri"/>
                <a:cs typeface="Calibri"/>
              </a:rPr>
              <a:t>, 2019)</a:t>
            </a:r>
          </a:p>
        </p:txBody>
      </p:sp>
      <p:sp>
        <p:nvSpPr>
          <p:cNvPr id="8" name="Pfeil: Fünfeck 7">
            <a:extLst>
              <a:ext uri="{FF2B5EF4-FFF2-40B4-BE49-F238E27FC236}">
                <a16:creationId xmlns:a16="http://schemas.microsoft.com/office/drawing/2014/main" id="{BD470582-E164-D906-085F-3DD3FFAA997F}"/>
              </a:ext>
            </a:extLst>
          </p:cNvPr>
          <p:cNvSpPr/>
          <p:nvPr/>
        </p:nvSpPr>
        <p:spPr>
          <a:xfrm>
            <a:off x="3211205" y="1073072"/>
            <a:ext cx="1478761" cy="679359"/>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8" name="Pfeil: Fünfeck 17">
            <a:extLst>
              <a:ext uri="{FF2B5EF4-FFF2-40B4-BE49-F238E27FC236}">
                <a16:creationId xmlns:a16="http://schemas.microsoft.com/office/drawing/2014/main" id="{FCB0362D-374B-0897-64F9-33197FD8D03D}"/>
              </a:ext>
            </a:extLst>
          </p:cNvPr>
          <p:cNvSpPr/>
          <p:nvPr/>
        </p:nvSpPr>
        <p:spPr>
          <a:xfrm>
            <a:off x="1720823" y="1073073"/>
            <a:ext cx="1859760" cy="67935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Textfeld 19">
            <a:extLst>
              <a:ext uri="{FF2B5EF4-FFF2-40B4-BE49-F238E27FC236}">
                <a16:creationId xmlns:a16="http://schemas.microsoft.com/office/drawing/2014/main" id="{BD3A3601-7C8E-D01B-01EC-FF862B285181}"/>
              </a:ext>
            </a:extLst>
          </p:cNvPr>
          <p:cNvSpPr txBox="1"/>
          <p:nvPr/>
        </p:nvSpPr>
        <p:spPr>
          <a:xfrm>
            <a:off x="1715263" y="1211134"/>
            <a:ext cx="294905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de-DE" sz="2000" err="1">
                <a:solidFill>
                  <a:schemeClr val="bg1"/>
                </a:solidFill>
                <a:latin typeface="Calibri"/>
                <a:ea typeface="Calibri"/>
                <a:cs typeface="Calibri"/>
              </a:rPr>
              <a:t>Ενέργει</a:t>
            </a:r>
            <a:r>
              <a:rPr lang="de-DE" sz="2000">
                <a:solidFill>
                  <a:schemeClr val="bg1"/>
                </a:solidFill>
                <a:latin typeface="Calibri"/>
                <a:ea typeface="Calibri"/>
                <a:cs typeface="Calibri"/>
              </a:rPr>
              <a:t>α, </a:t>
            </a:r>
            <a:r>
              <a:rPr lang="de-DE" sz="2000" err="1">
                <a:solidFill>
                  <a:schemeClr val="bg1"/>
                </a:solidFill>
                <a:latin typeface="Calibri"/>
                <a:ea typeface="Calibri"/>
                <a:cs typeface="Calibri"/>
              </a:rPr>
              <a:t>Νερό</a:t>
            </a:r>
            <a:endParaRPr lang="de-DE" sz="2000">
              <a:solidFill>
                <a:schemeClr val="bg1"/>
              </a:solidFill>
              <a:latin typeface="Calibri"/>
              <a:ea typeface="Calibri"/>
              <a:cs typeface="Calibri"/>
            </a:endParaRPr>
          </a:p>
        </p:txBody>
      </p:sp>
      <p:sp>
        <p:nvSpPr>
          <p:cNvPr id="22" name="Textfeld 21">
            <a:extLst>
              <a:ext uri="{FF2B5EF4-FFF2-40B4-BE49-F238E27FC236}">
                <a16:creationId xmlns:a16="http://schemas.microsoft.com/office/drawing/2014/main" id="{5D4B92F0-4FE0-4CAE-E3CE-A1B222546BBC}"/>
              </a:ext>
            </a:extLst>
          </p:cNvPr>
          <p:cNvSpPr txBox="1"/>
          <p:nvPr/>
        </p:nvSpPr>
        <p:spPr>
          <a:xfrm>
            <a:off x="3553025" y="1211134"/>
            <a:ext cx="108887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de-DE" sz="2000" err="1">
                <a:solidFill>
                  <a:schemeClr val="bg1"/>
                </a:solidFill>
                <a:ea typeface="Calibri"/>
                <a:cs typeface="Calibri"/>
              </a:rPr>
              <a:t>Κόστος</a:t>
            </a:r>
            <a:endParaRPr lang="de-DE" sz="2000">
              <a:solidFill>
                <a:schemeClr val="bg1"/>
              </a:solidFill>
            </a:endParaRPr>
          </a:p>
        </p:txBody>
      </p:sp>
      <p:sp>
        <p:nvSpPr>
          <p:cNvPr id="24" name="Textfeld 23">
            <a:extLst>
              <a:ext uri="{FF2B5EF4-FFF2-40B4-BE49-F238E27FC236}">
                <a16:creationId xmlns:a16="http://schemas.microsoft.com/office/drawing/2014/main" id="{23B7D2C6-7389-4168-F2BB-CD1348660A0B}"/>
              </a:ext>
            </a:extLst>
          </p:cNvPr>
          <p:cNvSpPr txBox="1"/>
          <p:nvPr/>
        </p:nvSpPr>
        <p:spPr>
          <a:xfrm>
            <a:off x="1715264" y="2073985"/>
            <a:ext cx="264649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2000">
                <a:solidFill>
                  <a:schemeClr val="bg1"/>
                </a:solidFill>
                <a:ea typeface="Calibri"/>
                <a:cs typeface="Calibri"/>
              </a:rPr>
              <a:t>Χα</a:t>
            </a:r>
            <a:r>
              <a:rPr lang="de-DE" sz="2000" err="1">
                <a:solidFill>
                  <a:schemeClr val="bg1"/>
                </a:solidFill>
                <a:ea typeface="Calibri"/>
                <a:cs typeface="Calibri"/>
              </a:rPr>
              <a:t>μηλή</a:t>
            </a:r>
            <a:r>
              <a:rPr lang="de-DE" sz="2000">
                <a:solidFill>
                  <a:schemeClr val="bg1"/>
                </a:solidFill>
                <a:ea typeface="Calibri"/>
                <a:cs typeface="Calibri"/>
              </a:rPr>
              <a:t> </a:t>
            </a:r>
            <a:r>
              <a:rPr lang="de-DE" sz="2000" err="1">
                <a:solidFill>
                  <a:schemeClr val="bg1"/>
                </a:solidFill>
                <a:ea typeface="Calibri"/>
                <a:cs typeface="Calibri"/>
              </a:rPr>
              <a:t>τιμή</a:t>
            </a:r>
            <a:r>
              <a:rPr lang="de-DE" sz="2000">
                <a:solidFill>
                  <a:schemeClr val="bg1"/>
                </a:solidFill>
                <a:ea typeface="Calibri"/>
                <a:cs typeface="Calibri"/>
              </a:rPr>
              <a:t> </a:t>
            </a:r>
            <a:r>
              <a:rPr lang="de-DE" sz="2000" err="1">
                <a:solidFill>
                  <a:schemeClr val="bg1"/>
                </a:solidFill>
                <a:ea typeface="Calibri"/>
                <a:cs typeface="Calibri"/>
              </a:rPr>
              <a:t>γάλ</a:t>
            </a:r>
            <a:r>
              <a:rPr lang="de-DE" sz="2000">
                <a:solidFill>
                  <a:schemeClr val="bg1"/>
                </a:solidFill>
                <a:ea typeface="Calibri"/>
                <a:cs typeface="Calibri"/>
              </a:rPr>
              <a:t>α</a:t>
            </a:r>
            <a:r>
              <a:rPr lang="de-DE" sz="2000" err="1">
                <a:solidFill>
                  <a:schemeClr val="bg1"/>
                </a:solidFill>
                <a:ea typeface="Calibri"/>
                <a:cs typeface="Calibri"/>
              </a:rPr>
              <a:t>κτος</a:t>
            </a:r>
            <a:endParaRPr lang="de-DE" sz="2000">
              <a:solidFill>
                <a:schemeClr val="bg1"/>
              </a:solidFill>
              <a:ea typeface="Calibri" panose="020F0502020204030204"/>
              <a:cs typeface="Calibri" panose="020F0502020204030204"/>
            </a:endParaRPr>
          </a:p>
        </p:txBody>
      </p:sp>
      <p:sp>
        <p:nvSpPr>
          <p:cNvPr id="26" name="Pfeil: Fünfeck 25">
            <a:extLst>
              <a:ext uri="{FF2B5EF4-FFF2-40B4-BE49-F238E27FC236}">
                <a16:creationId xmlns:a16="http://schemas.microsoft.com/office/drawing/2014/main" id="{34F7ABCA-DCA3-D795-531E-F43BEB6B3BB0}"/>
              </a:ext>
            </a:extLst>
          </p:cNvPr>
          <p:cNvSpPr/>
          <p:nvPr/>
        </p:nvSpPr>
        <p:spPr>
          <a:xfrm>
            <a:off x="5015351" y="1487689"/>
            <a:ext cx="3574260" cy="634535"/>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8" name="Textfeld 27">
            <a:extLst>
              <a:ext uri="{FF2B5EF4-FFF2-40B4-BE49-F238E27FC236}">
                <a16:creationId xmlns:a16="http://schemas.microsoft.com/office/drawing/2014/main" id="{5174EC5E-C460-ED86-C350-468A99380140}"/>
              </a:ext>
            </a:extLst>
          </p:cNvPr>
          <p:cNvSpPr txBox="1"/>
          <p:nvPr/>
        </p:nvSpPr>
        <p:spPr>
          <a:xfrm>
            <a:off x="4852910" y="1614545"/>
            <a:ext cx="374466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2000" err="1">
                <a:solidFill>
                  <a:schemeClr val="bg1"/>
                </a:solidFill>
                <a:ea typeface="Calibri"/>
                <a:cs typeface="Calibri"/>
              </a:rPr>
              <a:t>Προϊόντ</a:t>
            </a:r>
            <a:r>
              <a:rPr lang="de-DE" sz="2000">
                <a:solidFill>
                  <a:schemeClr val="bg1"/>
                </a:solidFill>
                <a:ea typeface="Calibri"/>
                <a:cs typeface="Calibri"/>
              </a:rPr>
              <a:t>α π</a:t>
            </a:r>
            <a:r>
              <a:rPr lang="de-DE" sz="2000" err="1">
                <a:solidFill>
                  <a:schemeClr val="bg1"/>
                </a:solidFill>
                <a:ea typeface="Calibri"/>
                <a:cs typeface="Calibri"/>
              </a:rPr>
              <a:t>ροστιθέμενης</a:t>
            </a:r>
            <a:r>
              <a:rPr lang="de-DE" sz="2000">
                <a:solidFill>
                  <a:schemeClr val="bg1"/>
                </a:solidFill>
                <a:ea typeface="Calibri"/>
                <a:cs typeface="Calibri"/>
              </a:rPr>
              <a:t> α</a:t>
            </a:r>
            <a:r>
              <a:rPr lang="de-DE" sz="2000" err="1">
                <a:solidFill>
                  <a:schemeClr val="bg1"/>
                </a:solidFill>
                <a:ea typeface="Calibri"/>
                <a:cs typeface="Calibri"/>
              </a:rPr>
              <a:t>ξί</a:t>
            </a:r>
            <a:r>
              <a:rPr lang="de-DE" sz="2000">
                <a:solidFill>
                  <a:schemeClr val="bg1"/>
                </a:solidFill>
                <a:ea typeface="Calibri"/>
                <a:cs typeface="Calibri"/>
              </a:rPr>
              <a:t>ας</a:t>
            </a:r>
          </a:p>
        </p:txBody>
      </p:sp>
      <p:sp>
        <p:nvSpPr>
          <p:cNvPr id="30" name="Pfeil: Fünfeck 29">
            <a:extLst>
              <a:ext uri="{FF2B5EF4-FFF2-40B4-BE49-F238E27FC236}">
                <a16:creationId xmlns:a16="http://schemas.microsoft.com/office/drawing/2014/main" id="{352546A4-A576-8489-D039-3766A8E38DB9}"/>
              </a:ext>
            </a:extLst>
          </p:cNvPr>
          <p:cNvSpPr/>
          <p:nvPr/>
        </p:nvSpPr>
        <p:spPr>
          <a:xfrm>
            <a:off x="8903791" y="1487691"/>
            <a:ext cx="2027851" cy="634534"/>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2" name="Textfeld 31">
            <a:extLst>
              <a:ext uri="{FF2B5EF4-FFF2-40B4-BE49-F238E27FC236}">
                <a16:creationId xmlns:a16="http://schemas.microsoft.com/office/drawing/2014/main" id="{C2E0E327-B943-1FE6-F890-54547205A067}"/>
              </a:ext>
            </a:extLst>
          </p:cNvPr>
          <p:cNvSpPr txBox="1"/>
          <p:nvPr/>
        </p:nvSpPr>
        <p:spPr>
          <a:xfrm>
            <a:off x="8898233" y="1614545"/>
            <a:ext cx="1895700" cy="411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2000" err="1">
                <a:solidFill>
                  <a:schemeClr val="bg1"/>
                </a:solidFill>
                <a:ea typeface="Calibri"/>
                <a:cs typeface="Calibri"/>
              </a:rPr>
              <a:t>Σκόνη</a:t>
            </a:r>
            <a:r>
              <a:rPr lang="de-DE" sz="2000">
                <a:solidFill>
                  <a:schemeClr val="bg1"/>
                </a:solidFill>
                <a:ea typeface="Calibri"/>
                <a:cs typeface="Calibri"/>
              </a:rPr>
              <a:t> </a:t>
            </a:r>
            <a:r>
              <a:rPr lang="de-DE" sz="2000" err="1">
                <a:solidFill>
                  <a:schemeClr val="bg1"/>
                </a:solidFill>
                <a:ea typeface="Calibri"/>
                <a:cs typeface="Calibri"/>
              </a:rPr>
              <a:t>γάλ</a:t>
            </a:r>
            <a:r>
              <a:rPr lang="de-DE" sz="2000">
                <a:solidFill>
                  <a:schemeClr val="bg1"/>
                </a:solidFill>
                <a:ea typeface="Calibri"/>
                <a:cs typeface="Calibri"/>
              </a:rPr>
              <a:t>α</a:t>
            </a:r>
            <a:r>
              <a:rPr lang="de-DE" sz="2000" err="1">
                <a:solidFill>
                  <a:schemeClr val="bg1"/>
                </a:solidFill>
                <a:ea typeface="Calibri"/>
                <a:cs typeface="Calibri"/>
              </a:rPr>
              <a:t>κτος</a:t>
            </a:r>
            <a:endParaRPr lang="de-DE" sz="2000">
              <a:solidFill>
                <a:schemeClr val="bg1"/>
              </a:solidFill>
              <a:ea typeface="Calibri"/>
              <a:cs typeface="Calibri"/>
            </a:endParaRPr>
          </a:p>
        </p:txBody>
      </p:sp>
      <p:sp>
        <p:nvSpPr>
          <p:cNvPr id="34" name="Rechteck 33">
            <a:extLst>
              <a:ext uri="{FF2B5EF4-FFF2-40B4-BE49-F238E27FC236}">
                <a16:creationId xmlns:a16="http://schemas.microsoft.com/office/drawing/2014/main" id="{0CAB0FD9-5088-9868-8E29-E9172F1E3D85}"/>
              </a:ext>
            </a:extLst>
          </p:cNvPr>
          <p:cNvSpPr/>
          <p:nvPr/>
        </p:nvSpPr>
        <p:spPr>
          <a:xfrm>
            <a:off x="4907730" y="4162745"/>
            <a:ext cx="1586770" cy="809252"/>
          </a:xfrm>
          <a:prstGeom prst="rect">
            <a:avLst/>
          </a:prstGeom>
          <a:solidFill>
            <a:srgbClr val="ECECE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6" name="Textfeld 35">
            <a:extLst>
              <a:ext uri="{FF2B5EF4-FFF2-40B4-BE49-F238E27FC236}">
                <a16:creationId xmlns:a16="http://schemas.microsoft.com/office/drawing/2014/main" id="{839E8088-DFF5-8A11-41EE-A035F6DA0404}"/>
              </a:ext>
            </a:extLst>
          </p:cNvPr>
          <p:cNvSpPr txBox="1"/>
          <p:nvPr/>
        </p:nvSpPr>
        <p:spPr>
          <a:xfrm>
            <a:off x="4985630" y="4214833"/>
            <a:ext cx="1438706"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2000" err="1">
                <a:ea typeface="Calibri"/>
                <a:cs typeface="Calibri"/>
              </a:rPr>
              <a:t>Διήθηση</a:t>
            </a:r>
            <a:r>
              <a:rPr lang="de-DE" sz="2000">
                <a:ea typeface="Calibri"/>
                <a:cs typeface="Calibri"/>
              </a:rPr>
              <a:t> </a:t>
            </a:r>
            <a:r>
              <a:rPr lang="de-DE" sz="2000" err="1">
                <a:ea typeface="Calibri"/>
                <a:cs typeface="Calibri"/>
              </a:rPr>
              <a:t>με</a:t>
            </a:r>
            <a:r>
              <a:rPr lang="de-DE" sz="2000">
                <a:ea typeface="Calibri"/>
                <a:cs typeface="Calibri"/>
              </a:rPr>
              <a:t> </a:t>
            </a:r>
            <a:r>
              <a:rPr lang="de-DE" sz="2000" err="1">
                <a:ea typeface="Calibri"/>
                <a:cs typeface="Calibri"/>
              </a:rPr>
              <a:t>Μεμ</a:t>
            </a:r>
            <a:r>
              <a:rPr lang="de-DE" sz="2000">
                <a:ea typeface="Calibri"/>
                <a:cs typeface="Calibri"/>
              </a:rPr>
              <a:t>β</a:t>
            </a:r>
            <a:r>
              <a:rPr lang="de-DE" sz="2000" err="1">
                <a:ea typeface="Calibri"/>
                <a:cs typeface="Calibri"/>
              </a:rPr>
              <a:t>ράνη</a:t>
            </a:r>
          </a:p>
        </p:txBody>
      </p:sp>
      <p:sp>
        <p:nvSpPr>
          <p:cNvPr id="3" name="Title 1">
            <a:extLst>
              <a:ext uri="{FF2B5EF4-FFF2-40B4-BE49-F238E27FC236}">
                <a16:creationId xmlns:a16="http://schemas.microsoft.com/office/drawing/2014/main" id="{9E261F99-4810-81C5-2058-642C5ADE182B}"/>
              </a:ext>
            </a:extLst>
          </p:cNvPr>
          <p:cNvSpPr txBox="1">
            <a:spLocks/>
          </p:cNvSpPr>
          <p:nvPr/>
        </p:nvSpPr>
        <p:spPr>
          <a:xfrm>
            <a:off x="103898" y="138893"/>
            <a:ext cx="11992238" cy="6868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dirty="0">
                <a:ea typeface="Calibri Light"/>
                <a:cs typeface="Calibri Light"/>
              </a:rPr>
              <a:t>1. </a:t>
            </a:r>
            <a:r>
              <a:rPr lang="en-US" sz="3100" dirty="0" err="1">
                <a:ea typeface="Calibri Light"/>
                <a:cs typeface="Calibri Light"/>
              </a:rPr>
              <a:t>Εισ</a:t>
            </a:r>
            <a:r>
              <a:rPr lang="en-US" sz="3100" dirty="0">
                <a:ea typeface="Calibri Light"/>
                <a:cs typeface="Calibri Light"/>
              </a:rPr>
              <a:t>α</a:t>
            </a:r>
            <a:r>
              <a:rPr lang="en-US" sz="3100" dirty="0" err="1">
                <a:ea typeface="Calibri Light"/>
                <a:cs typeface="Calibri Light"/>
              </a:rPr>
              <a:t>γωγή</a:t>
            </a:r>
            <a:r>
              <a:rPr lang="en-US" sz="3100" dirty="0">
                <a:ea typeface="Calibri Light"/>
                <a:cs typeface="Calibri Light"/>
              </a:rPr>
              <a:t> </a:t>
            </a:r>
            <a:r>
              <a:rPr lang="en-US" sz="3100" dirty="0" err="1">
                <a:ea typeface="Calibri Light"/>
                <a:cs typeface="Calibri Light"/>
              </a:rPr>
              <a:t>στη</a:t>
            </a:r>
            <a:r>
              <a:rPr lang="en-US" sz="3100" dirty="0">
                <a:ea typeface="Calibri Light"/>
                <a:cs typeface="Calibri Light"/>
              </a:rPr>
              <a:t> Γαλα</a:t>
            </a:r>
            <a:r>
              <a:rPr lang="en-US" sz="3100" dirty="0" err="1">
                <a:ea typeface="Calibri Light"/>
                <a:cs typeface="Calibri Light"/>
              </a:rPr>
              <a:t>κτ</a:t>
            </a:r>
            <a:r>
              <a:rPr lang="en-US" sz="3100" dirty="0" err="1">
                <a:latin typeface="Calibri Light"/>
                <a:ea typeface="Calibri Light"/>
                <a:cs typeface="Calibri Light"/>
              </a:rPr>
              <a:t>ο</a:t>
            </a:r>
            <a:r>
              <a:rPr lang="en-US" sz="3100" dirty="0">
                <a:latin typeface="Calibri Light"/>
                <a:ea typeface="Calibri Light"/>
                <a:cs typeface="Calibri Light"/>
              </a:rPr>
              <a:t>β</a:t>
            </a:r>
            <a:r>
              <a:rPr lang="en-US" sz="3100" dirty="0" err="1">
                <a:latin typeface="Calibri Light"/>
                <a:ea typeface="Calibri Light"/>
                <a:cs typeface="Calibri Light"/>
              </a:rPr>
              <a:t>ιομηχ</a:t>
            </a:r>
            <a:r>
              <a:rPr lang="en-US" sz="3100" dirty="0">
                <a:latin typeface="Calibri Light"/>
                <a:ea typeface="Calibri Light"/>
                <a:cs typeface="Calibri Light"/>
              </a:rPr>
              <a:t>α</a:t>
            </a:r>
            <a:r>
              <a:rPr lang="en-US" sz="3100" dirty="0" err="1">
                <a:latin typeface="Calibri Light"/>
                <a:ea typeface="Calibri Light"/>
                <a:cs typeface="Calibri Light"/>
              </a:rPr>
              <a:t>νική</a:t>
            </a:r>
            <a:r>
              <a:rPr lang="en-US" sz="3100" dirty="0">
                <a:latin typeface="Calibri Light"/>
                <a:ea typeface="Calibri Light"/>
                <a:cs typeface="Calibri Light"/>
              </a:rPr>
              <a:t> Παρα</a:t>
            </a:r>
            <a:r>
              <a:rPr lang="en-US" sz="3100" dirty="0" err="1">
                <a:latin typeface="Calibri Light"/>
                <a:ea typeface="Calibri Light"/>
                <a:cs typeface="Calibri Light"/>
              </a:rPr>
              <a:t>γωγή</a:t>
            </a:r>
            <a:endParaRPr lang="de-DE" sz="3100" dirty="0">
              <a:latin typeface="Calibri Light"/>
              <a:ea typeface="Calibri Light"/>
              <a:cs typeface="Calibri Light"/>
            </a:endParaRPr>
          </a:p>
        </p:txBody>
      </p:sp>
      <p:sp>
        <p:nvSpPr>
          <p:cNvPr id="10" name="Textfeld 9">
            <a:extLst>
              <a:ext uri="{FF2B5EF4-FFF2-40B4-BE49-F238E27FC236}">
                <a16:creationId xmlns:a16="http://schemas.microsoft.com/office/drawing/2014/main" id="{7BF4EF63-BF8B-1C77-3ADE-8722F695B1F4}"/>
              </a:ext>
            </a:extLst>
          </p:cNvPr>
          <p:cNvSpPr txBox="1"/>
          <p:nvPr/>
        </p:nvSpPr>
        <p:spPr>
          <a:xfrm>
            <a:off x="2266106" y="4531305"/>
            <a:ext cx="900352" cy="400110"/>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de-DE" sz="2000" err="1">
                <a:ea typeface="Calibri"/>
                <a:cs typeface="Calibri"/>
              </a:rPr>
              <a:t>Κρέμ</a:t>
            </a:r>
            <a:r>
              <a:rPr lang="de-DE" sz="2000">
                <a:ea typeface="Calibri"/>
                <a:cs typeface="Calibri"/>
              </a:rPr>
              <a:t>α</a:t>
            </a:r>
          </a:p>
        </p:txBody>
      </p:sp>
      <p:sp>
        <p:nvSpPr>
          <p:cNvPr id="11" name="Textfeld 10">
            <a:extLst>
              <a:ext uri="{FF2B5EF4-FFF2-40B4-BE49-F238E27FC236}">
                <a16:creationId xmlns:a16="http://schemas.microsoft.com/office/drawing/2014/main" id="{CAF192C5-EAA4-D045-01E0-AE204C5882CE}"/>
              </a:ext>
            </a:extLst>
          </p:cNvPr>
          <p:cNvSpPr txBox="1"/>
          <p:nvPr/>
        </p:nvSpPr>
        <p:spPr>
          <a:xfrm>
            <a:off x="8966601" y="4536268"/>
            <a:ext cx="1842890" cy="400110"/>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de-DE" sz="2000" err="1">
                <a:ea typeface="Calibri"/>
                <a:cs typeface="Calibri"/>
              </a:rPr>
              <a:t>Σκόνη</a:t>
            </a:r>
            <a:r>
              <a:rPr lang="de-DE" sz="2000">
                <a:ea typeface="Calibri"/>
                <a:cs typeface="Calibri"/>
              </a:rPr>
              <a:t> </a:t>
            </a:r>
            <a:r>
              <a:rPr lang="de-DE" sz="2000" err="1">
                <a:ea typeface="Calibri"/>
                <a:cs typeface="Calibri"/>
              </a:rPr>
              <a:t>γάλ</a:t>
            </a:r>
            <a:r>
              <a:rPr lang="de-DE" sz="2000">
                <a:ea typeface="Calibri"/>
                <a:cs typeface="Calibri"/>
              </a:rPr>
              <a:t>α</a:t>
            </a:r>
            <a:r>
              <a:rPr lang="de-DE" sz="2000" err="1">
                <a:ea typeface="Calibri"/>
                <a:cs typeface="Calibri"/>
              </a:rPr>
              <a:t>κτος</a:t>
            </a:r>
          </a:p>
        </p:txBody>
      </p:sp>
      <p:pic>
        <p:nvPicPr>
          <p:cNvPr id="38" name="Content Placeholder 4" descr="A diagram of evaporation&#10;&#10;AI-generated content may be incorrect.">
            <a:extLst>
              <a:ext uri="{FF2B5EF4-FFF2-40B4-BE49-F238E27FC236}">
                <a16:creationId xmlns:a16="http://schemas.microsoft.com/office/drawing/2014/main" id="{ADA99352-0060-C2DB-FB81-D34D14EFD9F3}"/>
              </a:ext>
            </a:extLst>
          </p:cNvPr>
          <p:cNvPicPr>
            <a:picLocks noChangeAspect="1"/>
          </p:cNvPicPr>
          <p:nvPr/>
        </p:nvPicPr>
        <p:blipFill>
          <a:blip r:embed="rId4"/>
          <a:srcRect l="26285" t="15812" r="70256" b="51176"/>
          <a:stretch>
            <a:fillRect/>
          </a:stretch>
        </p:blipFill>
        <p:spPr>
          <a:xfrm>
            <a:off x="5486439" y="3297823"/>
            <a:ext cx="372402" cy="621198"/>
          </a:xfrm>
          <a:prstGeom prst="rect">
            <a:avLst/>
          </a:prstGeom>
        </p:spPr>
      </p:pic>
      <p:pic>
        <p:nvPicPr>
          <p:cNvPr id="35" name="Content Placeholder 4" descr="A diagram of evaporation&#10;&#10;AI-generated content may be incorrect.">
            <a:extLst>
              <a:ext uri="{FF2B5EF4-FFF2-40B4-BE49-F238E27FC236}">
                <a16:creationId xmlns:a16="http://schemas.microsoft.com/office/drawing/2014/main" id="{0067601E-57EC-F42C-7C78-55BBF3E10148}"/>
              </a:ext>
            </a:extLst>
          </p:cNvPr>
          <p:cNvPicPr>
            <a:picLocks noChangeAspect="1"/>
          </p:cNvPicPr>
          <p:nvPr/>
        </p:nvPicPr>
        <p:blipFill>
          <a:blip r:embed="rId4"/>
          <a:srcRect l="16773" t="55601" r="79570" b="16611"/>
          <a:stretch>
            <a:fillRect/>
          </a:stretch>
        </p:blipFill>
        <p:spPr>
          <a:xfrm>
            <a:off x="2434009" y="4005345"/>
            <a:ext cx="393713" cy="522910"/>
          </a:xfrm>
          <a:prstGeom prst="rect">
            <a:avLst/>
          </a:prstGeom>
        </p:spPr>
      </p:pic>
      <p:pic>
        <p:nvPicPr>
          <p:cNvPr id="44" name="Content Placeholder 4" descr="A diagram of evaporation&#10;&#10;AI-generated content may be incorrect.">
            <a:extLst>
              <a:ext uri="{FF2B5EF4-FFF2-40B4-BE49-F238E27FC236}">
                <a16:creationId xmlns:a16="http://schemas.microsoft.com/office/drawing/2014/main" id="{F3F2AE07-A1FF-2803-BFF0-0D38C6BA3649}"/>
              </a:ext>
            </a:extLst>
          </p:cNvPr>
          <p:cNvPicPr>
            <a:picLocks noChangeAspect="1"/>
          </p:cNvPicPr>
          <p:nvPr/>
        </p:nvPicPr>
        <p:blipFill>
          <a:blip r:embed="rId4"/>
          <a:srcRect l="26285" t="15812" r="70256" b="51176"/>
          <a:stretch>
            <a:fillRect/>
          </a:stretch>
        </p:blipFill>
        <p:spPr>
          <a:xfrm>
            <a:off x="7419048" y="3297823"/>
            <a:ext cx="372402" cy="621198"/>
          </a:xfrm>
          <a:prstGeom prst="rect">
            <a:avLst/>
          </a:prstGeom>
        </p:spPr>
      </p:pic>
      <p:pic>
        <p:nvPicPr>
          <p:cNvPr id="45" name="Content Placeholder 4" descr="A diagram of evaporation&#10;&#10;AI-generated content may be incorrect.">
            <a:extLst>
              <a:ext uri="{FF2B5EF4-FFF2-40B4-BE49-F238E27FC236}">
                <a16:creationId xmlns:a16="http://schemas.microsoft.com/office/drawing/2014/main" id="{ECFBE8C7-B03F-8F5B-E13D-A03C0147ABDC}"/>
              </a:ext>
            </a:extLst>
          </p:cNvPr>
          <p:cNvPicPr>
            <a:picLocks noChangeAspect="1"/>
          </p:cNvPicPr>
          <p:nvPr/>
        </p:nvPicPr>
        <p:blipFill>
          <a:blip r:embed="rId4"/>
          <a:srcRect l="26285" t="15812" r="70256" b="51176"/>
          <a:stretch>
            <a:fillRect/>
          </a:stretch>
        </p:blipFill>
        <p:spPr>
          <a:xfrm>
            <a:off x="9373743" y="3297823"/>
            <a:ext cx="372402" cy="621198"/>
          </a:xfrm>
          <a:prstGeom prst="rect">
            <a:avLst/>
          </a:prstGeom>
        </p:spPr>
      </p:pic>
      <p:pic>
        <p:nvPicPr>
          <p:cNvPr id="46" name="Content Placeholder 4" descr="A diagram of evaporation&#10;&#10;AI-generated content may be incorrect.">
            <a:extLst>
              <a:ext uri="{FF2B5EF4-FFF2-40B4-BE49-F238E27FC236}">
                <a16:creationId xmlns:a16="http://schemas.microsoft.com/office/drawing/2014/main" id="{C193DCF2-D5ED-59BD-06ED-0A0A2CB11B07}"/>
              </a:ext>
            </a:extLst>
          </p:cNvPr>
          <p:cNvPicPr>
            <a:picLocks noChangeAspect="1"/>
          </p:cNvPicPr>
          <p:nvPr/>
        </p:nvPicPr>
        <p:blipFill>
          <a:blip r:embed="rId4"/>
          <a:srcRect l="26285" t="15812" r="70256" b="51176"/>
          <a:stretch>
            <a:fillRect/>
          </a:stretch>
        </p:blipFill>
        <p:spPr>
          <a:xfrm>
            <a:off x="3531743" y="3319909"/>
            <a:ext cx="372402" cy="621198"/>
          </a:xfrm>
          <a:prstGeom prst="rect">
            <a:avLst/>
          </a:prstGeom>
        </p:spPr>
      </p:pic>
      <p:sp>
        <p:nvSpPr>
          <p:cNvPr id="17" name="Rechteck 16">
            <a:extLst>
              <a:ext uri="{FF2B5EF4-FFF2-40B4-BE49-F238E27FC236}">
                <a16:creationId xmlns:a16="http://schemas.microsoft.com/office/drawing/2014/main" id="{8B3D6416-F03F-51D8-5F93-65F9C6715891}"/>
              </a:ext>
            </a:extLst>
          </p:cNvPr>
          <p:cNvSpPr/>
          <p:nvPr/>
        </p:nvSpPr>
        <p:spPr>
          <a:xfrm>
            <a:off x="3897332" y="3237636"/>
            <a:ext cx="1586770" cy="809252"/>
          </a:xfrm>
          <a:prstGeom prst="rect">
            <a:avLst/>
          </a:prstGeom>
          <a:solidFill>
            <a:srgbClr val="ECECE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Textfeld 18">
            <a:extLst>
              <a:ext uri="{FF2B5EF4-FFF2-40B4-BE49-F238E27FC236}">
                <a16:creationId xmlns:a16="http://schemas.microsoft.com/office/drawing/2014/main" id="{64142998-064B-C7EA-E6E0-7CCBA935B52E}"/>
              </a:ext>
            </a:extLst>
          </p:cNvPr>
          <p:cNvSpPr txBox="1"/>
          <p:nvPr/>
        </p:nvSpPr>
        <p:spPr>
          <a:xfrm>
            <a:off x="3894924" y="3434154"/>
            <a:ext cx="158873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2000">
                <a:ea typeface="Calibri"/>
                <a:cs typeface="Calibri"/>
              </a:rPr>
              <a:t>Πα</a:t>
            </a:r>
            <a:r>
              <a:rPr lang="de-DE" sz="2000" err="1">
                <a:ea typeface="Calibri"/>
                <a:cs typeface="Calibri"/>
              </a:rPr>
              <a:t>στερίωση</a:t>
            </a:r>
          </a:p>
        </p:txBody>
      </p:sp>
      <p:sp>
        <p:nvSpPr>
          <p:cNvPr id="21" name="Rechteck 20">
            <a:extLst>
              <a:ext uri="{FF2B5EF4-FFF2-40B4-BE49-F238E27FC236}">
                <a16:creationId xmlns:a16="http://schemas.microsoft.com/office/drawing/2014/main" id="{A90D78B5-DE38-8EB0-0ABF-38CE30D78D07}"/>
              </a:ext>
            </a:extLst>
          </p:cNvPr>
          <p:cNvSpPr/>
          <p:nvPr/>
        </p:nvSpPr>
        <p:spPr>
          <a:xfrm>
            <a:off x="5858362" y="3226431"/>
            <a:ext cx="1586770" cy="809252"/>
          </a:xfrm>
          <a:prstGeom prst="rect">
            <a:avLst/>
          </a:prstGeom>
          <a:solidFill>
            <a:srgbClr val="ECECE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3" name="Textfeld 22">
            <a:extLst>
              <a:ext uri="{FF2B5EF4-FFF2-40B4-BE49-F238E27FC236}">
                <a16:creationId xmlns:a16="http://schemas.microsoft.com/office/drawing/2014/main" id="{A04BD3D4-48DB-383D-E79F-658A8256BE01}"/>
              </a:ext>
            </a:extLst>
          </p:cNvPr>
          <p:cNvSpPr txBox="1"/>
          <p:nvPr/>
        </p:nvSpPr>
        <p:spPr>
          <a:xfrm>
            <a:off x="5968013" y="3411744"/>
            <a:ext cx="136462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2000" err="1">
                <a:ea typeface="Calibri"/>
                <a:cs typeface="Calibri"/>
              </a:rPr>
              <a:t>Εξάτμιση</a:t>
            </a:r>
          </a:p>
        </p:txBody>
      </p:sp>
      <p:pic>
        <p:nvPicPr>
          <p:cNvPr id="47" name="Content Placeholder 4" descr="A diagram of evaporation&#10;&#10;AI-generated content may be incorrect.">
            <a:extLst>
              <a:ext uri="{FF2B5EF4-FFF2-40B4-BE49-F238E27FC236}">
                <a16:creationId xmlns:a16="http://schemas.microsoft.com/office/drawing/2014/main" id="{E7EC0C51-A91D-3C8B-A8B3-5B063DCCBB8D}"/>
              </a:ext>
            </a:extLst>
          </p:cNvPr>
          <p:cNvPicPr>
            <a:picLocks noChangeAspect="1"/>
          </p:cNvPicPr>
          <p:nvPr/>
        </p:nvPicPr>
        <p:blipFill>
          <a:blip r:embed="rId4"/>
          <a:srcRect l="26285" t="15812" r="70256" b="51176"/>
          <a:stretch>
            <a:fillRect/>
          </a:stretch>
        </p:blipFill>
        <p:spPr>
          <a:xfrm>
            <a:off x="1594992" y="3341075"/>
            <a:ext cx="372402" cy="621198"/>
          </a:xfrm>
          <a:prstGeom prst="rect">
            <a:avLst/>
          </a:prstGeom>
        </p:spPr>
      </p:pic>
      <p:sp>
        <p:nvSpPr>
          <p:cNvPr id="29" name="Rechteck 28">
            <a:extLst>
              <a:ext uri="{FF2B5EF4-FFF2-40B4-BE49-F238E27FC236}">
                <a16:creationId xmlns:a16="http://schemas.microsoft.com/office/drawing/2014/main" id="{FF7B42EC-E611-5B06-DBCE-AEECCA167650}"/>
              </a:ext>
            </a:extLst>
          </p:cNvPr>
          <p:cNvSpPr/>
          <p:nvPr/>
        </p:nvSpPr>
        <p:spPr>
          <a:xfrm>
            <a:off x="1958715" y="3237149"/>
            <a:ext cx="1586770" cy="809252"/>
          </a:xfrm>
          <a:prstGeom prst="rect">
            <a:avLst/>
          </a:prstGeom>
          <a:solidFill>
            <a:srgbClr val="ECECE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1" name="Textfeld 30">
            <a:extLst>
              <a:ext uri="{FF2B5EF4-FFF2-40B4-BE49-F238E27FC236}">
                <a16:creationId xmlns:a16="http://schemas.microsoft.com/office/drawing/2014/main" id="{279A1689-12D7-3020-6292-92CB6A6D3C4D}"/>
              </a:ext>
            </a:extLst>
          </p:cNvPr>
          <p:cNvSpPr txBox="1"/>
          <p:nvPr/>
        </p:nvSpPr>
        <p:spPr>
          <a:xfrm>
            <a:off x="1967514" y="3425089"/>
            <a:ext cx="158873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2000" err="1">
                <a:ea typeface="Calibri"/>
                <a:cs typeface="Calibri"/>
              </a:rPr>
              <a:t>Τυ</a:t>
            </a:r>
            <a:r>
              <a:rPr lang="de-DE" sz="2000">
                <a:ea typeface="Calibri"/>
                <a:cs typeface="Calibri"/>
              </a:rPr>
              <a:t>ποπ</a:t>
            </a:r>
            <a:r>
              <a:rPr lang="de-DE" sz="2000" err="1">
                <a:ea typeface="Calibri"/>
                <a:cs typeface="Calibri"/>
              </a:rPr>
              <a:t>οίηση</a:t>
            </a:r>
          </a:p>
        </p:txBody>
      </p:sp>
      <p:sp>
        <p:nvSpPr>
          <p:cNvPr id="7" name="Textfeld 6">
            <a:extLst>
              <a:ext uri="{FF2B5EF4-FFF2-40B4-BE49-F238E27FC236}">
                <a16:creationId xmlns:a16="http://schemas.microsoft.com/office/drawing/2014/main" id="{B0E65A50-96A5-2885-166D-6A96CC0A6837}"/>
              </a:ext>
            </a:extLst>
          </p:cNvPr>
          <p:cNvSpPr txBox="1"/>
          <p:nvPr/>
        </p:nvSpPr>
        <p:spPr>
          <a:xfrm>
            <a:off x="536239" y="3139892"/>
            <a:ext cx="1240133" cy="400110"/>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de-DE" sz="2000" err="1">
                <a:ea typeface="Calibri"/>
                <a:cs typeface="Calibri"/>
              </a:rPr>
              <a:t>Ωμό</a:t>
            </a:r>
            <a:r>
              <a:rPr lang="de-DE" sz="2000">
                <a:ea typeface="Calibri"/>
                <a:cs typeface="Calibri"/>
              </a:rPr>
              <a:t> </a:t>
            </a:r>
            <a:r>
              <a:rPr lang="de-DE" sz="2000" err="1">
                <a:ea typeface="Calibri"/>
                <a:cs typeface="Calibri"/>
              </a:rPr>
              <a:t>γάλ</a:t>
            </a:r>
            <a:r>
              <a:rPr lang="de-DE" sz="2000">
                <a:ea typeface="Calibri"/>
                <a:cs typeface="Calibri"/>
              </a:rPr>
              <a:t>α</a:t>
            </a:r>
            <a:endParaRPr lang="de-DE" sz="2000"/>
          </a:p>
        </p:txBody>
      </p:sp>
      <p:sp>
        <p:nvSpPr>
          <p:cNvPr id="14" name="Rechteck 13">
            <a:extLst>
              <a:ext uri="{FF2B5EF4-FFF2-40B4-BE49-F238E27FC236}">
                <a16:creationId xmlns:a16="http://schemas.microsoft.com/office/drawing/2014/main" id="{4BB89886-2E1F-3705-8E08-0AC882A1CD94}"/>
              </a:ext>
            </a:extLst>
          </p:cNvPr>
          <p:cNvSpPr/>
          <p:nvPr/>
        </p:nvSpPr>
        <p:spPr>
          <a:xfrm>
            <a:off x="7785773" y="3215224"/>
            <a:ext cx="1586770" cy="809252"/>
          </a:xfrm>
          <a:prstGeom prst="rect">
            <a:avLst/>
          </a:prstGeom>
          <a:solidFill>
            <a:srgbClr val="ECECE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 name="Textfeld 14">
            <a:extLst>
              <a:ext uri="{FF2B5EF4-FFF2-40B4-BE49-F238E27FC236}">
                <a16:creationId xmlns:a16="http://schemas.microsoft.com/office/drawing/2014/main" id="{D4C0A79F-59B2-F93D-5DDC-AA1DB3460F13}"/>
              </a:ext>
            </a:extLst>
          </p:cNvPr>
          <p:cNvSpPr txBox="1"/>
          <p:nvPr/>
        </p:nvSpPr>
        <p:spPr>
          <a:xfrm>
            <a:off x="7906630" y="3411744"/>
            <a:ext cx="136462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2000" err="1">
                <a:ea typeface="Calibri"/>
                <a:cs typeface="Calibri"/>
              </a:rPr>
              <a:t>Ξήρ</a:t>
            </a:r>
            <a:r>
              <a:rPr lang="de-DE" sz="2000">
                <a:ea typeface="Calibri"/>
                <a:cs typeface="Calibri"/>
              </a:rPr>
              <a:t>α</a:t>
            </a:r>
            <a:r>
              <a:rPr lang="de-DE" sz="2000" err="1">
                <a:ea typeface="Calibri"/>
                <a:cs typeface="Calibri"/>
              </a:rPr>
              <a:t>νση</a:t>
            </a:r>
          </a:p>
        </p:txBody>
      </p:sp>
      <p:sp>
        <p:nvSpPr>
          <p:cNvPr id="25" name="Rechteck 24">
            <a:extLst>
              <a:ext uri="{FF2B5EF4-FFF2-40B4-BE49-F238E27FC236}">
                <a16:creationId xmlns:a16="http://schemas.microsoft.com/office/drawing/2014/main" id="{3C22C68D-7779-C44D-10EE-A8A21CE1ECC4}"/>
              </a:ext>
            </a:extLst>
          </p:cNvPr>
          <p:cNvSpPr/>
          <p:nvPr/>
        </p:nvSpPr>
        <p:spPr>
          <a:xfrm>
            <a:off x="9735597" y="3237636"/>
            <a:ext cx="1586770" cy="809252"/>
          </a:xfrm>
          <a:prstGeom prst="rect">
            <a:avLst/>
          </a:prstGeom>
          <a:solidFill>
            <a:srgbClr val="ECECE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7" name="Textfeld 26">
            <a:extLst>
              <a:ext uri="{FF2B5EF4-FFF2-40B4-BE49-F238E27FC236}">
                <a16:creationId xmlns:a16="http://schemas.microsoft.com/office/drawing/2014/main" id="{31C708C8-9D34-9438-DF1F-C31B5C3F5914}"/>
              </a:ext>
            </a:extLst>
          </p:cNvPr>
          <p:cNvSpPr txBox="1"/>
          <p:nvPr/>
        </p:nvSpPr>
        <p:spPr>
          <a:xfrm>
            <a:off x="9733189" y="3311053"/>
            <a:ext cx="1588739"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2000" err="1">
                <a:ea typeface="Calibri"/>
                <a:cs typeface="Calibri"/>
              </a:rPr>
              <a:t>Φιλτράρισμ</a:t>
            </a:r>
            <a:r>
              <a:rPr lang="de-DE" sz="2000">
                <a:ea typeface="Calibri"/>
                <a:cs typeface="Calibri"/>
              </a:rPr>
              <a:t>α α</a:t>
            </a:r>
            <a:r>
              <a:rPr lang="de-DE" sz="2000" err="1">
                <a:ea typeface="Calibri"/>
                <a:cs typeface="Calibri"/>
              </a:rPr>
              <a:t>έρ</a:t>
            </a:r>
            <a:r>
              <a:rPr lang="de-DE" sz="2000">
                <a:ea typeface="Calibri"/>
                <a:cs typeface="Calibri"/>
              </a:rPr>
              <a:t>α</a:t>
            </a:r>
          </a:p>
        </p:txBody>
      </p:sp>
    </p:spTree>
    <p:extLst>
      <p:ext uri="{BB962C8B-B14F-4D97-AF65-F5344CB8AC3E}">
        <p14:creationId xmlns:p14="http://schemas.microsoft.com/office/powerpoint/2010/main" val="442801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par>
                                <p:cTn id="14" presetID="10" presetClass="entr" presetSubtype="0" fill="hold" nodeType="withEffect">
                                  <p:stCondLst>
                                    <p:cond delay="0"/>
                                  </p:stCondLst>
                                  <p:childTnLst>
                                    <p:set>
                                      <p:cBhvr>
                                        <p:cTn id="15" dur="1" fill="hold">
                                          <p:stCondLst>
                                            <p:cond delay="0"/>
                                          </p:stCondLst>
                                        </p:cTn>
                                        <p:tgtEl>
                                          <p:spTgt spid="47"/>
                                        </p:tgtEl>
                                        <p:attrNameLst>
                                          <p:attrName>style.visibility</p:attrName>
                                        </p:attrNameLst>
                                      </p:cBhvr>
                                      <p:to>
                                        <p:strVal val="visible"/>
                                      </p:to>
                                    </p:set>
                                    <p:animEffect transition="in" filter="fade">
                                      <p:cBhvr>
                                        <p:cTn id="16" dur="500"/>
                                        <p:tgtEl>
                                          <p:spTgt spid="4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500"/>
                                        <p:tgtEl>
                                          <p:spTgt spid="31"/>
                                        </p:tgtEl>
                                      </p:cBhvr>
                                    </p:animEffect>
                                  </p:childTnLst>
                                </p:cTn>
                              </p:par>
                              <p:par>
                                <p:cTn id="20" presetID="10" presetClass="entr" presetSubtype="0" fill="hold" nodeType="with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fade">
                                      <p:cBhvr>
                                        <p:cTn id="22" dur="500"/>
                                        <p:tgtEl>
                                          <p:spTgt spid="3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nodeType="withEffect">
                                  <p:stCondLst>
                                    <p:cond delay="0"/>
                                  </p:stCondLst>
                                  <p:childTnLst>
                                    <p:set>
                                      <p:cBhvr>
                                        <p:cTn id="27" dur="1" fill="hold">
                                          <p:stCondLst>
                                            <p:cond delay="0"/>
                                          </p:stCondLst>
                                        </p:cTn>
                                        <p:tgtEl>
                                          <p:spTgt spid="46"/>
                                        </p:tgtEl>
                                        <p:attrNameLst>
                                          <p:attrName>style.visibility</p:attrName>
                                        </p:attrNameLst>
                                      </p:cBhvr>
                                      <p:to>
                                        <p:strVal val="visible"/>
                                      </p:to>
                                    </p:set>
                                    <p:animEffect transition="in" filter="fade">
                                      <p:cBhvr>
                                        <p:cTn id="28" dur="500"/>
                                        <p:tgtEl>
                                          <p:spTgt spid="4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50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fade">
                                      <p:cBhvr>
                                        <p:cTn id="37" dur="500"/>
                                        <p:tgtEl>
                                          <p:spTgt spid="3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500"/>
                                        <p:tgtEl>
                                          <p:spTgt spid="2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500"/>
                                        <p:tgtEl>
                                          <p:spTgt spid="23"/>
                                        </p:tgtEl>
                                      </p:cBhvr>
                                    </p:animEffect>
                                  </p:childTnLst>
                                </p:cTn>
                              </p:par>
                              <p:par>
                                <p:cTn id="44" presetID="10" presetClass="entr" presetSubtype="0" fill="hold" nodeType="withEffect">
                                  <p:stCondLst>
                                    <p:cond delay="0"/>
                                  </p:stCondLst>
                                  <p:childTnLst>
                                    <p:set>
                                      <p:cBhvr>
                                        <p:cTn id="45" dur="1" fill="hold">
                                          <p:stCondLst>
                                            <p:cond delay="0"/>
                                          </p:stCondLst>
                                        </p:cTn>
                                        <p:tgtEl>
                                          <p:spTgt spid="44"/>
                                        </p:tgtEl>
                                        <p:attrNameLst>
                                          <p:attrName>style.visibility</p:attrName>
                                        </p:attrNameLst>
                                      </p:cBhvr>
                                      <p:to>
                                        <p:strVal val="visible"/>
                                      </p:to>
                                    </p:set>
                                    <p:animEffect transition="in" filter="fade">
                                      <p:cBhvr>
                                        <p:cTn id="46" dur="500"/>
                                        <p:tgtEl>
                                          <p:spTgt spid="4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fade">
                                      <p:cBhvr>
                                        <p:cTn id="49" dur="500"/>
                                        <p:tgtEl>
                                          <p:spTgt spid="1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500"/>
                                        <p:tgtEl>
                                          <p:spTgt spid="15"/>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fade">
                                      <p:cBhvr>
                                        <p:cTn id="55" dur="500"/>
                                        <p:tgtEl>
                                          <p:spTgt spid="2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500"/>
                                        <p:tgtEl>
                                          <p:spTgt spid="25"/>
                                        </p:tgtEl>
                                      </p:cBhvr>
                                    </p:animEffect>
                                  </p:childTnLst>
                                </p:cTn>
                              </p:par>
                              <p:par>
                                <p:cTn id="59" presetID="10" presetClass="entr" presetSubtype="0" fill="hold" nodeType="withEffect">
                                  <p:stCondLst>
                                    <p:cond delay="0"/>
                                  </p:stCondLst>
                                  <p:childTnLst>
                                    <p:set>
                                      <p:cBhvr>
                                        <p:cTn id="60" dur="1" fill="hold">
                                          <p:stCondLst>
                                            <p:cond delay="0"/>
                                          </p:stCondLst>
                                        </p:cTn>
                                        <p:tgtEl>
                                          <p:spTgt spid="45"/>
                                        </p:tgtEl>
                                        <p:attrNameLst>
                                          <p:attrName>style.visibility</p:attrName>
                                        </p:attrNameLst>
                                      </p:cBhvr>
                                      <p:to>
                                        <p:strVal val="visible"/>
                                      </p:to>
                                    </p:set>
                                    <p:animEffect transition="in" filter="fade">
                                      <p:cBhvr>
                                        <p:cTn id="61" dur="500"/>
                                        <p:tgtEl>
                                          <p:spTgt spid="45"/>
                                        </p:tgtEl>
                                      </p:cBhvr>
                                    </p:animEffect>
                                  </p:childTnLst>
                                </p:cTn>
                              </p:par>
                              <p:par>
                                <p:cTn id="62" presetID="10" presetClass="entr" presetSubtype="0" fill="hold" nodeType="withEffect">
                                  <p:stCondLst>
                                    <p:cond delay="0"/>
                                  </p:stCondLst>
                                  <p:childTnLst>
                                    <p:set>
                                      <p:cBhvr>
                                        <p:cTn id="63" dur="1" fill="hold">
                                          <p:stCondLst>
                                            <p:cond delay="0"/>
                                          </p:stCondLst>
                                        </p:cTn>
                                        <p:tgtEl>
                                          <p:spTgt spid="12"/>
                                        </p:tgtEl>
                                        <p:attrNameLst>
                                          <p:attrName>style.visibility</p:attrName>
                                        </p:attrNameLst>
                                      </p:cBhvr>
                                      <p:to>
                                        <p:strVal val="visible"/>
                                      </p:to>
                                    </p:set>
                                    <p:animEffect transition="in" filter="fade">
                                      <p:cBhvr>
                                        <p:cTn id="64" dur="500"/>
                                        <p:tgtEl>
                                          <p:spTgt spid="1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11"/>
                                        </p:tgtEl>
                                        <p:attrNameLst>
                                          <p:attrName>style.visibility</p:attrName>
                                        </p:attrNameLst>
                                      </p:cBhvr>
                                      <p:to>
                                        <p:strVal val="visible"/>
                                      </p:to>
                                    </p:set>
                                    <p:animEffect transition="in" filter="fade">
                                      <p:cBhvr>
                                        <p:cTn id="67" dur="500"/>
                                        <p:tgtEl>
                                          <p:spTgt spid="11"/>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
                                        </p:tgtEl>
                                        <p:attrNameLst>
                                          <p:attrName>style.visibility</p:attrName>
                                        </p:attrNameLst>
                                      </p:cBhvr>
                                      <p:to>
                                        <p:strVal val="visible"/>
                                      </p:to>
                                    </p:set>
                                    <p:animEffect transition="in" filter="fade">
                                      <p:cBhvr>
                                        <p:cTn id="70" dur="500"/>
                                        <p:tgtEl>
                                          <p:spTgt spid="2"/>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16"/>
                                        </p:tgtEl>
                                        <p:attrNameLst>
                                          <p:attrName>style.visibility</p:attrName>
                                        </p:attrNameLst>
                                      </p:cBhvr>
                                      <p:to>
                                        <p:strVal val="visible"/>
                                      </p:to>
                                    </p:set>
                                    <p:animEffect transition="in" filter="fade">
                                      <p:cBhvr>
                                        <p:cTn id="73" dur="500"/>
                                        <p:tgtEl>
                                          <p:spTgt spid="16"/>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34"/>
                                        </p:tgtEl>
                                        <p:attrNameLst>
                                          <p:attrName>style.visibility</p:attrName>
                                        </p:attrNameLst>
                                      </p:cBhvr>
                                      <p:to>
                                        <p:strVal val="visible"/>
                                      </p:to>
                                    </p:set>
                                    <p:animEffect transition="in" filter="fade">
                                      <p:cBhvr>
                                        <p:cTn id="78" dur="500"/>
                                        <p:tgtEl>
                                          <p:spTgt spid="34"/>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6"/>
                                        </p:tgtEl>
                                        <p:attrNameLst>
                                          <p:attrName>style.visibility</p:attrName>
                                        </p:attrNameLst>
                                      </p:cBhvr>
                                      <p:to>
                                        <p:strVal val="visible"/>
                                      </p:to>
                                    </p:set>
                                    <p:animEffect transition="in" filter="fade">
                                      <p:cBhvr>
                                        <p:cTn id="81"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3" grpId="0" animBg="1"/>
      <p:bldP spid="16" grpId="0"/>
      <p:bldP spid="34" grpId="0" animBg="1"/>
      <p:bldP spid="36" grpId="0"/>
      <p:bldP spid="10" grpId="0" animBg="1"/>
      <p:bldP spid="11" grpId="0" animBg="1"/>
      <p:bldP spid="17" grpId="0" animBg="1"/>
      <p:bldP spid="19" grpId="0"/>
      <p:bldP spid="21" grpId="0" animBg="1"/>
      <p:bldP spid="23" grpId="0"/>
      <p:bldP spid="29" grpId="0" animBg="1"/>
      <p:bldP spid="31" grpId="0"/>
      <p:bldP spid="7" grpId="0" animBg="1"/>
      <p:bldP spid="14" grpId="0" animBg="1"/>
      <p:bldP spid="15" grpId="0"/>
      <p:bldP spid="25" grpId="0" animBg="1"/>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9BD66B-C6A0-05A1-CDD6-040D92C478D8}"/>
              </a:ext>
            </a:extLst>
          </p:cNvPr>
          <p:cNvSpPr>
            <a:spLocks noGrp="1"/>
          </p:cNvSpPr>
          <p:nvPr>
            <p:ph idx="1"/>
          </p:nvPr>
        </p:nvSpPr>
        <p:spPr>
          <a:xfrm>
            <a:off x="838200" y="1432719"/>
            <a:ext cx="10944224" cy="3356097"/>
          </a:xfrm>
        </p:spPr>
        <p:txBody>
          <a:bodyPr vert="horz" lIns="91440" tIns="45720" rIns="91440" bIns="45720" rtlCol="0" anchor="t">
            <a:normAutofit/>
          </a:bodyPr>
          <a:lstStyle/>
          <a:p>
            <a:pPr algn="just"/>
            <a:r>
              <a:rPr lang="en-US" dirty="0" err="1">
                <a:ea typeface="Calibri"/>
                <a:cs typeface="Calibri"/>
              </a:rPr>
              <a:t>Μοντελο</a:t>
            </a:r>
            <a:r>
              <a:rPr lang="en-US" dirty="0">
                <a:ea typeface="Calibri"/>
                <a:cs typeface="Calibri"/>
              </a:rPr>
              <a:t>π</a:t>
            </a:r>
            <a:r>
              <a:rPr lang="en-US" dirty="0" err="1">
                <a:ea typeface="Calibri"/>
                <a:cs typeface="Calibri"/>
              </a:rPr>
              <a:t>οίηση</a:t>
            </a:r>
            <a:r>
              <a:rPr lang="en-US" dirty="0">
                <a:ea typeface="Calibri"/>
                <a:cs typeface="Calibri"/>
              </a:rPr>
              <a:t>, π</a:t>
            </a:r>
            <a:r>
              <a:rPr lang="en-US" dirty="0" err="1">
                <a:ea typeface="Calibri"/>
                <a:cs typeface="Calibri"/>
              </a:rPr>
              <a:t>ροσομοίωση</a:t>
            </a:r>
            <a:r>
              <a:rPr lang="en-US" dirty="0">
                <a:ea typeface="Calibri"/>
                <a:cs typeface="Calibri"/>
              </a:rPr>
              <a:t> </a:t>
            </a:r>
            <a:r>
              <a:rPr lang="en-US" dirty="0" err="1">
                <a:ea typeface="Calibri"/>
                <a:cs typeface="Calibri"/>
              </a:rPr>
              <a:t>ολοκληρωμένης</a:t>
            </a:r>
            <a:r>
              <a:rPr lang="en-US" dirty="0">
                <a:ea typeface="Calibri"/>
                <a:cs typeface="Calibri"/>
              </a:rPr>
              <a:t> </a:t>
            </a:r>
            <a:r>
              <a:rPr lang="en-US" dirty="0" err="1">
                <a:ea typeface="Calibri"/>
                <a:cs typeface="Calibri"/>
              </a:rPr>
              <a:t>διεργ</a:t>
            </a:r>
            <a:r>
              <a:rPr lang="en-US" dirty="0">
                <a:ea typeface="Calibri"/>
                <a:cs typeface="Calibri"/>
              </a:rPr>
              <a:t>α</a:t>
            </a:r>
            <a:r>
              <a:rPr lang="en-US" dirty="0" err="1">
                <a:ea typeface="Calibri"/>
                <a:cs typeface="Calibri"/>
              </a:rPr>
              <a:t>σί</a:t>
            </a:r>
            <a:r>
              <a:rPr lang="en-US" dirty="0">
                <a:ea typeface="Calibri"/>
                <a:cs typeface="Calibri"/>
              </a:rPr>
              <a:t>ας</a:t>
            </a:r>
            <a:endParaRPr lang="de-DE" dirty="0"/>
          </a:p>
          <a:p>
            <a:pPr algn="just"/>
            <a:r>
              <a:rPr lang="en-US" dirty="0" err="1">
                <a:ea typeface="Calibri"/>
                <a:cs typeface="Calibri"/>
              </a:rPr>
              <a:t>Συμ</a:t>
            </a:r>
            <a:r>
              <a:rPr lang="en-US" dirty="0">
                <a:ea typeface="Calibri"/>
                <a:cs typeface="Calibri"/>
              </a:rPr>
              <a:t>π</a:t>
            </a:r>
            <a:r>
              <a:rPr lang="en-US" dirty="0" err="1">
                <a:ea typeface="Calibri"/>
                <a:cs typeface="Calibri"/>
              </a:rPr>
              <a:t>υκνωμένο</a:t>
            </a:r>
            <a:r>
              <a:rPr lang="en-US" dirty="0">
                <a:ea typeface="Calibri"/>
                <a:cs typeface="Calibri"/>
              </a:rPr>
              <a:t> </a:t>
            </a:r>
            <a:r>
              <a:rPr lang="en-US" dirty="0" err="1">
                <a:ea typeface="Calibri"/>
                <a:cs typeface="Calibri"/>
              </a:rPr>
              <a:t>γάλ</a:t>
            </a:r>
            <a:r>
              <a:rPr lang="en-US" dirty="0">
                <a:ea typeface="Calibri"/>
                <a:cs typeface="Calibri"/>
              </a:rPr>
              <a:t>α </a:t>
            </a:r>
            <a:r>
              <a:rPr lang="en-US" dirty="0" err="1">
                <a:ea typeface="Calibri"/>
                <a:cs typeface="Calibri"/>
              </a:rPr>
              <a:t>με</a:t>
            </a:r>
            <a:r>
              <a:rPr lang="en-US" dirty="0">
                <a:ea typeface="Calibri"/>
                <a:cs typeface="Calibri"/>
              </a:rPr>
              <a:t> 20% </a:t>
            </a:r>
            <a:r>
              <a:rPr lang="en-US" dirty="0" err="1">
                <a:ea typeface="Calibri"/>
                <a:cs typeface="Calibri"/>
              </a:rPr>
              <a:t>στερεά</a:t>
            </a:r>
            <a:endParaRPr lang="en-US" dirty="0">
              <a:ea typeface="Calibri"/>
              <a:cs typeface="Calibri"/>
            </a:endParaRPr>
          </a:p>
          <a:p>
            <a:pPr algn="just"/>
            <a:r>
              <a:rPr lang="en-US" dirty="0" err="1">
                <a:ea typeface="Calibri"/>
                <a:cs typeface="Calibri"/>
              </a:rPr>
              <a:t>Φυσικοχημικά</a:t>
            </a:r>
            <a:r>
              <a:rPr lang="en-US" dirty="0">
                <a:ea typeface="Calibri"/>
                <a:cs typeface="Calibri"/>
              </a:rPr>
              <a:t>, β</a:t>
            </a:r>
            <a:r>
              <a:rPr lang="en-US" dirty="0" err="1">
                <a:ea typeface="Calibri"/>
                <a:cs typeface="Calibri"/>
              </a:rPr>
              <a:t>ιολογικά</a:t>
            </a:r>
            <a:r>
              <a:rPr lang="en-US" dirty="0">
                <a:ea typeface="Calibri"/>
                <a:cs typeface="Calibri"/>
              </a:rPr>
              <a:t> φα</a:t>
            </a:r>
            <a:r>
              <a:rPr lang="en-US" dirty="0" err="1">
                <a:ea typeface="Calibri"/>
                <a:cs typeface="Calibri"/>
              </a:rPr>
              <a:t>ινόμεν</a:t>
            </a:r>
            <a:r>
              <a:rPr lang="en-US" dirty="0">
                <a:ea typeface="Calibri"/>
                <a:cs typeface="Calibri"/>
              </a:rPr>
              <a:t>α</a:t>
            </a:r>
          </a:p>
          <a:p>
            <a:pPr algn="just"/>
            <a:r>
              <a:rPr lang="en-US" dirty="0" err="1">
                <a:ea typeface="Calibri"/>
                <a:cs typeface="Calibri"/>
              </a:rPr>
              <a:t>Συνθήκες</a:t>
            </a:r>
            <a:r>
              <a:rPr lang="en-US" dirty="0">
                <a:ea typeface="Calibri"/>
                <a:cs typeface="Calibri"/>
              </a:rPr>
              <a:t> </a:t>
            </a:r>
            <a:r>
              <a:rPr lang="en-US" dirty="0" err="1">
                <a:ea typeface="Calibri"/>
                <a:cs typeface="Calibri"/>
              </a:rPr>
              <a:t>λειτουργί</a:t>
            </a:r>
            <a:r>
              <a:rPr lang="en-US" dirty="0">
                <a:ea typeface="Calibri"/>
                <a:cs typeface="Calibri"/>
              </a:rPr>
              <a:t>ας, παράμετροι</a:t>
            </a:r>
          </a:p>
          <a:p>
            <a:pPr algn="just"/>
            <a:r>
              <a:rPr lang="en-US" dirty="0" err="1">
                <a:ea typeface="Calibri"/>
                <a:cs typeface="Calibri"/>
              </a:rPr>
              <a:t>Μείωση</a:t>
            </a:r>
            <a:r>
              <a:rPr lang="en-US" dirty="0">
                <a:ea typeface="Calibri"/>
                <a:cs typeface="Calibri"/>
              </a:rPr>
              <a:t> αβεβα</a:t>
            </a:r>
            <a:r>
              <a:rPr lang="en-US" dirty="0" err="1">
                <a:ea typeface="Calibri"/>
                <a:cs typeface="Calibri"/>
              </a:rPr>
              <a:t>ιότητ</a:t>
            </a:r>
            <a:r>
              <a:rPr lang="en-US" dirty="0">
                <a:ea typeface="Calibri"/>
                <a:cs typeface="Calibri"/>
              </a:rPr>
              <a:t>ας, </a:t>
            </a:r>
            <a:r>
              <a:rPr lang="en-US" dirty="0" err="1">
                <a:ea typeface="Calibri"/>
                <a:cs typeface="Calibri"/>
              </a:rPr>
              <a:t>έλεγχος</a:t>
            </a:r>
            <a:r>
              <a:rPr lang="en-US" dirty="0">
                <a:ea typeface="Calibri"/>
                <a:cs typeface="Calibri"/>
              </a:rPr>
              <a:t>, β</a:t>
            </a:r>
            <a:r>
              <a:rPr lang="en-US" dirty="0" err="1">
                <a:ea typeface="Calibri"/>
                <a:cs typeface="Calibri"/>
              </a:rPr>
              <a:t>έλτιστες</a:t>
            </a:r>
            <a:r>
              <a:rPr lang="en-US" dirty="0">
                <a:ea typeface="Calibri"/>
                <a:cs typeface="Calibri"/>
              </a:rPr>
              <a:t> απ</a:t>
            </a:r>
            <a:r>
              <a:rPr lang="en-US" dirty="0" err="1">
                <a:ea typeface="Calibri"/>
                <a:cs typeface="Calibri"/>
              </a:rPr>
              <a:t>οφάσεις</a:t>
            </a:r>
            <a:endParaRPr lang="en-US" dirty="0">
              <a:ea typeface="Calibri"/>
              <a:cs typeface="Calibri"/>
            </a:endParaRPr>
          </a:p>
          <a:p>
            <a:pPr algn="just"/>
            <a:r>
              <a:rPr lang="en-US" dirty="0" err="1">
                <a:ea typeface="Calibri"/>
                <a:cs typeface="Calibri"/>
              </a:rPr>
              <a:t>Βελτιστο</a:t>
            </a:r>
            <a:r>
              <a:rPr lang="en-US" dirty="0">
                <a:ea typeface="Calibri"/>
                <a:cs typeface="Calibri"/>
              </a:rPr>
              <a:t>ποίηση ολοκληρωμένης διεργασίας</a:t>
            </a:r>
          </a:p>
        </p:txBody>
      </p:sp>
      <p:sp>
        <p:nvSpPr>
          <p:cNvPr id="4" name="Slide Number Placeholder 3">
            <a:extLst>
              <a:ext uri="{FF2B5EF4-FFF2-40B4-BE49-F238E27FC236}">
                <a16:creationId xmlns:a16="http://schemas.microsoft.com/office/drawing/2014/main" id="{DD394501-4878-48AE-9211-C773128D68CE}"/>
              </a:ext>
            </a:extLst>
          </p:cNvPr>
          <p:cNvSpPr>
            <a:spLocks noGrp="1"/>
          </p:cNvSpPr>
          <p:nvPr>
            <p:ph type="sldNum" sz="quarter" idx="12"/>
          </p:nvPr>
        </p:nvSpPr>
        <p:spPr/>
        <p:txBody>
          <a:bodyPr/>
          <a:lstStyle/>
          <a:p>
            <a:fld id="{48F63A3B-78C7-47BE-AE5E-E10140E04643}" type="slidenum">
              <a:rPr lang="en-US" smtClean="0"/>
              <a:t>4</a:t>
            </a:fld>
            <a:r>
              <a:rPr lang="en-US" dirty="0"/>
              <a:t>/</a:t>
            </a:r>
            <a:r>
              <a:rPr lang="el-GR" dirty="0"/>
              <a:t>2</a:t>
            </a:r>
            <a:r>
              <a:rPr lang="en-US" dirty="0"/>
              <a:t>2</a:t>
            </a:r>
          </a:p>
        </p:txBody>
      </p:sp>
      <p:sp>
        <p:nvSpPr>
          <p:cNvPr id="8" name="Title 1">
            <a:extLst>
              <a:ext uri="{FF2B5EF4-FFF2-40B4-BE49-F238E27FC236}">
                <a16:creationId xmlns:a16="http://schemas.microsoft.com/office/drawing/2014/main" id="{9404DCD3-1A88-C909-2B6C-EC35DC1B635C}"/>
              </a:ext>
            </a:extLst>
          </p:cNvPr>
          <p:cNvSpPr txBox="1">
            <a:spLocks/>
          </p:cNvSpPr>
          <p:nvPr/>
        </p:nvSpPr>
        <p:spPr>
          <a:xfrm>
            <a:off x="103898" y="138893"/>
            <a:ext cx="11992238" cy="6868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dirty="0">
                <a:ea typeface="Calibri Light"/>
                <a:cs typeface="Calibri Light"/>
              </a:rPr>
              <a:t>2.1 </a:t>
            </a:r>
            <a:r>
              <a:rPr lang="en-US" sz="3100" dirty="0" err="1">
                <a:ea typeface="Calibri Light"/>
                <a:cs typeface="Calibri Light"/>
              </a:rPr>
              <a:t>Στόχοι</a:t>
            </a:r>
            <a:r>
              <a:rPr lang="en-US" sz="3100" dirty="0">
                <a:ea typeface="Calibri Light"/>
                <a:cs typeface="Calibri Light"/>
              </a:rPr>
              <a:t> Πα</a:t>
            </a:r>
            <a:r>
              <a:rPr lang="en-US" sz="3100" dirty="0" err="1">
                <a:ea typeface="Calibri Light"/>
                <a:cs typeface="Calibri Light"/>
              </a:rPr>
              <a:t>ρούσ</a:t>
            </a:r>
            <a:r>
              <a:rPr lang="en-US" sz="3100" dirty="0">
                <a:ea typeface="Calibri Light"/>
                <a:cs typeface="Calibri Light"/>
              </a:rPr>
              <a:t>ας Μελέτης</a:t>
            </a:r>
          </a:p>
        </p:txBody>
      </p:sp>
    </p:spTree>
    <p:extLst>
      <p:ext uri="{BB962C8B-B14F-4D97-AF65-F5344CB8AC3E}">
        <p14:creationId xmlns:p14="http://schemas.microsoft.com/office/powerpoint/2010/main" val="1354234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27F53-178F-C23C-8EB5-DD83D74134D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C13B80-9062-A39C-8CC4-744A9626FD7F}"/>
              </a:ext>
            </a:extLst>
          </p:cNvPr>
          <p:cNvSpPr>
            <a:spLocks noGrp="1"/>
          </p:cNvSpPr>
          <p:nvPr>
            <p:ph idx="1"/>
          </p:nvPr>
        </p:nvSpPr>
        <p:spPr>
          <a:xfrm>
            <a:off x="60001" y="1549142"/>
            <a:ext cx="2004205" cy="704565"/>
          </a:xfrm>
        </p:spPr>
        <p:txBody>
          <a:bodyPr vert="horz" lIns="91440" tIns="45720" rIns="91440" bIns="45720" rtlCol="0" anchor="t">
            <a:normAutofit/>
          </a:bodyPr>
          <a:lstStyle/>
          <a:p>
            <a:pPr marL="0" indent="0" algn="ctr">
              <a:buNone/>
            </a:pPr>
            <a:r>
              <a:rPr lang="en-US" sz="2000" err="1">
                <a:ea typeface="Calibri" panose="020F0502020204030204"/>
                <a:cs typeface="Calibri" panose="020F0502020204030204"/>
              </a:rPr>
              <a:t>Μοντέλο</a:t>
            </a:r>
            <a:r>
              <a:rPr lang="en-US" sz="2000">
                <a:ea typeface="Calibri" panose="020F0502020204030204"/>
                <a:cs typeface="Calibri" panose="020F0502020204030204"/>
              </a:rPr>
              <a:t> Πα</a:t>
            </a:r>
            <a:r>
              <a:rPr lang="en-US" sz="2000" err="1">
                <a:ea typeface="Calibri" panose="020F0502020204030204"/>
                <a:cs typeface="Calibri" panose="020F0502020204030204"/>
              </a:rPr>
              <a:t>στερίωσης</a:t>
            </a:r>
            <a:endParaRPr lang="en-US" sz="2000">
              <a:ea typeface="Calibri" panose="020F0502020204030204"/>
              <a:cs typeface="Calibri" panose="020F0502020204030204"/>
            </a:endParaRPr>
          </a:p>
        </p:txBody>
      </p:sp>
      <p:sp>
        <p:nvSpPr>
          <p:cNvPr id="4" name="Slide Number Placeholder 3">
            <a:extLst>
              <a:ext uri="{FF2B5EF4-FFF2-40B4-BE49-F238E27FC236}">
                <a16:creationId xmlns:a16="http://schemas.microsoft.com/office/drawing/2014/main" id="{E062AFFC-2056-352B-6A73-374AB834F07F}"/>
              </a:ext>
            </a:extLst>
          </p:cNvPr>
          <p:cNvSpPr>
            <a:spLocks noGrp="1"/>
          </p:cNvSpPr>
          <p:nvPr>
            <p:ph type="sldNum" sz="quarter" idx="12"/>
          </p:nvPr>
        </p:nvSpPr>
        <p:spPr/>
        <p:txBody>
          <a:bodyPr/>
          <a:lstStyle/>
          <a:p>
            <a:fld id="{48F63A3B-78C7-47BE-AE5E-E10140E04643}" type="slidenum">
              <a:rPr lang="en-US" smtClean="0"/>
              <a:t>5</a:t>
            </a:fld>
            <a:r>
              <a:rPr lang="en-US" dirty="0"/>
              <a:t>/</a:t>
            </a:r>
            <a:r>
              <a:rPr lang="el-GR" dirty="0"/>
              <a:t>2</a:t>
            </a:r>
            <a:r>
              <a:rPr lang="en-US" dirty="0"/>
              <a:t>2</a:t>
            </a:r>
          </a:p>
        </p:txBody>
      </p:sp>
      <p:sp>
        <p:nvSpPr>
          <p:cNvPr id="6" name="Rectangle: Rounded Corners 5">
            <a:extLst>
              <a:ext uri="{FF2B5EF4-FFF2-40B4-BE49-F238E27FC236}">
                <a16:creationId xmlns:a16="http://schemas.microsoft.com/office/drawing/2014/main" id="{2BFAF75D-E003-9208-624F-EA9F4546CBC1}"/>
              </a:ext>
            </a:extLst>
          </p:cNvPr>
          <p:cNvSpPr/>
          <p:nvPr/>
        </p:nvSpPr>
        <p:spPr>
          <a:xfrm>
            <a:off x="2086352" y="1509164"/>
            <a:ext cx="2013417" cy="70230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err="1">
                <a:ea typeface="Calibri"/>
                <a:cs typeface="Calibri"/>
              </a:rPr>
              <a:t>Προσομοίωση</a:t>
            </a:r>
            <a:endParaRPr lang="en-US" sz="2000" err="1"/>
          </a:p>
        </p:txBody>
      </p:sp>
      <p:sp>
        <p:nvSpPr>
          <p:cNvPr id="7" name="Rectangle: Rounded Corners 6">
            <a:extLst>
              <a:ext uri="{FF2B5EF4-FFF2-40B4-BE49-F238E27FC236}">
                <a16:creationId xmlns:a16="http://schemas.microsoft.com/office/drawing/2014/main" id="{E3681F84-0118-A741-05FC-038947413EA5}"/>
              </a:ext>
            </a:extLst>
          </p:cNvPr>
          <p:cNvSpPr/>
          <p:nvPr/>
        </p:nvSpPr>
        <p:spPr>
          <a:xfrm>
            <a:off x="9044993" y="1509165"/>
            <a:ext cx="2013417" cy="70230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err="1">
                <a:ea typeface="Calibri"/>
                <a:cs typeface="Calibri"/>
              </a:rPr>
              <a:t>Βελτιστο</a:t>
            </a:r>
            <a:r>
              <a:rPr lang="en-US" sz="2000">
                <a:ea typeface="Calibri"/>
                <a:cs typeface="Calibri"/>
              </a:rPr>
              <a:t>π</a:t>
            </a:r>
            <a:r>
              <a:rPr lang="en-US" sz="2000" err="1">
                <a:ea typeface="Calibri"/>
                <a:cs typeface="Calibri"/>
              </a:rPr>
              <a:t>οίηση</a:t>
            </a:r>
            <a:endParaRPr lang="en-US" sz="2000">
              <a:ea typeface="Calibri"/>
              <a:cs typeface="Calibri"/>
            </a:endParaRPr>
          </a:p>
        </p:txBody>
      </p:sp>
      <p:sp>
        <p:nvSpPr>
          <p:cNvPr id="8" name="Rectangle: Rounded Corners 7">
            <a:extLst>
              <a:ext uri="{FF2B5EF4-FFF2-40B4-BE49-F238E27FC236}">
                <a16:creationId xmlns:a16="http://schemas.microsoft.com/office/drawing/2014/main" id="{C2F0457C-BB42-EDD0-6818-F5731B65DBCD}"/>
              </a:ext>
            </a:extLst>
          </p:cNvPr>
          <p:cNvSpPr/>
          <p:nvPr/>
        </p:nvSpPr>
        <p:spPr>
          <a:xfrm>
            <a:off x="4458616" y="1509165"/>
            <a:ext cx="2013417" cy="70230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err="1">
                <a:ea typeface="Calibri"/>
                <a:cs typeface="Calibri"/>
              </a:rPr>
              <a:t>Ανάλυση</a:t>
            </a:r>
            <a:r>
              <a:rPr lang="en-US" sz="2000">
                <a:ea typeface="Calibri"/>
                <a:cs typeface="Calibri"/>
              </a:rPr>
              <a:t> </a:t>
            </a:r>
            <a:r>
              <a:rPr lang="en-US" sz="2000" err="1">
                <a:ea typeface="Calibri"/>
                <a:cs typeface="Calibri"/>
              </a:rPr>
              <a:t>Ευ</a:t>
            </a:r>
            <a:r>
              <a:rPr lang="en-US" sz="2000">
                <a:ea typeface="Calibri"/>
                <a:cs typeface="Calibri"/>
              </a:rPr>
              <a:t>α</a:t>
            </a:r>
            <a:r>
              <a:rPr lang="en-US" sz="2000" err="1">
                <a:ea typeface="Calibri"/>
                <a:cs typeface="Calibri"/>
              </a:rPr>
              <a:t>ισθησί</a:t>
            </a:r>
            <a:r>
              <a:rPr lang="en-US" sz="2000">
                <a:ea typeface="Calibri"/>
                <a:cs typeface="Calibri"/>
              </a:rPr>
              <a:t>ας</a:t>
            </a:r>
          </a:p>
        </p:txBody>
      </p:sp>
      <p:sp>
        <p:nvSpPr>
          <p:cNvPr id="9" name="Rectangle: Rounded Corners 8">
            <a:extLst>
              <a:ext uri="{FF2B5EF4-FFF2-40B4-BE49-F238E27FC236}">
                <a16:creationId xmlns:a16="http://schemas.microsoft.com/office/drawing/2014/main" id="{98C6898D-DA1C-E8B8-9DF1-017F64C65810}"/>
              </a:ext>
            </a:extLst>
          </p:cNvPr>
          <p:cNvSpPr/>
          <p:nvPr/>
        </p:nvSpPr>
        <p:spPr>
          <a:xfrm>
            <a:off x="6787747" y="1509164"/>
            <a:ext cx="2013417" cy="70230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err="1">
                <a:ea typeface="Calibri"/>
                <a:cs typeface="Calibri"/>
              </a:rPr>
              <a:t>Ανάλυση</a:t>
            </a:r>
            <a:r>
              <a:rPr lang="en-US" sz="2000">
                <a:ea typeface="Calibri"/>
                <a:cs typeface="Calibri"/>
              </a:rPr>
              <a:t> Αβεβα</a:t>
            </a:r>
            <a:r>
              <a:rPr lang="en-US" sz="2000" err="1">
                <a:ea typeface="Calibri"/>
                <a:cs typeface="Calibri"/>
              </a:rPr>
              <a:t>ιότητ</a:t>
            </a:r>
            <a:r>
              <a:rPr lang="en-US" sz="2000">
                <a:ea typeface="Calibri"/>
                <a:cs typeface="Calibri"/>
              </a:rPr>
              <a:t>ας</a:t>
            </a:r>
          </a:p>
        </p:txBody>
      </p:sp>
      <p:sp>
        <p:nvSpPr>
          <p:cNvPr id="11" name="Content Placeholder 2">
            <a:extLst>
              <a:ext uri="{FF2B5EF4-FFF2-40B4-BE49-F238E27FC236}">
                <a16:creationId xmlns:a16="http://schemas.microsoft.com/office/drawing/2014/main" id="{3ADF838C-1A7C-64FD-4FEA-9F06FF3285E7}"/>
              </a:ext>
            </a:extLst>
          </p:cNvPr>
          <p:cNvSpPr txBox="1">
            <a:spLocks/>
          </p:cNvSpPr>
          <p:nvPr/>
        </p:nvSpPr>
        <p:spPr>
          <a:xfrm>
            <a:off x="65796" y="2817408"/>
            <a:ext cx="2018582" cy="1115164"/>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err="1">
                <a:ea typeface="Calibri" panose="020F0502020204030204"/>
                <a:cs typeface="Calibri" panose="020F0502020204030204"/>
              </a:rPr>
              <a:t>Μοντέλο</a:t>
            </a:r>
            <a:r>
              <a:rPr lang="en-US" sz="2000">
                <a:ea typeface="Calibri" panose="020F0502020204030204"/>
                <a:cs typeface="Calibri" panose="020F0502020204030204"/>
              </a:rPr>
              <a:t> </a:t>
            </a:r>
            <a:r>
              <a:rPr lang="en-US" sz="2000" err="1">
                <a:ea typeface="Calibri" panose="020F0502020204030204"/>
                <a:cs typeface="Calibri" panose="020F0502020204030204"/>
              </a:rPr>
              <a:t>Διήθησης</a:t>
            </a:r>
            <a:r>
              <a:rPr lang="en-US" sz="2000">
                <a:ea typeface="Calibri" panose="020F0502020204030204"/>
                <a:cs typeface="Calibri" panose="020F0502020204030204"/>
              </a:rPr>
              <a:t> </a:t>
            </a:r>
            <a:r>
              <a:rPr lang="en-US" sz="2000" err="1">
                <a:ea typeface="Calibri" panose="020F0502020204030204"/>
                <a:cs typeface="Calibri" panose="020F0502020204030204"/>
              </a:rPr>
              <a:t>με</a:t>
            </a:r>
            <a:r>
              <a:rPr lang="en-US" sz="2000">
                <a:ea typeface="Calibri" panose="020F0502020204030204"/>
                <a:cs typeface="Calibri" panose="020F0502020204030204"/>
              </a:rPr>
              <a:t> </a:t>
            </a:r>
            <a:r>
              <a:rPr lang="en-US" sz="2000" err="1">
                <a:ea typeface="Calibri" panose="020F0502020204030204"/>
                <a:cs typeface="Calibri" panose="020F0502020204030204"/>
              </a:rPr>
              <a:t>Μεμ</a:t>
            </a:r>
            <a:r>
              <a:rPr lang="en-US" sz="2000">
                <a:ea typeface="Calibri" panose="020F0502020204030204"/>
                <a:cs typeface="Calibri" panose="020F0502020204030204"/>
              </a:rPr>
              <a:t>β</a:t>
            </a:r>
            <a:r>
              <a:rPr lang="en-US" sz="2000" err="1">
                <a:ea typeface="Calibri" panose="020F0502020204030204"/>
                <a:cs typeface="Calibri" panose="020F0502020204030204"/>
              </a:rPr>
              <a:t>ράνη</a:t>
            </a:r>
            <a:endParaRPr lang="en-US" sz="2000">
              <a:ea typeface="Calibri" panose="020F0502020204030204"/>
              <a:cs typeface="Calibri" panose="020F0502020204030204"/>
            </a:endParaRPr>
          </a:p>
        </p:txBody>
      </p:sp>
      <p:sp>
        <p:nvSpPr>
          <p:cNvPr id="12" name="Rectangle: Rounded Corners 11">
            <a:extLst>
              <a:ext uri="{FF2B5EF4-FFF2-40B4-BE49-F238E27FC236}">
                <a16:creationId xmlns:a16="http://schemas.microsoft.com/office/drawing/2014/main" id="{B28058C7-0B08-7786-98A8-5ED0D56DED1A}"/>
              </a:ext>
            </a:extLst>
          </p:cNvPr>
          <p:cNvSpPr/>
          <p:nvPr/>
        </p:nvSpPr>
        <p:spPr>
          <a:xfrm>
            <a:off x="2086351" y="2831880"/>
            <a:ext cx="2013417" cy="70230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err="1">
                <a:ea typeface="Calibri"/>
                <a:cs typeface="Calibri"/>
              </a:rPr>
              <a:t>Προσομοίωση</a:t>
            </a:r>
            <a:endParaRPr lang="en-US" sz="2000">
              <a:ea typeface="Calibri"/>
              <a:cs typeface="Calibri"/>
            </a:endParaRPr>
          </a:p>
        </p:txBody>
      </p:sp>
      <p:sp>
        <p:nvSpPr>
          <p:cNvPr id="13" name="Rectangle: Rounded Corners 12">
            <a:extLst>
              <a:ext uri="{FF2B5EF4-FFF2-40B4-BE49-F238E27FC236}">
                <a16:creationId xmlns:a16="http://schemas.microsoft.com/office/drawing/2014/main" id="{7B16974C-4D6E-4B07-4D85-A415AA8AAD03}"/>
              </a:ext>
            </a:extLst>
          </p:cNvPr>
          <p:cNvSpPr/>
          <p:nvPr/>
        </p:nvSpPr>
        <p:spPr>
          <a:xfrm>
            <a:off x="9044992" y="2831881"/>
            <a:ext cx="2013417" cy="70230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err="1">
                <a:ea typeface="Calibri"/>
                <a:cs typeface="Calibri"/>
              </a:rPr>
              <a:t>Βελτιστο</a:t>
            </a:r>
            <a:r>
              <a:rPr lang="en-US" sz="2000">
                <a:ea typeface="Calibri"/>
                <a:cs typeface="Calibri"/>
              </a:rPr>
              <a:t>π</a:t>
            </a:r>
            <a:r>
              <a:rPr lang="en-US" sz="2000" err="1">
                <a:ea typeface="Calibri"/>
                <a:cs typeface="Calibri"/>
              </a:rPr>
              <a:t>οίηση</a:t>
            </a:r>
            <a:endParaRPr lang="en-US" sz="2000">
              <a:ea typeface="Calibri"/>
              <a:cs typeface="Calibri"/>
            </a:endParaRPr>
          </a:p>
        </p:txBody>
      </p:sp>
      <p:sp>
        <p:nvSpPr>
          <p:cNvPr id="14" name="Rectangle: Rounded Corners 13">
            <a:extLst>
              <a:ext uri="{FF2B5EF4-FFF2-40B4-BE49-F238E27FC236}">
                <a16:creationId xmlns:a16="http://schemas.microsoft.com/office/drawing/2014/main" id="{FBC4E5FF-E115-78DC-DF4A-5C4AD5A54AC6}"/>
              </a:ext>
            </a:extLst>
          </p:cNvPr>
          <p:cNvSpPr/>
          <p:nvPr/>
        </p:nvSpPr>
        <p:spPr>
          <a:xfrm>
            <a:off x="4458615" y="2831881"/>
            <a:ext cx="2013417" cy="70230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err="1">
                <a:ea typeface="Calibri"/>
                <a:cs typeface="Calibri"/>
              </a:rPr>
              <a:t>Ανάλυση</a:t>
            </a:r>
            <a:r>
              <a:rPr lang="en-US" sz="2000">
                <a:ea typeface="Calibri"/>
                <a:cs typeface="Calibri"/>
              </a:rPr>
              <a:t> </a:t>
            </a:r>
            <a:r>
              <a:rPr lang="en-US" sz="2000" err="1">
                <a:ea typeface="Calibri"/>
                <a:cs typeface="Calibri"/>
              </a:rPr>
              <a:t>Ευ</a:t>
            </a:r>
            <a:r>
              <a:rPr lang="en-US" sz="2000">
                <a:ea typeface="Calibri"/>
                <a:cs typeface="Calibri"/>
              </a:rPr>
              <a:t>α</a:t>
            </a:r>
            <a:r>
              <a:rPr lang="en-US" sz="2000" err="1">
                <a:ea typeface="Calibri"/>
                <a:cs typeface="Calibri"/>
              </a:rPr>
              <a:t>ισθησί</a:t>
            </a:r>
            <a:r>
              <a:rPr lang="en-US" sz="2000">
                <a:ea typeface="Calibri"/>
                <a:cs typeface="Calibri"/>
              </a:rPr>
              <a:t>ας</a:t>
            </a:r>
          </a:p>
        </p:txBody>
      </p:sp>
      <p:sp>
        <p:nvSpPr>
          <p:cNvPr id="15" name="Rectangle: Rounded Corners 14">
            <a:extLst>
              <a:ext uri="{FF2B5EF4-FFF2-40B4-BE49-F238E27FC236}">
                <a16:creationId xmlns:a16="http://schemas.microsoft.com/office/drawing/2014/main" id="{49A2896F-2783-EC5A-8A7E-BF4333160C9D}"/>
              </a:ext>
            </a:extLst>
          </p:cNvPr>
          <p:cNvSpPr/>
          <p:nvPr/>
        </p:nvSpPr>
        <p:spPr>
          <a:xfrm>
            <a:off x="6787746" y="2831880"/>
            <a:ext cx="2013417" cy="70230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err="1">
                <a:ea typeface="Calibri"/>
                <a:cs typeface="Calibri"/>
              </a:rPr>
              <a:t>Ανάλυση</a:t>
            </a:r>
            <a:r>
              <a:rPr lang="en-US" sz="2000">
                <a:ea typeface="Calibri"/>
                <a:cs typeface="Calibri"/>
              </a:rPr>
              <a:t> Αβεβα</a:t>
            </a:r>
            <a:r>
              <a:rPr lang="en-US" sz="2000" err="1">
                <a:ea typeface="Calibri"/>
                <a:cs typeface="Calibri"/>
              </a:rPr>
              <a:t>ιότητ</a:t>
            </a:r>
            <a:r>
              <a:rPr lang="en-US" sz="2000">
                <a:ea typeface="Calibri"/>
                <a:cs typeface="Calibri"/>
              </a:rPr>
              <a:t>ας</a:t>
            </a:r>
          </a:p>
        </p:txBody>
      </p:sp>
      <p:sp>
        <p:nvSpPr>
          <p:cNvPr id="20" name="Content Placeholder 2">
            <a:extLst>
              <a:ext uri="{FF2B5EF4-FFF2-40B4-BE49-F238E27FC236}">
                <a16:creationId xmlns:a16="http://schemas.microsoft.com/office/drawing/2014/main" id="{9A294DAC-EBBC-AF17-1AE8-5910CF76BA0F}"/>
              </a:ext>
            </a:extLst>
          </p:cNvPr>
          <p:cNvSpPr txBox="1">
            <a:spLocks/>
          </p:cNvSpPr>
          <p:nvPr/>
        </p:nvSpPr>
        <p:spPr>
          <a:xfrm>
            <a:off x="57761" y="4323437"/>
            <a:ext cx="2015410" cy="962299"/>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err="1">
                <a:ea typeface="Calibri" panose="020F0502020204030204"/>
                <a:cs typeface="Calibri" panose="020F0502020204030204"/>
              </a:rPr>
              <a:t>Ολοκληρωμένο</a:t>
            </a:r>
            <a:r>
              <a:rPr lang="en-US" sz="2000">
                <a:ea typeface="Calibri" panose="020F0502020204030204"/>
                <a:cs typeface="Calibri" panose="020F0502020204030204"/>
              </a:rPr>
              <a:t> </a:t>
            </a:r>
            <a:r>
              <a:rPr lang="en-US" sz="2000" err="1">
                <a:ea typeface="Calibri" panose="020F0502020204030204"/>
                <a:cs typeface="Calibri" panose="020F0502020204030204"/>
              </a:rPr>
              <a:t>Μοντέλ</a:t>
            </a:r>
            <a:r>
              <a:rPr lang="en-US" sz="2000" err="1">
                <a:solidFill>
                  <a:srgbClr val="000000"/>
                </a:solidFill>
                <a:latin typeface="Calibri"/>
                <a:ea typeface="Calibri"/>
                <a:cs typeface="Calibri"/>
              </a:rPr>
              <a:t>ο</a:t>
            </a:r>
            <a:endParaRPr lang="en-US" sz="2000" err="1">
              <a:ea typeface="Calibri" panose="020F0502020204030204"/>
              <a:cs typeface="Calibri" panose="020F0502020204030204"/>
            </a:endParaRPr>
          </a:p>
        </p:txBody>
      </p:sp>
      <p:sp>
        <p:nvSpPr>
          <p:cNvPr id="26" name="Minus Sign 25">
            <a:extLst>
              <a:ext uri="{FF2B5EF4-FFF2-40B4-BE49-F238E27FC236}">
                <a16:creationId xmlns:a16="http://schemas.microsoft.com/office/drawing/2014/main" id="{CE05DB12-59FB-0181-20C7-9C53F4229C5F}"/>
              </a:ext>
            </a:extLst>
          </p:cNvPr>
          <p:cNvSpPr/>
          <p:nvPr/>
        </p:nvSpPr>
        <p:spPr>
          <a:xfrm>
            <a:off x="11163998" y="2921802"/>
            <a:ext cx="585558" cy="325463"/>
          </a:xfrm>
          <a:prstGeom prst="mathMinus">
            <a:avLst/>
          </a:prstGeom>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feld 4">
            <a:extLst>
              <a:ext uri="{FF2B5EF4-FFF2-40B4-BE49-F238E27FC236}">
                <a16:creationId xmlns:a16="http://schemas.microsoft.com/office/drawing/2014/main" id="{4B35F03B-07A2-ED70-AE6B-DC90FD6C0BDB}"/>
              </a:ext>
            </a:extLst>
          </p:cNvPr>
          <p:cNvSpPr txBox="1"/>
          <p:nvPr/>
        </p:nvSpPr>
        <p:spPr>
          <a:xfrm>
            <a:off x="3092824" y="5625353"/>
            <a:ext cx="6264088" cy="12311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dirty="0" err="1">
                <a:solidFill>
                  <a:srgbClr val="000000"/>
                </a:solidFill>
                <a:ea typeface="+mn-lt"/>
                <a:cs typeface="+mn-lt"/>
              </a:rPr>
              <a:t>gPROMS</a:t>
            </a:r>
            <a:r>
              <a:rPr lang="en-US" sz="2800" dirty="0">
                <a:solidFill>
                  <a:srgbClr val="000000"/>
                </a:solidFill>
                <a:ea typeface="+mn-lt"/>
                <a:cs typeface="+mn-lt"/>
              </a:rPr>
              <a:t>™ </a:t>
            </a:r>
            <a:r>
              <a:rPr lang="en-US" sz="2800" dirty="0" err="1">
                <a:solidFill>
                  <a:srgbClr val="000000"/>
                </a:solidFill>
                <a:ea typeface="+mn-lt"/>
                <a:cs typeface="+mn-lt"/>
              </a:rPr>
              <a:t>FormulatedProducts</a:t>
            </a:r>
            <a:r>
              <a:rPr lang="en-US" sz="2800" dirty="0">
                <a:solidFill>
                  <a:srgbClr val="000000"/>
                </a:solidFill>
                <a:ea typeface="+mn-lt"/>
                <a:cs typeface="+mn-lt"/>
              </a:rPr>
              <a:t> v20</a:t>
            </a:r>
            <a:r>
              <a:rPr lang="el-GR" sz="2800" dirty="0">
                <a:solidFill>
                  <a:srgbClr val="000000"/>
                </a:solidFill>
                <a:ea typeface="+mn-lt"/>
                <a:cs typeface="+mn-lt"/>
              </a:rPr>
              <a:t>2</a:t>
            </a:r>
            <a:r>
              <a:rPr lang="en-US" sz="2800" dirty="0">
                <a:solidFill>
                  <a:srgbClr val="000000"/>
                </a:solidFill>
                <a:ea typeface="+mn-lt"/>
                <a:cs typeface="+mn-lt"/>
              </a:rPr>
              <a:t>5.1.0 (Siemens Digital Industries Software)</a:t>
            </a:r>
            <a:endParaRPr lang="de-DE" dirty="0">
              <a:ea typeface="Calibri" panose="020F0502020204030204"/>
              <a:cs typeface="Calibri" panose="020F0502020204030204"/>
            </a:endParaRPr>
          </a:p>
          <a:p>
            <a:pPr algn="ctr"/>
            <a:endParaRPr lang="de-DE" dirty="0"/>
          </a:p>
        </p:txBody>
      </p:sp>
      <p:sp>
        <p:nvSpPr>
          <p:cNvPr id="16" name="Title 1">
            <a:extLst>
              <a:ext uri="{FF2B5EF4-FFF2-40B4-BE49-F238E27FC236}">
                <a16:creationId xmlns:a16="http://schemas.microsoft.com/office/drawing/2014/main" id="{8E9E80EF-0F53-1492-2D09-78E10B833277}"/>
              </a:ext>
            </a:extLst>
          </p:cNvPr>
          <p:cNvSpPr txBox="1">
            <a:spLocks/>
          </p:cNvSpPr>
          <p:nvPr/>
        </p:nvSpPr>
        <p:spPr>
          <a:xfrm>
            <a:off x="103898" y="138893"/>
            <a:ext cx="11992238" cy="6868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a:ea typeface="Calibri Light"/>
                <a:cs typeface="Calibri Light"/>
              </a:rPr>
              <a:t>2.2 </a:t>
            </a:r>
            <a:r>
              <a:rPr lang="en-US" sz="3100" err="1">
                <a:ea typeface="Calibri Light"/>
                <a:cs typeface="Calibri Light"/>
              </a:rPr>
              <a:t>Μεθοδολογί</a:t>
            </a:r>
            <a:r>
              <a:rPr lang="en-US" sz="3100">
                <a:ea typeface="Calibri Light"/>
                <a:cs typeface="Calibri Light"/>
              </a:rPr>
              <a:t>α Πα</a:t>
            </a:r>
            <a:r>
              <a:rPr lang="en-US" sz="3100" err="1">
                <a:ea typeface="Calibri Light"/>
                <a:cs typeface="Calibri Light"/>
              </a:rPr>
              <a:t>ρούσ</a:t>
            </a:r>
            <a:r>
              <a:rPr lang="en-US" sz="3100">
                <a:ea typeface="Calibri Light"/>
                <a:cs typeface="Calibri Light"/>
              </a:rPr>
              <a:t>ας </a:t>
            </a:r>
            <a:r>
              <a:rPr lang="en-US" sz="3100" err="1">
                <a:ea typeface="Calibri Light"/>
                <a:cs typeface="Calibri Light"/>
              </a:rPr>
              <a:t>Μελέτης</a:t>
            </a:r>
            <a:endParaRPr lang="en-US" sz="3100">
              <a:ea typeface="Calibri Light"/>
              <a:cs typeface="Calibri Light"/>
            </a:endParaRPr>
          </a:p>
        </p:txBody>
      </p:sp>
      <p:sp>
        <p:nvSpPr>
          <p:cNvPr id="2" name="Rectangle: Rounded Corners 11">
            <a:extLst>
              <a:ext uri="{FF2B5EF4-FFF2-40B4-BE49-F238E27FC236}">
                <a16:creationId xmlns:a16="http://schemas.microsoft.com/office/drawing/2014/main" id="{D11E188D-CFCA-76E0-4476-C4A7A6CFE55D}"/>
              </a:ext>
            </a:extLst>
          </p:cNvPr>
          <p:cNvSpPr/>
          <p:nvPr/>
        </p:nvSpPr>
        <p:spPr>
          <a:xfrm>
            <a:off x="2062538" y="4284443"/>
            <a:ext cx="2013417" cy="70230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err="1">
                <a:ea typeface="Calibri"/>
                <a:cs typeface="Calibri"/>
              </a:rPr>
              <a:t>Προσομοίωση</a:t>
            </a:r>
            <a:endParaRPr lang="en-US" sz="2000">
              <a:ea typeface="Calibri"/>
              <a:cs typeface="Calibri"/>
            </a:endParaRPr>
          </a:p>
        </p:txBody>
      </p:sp>
      <p:sp>
        <p:nvSpPr>
          <p:cNvPr id="10" name="Rectangle: Rounded Corners 12">
            <a:extLst>
              <a:ext uri="{FF2B5EF4-FFF2-40B4-BE49-F238E27FC236}">
                <a16:creationId xmlns:a16="http://schemas.microsoft.com/office/drawing/2014/main" id="{48982667-3DE9-1398-9D53-610A520009C3}"/>
              </a:ext>
            </a:extLst>
          </p:cNvPr>
          <p:cNvSpPr/>
          <p:nvPr/>
        </p:nvSpPr>
        <p:spPr>
          <a:xfrm>
            <a:off x="9021180" y="4284443"/>
            <a:ext cx="2013417" cy="70230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err="1">
                <a:ea typeface="Calibri"/>
                <a:cs typeface="Calibri"/>
              </a:rPr>
              <a:t>Βελτιστο</a:t>
            </a:r>
            <a:r>
              <a:rPr lang="en-US" sz="2000">
                <a:ea typeface="Calibri"/>
                <a:cs typeface="Calibri"/>
              </a:rPr>
              <a:t>π</a:t>
            </a:r>
            <a:r>
              <a:rPr lang="en-US" sz="2000" err="1">
                <a:ea typeface="Calibri"/>
                <a:cs typeface="Calibri"/>
              </a:rPr>
              <a:t>οίηση</a:t>
            </a:r>
            <a:endParaRPr lang="en-US" sz="2000">
              <a:ea typeface="Calibri"/>
              <a:cs typeface="Calibri"/>
            </a:endParaRPr>
          </a:p>
        </p:txBody>
      </p:sp>
      <p:sp>
        <p:nvSpPr>
          <p:cNvPr id="17" name="Rectangle: Rounded Corners 13">
            <a:extLst>
              <a:ext uri="{FF2B5EF4-FFF2-40B4-BE49-F238E27FC236}">
                <a16:creationId xmlns:a16="http://schemas.microsoft.com/office/drawing/2014/main" id="{558B2F68-334C-F144-566D-26618D4004E2}"/>
              </a:ext>
            </a:extLst>
          </p:cNvPr>
          <p:cNvSpPr/>
          <p:nvPr/>
        </p:nvSpPr>
        <p:spPr>
          <a:xfrm>
            <a:off x="4434802" y="4284443"/>
            <a:ext cx="2013417" cy="70230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err="1">
                <a:ea typeface="Calibri"/>
                <a:cs typeface="Calibri"/>
              </a:rPr>
              <a:t>Ανάλυση</a:t>
            </a:r>
            <a:r>
              <a:rPr lang="en-US" sz="2000">
                <a:ea typeface="Calibri"/>
                <a:cs typeface="Calibri"/>
              </a:rPr>
              <a:t> </a:t>
            </a:r>
            <a:r>
              <a:rPr lang="en-US" sz="2000" err="1">
                <a:ea typeface="Calibri"/>
                <a:cs typeface="Calibri"/>
              </a:rPr>
              <a:t>Ευ</a:t>
            </a:r>
            <a:r>
              <a:rPr lang="en-US" sz="2000">
                <a:ea typeface="Calibri"/>
                <a:cs typeface="Calibri"/>
              </a:rPr>
              <a:t>α</a:t>
            </a:r>
            <a:r>
              <a:rPr lang="en-US" sz="2000" err="1">
                <a:ea typeface="Calibri"/>
                <a:cs typeface="Calibri"/>
              </a:rPr>
              <a:t>ισθησί</a:t>
            </a:r>
            <a:r>
              <a:rPr lang="en-US" sz="2000">
                <a:ea typeface="Calibri"/>
                <a:cs typeface="Calibri"/>
              </a:rPr>
              <a:t>ας</a:t>
            </a:r>
          </a:p>
        </p:txBody>
      </p:sp>
      <p:sp>
        <p:nvSpPr>
          <p:cNvPr id="18" name="Rectangle: Rounded Corners 14">
            <a:extLst>
              <a:ext uri="{FF2B5EF4-FFF2-40B4-BE49-F238E27FC236}">
                <a16:creationId xmlns:a16="http://schemas.microsoft.com/office/drawing/2014/main" id="{B35EB886-2011-8B45-F130-5E536689E44A}"/>
              </a:ext>
            </a:extLst>
          </p:cNvPr>
          <p:cNvSpPr/>
          <p:nvPr/>
        </p:nvSpPr>
        <p:spPr>
          <a:xfrm>
            <a:off x="6763933" y="4284443"/>
            <a:ext cx="2013417" cy="70230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err="1">
                <a:ea typeface="Calibri"/>
                <a:cs typeface="Calibri"/>
              </a:rPr>
              <a:t>Ανάλυση</a:t>
            </a:r>
            <a:r>
              <a:rPr lang="en-US" sz="2000">
                <a:ea typeface="Calibri"/>
                <a:cs typeface="Calibri"/>
              </a:rPr>
              <a:t> Αβεβα</a:t>
            </a:r>
            <a:r>
              <a:rPr lang="en-US" sz="2000" err="1">
                <a:ea typeface="Calibri"/>
                <a:cs typeface="Calibri"/>
              </a:rPr>
              <a:t>ιότητ</a:t>
            </a:r>
            <a:r>
              <a:rPr lang="en-US" sz="2000">
                <a:ea typeface="Calibri"/>
                <a:cs typeface="Calibri"/>
              </a:rPr>
              <a:t>ας</a:t>
            </a:r>
          </a:p>
        </p:txBody>
      </p:sp>
      <p:sp>
        <p:nvSpPr>
          <p:cNvPr id="27" name="Pfeil: nach oben gebogen 26">
            <a:extLst>
              <a:ext uri="{FF2B5EF4-FFF2-40B4-BE49-F238E27FC236}">
                <a16:creationId xmlns:a16="http://schemas.microsoft.com/office/drawing/2014/main" id="{07E85420-9DF4-B838-416C-90DCA82C480A}"/>
              </a:ext>
            </a:extLst>
          </p:cNvPr>
          <p:cNvSpPr/>
          <p:nvPr/>
        </p:nvSpPr>
        <p:spPr>
          <a:xfrm rot="10800000">
            <a:off x="3034327" y="3829272"/>
            <a:ext cx="8673399" cy="378130"/>
          </a:xfrm>
          <a:prstGeom prst="bentUp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8" name="Rechteck 27">
            <a:extLst>
              <a:ext uri="{FF2B5EF4-FFF2-40B4-BE49-F238E27FC236}">
                <a16:creationId xmlns:a16="http://schemas.microsoft.com/office/drawing/2014/main" id="{DE857B3D-8DDC-BE6A-DE52-A3B623B30E19}"/>
              </a:ext>
            </a:extLst>
          </p:cNvPr>
          <p:cNvSpPr/>
          <p:nvPr/>
        </p:nvSpPr>
        <p:spPr>
          <a:xfrm>
            <a:off x="11603921" y="1768677"/>
            <a:ext cx="98262" cy="213203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Minus Sign 25">
            <a:extLst>
              <a:ext uri="{FF2B5EF4-FFF2-40B4-BE49-F238E27FC236}">
                <a16:creationId xmlns:a16="http://schemas.microsoft.com/office/drawing/2014/main" id="{DC8FD5E2-68C4-614D-DC41-07A73C9782A8}"/>
              </a:ext>
            </a:extLst>
          </p:cNvPr>
          <p:cNvSpPr/>
          <p:nvPr/>
        </p:nvSpPr>
        <p:spPr>
          <a:xfrm>
            <a:off x="11163997" y="1671645"/>
            <a:ext cx="585558" cy="325463"/>
          </a:xfrm>
          <a:prstGeom prst="mathMinus">
            <a:avLst/>
          </a:prstGeom>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Minus Sign 24">
            <a:extLst>
              <a:ext uri="{FF2B5EF4-FFF2-40B4-BE49-F238E27FC236}">
                <a16:creationId xmlns:a16="http://schemas.microsoft.com/office/drawing/2014/main" id="{DBE8E486-7153-E08B-520A-F2C22CB67A1D}"/>
              </a:ext>
            </a:extLst>
          </p:cNvPr>
          <p:cNvSpPr/>
          <p:nvPr/>
        </p:nvSpPr>
        <p:spPr>
          <a:xfrm>
            <a:off x="11080656" y="1675014"/>
            <a:ext cx="1049901" cy="230215"/>
          </a:xfrm>
          <a:prstGeom prst="mathMinus">
            <a:avLst/>
          </a:prstGeom>
          <a:solidFill>
            <a:srgbClr val="DAE3F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38463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500"/>
                                        <p:tgtEl>
                                          <p:spTgt spid="2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fade">
                                      <p:cBhvr>
                                        <p:cTn id="16" dur="500"/>
                                        <p:tgtEl>
                                          <p:spTgt spid="2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50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5"/>
                                        </p:tgtEl>
                                        <p:attrNameLst>
                                          <p:attrName>style.visibility</p:attrName>
                                        </p:attrNameLst>
                                      </p:cBhvr>
                                      <p:to>
                                        <p:strVal val="visible"/>
                                      </p:to>
                                    </p:set>
                                    <p:animEffect transition="in" filter="fade">
                                      <p:cBhvr>
                                        <p:cTn id="3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6" grpId="0" animBg="1"/>
      <p:bldP spid="5" grpId="0"/>
      <p:bldP spid="2" grpId="0" animBg="1"/>
      <p:bldP spid="10" grpId="0" animBg="1"/>
      <p:bldP spid="17" grpId="0" animBg="1"/>
      <p:bldP spid="18" grpId="0" animBg="1"/>
      <p:bldP spid="27" grpId="0" animBg="1"/>
      <p:bldP spid="28" grpId="0" animBg="1"/>
      <p:bldP spid="2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217E5D-6EB6-0CB5-8BA7-D5371F768BCE}"/>
              </a:ext>
            </a:extLst>
          </p:cNvPr>
          <p:cNvSpPr>
            <a:spLocks noGrp="1"/>
          </p:cNvSpPr>
          <p:nvPr>
            <p:ph idx="1"/>
          </p:nvPr>
        </p:nvSpPr>
        <p:spPr>
          <a:xfrm>
            <a:off x="1287945" y="1818020"/>
            <a:ext cx="9605970" cy="2598739"/>
          </a:xfrm>
        </p:spPr>
        <p:txBody>
          <a:bodyPr vert="horz" lIns="91440" tIns="45720" rIns="91440" bIns="45720" rtlCol="0" anchor="t">
            <a:normAutofit/>
          </a:bodyPr>
          <a:lstStyle/>
          <a:p>
            <a:pPr marL="0" indent="0" algn="ctr">
              <a:buNone/>
            </a:pPr>
            <a:r>
              <a:rPr lang="en-US" u="sng" dirty="0">
                <a:ea typeface="Calibri"/>
                <a:cs typeface="Calibri"/>
              </a:rPr>
              <a:t>Πα</a:t>
            </a:r>
            <a:r>
              <a:rPr lang="en-US" u="sng" dirty="0" err="1">
                <a:ea typeface="Calibri"/>
                <a:cs typeface="Calibri"/>
              </a:rPr>
              <a:t>στερίωση</a:t>
            </a:r>
            <a:endParaRPr lang="en-US" u="sng" dirty="0">
              <a:ea typeface="Calibri"/>
              <a:cs typeface="Calibri"/>
            </a:endParaRPr>
          </a:p>
          <a:p>
            <a:pPr marL="0" indent="0" algn="ctr">
              <a:buNone/>
            </a:pPr>
            <a:r>
              <a:rPr lang="en-US" dirty="0">
                <a:ea typeface="Calibri"/>
                <a:cs typeface="Calibri"/>
              </a:rPr>
              <a:t>Κατα</a:t>
            </a:r>
            <a:r>
              <a:rPr lang="en-US" dirty="0" err="1">
                <a:ea typeface="Calibri"/>
                <a:cs typeface="Calibri"/>
              </a:rPr>
              <a:t>στροφή</a:t>
            </a:r>
            <a:r>
              <a:rPr lang="en-US" dirty="0">
                <a:ea typeface="Calibri"/>
                <a:cs typeface="Calibri"/>
              </a:rPr>
              <a:t> </a:t>
            </a:r>
            <a:r>
              <a:rPr lang="en-US" dirty="0" err="1">
                <a:ea typeface="Calibri"/>
                <a:cs typeface="Calibri"/>
              </a:rPr>
              <a:t>ενζύμων</a:t>
            </a:r>
            <a:r>
              <a:rPr lang="en-US" dirty="0">
                <a:ea typeface="Calibri"/>
                <a:cs typeface="Calibri"/>
              </a:rPr>
              <a:t> (</a:t>
            </a:r>
            <a:r>
              <a:rPr lang="en-US" dirty="0" err="1">
                <a:ea typeface="Calibri"/>
                <a:cs typeface="Calibri"/>
              </a:rPr>
              <a:t>φωσφ</a:t>
            </a:r>
            <a:r>
              <a:rPr lang="en-US" dirty="0">
                <a:ea typeface="Calibri"/>
                <a:cs typeface="Calibri"/>
              </a:rPr>
              <a:t>α</a:t>
            </a:r>
            <a:r>
              <a:rPr lang="en-US" dirty="0" err="1">
                <a:ea typeface="Calibri"/>
                <a:cs typeface="Calibri"/>
              </a:rPr>
              <a:t>τάση</a:t>
            </a:r>
            <a:r>
              <a:rPr lang="en-US" dirty="0">
                <a:ea typeface="Calibri"/>
                <a:cs typeface="Calibri"/>
              </a:rPr>
              <a:t>)</a:t>
            </a:r>
          </a:p>
          <a:p>
            <a:pPr marL="0" indent="0" algn="ctr">
              <a:buNone/>
            </a:pPr>
            <a:r>
              <a:rPr lang="en-US" dirty="0" err="1">
                <a:ea typeface="Calibri"/>
                <a:cs typeface="Calibri"/>
              </a:rPr>
              <a:t>Μετουσίωση</a:t>
            </a:r>
            <a:r>
              <a:rPr lang="en-US" dirty="0">
                <a:ea typeface="Calibri"/>
                <a:cs typeface="Calibri"/>
              </a:rPr>
              <a:t> π</a:t>
            </a:r>
            <a:r>
              <a:rPr lang="en-US" dirty="0" err="1">
                <a:ea typeface="Calibri"/>
                <a:cs typeface="Calibri"/>
              </a:rPr>
              <a:t>ρωτεϊνών</a:t>
            </a:r>
            <a:r>
              <a:rPr lang="en-US" dirty="0">
                <a:ea typeface="Calibri"/>
                <a:cs typeface="Calibri"/>
              </a:rPr>
              <a:t> (β-LG, α-LA, Ig)</a:t>
            </a:r>
          </a:p>
          <a:p>
            <a:pPr marL="0" indent="0" algn="ctr">
              <a:buNone/>
            </a:pPr>
            <a:r>
              <a:rPr lang="en-US" dirty="0" err="1">
                <a:ea typeface="Calibri"/>
                <a:cs typeface="Calibri"/>
              </a:rPr>
              <a:t>Δημιουργί</a:t>
            </a:r>
            <a:r>
              <a:rPr lang="en-US" dirty="0">
                <a:ea typeface="Calibri"/>
                <a:cs typeface="Calibri"/>
              </a:rPr>
              <a:t>α επικαθήσεων</a:t>
            </a:r>
          </a:p>
          <a:p>
            <a:pPr marL="0" indent="0" algn="ctr">
              <a:buNone/>
            </a:pPr>
            <a:r>
              <a:rPr lang="en-US" sz="2600" dirty="0" err="1">
                <a:ea typeface="Calibri"/>
                <a:cs typeface="Calibri"/>
              </a:rPr>
              <a:t>Ανά</a:t>
            </a:r>
            <a:r>
              <a:rPr lang="en-US" sz="2600" dirty="0">
                <a:ea typeface="Calibri"/>
                <a:cs typeface="Calibri"/>
              </a:rPr>
              <a:t>π</a:t>
            </a:r>
            <a:r>
              <a:rPr lang="en-US" sz="2600" dirty="0" err="1">
                <a:ea typeface="Calibri"/>
                <a:cs typeface="Calibri"/>
              </a:rPr>
              <a:t>τυξη</a:t>
            </a:r>
            <a:r>
              <a:rPr lang="en-US" sz="2600" dirty="0">
                <a:ea typeface="Calibri"/>
                <a:cs typeface="Calibri"/>
              </a:rPr>
              <a:t> </a:t>
            </a:r>
            <a:r>
              <a:rPr lang="en-US" sz="2600" dirty="0" err="1">
                <a:ea typeface="Calibri"/>
                <a:cs typeface="Calibri"/>
              </a:rPr>
              <a:t>μικροοργ</a:t>
            </a:r>
            <a:r>
              <a:rPr lang="en-US" sz="2600" dirty="0">
                <a:ea typeface="Calibri"/>
                <a:cs typeface="Calibri"/>
              </a:rPr>
              <a:t>α</a:t>
            </a:r>
            <a:r>
              <a:rPr lang="en-US" sz="2600" dirty="0" err="1">
                <a:ea typeface="Calibri"/>
                <a:cs typeface="Calibri"/>
              </a:rPr>
              <a:t>νισμών</a:t>
            </a:r>
            <a:r>
              <a:rPr lang="en-US" sz="2600" dirty="0">
                <a:ea typeface="Calibri"/>
                <a:cs typeface="Calibri"/>
              </a:rPr>
              <a:t> (</a:t>
            </a:r>
            <a:r>
              <a:rPr lang="en-US" sz="2600" i="1" dirty="0">
                <a:ea typeface="Calibri"/>
                <a:cs typeface="Calibri"/>
              </a:rPr>
              <a:t>Streptococcus thermophilus</a:t>
            </a:r>
            <a:r>
              <a:rPr lang="en-US" sz="2600" dirty="0">
                <a:ea typeface="Calibri"/>
                <a:cs typeface="Calibri"/>
              </a:rPr>
              <a:t>)</a:t>
            </a:r>
            <a:endParaRPr lang="en-US" dirty="0">
              <a:ea typeface="Calibri"/>
              <a:cs typeface="Calibri"/>
            </a:endParaRPr>
          </a:p>
        </p:txBody>
      </p:sp>
      <p:sp>
        <p:nvSpPr>
          <p:cNvPr id="4" name="Slide Number Placeholder 3">
            <a:extLst>
              <a:ext uri="{FF2B5EF4-FFF2-40B4-BE49-F238E27FC236}">
                <a16:creationId xmlns:a16="http://schemas.microsoft.com/office/drawing/2014/main" id="{ECCD77C2-722A-1AF4-B670-10B79F9194DC}"/>
              </a:ext>
            </a:extLst>
          </p:cNvPr>
          <p:cNvSpPr>
            <a:spLocks noGrp="1"/>
          </p:cNvSpPr>
          <p:nvPr>
            <p:ph type="sldNum" sz="quarter" idx="12"/>
          </p:nvPr>
        </p:nvSpPr>
        <p:spPr/>
        <p:txBody>
          <a:bodyPr/>
          <a:lstStyle/>
          <a:p>
            <a:fld id="{48F63A3B-78C7-47BE-AE5E-E10140E04643}" type="slidenum">
              <a:rPr lang="en-US" smtClean="0"/>
              <a:t>6</a:t>
            </a:fld>
            <a:r>
              <a:rPr lang="en-US" dirty="0"/>
              <a:t>/</a:t>
            </a:r>
            <a:r>
              <a:rPr lang="el-GR" dirty="0"/>
              <a:t>2</a:t>
            </a:r>
            <a:r>
              <a:rPr lang="en-US" dirty="0"/>
              <a:t>2</a:t>
            </a:r>
          </a:p>
        </p:txBody>
      </p:sp>
      <p:sp>
        <p:nvSpPr>
          <p:cNvPr id="7" name="Content Placeholder 2">
            <a:extLst>
              <a:ext uri="{FF2B5EF4-FFF2-40B4-BE49-F238E27FC236}">
                <a16:creationId xmlns:a16="http://schemas.microsoft.com/office/drawing/2014/main" id="{4110F219-DC26-D6C6-21E2-1BBBA92F51B0}"/>
              </a:ext>
            </a:extLst>
          </p:cNvPr>
          <p:cNvSpPr txBox="1">
            <a:spLocks/>
          </p:cNvSpPr>
          <p:nvPr/>
        </p:nvSpPr>
        <p:spPr>
          <a:xfrm>
            <a:off x="3308215" y="5068674"/>
            <a:ext cx="5588696" cy="1292453"/>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u="sng" err="1">
                <a:ea typeface="Calibri"/>
                <a:cs typeface="Calibri"/>
              </a:rPr>
              <a:t>Διήθηση</a:t>
            </a:r>
            <a:r>
              <a:rPr lang="en-US" u="sng">
                <a:ea typeface="Calibri"/>
                <a:cs typeface="Calibri"/>
              </a:rPr>
              <a:t> </a:t>
            </a:r>
            <a:r>
              <a:rPr lang="en-US" u="sng" err="1">
                <a:ea typeface="Calibri"/>
                <a:cs typeface="Calibri"/>
              </a:rPr>
              <a:t>με</a:t>
            </a:r>
            <a:r>
              <a:rPr lang="en-US" u="sng">
                <a:ea typeface="Calibri"/>
                <a:cs typeface="Calibri"/>
              </a:rPr>
              <a:t> </a:t>
            </a:r>
            <a:r>
              <a:rPr lang="en-US" u="sng" err="1">
                <a:ea typeface="Calibri"/>
                <a:cs typeface="Calibri"/>
              </a:rPr>
              <a:t>μεμ</a:t>
            </a:r>
            <a:r>
              <a:rPr lang="en-US" u="sng">
                <a:ea typeface="Calibri"/>
                <a:cs typeface="Calibri"/>
              </a:rPr>
              <a:t>β</a:t>
            </a:r>
            <a:r>
              <a:rPr lang="en-US" u="sng" err="1">
                <a:ea typeface="Calibri"/>
                <a:cs typeface="Calibri"/>
              </a:rPr>
              <a:t>ράνη</a:t>
            </a:r>
            <a:endParaRPr lang="en-US" u="sng">
              <a:ea typeface="Calibri"/>
              <a:cs typeface="Calibri"/>
            </a:endParaRPr>
          </a:p>
          <a:p>
            <a:pPr marL="0" indent="0" algn="ctr">
              <a:buNone/>
            </a:pPr>
            <a:r>
              <a:rPr lang="en-US" err="1">
                <a:ea typeface="Calibri"/>
                <a:cs typeface="Calibri"/>
              </a:rPr>
              <a:t>Δημιουργί</a:t>
            </a:r>
            <a:r>
              <a:rPr lang="en-US">
                <a:ea typeface="Calibri"/>
                <a:cs typeface="Calibri"/>
              </a:rPr>
              <a:t>α επ</a:t>
            </a:r>
            <a:r>
              <a:rPr lang="en-US" err="1">
                <a:ea typeface="Calibri"/>
                <a:cs typeface="Calibri"/>
              </a:rPr>
              <a:t>ικ</a:t>
            </a:r>
            <a:r>
              <a:rPr lang="en-US">
                <a:ea typeface="Calibri"/>
                <a:cs typeface="Calibri"/>
              </a:rPr>
              <a:t>α</a:t>
            </a:r>
            <a:r>
              <a:rPr lang="en-US" err="1">
                <a:ea typeface="Calibri"/>
                <a:cs typeface="Calibri"/>
              </a:rPr>
              <a:t>θήσεων</a:t>
            </a:r>
            <a:endParaRPr lang="en-US">
              <a:ea typeface="Calibri"/>
              <a:cs typeface="Calibri"/>
            </a:endParaRPr>
          </a:p>
        </p:txBody>
      </p:sp>
      <p:sp>
        <p:nvSpPr>
          <p:cNvPr id="6" name="Title 1">
            <a:extLst>
              <a:ext uri="{FF2B5EF4-FFF2-40B4-BE49-F238E27FC236}">
                <a16:creationId xmlns:a16="http://schemas.microsoft.com/office/drawing/2014/main" id="{E95BE654-6327-C0FC-4213-80BA265A6889}"/>
              </a:ext>
            </a:extLst>
          </p:cNvPr>
          <p:cNvSpPr txBox="1">
            <a:spLocks/>
          </p:cNvSpPr>
          <p:nvPr/>
        </p:nvSpPr>
        <p:spPr>
          <a:xfrm>
            <a:off x="103898" y="138893"/>
            <a:ext cx="11992238" cy="6868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dirty="0">
                <a:ea typeface="Calibri Light"/>
                <a:cs typeface="Calibri Light"/>
              </a:rPr>
              <a:t>3. </a:t>
            </a:r>
            <a:r>
              <a:rPr lang="en-US" sz="3100" dirty="0" err="1">
                <a:ea typeface="Calibri Light"/>
                <a:cs typeface="Calibri Light"/>
              </a:rPr>
              <a:t>Θεωρητικό</a:t>
            </a:r>
            <a:r>
              <a:rPr lang="en-US" sz="3100" dirty="0">
                <a:ea typeface="Calibri Light"/>
                <a:cs typeface="Calibri Light"/>
              </a:rPr>
              <a:t> υπόβα</a:t>
            </a:r>
            <a:r>
              <a:rPr lang="en-US" sz="3100" dirty="0" err="1">
                <a:ea typeface="Calibri Light"/>
                <a:cs typeface="Calibri Light"/>
              </a:rPr>
              <a:t>θρο</a:t>
            </a:r>
            <a:r>
              <a:rPr lang="en-US" sz="3100" dirty="0">
                <a:ea typeface="Calibri Light"/>
                <a:cs typeface="Calibri Light"/>
              </a:rPr>
              <a:t>-Φα</a:t>
            </a:r>
            <a:r>
              <a:rPr lang="en-US" sz="3100" dirty="0" err="1">
                <a:ea typeface="Calibri Light"/>
                <a:cs typeface="Calibri Light"/>
              </a:rPr>
              <a:t>ινόμεν</a:t>
            </a:r>
            <a:r>
              <a:rPr lang="en-US" sz="3100" dirty="0">
                <a:ea typeface="Calibri Light"/>
                <a:cs typeface="Calibri Light"/>
              </a:rPr>
              <a:t>α που μελετώνται</a:t>
            </a:r>
          </a:p>
        </p:txBody>
      </p:sp>
    </p:spTree>
    <p:extLst>
      <p:ext uri="{BB962C8B-B14F-4D97-AF65-F5344CB8AC3E}">
        <p14:creationId xmlns:p14="http://schemas.microsoft.com/office/powerpoint/2010/main" val="883870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7A34D-692A-0631-24DE-6B6828FA1508}"/>
            </a:ext>
          </a:extLst>
        </p:cNvPr>
        <p:cNvGrpSpPr/>
        <p:nvPr/>
      </p:nvGrpSpPr>
      <p:grpSpPr>
        <a:xfrm>
          <a:off x="0" y="0"/>
          <a:ext cx="0" cy="0"/>
          <a:chOff x="0" y="0"/>
          <a:chExt cx="0" cy="0"/>
        </a:xfrm>
      </p:grpSpPr>
      <p:grpSp>
        <p:nvGrpSpPr>
          <p:cNvPr id="27" name="Gruppieren 26">
            <a:extLst>
              <a:ext uri="{FF2B5EF4-FFF2-40B4-BE49-F238E27FC236}">
                <a16:creationId xmlns:a16="http://schemas.microsoft.com/office/drawing/2014/main" id="{8FA08EDF-4226-6D02-1BA7-84944DED775E}"/>
              </a:ext>
            </a:extLst>
          </p:cNvPr>
          <p:cNvGrpSpPr/>
          <p:nvPr/>
        </p:nvGrpSpPr>
        <p:grpSpPr>
          <a:xfrm>
            <a:off x="439276" y="1426692"/>
            <a:ext cx="4321927" cy="4616005"/>
            <a:chOff x="296127" y="1595648"/>
            <a:chExt cx="4321927" cy="4616005"/>
          </a:xfrm>
        </p:grpSpPr>
        <p:sp>
          <p:nvSpPr>
            <p:cNvPr id="2" name="Rechteck 1">
              <a:extLst>
                <a:ext uri="{FF2B5EF4-FFF2-40B4-BE49-F238E27FC236}">
                  <a16:creationId xmlns:a16="http://schemas.microsoft.com/office/drawing/2014/main" id="{A68C94F0-6ECD-A1F9-CC24-B64989C615EE}"/>
                </a:ext>
              </a:extLst>
            </p:cNvPr>
            <p:cNvSpPr/>
            <p:nvPr/>
          </p:nvSpPr>
          <p:spPr>
            <a:xfrm>
              <a:off x="296127" y="1595648"/>
              <a:ext cx="4321927" cy="4616005"/>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2" name="Grafik 11" descr="Ein Bild, das Text, Schrift, Screenshot, Diagramm enthält.&#10;&#10;KI-generierte Inhalte können fehlerhaft sein.">
              <a:extLst>
                <a:ext uri="{FF2B5EF4-FFF2-40B4-BE49-F238E27FC236}">
                  <a16:creationId xmlns:a16="http://schemas.microsoft.com/office/drawing/2014/main" id="{6C549D0C-BFE1-6E6A-AE8A-CE15706267F4}"/>
                </a:ext>
              </a:extLst>
            </p:cNvPr>
            <p:cNvPicPr>
              <a:picLocks noChangeAspect="1"/>
            </p:cNvPicPr>
            <p:nvPr/>
          </p:nvPicPr>
          <p:blipFill>
            <a:blip r:embed="rId3"/>
            <a:srcRect l="2505" t="130" r="29901" b="4082"/>
            <a:stretch>
              <a:fillRect/>
            </a:stretch>
          </p:blipFill>
          <p:spPr>
            <a:xfrm>
              <a:off x="480331" y="2834959"/>
              <a:ext cx="3129029" cy="2627655"/>
            </a:xfrm>
            <a:prstGeom prst="rect">
              <a:avLst/>
            </a:prstGeom>
          </p:spPr>
        </p:pic>
        <p:pic>
          <p:nvPicPr>
            <p:cNvPr id="13" name="Grafik 12" descr="Ein Bild, das Text, Schrift, Handschrift, weiß enthält.&#10;&#10;KI-generierte Inhalte können fehlerhaft sein.">
              <a:extLst>
                <a:ext uri="{FF2B5EF4-FFF2-40B4-BE49-F238E27FC236}">
                  <a16:creationId xmlns:a16="http://schemas.microsoft.com/office/drawing/2014/main" id="{77330F0A-88D5-5C89-AD35-CFFF453DB2AB}"/>
                </a:ext>
              </a:extLst>
            </p:cNvPr>
            <p:cNvPicPr>
              <a:picLocks noChangeAspect="1"/>
            </p:cNvPicPr>
            <p:nvPr/>
          </p:nvPicPr>
          <p:blipFill>
            <a:blip r:embed="rId4"/>
            <a:srcRect l="5824" t="9734" r="14332" b="-4845"/>
            <a:stretch>
              <a:fillRect/>
            </a:stretch>
          </p:blipFill>
          <p:spPr>
            <a:xfrm>
              <a:off x="477865" y="1718921"/>
              <a:ext cx="2745438" cy="1204876"/>
            </a:xfrm>
            <a:prstGeom prst="rect">
              <a:avLst/>
            </a:prstGeom>
          </p:spPr>
        </p:pic>
        <p:pic>
          <p:nvPicPr>
            <p:cNvPr id="3" name="Grafik 2" descr="Ein Bild, das Text, Schrift, weiß, Typografie enthält.&#10;&#10;KI-generierte Inhalte können fehlerhaft sein.">
              <a:extLst>
                <a:ext uri="{FF2B5EF4-FFF2-40B4-BE49-F238E27FC236}">
                  <a16:creationId xmlns:a16="http://schemas.microsoft.com/office/drawing/2014/main" id="{FC71C879-8951-535E-8695-1E9DE66C8478}"/>
                </a:ext>
              </a:extLst>
            </p:cNvPr>
            <p:cNvPicPr>
              <a:picLocks noChangeAspect="1"/>
            </p:cNvPicPr>
            <p:nvPr/>
          </p:nvPicPr>
          <p:blipFill>
            <a:blip r:embed="rId5"/>
            <a:srcRect l="1199" t="3772" r="51079" b="22727"/>
            <a:stretch>
              <a:fillRect/>
            </a:stretch>
          </p:blipFill>
          <p:spPr>
            <a:xfrm>
              <a:off x="484420" y="5647578"/>
              <a:ext cx="2231845" cy="546076"/>
            </a:xfrm>
            <a:prstGeom prst="rect">
              <a:avLst/>
            </a:prstGeom>
          </p:spPr>
        </p:pic>
        <p:pic>
          <p:nvPicPr>
            <p:cNvPr id="4" name="Grafik 3" descr="Ein Bild, das Text, Schrift, Handschrift, weiß enthält.&#10;&#10;KI-generierte Inhalte können fehlerhaft sein.">
              <a:extLst>
                <a:ext uri="{FF2B5EF4-FFF2-40B4-BE49-F238E27FC236}">
                  <a16:creationId xmlns:a16="http://schemas.microsoft.com/office/drawing/2014/main" id="{BAA36A61-4FAF-575C-E5AE-945DCB40C88E}"/>
                </a:ext>
              </a:extLst>
            </p:cNvPr>
            <p:cNvPicPr>
              <a:picLocks noChangeAspect="1"/>
            </p:cNvPicPr>
            <p:nvPr/>
          </p:nvPicPr>
          <p:blipFill>
            <a:blip r:embed="rId4"/>
            <a:srcRect l="84365" t="9957" r="3583" b="12531"/>
            <a:stretch>
              <a:fillRect/>
            </a:stretch>
          </p:blipFill>
          <p:spPr>
            <a:xfrm>
              <a:off x="4002932" y="1719738"/>
              <a:ext cx="414419" cy="981954"/>
            </a:xfrm>
            <a:prstGeom prst="rect">
              <a:avLst/>
            </a:prstGeom>
          </p:spPr>
        </p:pic>
        <p:pic>
          <p:nvPicPr>
            <p:cNvPr id="5" name="Grafik 4" descr="Ein Bild, das Text, Schrift, Screenshot, Diagramm enthält.&#10;&#10;KI-generierte Inhalte können fehlerhaft sein.">
              <a:extLst>
                <a:ext uri="{FF2B5EF4-FFF2-40B4-BE49-F238E27FC236}">
                  <a16:creationId xmlns:a16="http://schemas.microsoft.com/office/drawing/2014/main" id="{D0758E88-082C-EF0C-D700-A20508B763F6}"/>
                </a:ext>
              </a:extLst>
            </p:cNvPr>
            <p:cNvPicPr>
              <a:picLocks noChangeAspect="1"/>
            </p:cNvPicPr>
            <p:nvPr/>
          </p:nvPicPr>
          <p:blipFill>
            <a:blip r:embed="rId3"/>
            <a:srcRect l="89588" t="750" r="484" b="4315"/>
            <a:stretch>
              <a:fillRect/>
            </a:stretch>
          </p:blipFill>
          <p:spPr>
            <a:xfrm>
              <a:off x="3961486" y="2840767"/>
              <a:ext cx="459560" cy="2604240"/>
            </a:xfrm>
            <a:prstGeom prst="rect">
              <a:avLst/>
            </a:prstGeom>
          </p:spPr>
        </p:pic>
        <p:pic>
          <p:nvPicPr>
            <p:cNvPr id="22" name="Grafik 21" descr="Ein Bild, das Text, Schrift, Handschrift, weiß enthält.&#10;&#10;KI-generierte Inhalte können fehlerhaft sein.">
              <a:extLst>
                <a:ext uri="{FF2B5EF4-FFF2-40B4-BE49-F238E27FC236}">
                  <a16:creationId xmlns:a16="http://schemas.microsoft.com/office/drawing/2014/main" id="{A5C395F3-B9B1-AD00-BAE7-F8D908AD1E74}"/>
                </a:ext>
              </a:extLst>
            </p:cNvPr>
            <p:cNvPicPr>
              <a:picLocks noChangeAspect="1"/>
            </p:cNvPicPr>
            <p:nvPr/>
          </p:nvPicPr>
          <p:blipFill>
            <a:blip r:embed="rId6"/>
            <a:srcRect l="89744" r="1442" b="68750"/>
            <a:stretch>
              <a:fillRect/>
            </a:stretch>
          </p:blipFill>
          <p:spPr>
            <a:xfrm>
              <a:off x="3998633" y="5647579"/>
              <a:ext cx="616203" cy="559594"/>
            </a:xfrm>
            <a:prstGeom prst="rect">
              <a:avLst/>
            </a:prstGeom>
          </p:spPr>
        </p:pic>
      </p:grpSp>
      <p:grpSp>
        <p:nvGrpSpPr>
          <p:cNvPr id="28" name="Gruppieren 27">
            <a:extLst>
              <a:ext uri="{FF2B5EF4-FFF2-40B4-BE49-F238E27FC236}">
                <a16:creationId xmlns:a16="http://schemas.microsoft.com/office/drawing/2014/main" id="{A173742F-579C-C271-50C4-2857A598506D}"/>
              </a:ext>
            </a:extLst>
          </p:cNvPr>
          <p:cNvGrpSpPr/>
          <p:nvPr/>
        </p:nvGrpSpPr>
        <p:grpSpPr>
          <a:xfrm>
            <a:off x="5125213" y="936874"/>
            <a:ext cx="6670556" cy="5252743"/>
            <a:chOff x="5358733" y="1595646"/>
            <a:chExt cx="6670556" cy="5252743"/>
          </a:xfrm>
        </p:grpSpPr>
        <p:sp>
          <p:nvSpPr>
            <p:cNvPr id="26" name="Rechteck 25">
              <a:extLst>
                <a:ext uri="{FF2B5EF4-FFF2-40B4-BE49-F238E27FC236}">
                  <a16:creationId xmlns:a16="http://schemas.microsoft.com/office/drawing/2014/main" id="{A697EE26-8A99-8549-F79C-A17D111DD12B}"/>
                </a:ext>
              </a:extLst>
            </p:cNvPr>
            <p:cNvSpPr/>
            <p:nvPr/>
          </p:nvSpPr>
          <p:spPr>
            <a:xfrm>
              <a:off x="5358733" y="1595646"/>
              <a:ext cx="6670556" cy="525274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6" name="Grafik 5" descr="Ein Bild, das Text, Schrift, weiß, Typografie enthält.&#10;&#10;KI-generierte Inhalte können fehlerhaft sein.">
              <a:extLst>
                <a:ext uri="{FF2B5EF4-FFF2-40B4-BE49-F238E27FC236}">
                  <a16:creationId xmlns:a16="http://schemas.microsoft.com/office/drawing/2014/main" id="{5A600CBB-E0FE-BC07-A686-E1769A36E21B}"/>
                </a:ext>
              </a:extLst>
            </p:cNvPr>
            <p:cNvPicPr>
              <a:picLocks noChangeAspect="1"/>
            </p:cNvPicPr>
            <p:nvPr/>
          </p:nvPicPr>
          <p:blipFill>
            <a:blip r:embed="rId5"/>
            <a:srcRect l="87530" t="24242" r="-240" b="19697"/>
            <a:stretch>
              <a:fillRect/>
            </a:stretch>
          </p:blipFill>
          <p:spPr>
            <a:xfrm>
              <a:off x="11406318" y="6212824"/>
              <a:ext cx="594419" cy="416505"/>
            </a:xfrm>
            <a:prstGeom prst="rect">
              <a:avLst/>
            </a:prstGeom>
          </p:spPr>
        </p:pic>
        <p:pic>
          <p:nvPicPr>
            <p:cNvPr id="10" name="Grafik 9" descr="Ein Bild, das Text, Schrift, Handschrift, weiß enthält.&#10;&#10;KI-generierte Inhalte können fehlerhaft sein.">
              <a:extLst>
                <a:ext uri="{FF2B5EF4-FFF2-40B4-BE49-F238E27FC236}">
                  <a16:creationId xmlns:a16="http://schemas.microsoft.com/office/drawing/2014/main" id="{E0D62CFB-AC69-BD8A-D8BC-3EEBE148228F}"/>
                </a:ext>
              </a:extLst>
            </p:cNvPr>
            <p:cNvPicPr>
              <a:picLocks noChangeAspect="1"/>
            </p:cNvPicPr>
            <p:nvPr/>
          </p:nvPicPr>
          <p:blipFill>
            <a:blip r:embed="rId6"/>
            <a:srcRect l="1502" t="5135" r="13782" b="1714"/>
            <a:stretch>
              <a:fillRect/>
            </a:stretch>
          </p:blipFill>
          <p:spPr>
            <a:xfrm>
              <a:off x="5481986" y="1761557"/>
              <a:ext cx="5922793" cy="1668064"/>
            </a:xfrm>
            <a:prstGeom prst="rect">
              <a:avLst/>
            </a:prstGeom>
          </p:spPr>
        </p:pic>
        <p:pic>
          <p:nvPicPr>
            <p:cNvPr id="20" name="Grafik 19" descr="Ein Bild, das Text, Handschrift, Schrift, Kalligrafie enthält.&#10;&#10;KI-generierte Inhalte können fehlerhaft sein.">
              <a:extLst>
                <a:ext uri="{FF2B5EF4-FFF2-40B4-BE49-F238E27FC236}">
                  <a16:creationId xmlns:a16="http://schemas.microsoft.com/office/drawing/2014/main" id="{0E6E7D85-1067-7121-E8EB-3B05313B21B4}"/>
                </a:ext>
              </a:extLst>
            </p:cNvPr>
            <p:cNvPicPr>
              <a:picLocks noChangeAspect="1"/>
            </p:cNvPicPr>
            <p:nvPr/>
          </p:nvPicPr>
          <p:blipFill>
            <a:blip r:embed="rId7"/>
            <a:srcRect l="1424" t="1079" r="18347" b="283"/>
            <a:stretch>
              <a:fillRect/>
            </a:stretch>
          </p:blipFill>
          <p:spPr>
            <a:xfrm>
              <a:off x="5478701" y="3737208"/>
              <a:ext cx="5440985" cy="3072239"/>
            </a:xfrm>
            <a:prstGeom prst="rect">
              <a:avLst/>
            </a:prstGeom>
          </p:spPr>
        </p:pic>
        <p:pic>
          <p:nvPicPr>
            <p:cNvPr id="23" name="Grafik 22" descr="Ein Bild, das Text, Schrift, Handschrift, weiß enthält.&#10;&#10;KI-generierte Inhalte können fehlerhaft sein.">
              <a:extLst>
                <a:ext uri="{FF2B5EF4-FFF2-40B4-BE49-F238E27FC236}">
                  <a16:creationId xmlns:a16="http://schemas.microsoft.com/office/drawing/2014/main" id="{73A612EC-88D4-E8C7-BD7C-49D3374DE8D8}"/>
                </a:ext>
              </a:extLst>
            </p:cNvPr>
            <p:cNvPicPr>
              <a:picLocks noChangeAspect="1"/>
            </p:cNvPicPr>
            <p:nvPr/>
          </p:nvPicPr>
          <p:blipFill>
            <a:blip r:embed="rId8"/>
            <a:srcRect l="-3483" t="13043" r="15260" b="4062"/>
            <a:stretch>
              <a:fillRect/>
            </a:stretch>
          </p:blipFill>
          <p:spPr>
            <a:xfrm>
              <a:off x="11418803" y="1600380"/>
              <a:ext cx="588225" cy="994851"/>
            </a:xfrm>
            <a:prstGeom prst="rect">
              <a:avLst/>
            </a:prstGeom>
          </p:spPr>
        </p:pic>
        <p:pic>
          <p:nvPicPr>
            <p:cNvPr id="24" name="Grafik 23" descr="Ein Bild, das Text, Schrift, Handschrift, Screenshot enthält.&#10;&#10;KI-generierte Inhalte können fehlerhaft sein.">
              <a:extLst>
                <a:ext uri="{FF2B5EF4-FFF2-40B4-BE49-F238E27FC236}">
                  <a16:creationId xmlns:a16="http://schemas.microsoft.com/office/drawing/2014/main" id="{B357A25F-CD99-5547-F753-995B39D529F4}"/>
                </a:ext>
              </a:extLst>
            </p:cNvPr>
            <p:cNvPicPr>
              <a:picLocks noChangeAspect="1"/>
            </p:cNvPicPr>
            <p:nvPr/>
          </p:nvPicPr>
          <p:blipFill>
            <a:blip r:embed="rId9"/>
            <a:srcRect l="6803" t="24638" r="-324"/>
            <a:stretch>
              <a:fillRect/>
            </a:stretch>
          </p:blipFill>
          <p:spPr>
            <a:xfrm>
              <a:off x="11395760" y="3892348"/>
              <a:ext cx="632457" cy="2167838"/>
            </a:xfrm>
            <a:prstGeom prst="rect">
              <a:avLst/>
            </a:prstGeom>
          </p:spPr>
        </p:pic>
        <p:pic>
          <p:nvPicPr>
            <p:cNvPr id="25" name="Grafik 24" descr="Ein Bild, das Text, Schrift, Handschrift, Screenshot enthält.&#10;&#10;KI-generierte Inhalte können fehlerhaft sein.">
              <a:extLst>
                <a:ext uri="{FF2B5EF4-FFF2-40B4-BE49-F238E27FC236}">
                  <a16:creationId xmlns:a16="http://schemas.microsoft.com/office/drawing/2014/main" id="{FEE0FB63-F5F0-8435-3380-DC897E82D2FF}"/>
                </a:ext>
              </a:extLst>
            </p:cNvPr>
            <p:cNvPicPr>
              <a:picLocks noChangeAspect="1"/>
            </p:cNvPicPr>
            <p:nvPr/>
          </p:nvPicPr>
          <p:blipFill>
            <a:blip r:embed="rId9"/>
            <a:srcRect l="16923" t="-689" r="1538" b="82694"/>
            <a:stretch>
              <a:fillRect/>
            </a:stretch>
          </p:blipFill>
          <p:spPr>
            <a:xfrm>
              <a:off x="11464420" y="2839108"/>
              <a:ext cx="551426" cy="517625"/>
            </a:xfrm>
            <a:prstGeom prst="rect">
              <a:avLst/>
            </a:prstGeom>
          </p:spPr>
        </p:pic>
      </p:grpSp>
      <p:sp>
        <p:nvSpPr>
          <p:cNvPr id="9" name="Title 1">
            <a:extLst>
              <a:ext uri="{FF2B5EF4-FFF2-40B4-BE49-F238E27FC236}">
                <a16:creationId xmlns:a16="http://schemas.microsoft.com/office/drawing/2014/main" id="{501BE862-0909-1C19-DCD5-5DAF0A96EA1B}"/>
              </a:ext>
            </a:extLst>
          </p:cNvPr>
          <p:cNvSpPr txBox="1">
            <a:spLocks/>
          </p:cNvSpPr>
          <p:nvPr/>
        </p:nvSpPr>
        <p:spPr>
          <a:xfrm>
            <a:off x="193377" y="348"/>
            <a:ext cx="11801015" cy="122946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dirty="0">
                <a:ea typeface="Calibri Light"/>
                <a:cs typeface="Calibri Light"/>
              </a:rPr>
              <a:t>4.1.1 Βα</a:t>
            </a:r>
            <a:r>
              <a:rPr lang="en-US" sz="3100" dirty="0" err="1">
                <a:ea typeface="Calibri Light"/>
                <a:cs typeface="Calibri Light"/>
              </a:rPr>
              <a:t>σικές</a:t>
            </a:r>
            <a:r>
              <a:rPr lang="en-US" sz="3100" dirty="0">
                <a:ea typeface="Calibri Light"/>
                <a:cs typeface="Calibri Light"/>
              </a:rPr>
              <a:t> </a:t>
            </a:r>
            <a:r>
              <a:rPr lang="en-US" sz="3100" dirty="0" err="1">
                <a:ea typeface="Calibri Light"/>
                <a:cs typeface="Calibri Light"/>
              </a:rPr>
              <a:t>Εξισώσεις</a:t>
            </a:r>
            <a:r>
              <a:rPr lang="en-US" sz="3100" dirty="0">
                <a:ea typeface="Calibri Light"/>
                <a:cs typeface="Calibri Light"/>
              </a:rPr>
              <a:t> </a:t>
            </a:r>
            <a:r>
              <a:rPr lang="en-US" sz="3100" dirty="0" err="1">
                <a:ea typeface="Calibri Light"/>
                <a:cs typeface="Calibri Light"/>
              </a:rPr>
              <a:t>του</a:t>
            </a:r>
            <a:r>
              <a:rPr lang="en-US" sz="3100" dirty="0">
                <a:ea typeface="Calibri Light"/>
                <a:cs typeface="Calibri Light"/>
              </a:rPr>
              <a:t> Μα</a:t>
            </a:r>
            <a:r>
              <a:rPr lang="en-US" sz="3100" dirty="0" err="1">
                <a:ea typeface="Calibri Light"/>
                <a:cs typeface="Calibri Light"/>
              </a:rPr>
              <a:t>θημ</a:t>
            </a:r>
            <a:r>
              <a:rPr lang="en-US" sz="3100" dirty="0">
                <a:ea typeface="Calibri Light"/>
                <a:cs typeface="Calibri Light"/>
              </a:rPr>
              <a:t>α</a:t>
            </a:r>
            <a:r>
              <a:rPr lang="en-US" sz="3100" dirty="0" err="1">
                <a:ea typeface="Calibri Light"/>
                <a:cs typeface="Calibri Light"/>
              </a:rPr>
              <a:t>τικού</a:t>
            </a:r>
            <a:r>
              <a:rPr lang="en-US" sz="3100" dirty="0">
                <a:ea typeface="Calibri Light"/>
                <a:cs typeface="Calibri Light"/>
              </a:rPr>
              <a:t> </a:t>
            </a:r>
            <a:r>
              <a:rPr lang="en-US" sz="3100" dirty="0" err="1">
                <a:ea typeface="Calibri Light"/>
                <a:cs typeface="Calibri Light"/>
              </a:rPr>
              <a:t>Μοντέλου</a:t>
            </a:r>
            <a:r>
              <a:rPr lang="en-US" sz="3100" dirty="0">
                <a:ea typeface="Calibri Light"/>
                <a:cs typeface="Calibri Light"/>
              </a:rPr>
              <a:t> </a:t>
            </a:r>
            <a:r>
              <a:rPr lang="en-US" sz="3100" dirty="0" err="1">
                <a:ea typeface="Calibri Light"/>
                <a:cs typeface="Calibri Light"/>
              </a:rPr>
              <a:t>της</a:t>
            </a:r>
            <a:r>
              <a:rPr lang="en-US" sz="3100" dirty="0">
                <a:ea typeface="Calibri Light"/>
                <a:cs typeface="Calibri Light"/>
              </a:rPr>
              <a:t> </a:t>
            </a:r>
            <a:r>
              <a:rPr lang="en-US" sz="3100" dirty="0" err="1">
                <a:ea typeface="Calibri Light"/>
                <a:cs typeface="Calibri Light"/>
              </a:rPr>
              <a:t>Διεργ</a:t>
            </a:r>
            <a:r>
              <a:rPr lang="en-US" sz="3100" dirty="0">
                <a:ea typeface="Calibri Light"/>
                <a:cs typeface="Calibri Light"/>
              </a:rPr>
              <a:t>α</a:t>
            </a:r>
            <a:r>
              <a:rPr lang="en-US" sz="3100" dirty="0" err="1">
                <a:ea typeface="Calibri Light"/>
                <a:cs typeface="Calibri Light"/>
              </a:rPr>
              <a:t>σί</a:t>
            </a:r>
            <a:r>
              <a:rPr lang="en-US" sz="3100" dirty="0">
                <a:ea typeface="Calibri Light"/>
                <a:cs typeface="Calibri Light"/>
              </a:rPr>
              <a:t>ας Πα</a:t>
            </a:r>
            <a:r>
              <a:rPr lang="en-US" sz="3100" dirty="0" err="1">
                <a:ea typeface="Calibri Light"/>
                <a:cs typeface="Calibri Light"/>
              </a:rPr>
              <a:t>στερίωσης</a:t>
            </a:r>
            <a:endParaRPr lang="en-US" sz="3100" dirty="0">
              <a:ea typeface="Calibri Light"/>
              <a:cs typeface="Calibri Light"/>
            </a:endParaRPr>
          </a:p>
        </p:txBody>
      </p:sp>
      <p:sp>
        <p:nvSpPr>
          <p:cNvPr id="7" name="Foliennummernplatzhalter 6">
            <a:extLst>
              <a:ext uri="{FF2B5EF4-FFF2-40B4-BE49-F238E27FC236}">
                <a16:creationId xmlns:a16="http://schemas.microsoft.com/office/drawing/2014/main" id="{1E466F8D-A6AC-EA23-B9BF-E3853DB5FF76}"/>
              </a:ext>
            </a:extLst>
          </p:cNvPr>
          <p:cNvSpPr>
            <a:spLocks noGrp="1"/>
          </p:cNvSpPr>
          <p:nvPr>
            <p:ph type="sldNum" sz="quarter" idx="12"/>
          </p:nvPr>
        </p:nvSpPr>
        <p:spPr/>
        <p:txBody>
          <a:bodyPr/>
          <a:lstStyle/>
          <a:p>
            <a:fld id="{48F63A3B-78C7-47BE-AE5E-E10140E04643}" type="slidenum">
              <a:rPr lang="en-US" smtClean="0"/>
              <a:t>7</a:t>
            </a:fld>
            <a:r>
              <a:rPr lang="en-US" dirty="0"/>
              <a:t>/</a:t>
            </a:r>
            <a:r>
              <a:rPr lang="el-GR" dirty="0"/>
              <a:t>2</a:t>
            </a:r>
            <a:r>
              <a:rPr lang="en-US" dirty="0"/>
              <a:t>2</a:t>
            </a:r>
            <a:endParaRPr lang="de-DE" dirty="0"/>
          </a:p>
        </p:txBody>
      </p:sp>
      <p:sp>
        <p:nvSpPr>
          <p:cNvPr id="8" name="TextBox 7">
            <a:extLst>
              <a:ext uri="{FF2B5EF4-FFF2-40B4-BE49-F238E27FC236}">
                <a16:creationId xmlns:a16="http://schemas.microsoft.com/office/drawing/2014/main" id="{6B5B7209-2457-7E78-26F5-2F4845B8DFC6}"/>
              </a:ext>
            </a:extLst>
          </p:cNvPr>
          <p:cNvSpPr txBox="1"/>
          <p:nvPr/>
        </p:nvSpPr>
        <p:spPr>
          <a:xfrm>
            <a:off x="98526" y="6165874"/>
            <a:ext cx="11990716" cy="584775"/>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just"/>
            <a:r>
              <a:rPr lang="en-US" sz="1600" dirty="0" err="1"/>
              <a:t>Bampzeli</a:t>
            </a:r>
            <a:r>
              <a:rPr lang="en-US" sz="1600" dirty="0"/>
              <a:t>, A., </a:t>
            </a:r>
            <a:r>
              <a:rPr lang="en-US" sz="1600" dirty="0" err="1"/>
              <a:t>Charakleias</a:t>
            </a:r>
            <a:r>
              <a:rPr lang="en-US" sz="1600" dirty="0"/>
              <a:t>, E., &amp; Georgiadis, M. C. (2026). Modeling, simulation and optimization of integrated milk pasteurization and membrane filtration processes. </a:t>
            </a:r>
            <a:r>
              <a:rPr lang="en-US" sz="1600" i="1" dirty="0"/>
              <a:t>Food and Bioproducts Processing</a:t>
            </a:r>
            <a:r>
              <a:rPr lang="en-US" sz="1600" dirty="0"/>
              <a:t>, </a:t>
            </a:r>
            <a:r>
              <a:rPr lang="en-US" sz="1600" i="1" dirty="0"/>
              <a:t>157</a:t>
            </a:r>
            <a:r>
              <a:rPr lang="en-US" sz="1600" dirty="0"/>
              <a:t>, 583-599. </a:t>
            </a:r>
            <a:r>
              <a:rPr lang="en-US" sz="1600" dirty="0">
                <a:hlinkClick r:id="rId10"/>
              </a:rPr>
              <a:t>https://doi.org/10.1016/j.fbp.2026.04.006</a:t>
            </a:r>
            <a:endParaRPr lang="el-GR" sz="1600" dirty="0"/>
          </a:p>
        </p:txBody>
      </p:sp>
    </p:spTree>
    <p:extLst>
      <p:ext uri="{BB962C8B-B14F-4D97-AF65-F5344CB8AC3E}">
        <p14:creationId xmlns:p14="http://schemas.microsoft.com/office/powerpoint/2010/main" val="22140315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C955A-B4E4-034B-D789-57D5CE660B3A}"/>
            </a:ext>
          </a:extLst>
        </p:cNvPr>
        <p:cNvGrpSpPr/>
        <p:nvPr/>
      </p:nvGrpSpPr>
      <p:grpSpPr>
        <a:xfrm>
          <a:off x="0" y="0"/>
          <a:ext cx="0" cy="0"/>
          <a:chOff x="0" y="0"/>
          <a:chExt cx="0" cy="0"/>
        </a:xfrm>
      </p:grpSpPr>
      <p:pic>
        <p:nvPicPr>
          <p:cNvPr id="15" name="Picture 14" descr="A computer screen shot of a diagram&#10;&#10;AI-generated content may be incorrect.">
            <a:extLst>
              <a:ext uri="{FF2B5EF4-FFF2-40B4-BE49-F238E27FC236}">
                <a16:creationId xmlns:a16="http://schemas.microsoft.com/office/drawing/2014/main" id="{157A72E9-EB38-99AC-5DA0-5162C7969767}"/>
              </a:ext>
            </a:extLst>
          </p:cNvPr>
          <p:cNvPicPr>
            <a:picLocks noChangeAspect="1"/>
          </p:cNvPicPr>
          <p:nvPr/>
        </p:nvPicPr>
        <p:blipFill>
          <a:blip r:embed="rId3"/>
          <a:srcRect l="20760" t="18302" r="17479" b="27954"/>
          <a:stretch>
            <a:fillRect/>
          </a:stretch>
        </p:blipFill>
        <p:spPr>
          <a:xfrm>
            <a:off x="1602" y="830535"/>
            <a:ext cx="12195377" cy="6021785"/>
          </a:xfrm>
          <a:prstGeom prst="rect">
            <a:avLst/>
          </a:prstGeom>
        </p:spPr>
      </p:pic>
      <p:sp>
        <p:nvSpPr>
          <p:cNvPr id="9" name="Speech Bubble: Rectangle with Corners Rounded 8">
            <a:extLst>
              <a:ext uri="{FF2B5EF4-FFF2-40B4-BE49-F238E27FC236}">
                <a16:creationId xmlns:a16="http://schemas.microsoft.com/office/drawing/2014/main" id="{AB4FAF7C-6F49-0903-7446-87E3730F939E}"/>
              </a:ext>
            </a:extLst>
          </p:cNvPr>
          <p:cNvSpPr/>
          <p:nvPr/>
        </p:nvSpPr>
        <p:spPr>
          <a:xfrm>
            <a:off x="872616" y="2800690"/>
            <a:ext cx="1037945" cy="548777"/>
          </a:xfrm>
          <a:prstGeom prst="wedgeRoundRectCallou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ea typeface="Calibri"/>
                <a:cs typeface="Calibri"/>
              </a:rPr>
              <a:t>2500 kg/h, 5 °C</a:t>
            </a:r>
          </a:p>
        </p:txBody>
      </p:sp>
      <p:sp>
        <p:nvSpPr>
          <p:cNvPr id="7" name="Speech Bubble: Rectangle with Corners Rounded 6">
            <a:extLst>
              <a:ext uri="{FF2B5EF4-FFF2-40B4-BE49-F238E27FC236}">
                <a16:creationId xmlns:a16="http://schemas.microsoft.com/office/drawing/2014/main" id="{34463ECE-6947-5455-C2DD-0B5CC9B91069}"/>
              </a:ext>
            </a:extLst>
          </p:cNvPr>
          <p:cNvSpPr/>
          <p:nvPr/>
        </p:nvSpPr>
        <p:spPr>
          <a:xfrm>
            <a:off x="6925482" y="2412501"/>
            <a:ext cx="649757" cy="390627"/>
          </a:xfrm>
          <a:prstGeom prst="wedgeRoundRectCallou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ea typeface="Calibri"/>
                <a:cs typeface="Calibri"/>
              </a:rPr>
              <a:t>80 °C</a:t>
            </a:r>
          </a:p>
        </p:txBody>
      </p:sp>
      <p:sp>
        <p:nvSpPr>
          <p:cNvPr id="11" name="Speech Bubble: Rectangle with Corners Rounded 10">
            <a:extLst>
              <a:ext uri="{FF2B5EF4-FFF2-40B4-BE49-F238E27FC236}">
                <a16:creationId xmlns:a16="http://schemas.microsoft.com/office/drawing/2014/main" id="{78F46E43-8E02-D1C2-BF65-10DF3675CD85}"/>
              </a:ext>
            </a:extLst>
          </p:cNvPr>
          <p:cNvSpPr/>
          <p:nvPr/>
        </p:nvSpPr>
        <p:spPr>
          <a:xfrm>
            <a:off x="9340878" y="3073858"/>
            <a:ext cx="649757" cy="390627"/>
          </a:xfrm>
          <a:prstGeom prst="wedgeRoundRectCallou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ea typeface="Calibri"/>
                <a:cs typeface="Calibri"/>
              </a:rPr>
              <a:t>75 °C</a:t>
            </a:r>
          </a:p>
        </p:txBody>
      </p:sp>
      <p:sp>
        <p:nvSpPr>
          <p:cNvPr id="12" name="Speech Bubble: Rectangle with Corners Rounded 11">
            <a:extLst>
              <a:ext uri="{FF2B5EF4-FFF2-40B4-BE49-F238E27FC236}">
                <a16:creationId xmlns:a16="http://schemas.microsoft.com/office/drawing/2014/main" id="{88E09497-5609-3FA0-62EA-40DAF4BA2FAB}"/>
              </a:ext>
            </a:extLst>
          </p:cNvPr>
          <p:cNvSpPr/>
          <p:nvPr/>
        </p:nvSpPr>
        <p:spPr>
          <a:xfrm>
            <a:off x="6925481" y="989141"/>
            <a:ext cx="649757" cy="390627"/>
          </a:xfrm>
          <a:prstGeom prst="wedgeRoundRectCallou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ea typeface="Calibri"/>
                <a:cs typeface="Calibri"/>
              </a:rPr>
              <a:t>75 °C</a:t>
            </a:r>
          </a:p>
        </p:txBody>
      </p:sp>
      <p:sp>
        <p:nvSpPr>
          <p:cNvPr id="13" name="Speech Bubble: Rectangle with Corners Rounded 12">
            <a:extLst>
              <a:ext uri="{FF2B5EF4-FFF2-40B4-BE49-F238E27FC236}">
                <a16:creationId xmlns:a16="http://schemas.microsoft.com/office/drawing/2014/main" id="{B158CAA9-3EF4-402D-25A4-7858BD18EBF7}"/>
              </a:ext>
            </a:extLst>
          </p:cNvPr>
          <p:cNvSpPr/>
          <p:nvPr/>
        </p:nvSpPr>
        <p:spPr>
          <a:xfrm>
            <a:off x="7065404" y="5173010"/>
            <a:ext cx="649757" cy="390627"/>
          </a:xfrm>
          <a:prstGeom prst="wedgeRoundRectCallou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ea typeface="Calibri"/>
                <a:cs typeface="Calibri"/>
              </a:rPr>
              <a:t>20 °C</a:t>
            </a:r>
          </a:p>
        </p:txBody>
      </p:sp>
      <p:sp>
        <p:nvSpPr>
          <p:cNvPr id="3" name="Speech Bubble: Rectangle with Corners Rounded 2">
            <a:extLst>
              <a:ext uri="{FF2B5EF4-FFF2-40B4-BE49-F238E27FC236}">
                <a16:creationId xmlns:a16="http://schemas.microsoft.com/office/drawing/2014/main" id="{93128153-C233-16B4-76EC-CEE39960D6D6}"/>
              </a:ext>
            </a:extLst>
          </p:cNvPr>
          <p:cNvSpPr/>
          <p:nvPr/>
        </p:nvSpPr>
        <p:spPr>
          <a:xfrm>
            <a:off x="4395067" y="6236877"/>
            <a:ext cx="1052322" cy="491268"/>
          </a:xfrm>
          <a:prstGeom prst="wedgeRoundRectCallou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dirty="0">
                <a:ea typeface="Calibri"/>
                <a:cs typeface="Calibri"/>
              </a:rPr>
              <a:t>311 kg/h, 22 °C</a:t>
            </a:r>
          </a:p>
        </p:txBody>
      </p:sp>
      <p:sp>
        <p:nvSpPr>
          <p:cNvPr id="5" name="Speech Bubble: Rectangle with Corners Rounded 4">
            <a:extLst>
              <a:ext uri="{FF2B5EF4-FFF2-40B4-BE49-F238E27FC236}">
                <a16:creationId xmlns:a16="http://schemas.microsoft.com/office/drawing/2014/main" id="{8E3190A2-BE79-2103-6B44-FE5FEBA039C3}"/>
              </a:ext>
            </a:extLst>
          </p:cNvPr>
          <p:cNvSpPr/>
          <p:nvPr/>
        </p:nvSpPr>
        <p:spPr>
          <a:xfrm>
            <a:off x="2166575" y="5129820"/>
            <a:ext cx="649757" cy="390627"/>
          </a:xfrm>
          <a:prstGeom prst="wedgeRoundRectCallou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dirty="0">
                <a:ea typeface="Calibri"/>
                <a:cs typeface="Calibri"/>
              </a:rPr>
              <a:t>23 °C</a:t>
            </a:r>
          </a:p>
        </p:txBody>
      </p:sp>
      <p:sp>
        <p:nvSpPr>
          <p:cNvPr id="6" name="Speech Bubble: Rectangle with Corners Rounded 5">
            <a:extLst>
              <a:ext uri="{FF2B5EF4-FFF2-40B4-BE49-F238E27FC236}">
                <a16:creationId xmlns:a16="http://schemas.microsoft.com/office/drawing/2014/main" id="{B119A89C-E8AE-C7BC-DA0A-C2CF76596569}"/>
              </a:ext>
            </a:extLst>
          </p:cNvPr>
          <p:cNvSpPr/>
          <p:nvPr/>
        </p:nvSpPr>
        <p:spPr>
          <a:xfrm>
            <a:off x="4006878" y="3045104"/>
            <a:ext cx="649757" cy="390627"/>
          </a:xfrm>
          <a:prstGeom prst="wedgeRoundRectCallou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dirty="0">
                <a:ea typeface="Calibri"/>
                <a:cs typeface="Calibri"/>
              </a:rPr>
              <a:t>57 °C</a:t>
            </a:r>
          </a:p>
        </p:txBody>
      </p:sp>
      <p:sp>
        <p:nvSpPr>
          <p:cNvPr id="8" name="Speech Bubble: Rectangle with Corners Rounded 7">
            <a:extLst>
              <a:ext uri="{FF2B5EF4-FFF2-40B4-BE49-F238E27FC236}">
                <a16:creationId xmlns:a16="http://schemas.microsoft.com/office/drawing/2014/main" id="{63E5BEB6-55CD-3BCB-FA96-7AEDA962B316}"/>
              </a:ext>
            </a:extLst>
          </p:cNvPr>
          <p:cNvSpPr/>
          <p:nvPr/>
        </p:nvSpPr>
        <p:spPr>
          <a:xfrm>
            <a:off x="7569507" y="4128009"/>
            <a:ext cx="1037945" cy="448136"/>
          </a:xfrm>
          <a:prstGeom prst="wedgeRoundRectCallou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dirty="0">
                <a:ea typeface="Calibri"/>
                <a:cs typeface="Calibri"/>
              </a:rPr>
              <a:t>2863 kg/h, 66 °C</a:t>
            </a:r>
          </a:p>
        </p:txBody>
      </p:sp>
      <p:sp>
        <p:nvSpPr>
          <p:cNvPr id="10" name="Speech Bubble: Rectangle with Corners Rounded 9">
            <a:extLst>
              <a:ext uri="{FF2B5EF4-FFF2-40B4-BE49-F238E27FC236}">
                <a16:creationId xmlns:a16="http://schemas.microsoft.com/office/drawing/2014/main" id="{C0033EBF-0711-157F-07C2-66806B4F3FA4}"/>
              </a:ext>
            </a:extLst>
          </p:cNvPr>
          <p:cNvSpPr/>
          <p:nvPr/>
        </p:nvSpPr>
        <p:spPr>
          <a:xfrm>
            <a:off x="4331756" y="4598638"/>
            <a:ext cx="563493" cy="318741"/>
          </a:xfrm>
          <a:prstGeom prst="wedgeRoundRectCallou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ea typeface="Calibri"/>
                <a:cs typeface="Calibri"/>
              </a:rPr>
              <a:t>5 °C</a:t>
            </a:r>
          </a:p>
        </p:txBody>
      </p:sp>
      <p:sp>
        <p:nvSpPr>
          <p:cNvPr id="52" name="Textfeld 51">
            <a:extLst>
              <a:ext uri="{FF2B5EF4-FFF2-40B4-BE49-F238E27FC236}">
                <a16:creationId xmlns:a16="http://schemas.microsoft.com/office/drawing/2014/main" id="{55BBE41D-51F5-AF45-1698-B1FEBD9D3F0F}"/>
              </a:ext>
            </a:extLst>
          </p:cNvPr>
          <p:cNvSpPr txBox="1"/>
          <p:nvPr/>
        </p:nvSpPr>
        <p:spPr>
          <a:xfrm>
            <a:off x="5117604" y="4429361"/>
            <a:ext cx="1892782" cy="438489"/>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endParaRPr lang="de-DE" sz="1600" dirty="0">
              <a:ea typeface="Calibri"/>
              <a:cs typeface="Calibri"/>
            </a:endParaRPr>
          </a:p>
        </p:txBody>
      </p:sp>
      <p:pic>
        <p:nvPicPr>
          <p:cNvPr id="54" name="Picture 14" descr="A computer screen shot of a diagram&#10;&#10;AI-generated content may be incorrect.">
            <a:extLst>
              <a:ext uri="{FF2B5EF4-FFF2-40B4-BE49-F238E27FC236}">
                <a16:creationId xmlns:a16="http://schemas.microsoft.com/office/drawing/2014/main" id="{59590EFF-B9BE-1C2F-79C2-848DF3E72B42}"/>
              </a:ext>
            </a:extLst>
          </p:cNvPr>
          <p:cNvPicPr>
            <a:picLocks noChangeAspect="1"/>
          </p:cNvPicPr>
          <p:nvPr/>
        </p:nvPicPr>
        <p:blipFill>
          <a:blip r:embed="rId3"/>
          <a:srcRect l="65761" t="34644" r="33810" b="59940"/>
          <a:stretch>
            <a:fillRect/>
          </a:stretch>
        </p:blipFill>
        <p:spPr>
          <a:xfrm>
            <a:off x="6261662" y="4429755"/>
            <a:ext cx="84698" cy="606912"/>
          </a:xfrm>
          <a:prstGeom prst="rect">
            <a:avLst/>
          </a:prstGeom>
        </p:spPr>
      </p:pic>
      <p:sp>
        <p:nvSpPr>
          <p:cNvPr id="23" name="Textfeld 22">
            <a:extLst>
              <a:ext uri="{FF2B5EF4-FFF2-40B4-BE49-F238E27FC236}">
                <a16:creationId xmlns:a16="http://schemas.microsoft.com/office/drawing/2014/main" id="{143A0BF6-CCC9-B9EE-83AA-28C133828211}"/>
              </a:ext>
            </a:extLst>
          </p:cNvPr>
          <p:cNvSpPr txBox="1"/>
          <p:nvPr/>
        </p:nvSpPr>
        <p:spPr>
          <a:xfrm>
            <a:off x="4477751" y="4145146"/>
            <a:ext cx="436386" cy="166165"/>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endParaRPr lang="de-DE" sz="1600" dirty="0">
              <a:ea typeface="Calibri"/>
              <a:cs typeface="Calibri"/>
            </a:endParaRPr>
          </a:p>
        </p:txBody>
      </p:sp>
      <p:sp>
        <p:nvSpPr>
          <p:cNvPr id="14" name="Textfeld 27">
            <a:extLst>
              <a:ext uri="{FF2B5EF4-FFF2-40B4-BE49-F238E27FC236}">
                <a16:creationId xmlns:a16="http://schemas.microsoft.com/office/drawing/2014/main" id="{CDC23001-C682-5B84-4C09-4EC0A15CAFB7}"/>
              </a:ext>
            </a:extLst>
          </p:cNvPr>
          <p:cNvSpPr txBox="1"/>
          <p:nvPr/>
        </p:nvSpPr>
        <p:spPr>
          <a:xfrm>
            <a:off x="495755" y="1041214"/>
            <a:ext cx="1995698" cy="338554"/>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de-DE" sz="1600" err="1">
                <a:ea typeface="Calibri"/>
                <a:cs typeface="Calibri"/>
              </a:rPr>
              <a:t>Προδι</a:t>
            </a:r>
            <a:r>
              <a:rPr lang="de-DE" sz="1600" dirty="0">
                <a:ea typeface="Calibri"/>
                <a:cs typeface="Calibri"/>
              </a:rPr>
              <a:t>α</a:t>
            </a:r>
            <a:r>
              <a:rPr lang="de-DE" sz="1600" err="1">
                <a:ea typeface="Calibri"/>
                <a:cs typeface="Calibri"/>
              </a:rPr>
              <a:t>γρ</a:t>
            </a:r>
            <a:r>
              <a:rPr lang="de-DE" sz="1600" dirty="0">
                <a:ea typeface="Calibri"/>
                <a:cs typeface="Calibri"/>
              </a:rPr>
              <a:t>α</a:t>
            </a:r>
            <a:r>
              <a:rPr lang="de-DE" sz="1600" err="1">
                <a:ea typeface="Calibri"/>
                <a:cs typeface="Calibri"/>
              </a:rPr>
              <a:t>φές</a:t>
            </a:r>
            <a:endParaRPr lang="de-DE"/>
          </a:p>
        </p:txBody>
      </p:sp>
      <p:sp>
        <p:nvSpPr>
          <p:cNvPr id="16" name="Textfeld 23">
            <a:extLst>
              <a:ext uri="{FF2B5EF4-FFF2-40B4-BE49-F238E27FC236}">
                <a16:creationId xmlns:a16="http://schemas.microsoft.com/office/drawing/2014/main" id="{EDED4EBC-25C6-374B-0B04-E9A7A1FF781E}"/>
              </a:ext>
            </a:extLst>
          </p:cNvPr>
          <p:cNvSpPr txBox="1"/>
          <p:nvPr/>
        </p:nvSpPr>
        <p:spPr>
          <a:xfrm>
            <a:off x="353183" y="3798629"/>
            <a:ext cx="1430296" cy="338554"/>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600" dirty="0" err="1">
                <a:ea typeface="Calibri"/>
                <a:cs typeface="Calibri"/>
              </a:rPr>
              <a:t>Τροφοδοσί</a:t>
            </a:r>
            <a:r>
              <a:rPr lang="de-DE" sz="1600" dirty="0">
                <a:ea typeface="Calibri"/>
                <a:cs typeface="Calibri"/>
              </a:rPr>
              <a:t>α</a:t>
            </a:r>
          </a:p>
        </p:txBody>
      </p:sp>
      <p:sp>
        <p:nvSpPr>
          <p:cNvPr id="20" name="Title 1">
            <a:extLst>
              <a:ext uri="{FF2B5EF4-FFF2-40B4-BE49-F238E27FC236}">
                <a16:creationId xmlns:a16="http://schemas.microsoft.com/office/drawing/2014/main" id="{CED475EB-79B4-FD2B-133C-664F404AFF53}"/>
              </a:ext>
            </a:extLst>
          </p:cNvPr>
          <p:cNvSpPr>
            <a:spLocks noGrp="1"/>
          </p:cNvSpPr>
          <p:nvPr>
            <p:ph type="title"/>
          </p:nvPr>
        </p:nvSpPr>
        <p:spPr>
          <a:xfrm>
            <a:off x="103898" y="138893"/>
            <a:ext cx="12384443" cy="686828"/>
          </a:xfrm>
        </p:spPr>
        <p:txBody>
          <a:bodyPr>
            <a:normAutofit/>
          </a:bodyPr>
          <a:lstStyle/>
          <a:p>
            <a:r>
              <a:rPr lang="en-US" sz="3100" dirty="0">
                <a:ea typeface="Calibri Light"/>
                <a:cs typeface="Calibri Light"/>
              </a:rPr>
              <a:t>4.1.</a:t>
            </a:r>
            <a:r>
              <a:rPr lang="el-GR" sz="3100" dirty="0">
                <a:ea typeface="Calibri Light"/>
                <a:cs typeface="Calibri Light"/>
              </a:rPr>
              <a:t>2</a:t>
            </a:r>
            <a:r>
              <a:rPr lang="en-US" sz="3100" dirty="0">
                <a:ea typeface="Calibri Light"/>
                <a:cs typeface="Calibri Light"/>
              </a:rPr>
              <a:t> </a:t>
            </a:r>
            <a:r>
              <a:rPr lang="en-US" sz="3100" dirty="0" err="1">
                <a:ea typeface="Calibri Light"/>
                <a:cs typeface="Calibri Light"/>
              </a:rPr>
              <a:t>Μοντέλο</a:t>
            </a:r>
            <a:r>
              <a:rPr lang="en-US" sz="3100" dirty="0">
                <a:ea typeface="Calibri Light"/>
                <a:cs typeface="Calibri Light"/>
              </a:rPr>
              <a:t> Πα</a:t>
            </a:r>
            <a:r>
              <a:rPr lang="en-US" sz="3100" dirty="0" err="1">
                <a:ea typeface="Calibri Light"/>
                <a:cs typeface="Calibri Light"/>
              </a:rPr>
              <a:t>στερίωσης</a:t>
            </a:r>
            <a:r>
              <a:rPr lang="en-US" sz="3100" dirty="0">
                <a:ea typeface="Calibri Light"/>
                <a:cs typeface="Calibri Light"/>
              </a:rPr>
              <a:t>-Απ</a:t>
            </a:r>
            <a:r>
              <a:rPr lang="en-US" sz="3100" dirty="0" err="1">
                <a:ea typeface="Calibri Light"/>
                <a:cs typeface="Calibri Light"/>
              </a:rPr>
              <a:t>οτελέσμ</a:t>
            </a:r>
            <a:r>
              <a:rPr lang="en-US" sz="3100" dirty="0">
                <a:ea typeface="Calibri Light"/>
                <a:cs typeface="Calibri Light"/>
              </a:rPr>
              <a:t>ατα Προσομοίωσης (1/2)</a:t>
            </a:r>
          </a:p>
        </p:txBody>
      </p:sp>
      <p:sp>
        <p:nvSpPr>
          <p:cNvPr id="21" name="Textfeld 15">
            <a:extLst>
              <a:ext uri="{FF2B5EF4-FFF2-40B4-BE49-F238E27FC236}">
                <a16:creationId xmlns:a16="http://schemas.microsoft.com/office/drawing/2014/main" id="{927C4F7B-1CE0-4AE4-3134-3B88E837E33A}"/>
              </a:ext>
            </a:extLst>
          </p:cNvPr>
          <p:cNvSpPr txBox="1"/>
          <p:nvPr/>
        </p:nvSpPr>
        <p:spPr>
          <a:xfrm>
            <a:off x="2001325" y="3762562"/>
            <a:ext cx="1575439" cy="584775"/>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600" dirty="0" err="1">
                <a:ea typeface="Calibri"/>
                <a:cs typeface="Calibri"/>
              </a:rPr>
              <a:t>Αν</a:t>
            </a:r>
            <a:r>
              <a:rPr lang="de-DE" sz="1600" dirty="0">
                <a:ea typeface="Calibri"/>
                <a:cs typeface="Calibri"/>
              </a:rPr>
              <a:t>α</a:t>
            </a:r>
            <a:r>
              <a:rPr lang="de-DE" sz="1600" dirty="0" err="1">
                <a:ea typeface="Calibri"/>
                <a:cs typeface="Calibri"/>
              </a:rPr>
              <a:t>γεννητική</a:t>
            </a:r>
            <a:r>
              <a:rPr lang="de-DE" sz="1600" dirty="0">
                <a:ea typeface="Calibri"/>
                <a:cs typeface="Calibri"/>
              </a:rPr>
              <a:t> </a:t>
            </a:r>
            <a:r>
              <a:rPr lang="de-DE" sz="1600" dirty="0" err="1">
                <a:ea typeface="Calibri"/>
                <a:cs typeface="Calibri"/>
              </a:rPr>
              <a:t>μονάδ</a:t>
            </a:r>
            <a:r>
              <a:rPr lang="de-DE" sz="1600" dirty="0">
                <a:ea typeface="Calibri"/>
                <a:cs typeface="Calibri"/>
              </a:rPr>
              <a:t>α</a:t>
            </a:r>
          </a:p>
        </p:txBody>
      </p:sp>
      <p:sp>
        <p:nvSpPr>
          <p:cNvPr id="22" name="Textfeld 49">
            <a:extLst>
              <a:ext uri="{FF2B5EF4-FFF2-40B4-BE49-F238E27FC236}">
                <a16:creationId xmlns:a16="http://schemas.microsoft.com/office/drawing/2014/main" id="{455677AB-7D81-9EE9-7638-694726B29428}"/>
              </a:ext>
            </a:extLst>
          </p:cNvPr>
          <p:cNvSpPr txBox="1"/>
          <p:nvPr/>
        </p:nvSpPr>
        <p:spPr>
          <a:xfrm>
            <a:off x="2579791" y="4260084"/>
            <a:ext cx="2429637" cy="338554"/>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600" dirty="0" err="1">
                <a:ea typeface="Calibri"/>
                <a:cs typeface="Calibri"/>
              </a:rPr>
              <a:t>Ρυθμιστής</a:t>
            </a:r>
            <a:r>
              <a:rPr lang="de-DE" sz="1600" dirty="0">
                <a:ea typeface="Calibri"/>
                <a:cs typeface="Calibri"/>
              </a:rPr>
              <a:t> </a:t>
            </a:r>
            <a:r>
              <a:rPr lang="de-DE" sz="1600" dirty="0" err="1">
                <a:ea typeface="Calibri"/>
                <a:cs typeface="Calibri"/>
              </a:rPr>
              <a:t>θερμοκρ</a:t>
            </a:r>
            <a:r>
              <a:rPr lang="de-DE" sz="1600" dirty="0">
                <a:ea typeface="Calibri"/>
                <a:cs typeface="Calibri"/>
              </a:rPr>
              <a:t>α</a:t>
            </a:r>
            <a:r>
              <a:rPr lang="de-DE" sz="1600" dirty="0" err="1">
                <a:ea typeface="Calibri"/>
                <a:cs typeface="Calibri"/>
              </a:rPr>
              <a:t>σί</a:t>
            </a:r>
            <a:r>
              <a:rPr lang="de-DE" sz="1600" dirty="0">
                <a:ea typeface="Calibri"/>
                <a:cs typeface="Calibri"/>
              </a:rPr>
              <a:t>ας</a:t>
            </a:r>
          </a:p>
        </p:txBody>
      </p:sp>
      <p:sp>
        <p:nvSpPr>
          <p:cNvPr id="24" name="Textfeld 31">
            <a:extLst>
              <a:ext uri="{FF2B5EF4-FFF2-40B4-BE49-F238E27FC236}">
                <a16:creationId xmlns:a16="http://schemas.microsoft.com/office/drawing/2014/main" id="{319D7DC1-0B0C-EC9D-6BC3-8AC57B3C035D}"/>
              </a:ext>
            </a:extLst>
          </p:cNvPr>
          <p:cNvSpPr txBox="1"/>
          <p:nvPr/>
        </p:nvSpPr>
        <p:spPr>
          <a:xfrm>
            <a:off x="3151346" y="5185219"/>
            <a:ext cx="1430296" cy="338554"/>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600" dirty="0" err="1">
                <a:ea typeface="Calibri"/>
                <a:cs typeface="Calibri"/>
              </a:rPr>
              <a:t>Νερό</a:t>
            </a:r>
            <a:r>
              <a:rPr lang="de-DE" sz="1600" dirty="0">
                <a:ea typeface="Calibri"/>
                <a:cs typeface="Calibri"/>
              </a:rPr>
              <a:t> </a:t>
            </a:r>
            <a:r>
              <a:rPr lang="de-DE" sz="1600" dirty="0" err="1">
                <a:ea typeface="Calibri"/>
                <a:cs typeface="Calibri"/>
              </a:rPr>
              <a:t>ψύξης</a:t>
            </a:r>
          </a:p>
        </p:txBody>
      </p:sp>
      <p:sp>
        <p:nvSpPr>
          <p:cNvPr id="25" name="Textfeld 21">
            <a:extLst>
              <a:ext uri="{FF2B5EF4-FFF2-40B4-BE49-F238E27FC236}">
                <a16:creationId xmlns:a16="http://schemas.microsoft.com/office/drawing/2014/main" id="{59A1B87D-456D-71B0-EFF8-4A961AE8B2C3}"/>
              </a:ext>
            </a:extLst>
          </p:cNvPr>
          <p:cNvSpPr txBox="1"/>
          <p:nvPr/>
        </p:nvSpPr>
        <p:spPr>
          <a:xfrm>
            <a:off x="4592217" y="5862453"/>
            <a:ext cx="822511" cy="338554"/>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600" dirty="0" err="1">
                <a:ea typeface="Calibri"/>
                <a:cs typeface="Calibri"/>
              </a:rPr>
              <a:t>Ψύκτης</a:t>
            </a:r>
          </a:p>
        </p:txBody>
      </p:sp>
      <p:sp>
        <p:nvSpPr>
          <p:cNvPr id="26" name="Textfeld 33">
            <a:extLst>
              <a:ext uri="{FF2B5EF4-FFF2-40B4-BE49-F238E27FC236}">
                <a16:creationId xmlns:a16="http://schemas.microsoft.com/office/drawing/2014/main" id="{9FBA5AE3-A58D-A40B-F287-684A8CDD524D}"/>
              </a:ext>
            </a:extLst>
          </p:cNvPr>
          <p:cNvSpPr txBox="1"/>
          <p:nvPr/>
        </p:nvSpPr>
        <p:spPr>
          <a:xfrm>
            <a:off x="5492604" y="6480544"/>
            <a:ext cx="2129836" cy="338554"/>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600" dirty="0" err="1">
                <a:ea typeface="Calibri"/>
                <a:cs typeface="Calibri"/>
              </a:rPr>
              <a:t>Έξοδος</a:t>
            </a:r>
            <a:r>
              <a:rPr lang="de-DE" sz="1600" dirty="0">
                <a:ea typeface="Calibri"/>
                <a:cs typeface="Calibri"/>
              </a:rPr>
              <a:t> </a:t>
            </a:r>
            <a:r>
              <a:rPr lang="de-DE" sz="1600" dirty="0" err="1">
                <a:ea typeface="Calibri"/>
                <a:cs typeface="Calibri"/>
              </a:rPr>
              <a:t>νερού</a:t>
            </a:r>
            <a:r>
              <a:rPr lang="de-DE" sz="1600" dirty="0">
                <a:ea typeface="Calibri"/>
                <a:cs typeface="Calibri"/>
              </a:rPr>
              <a:t> </a:t>
            </a:r>
            <a:r>
              <a:rPr lang="de-DE" sz="1600" dirty="0" err="1">
                <a:ea typeface="Calibri"/>
                <a:cs typeface="Calibri"/>
              </a:rPr>
              <a:t>ψύξης</a:t>
            </a:r>
          </a:p>
        </p:txBody>
      </p:sp>
      <p:sp>
        <p:nvSpPr>
          <p:cNvPr id="27" name="Textfeld 25">
            <a:extLst>
              <a:ext uri="{FF2B5EF4-FFF2-40B4-BE49-F238E27FC236}">
                <a16:creationId xmlns:a16="http://schemas.microsoft.com/office/drawing/2014/main" id="{59A66CF3-1B20-3D73-099F-8876399087B8}"/>
              </a:ext>
            </a:extLst>
          </p:cNvPr>
          <p:cNvSpPr txBox="1"/>
          <p:nvPr/>
        </p:nvSpPr>
        <p:spPr>
          <a:xfrm>
            <a:off x="0" y="6134332"/>
            <a:ext cx="1960155" cy="584775"/>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600" dirty="0" err="1">
                <a:ea typeface="Calibri"/>
                <a:cs typeface="Calibri"/>
              </a:rPr>
              <a:t>Διάρκει</a:t>
            </a:r>
            <a:r>
              <a:rPr lang="de-DE" sz="1600" dirty="0">
                <a:ea typeface="Calibri"/>
                <a:cs typeface="Calibri"/>
              </a:rPr>
              <a:t>α π</a:t>
            </a:r>
            <a:r>
              <a:rPr lang="de-DE" sz="1600" dirty="0" err="1">
                <a:ea typeface="Calibri"/>
                <a:cs typeface="Calibri"/>
              </a:rPr>
              <a:t>ροσομοίωσης</a:t>
            </a:r>
            <a:endParaRPr lang="de-DE" sz="1600" dirty="0">
              <a:ea typeface="Calibri"/>
              <a:cs typeface="Calibri"/>
            </a:endParaRPr>
          </a:p>
        </p:txBody>
      </p:sp>
      <p:sp>
        <p:nvSpPr>
          <p:cNvPr id="28" name="Textfeld 45">
            <a:extLst>
              <a:ext uri="{FF2B5EF4-FFF2-40B4-BE49-F238E27FC236}">
                <a16:creationId xmlns:a16="http://schemas.microsoft.com/office/drawing/2014/main" id="{EA9E3C0F-5567-9BC2-471A-875CD7A69E59}"/>
              </a:ext>
            </a:extLst>
          </p:cNvPr>
          <p:cNvSpPr txBox="1"/>
          <p:nvPr/>
        </p:nvSpPr>
        <p:spPr>
          <a:xfrm>
            <a:off x="5325322" y="4487762"/>
            <a:ext cx="1600159" cy="584775"/>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600" dirty="0" err="1">
                <a:ea typeface="Calibri"/>
                <a:cs typeface="Calibri"/>
              </a:rPr>
              <a:t>Αισθητήρ</a:t>
            </a:r>
            <a:r>
              <a:rPr lang="de-DE" sz="1600" dirty="0">
                <a:ea typeface="Calibri"/>
                <a:cs typeface="Calibri"/>
              </a:rPr>
              <a:t>ας </a:t>
            </a:r>
            <a:r>
              <a:rPr lang="de-DE" sz="1600" dirty="0" err="1">
                <a:ea typeface="Calibri"/>
                <a:cs typeface="Calibri"/>
              </a:rPr>
              <a:t>θερμοκρ</a:t>
            </a:r>
            <a:r>
              <a:rPr lang="de-DE" sz="1600" dirty="0">
                <a:ea typeface="Calibri"/>
                <a:cs typeface="Calibri"/>
              </a:rPr>
              <a:t>α</a:t>
            </a:r>
            <a:r>
              <a:rPr lang="de-DE" sz="1600" dirty="0" err="1">
                <a:ea typeface="Calibri"/>
                <a:cs typeface="Calibri"/>
              </a:rPr>
              <a:t>σί</a:t>
            </a:r>
            <a:r>
              <a:rPr lang="de-DE" sz="1600" dirty="0">
                <a:ea typeface="Calibri"/>
                <a:cs typeface="Calibri"/>
              </a:rPr>
              <a:t>ας</a:t>
            </a:r>
          </a:p>
        </p:txBody>
      </p:sp>
      <p:sp>
        <p:nvSpPr>
          <p:cNvPr id="29" name="Textfeld 35">
            <a:extLst>
              <a:ext uri="{FF2B5EF4-FFF2-40B4-BE49-F238E27FC236}">
                <a16:creationId xmlns:a16="http://schemas.microsoft.com/office/drawing/2014/main" id="{8BEBBBEB-CC93-8B87-B793-AC2494B1713B}"/>
              </a:ext>
            </a:extLst>
          </p:cNvPr>
          <p:cNvSpPr txBox="1"/>
          <p:nvPr/>
        </p:nvSpPr>
        <p:spPr>
          <a:xfrm>
            <a:off x="8275960" y="5898323"/>
            <a:ext cx="2129836" cy="338554"/>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600" dirty="0" err="1">
                <a:ea typeface="Calibri"/>
                <a:cs typeface="Calibri"/>
              </a:rPr>
              <a:t>Έξοδος</a:t>
            </a:r>
            <a:r>
              <a:rPr lang="de-DE" sz="1600" dirty="0">
                <a:ea typeface="Calibri"/>
                <a:cs typeface="Calibri"/>
              </a:rPr>
              <a:t> </a:t>
            </a:r>
            <a:r>
              <a:rPr lang="de-DE" sz="1600" dirty="0" err="1">
                <a:ea typeface="Calibri"/>
                <a:cs typeface="Calibri"/>
              </a:rPr>
              <a:t>γάλ</a:t>
            </a:r>
            <a:r>
              <a:rPr lang="de-DE" sz="1600" dirty="0">
                <a:ea typeface="Calibri"/>
                <a:cs typeface="Calibri"/>
              </a:rPr>
              <a:t>α</a:t>
            </a:r>
            <a:r>
              <a:rPr lang="de-DE" sz="1600" dirty="0" err="1">
                <a:ea typeface="Calibri"/>
                <a:cs typeface="Calibri"/>
              </a:rPr>
              <a:t>κτος</a:t>
            </a:r>
          </a:p>
        </p:txBody>
      </p:sp>
      <p:sp>
        <p:nvSpPr>
          <p:cNvPr id="30" name="Textfeld 37">
            <a:extLst>
              <a:ext uri="{FF2B5EF4-FFF2-40B4-BE49-F238E27FC236}">
                <a16:creationId xmlns:a16="http://schemas.microsoft.com/office/drawing/2014/main" id="{71AA6987-6C2D-909B-E055-5C40D1D567D5}"/>
              </a:ext>
            </a:extLst>
          </p:cNvPr>
          <p:cNvSpPr txBox="1"/>
          <p:nvPr/>
        </p:nvSpPr>
        <p:spPr>
          <a:xfrm>
            <a:off x="8010657" y="4872922"/>
            <a:ext cx="2429639" cy="338554"/>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600" dirty="0" err="1">
                <a:ea typeface="Calibri"/>
                <a:cs typeface="Calibri"/>
              </a:rPr>
              <a:t>Έξοδος</a:t>
            </a:r>
            <a:r>
              <a:rPr lang="de-DE" sz="1600" dirty="0">
                <a:ea typeface="Calibri"/>
                <a:cs typeface="Calibri"/>
              </a:rPr>
              <a:t> </a:t>
            </a:r>
            <a:r>
              <a:rPr lang="de-DE" sz="1600" dirty="0" err="1">
                <a:ea typeface="Calibri"/>
                <a:cs typeface="Calibri"/>
              </a:rPr>
              <a:t>νερού</a:t>
            </a:r>
            <a:r>
              <a:rPr lang="de-DE" sz="1600" dirty="0">
                <a:ea typeface="Calibri"/>
                <a:cs typeface="Calibri"/>
              </a:rPr>
              <a:t> </a:t>
            </a:r>
            <a:r>
              <a:rPr lang="de-DE" sz="1600" dirty="0" err="1">
                <a:ea typeface="Calibri"/>
                <a:cs typeface="Calibri"/>
              </a:rPr>
              <a:t>θέρμ</a:t>
            </a:r>
            <a:r>
              <a:rPr lang="de-DE" sz="1600" dirty="0">
                <a:ea typeface="Calibri"/>
                <a:cs typeface="Calibri"/>
              </a:rPr>
              <a:t>α</a:t>
            </a:r>
            <a:r>
              <a:rPr lang="de-DE" sz="1600" dirty="0" err="1">
                <a:ea typeface="Calibri"/>
                <a:cs typeface="Calibri"/>
              </a:rPr>
              <a:t>νσης</a:t>
            </a:r>
          </a:p>
        </p:txBody>
      </p:sp>
      <p:sp>
        <p:nvSpPr>
          <p:cNvPr id="31" name="Textfeld 41">
            <a:extLst>
              <a:ext uri="{FF2B5EF4-FFF2-40B4-BE49-F238E27FC236}">
                <a16:creationId xmlns:a16="http://schemas.microsoft.com/office/drawing/2014/main" id="{D7424606-9A94-AE72-2204-BAC7C069B5D8}"/>
              </a:ext>
            </a:extLst>
          </p:cNvPr>
          <p:cNvSpPr txBox="1"/>
          <p:nvPr/>
        </p:nvSpPr>
        <p:spPr>
          <a:xfrm>
            <a:off x="10883770" y="4710527"/>
            <a:ext cx="1305377" cy="338554"/>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600" dirty="0" err="1">
                <a:ea typeface="Calibri"/>
                <a:cs typeface="Calibri"/>
              </a:rPr>
              <a:t>Εικονική</a:t>
            </a:r>
            <a:r>
              <a:rPr lang="de-DE" sz="1600" dirty="0">
                <a:ea typeface="Calibri"/>
                <a:cs typeface="Calibri"/>
              </a:rPr>
              <a:t> </a:t>
            </a:r>
            <a:r>
              <a:rPr lang="de-DE" sz="1600" dirty="0" err="1">
                <a:ea typeface="Calibri"/>
                <a:cs typeface="Calibri"/>
              </a:rPr>
              <a:t>ροή</a:t>
            </a:r>
          </a:p>
        </p:txBody>
      </p:sp>
      <p:sp>
        <p:nvSpPr>
          <p:cNvPr id="32" name="Textfeld 19">
            <a:extLst>
              <a:ext uri="{FF2B5EF4-FFF2-40B4-BE49-F238E27FC236}">
                <a16:creationId xmlns:a16="http://schemas.microsoft.com/office/drawing/2014/main" id="{AC3F9CE3-04A6-D0E7-BD6C-EA8473C26B0B}"/>
              </a:ext>
            </a:extLst>
          </p:cNvPr>
          <p:cNvSpPr txBox="1"/>
          <p:nvPr/>
        </p:nvSpPr>
        <p:spPr>
          <a:xfrm>
            <a:off x="9665756" y="3852758"/>
            <a:ext cx="1575439" cy="584775"/>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600" dirty="0" err="1">
                <a:ea typeface="Calibri"/>
                <a:cs typeface="Calibri"/>
              </a:rPr>
              <a:t>Θάλ</a:t>
            </a:r>
            <a:r>
              <a:rPr lang="de-DE" sz="1600" dirty="0">
                <a:ea typeface="Calibri"/>
                <a:cs typeface="Calibri"/>
              </a:rPr>
              <a:t>αμος συγκράτησης</a:t>
            </a:r>
          </a:p>
        </p:txBody>
      </p:sp>
      <p:sp>
        <p:nvSpPr>
          <p:cNvPr id="33" name="Textfeld 29">
            <a:extLst>
              <a:ext uri="{FF2B5EF4-FFF2-40B4-BE49-F238E27FC236}">
                <a16:creationId xmlns:a16="http://schemas.microsoft.com/office/drawing/2014/main" id="{3D6B97C9-F201-1FAF-98EB-D5EFB200B701}"/>
              </a:ext>
            </a:extLst>
          </p:cNvPr>
          <p:cNvSpPr txBox="1"/>
          <p:nvPr/>
        </p:nvSpPr>
        <p:spPr>
          <a:xfrm>
            <a:off x="4725313" y="3186530"/>
            <a:ext cx="1979935" cy="338554"/>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600" dirty="0" err="1">
                <a:ea typeface="Calibri"/>
                <a:cs typeface="Calibri"/>
              </a:rPr>
              <a:t>Νερό</a:t>
            </a:r>
            <a:r>
              <a:rPr lang="de-DE" sz="1600" dirty="0">
                <a:ea typeface="Calibri"/>
                <a:cs typeface="Calibri"/>
              </a:rPr>
              <a:t> </a:t>
            </a:r>
            <a:r>
              <a:rPr lang="de-DE" sz="1600" dirty="0" err="1">
                <a:ea typeface="Calibri"/>
                <a:cs typeface="Calibri"/>
              </a:rPr>
              <a:t>θέρμ</a:t>
            </a:r>
            <a:r>
              <a:rPr lang="de-DE" sz="1600" dirty="0">
                <a:ea typeface="Calibri"/>
                <a:cs typeface="Calibri"/>
              </a:rPr>
              <a:t>α</a:t>
            </a:r>
            <a:r>
              <a:rPr lang="de-DE" sz="1600" dirty="0" err="1">
                <a:ea typeface="Calibri"/>
                <a:cs typeface="Calibri"/>
              </a:rPr>
              <a:t>νσης</a:t>
            </a:r>
          </a:p>
        </p:txBody>
      </p:sp>
      <p:sp>
        <p:nvSpPr>
          <p:cNvPr id="34" name="Textfeld 47">
            <a:extLst>
              <a:ext uri="{FF2B5EF4-FFF2-40B4-BE49-F238E27FC236}">
                <a16:creationId xmlns:a16="http://schemas.microsoft.com/office/drawing/2014/main" id="{B145AABB-27C1-98FF-0205-4BB41224B499}"/>
              </a:ext>
            </a:extLst>
          </p:cNvPr>
          <p:cNvSpPr txBox="1"/>
          <p:nvPr/>
        </p:nvSpPr>
        <p:spPr>
          <a:xfrm>
            <a:off x="4477751" y="2227469"/>
            <a:ext cx="2429637" cy="338554"/>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600" dirty="0" err="1">
                <a:ea typeface="Calibri"/>
                <a:cs typeface="Calibri"/>
              </a:rPr>
              <a:t>Ρυθμιστής</a:t>
            </a:r>
            <a:r>
              <a:rPr lang="de-DE" sz="1600" dirty="0">
                <a:ea typeface="Calibri"/>
                <a:cs typeface="Calibri"/>
              </a:rPr>
              <a:t> </a:t>
            </a:r>
            <a:r>
              <a:rPr lang="de-DE" sz="1600" dirty="0" err="1">
                <a:ea typeface="Calibri"/>
                <a:cs typeface="Calibri"/>
              </a:rPr>
              <a:t>θερμοκρ</a:t>
            </a:r>
            <a:r>
              <a:rPr lang="de-DE" sz="1600" dirty="0">
                <a:ea typeface="Calibri"/>
                <a:cs typeface="Calibri"/>
              </a:rPr>
              <a:t>α</a:t>
            </a:r>
            <a:r>
              <a:rPr lang="de-DE" sz="1600" dirty="0" err="1">
                <a:ea typeface="Calibri"/>
                <a:cs typeface="Calibri"/>
              </a:rPr>
              <a:t>σί</a:t>
            </a:r>
            <a:r>
              <a:rPr lang="de-DE" sz="1600" dirty="0">
                <a:ea typeface="Calibri"/>
                <a:cs typeface="Calibri"/>
              </a:rPr>
              <a:t>ας</a:t>
            </a:r>
          </a:p>
        </p:txBody>
      </p:sp>
      <p:sp>
        <p:nvSpPr>
          <p:cNvPr id="35" name="Textfeld 43">
            <a:extLst>
              <a:ext uri="{FF2B5EF4-FFF2-40B4-BE49-F238E27FC236}">
                <a16:creationId xmlns:a16="http://schemas.microsoft.com/office/drawing/2014/main" id="{020860AF-48D4-0372-EBA1-60BF76AEDF90}"/>
              </a:ext>
            </a:extLst>
          </p:cNvPr>
          <p:cNvSpPr txBox="1"/>
          <p:nvPr/>
        </p:nvSpPr>
        <p:spPr>
          <a:xfrm>
            <a:off x="8010657" y="2429346"/>
            <a:ext cx="2147677" cy="584775"/>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600" dirty="0" err="1">
                <a:ea typeface="Calibri"/>
                <a:cs typeface="Calibri"/>
              </a:rPr>
              <a:t>Αισθητήρ</a:t>
            </a:r>
            <a:r>
              <a:rPr lang="de-DE" sz="1600" dirty="0">
                <a:ea typeface="Calibri"/>
                <a:cs typeface="Calibri"/>
              </a:rPr>
              <a:t>ας </a:t>
            </a:r>
            <a:r>
              <a:rPr lang="de-DE" sz="1600" dirty="0" err="1">
                <a:ea typeface="Calibri"/>
                <a:cs typeface="Calibri"/>
              </a:rPr>
              <a:t>θερμοκρ</a:t>
            </a:r>
            <a:r>
              <a:rPr lang="de-DE" sz="1600" dirty="0">
                <a:ea typeface="Calibri"/>
                <a:cs typeface="Calibri"/>
              </a:rPr>
              <a:t>α</a:t>
            </a:r>
            <a:r>
              <a:rPr lang="de-DE" sz="1600" dirty="0" err="1">
                <a:ea typeface="Calibri"/>
                <a:cs typeface="Calibri"/>
              </a:rPr>
              <a:t>σί</a:t>
            </a:r>
            <a:r>
              <a:rPr lang="de-DE" sz="1600" dirty="0">
                <a:ea typeface="Calibri"/>
                <a:cs typeface="Calibri"/>
              </a:rPr>
              <a:t>ας</a:t>
            </a:r>
          </a:p>
        </p:txBody>
      </p:sp>
      <p:sp>
        <p:nvSpPr>
          <p:cNvPr id="36" name="Textfeld 39">
            <a:extLst>
              <a:ext uri="{FF2B5EF4-FFF2-40B4-BE49-F238E27FC236}">
                <a16:creationId xmlns:a16="http://schemas.microsoft.com/office/drawing/2014/main" id="{B515FA61-975B-63E0-4773-949C477E5950}"/>
              </a:ext>
            </a:extLst>
          </p:cNvPr>
          <p:cNvSpPr txBox="1"/>
          <p:nvPr/>
        </p:nvSpPr>
        <p:spPr>
          <a:xfrm>
            <a:off x="9405491" y="2048457"/>
            <a:ext cx="1305377" cy="338554"/>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600" dirty="0" err="1">
                <a:ea typeface="Calibri"/>
                <a:cs typeface="Calibri"/>
              </a:rPr>
              <a:t>Εικονική</a:t>
            </a:r>
            <a:r>
              <a:rPr lang="de-DE" sz="1600" dirty="0">
                <a:ea typeface="Calibri"/>
                <a:cs typeface="Calibri"/>
              </a:rPr>
              <a:t> </a:t>
            </a:r>
            <a:r>
              <a:rPr lang="de-DE" sz="1600" dirty="0" err="1">
                <a:ea typeface="Calibri"/>
                <a:cs typeface="Calibri"/>
              </a:rPr>
              <a:t>ροή</a:t>
            </a:r>
          </a:p>
        </p:txBody>
      </p:sp>
      <p:sp>
        <p:nvSpPr>
          <p:cNvPr id="37" name="Textfeld 17">
            <a:extLst>
              <a:ext uri="{FF2B5EF4-FFF2-40B4-BE49-F238E27FC236}">
                <a16:creationId xmlns:a16="http://schemas.microsoft.com/office/drawing/2014/main" id="{5F41FE6E-9992-8E1D-987F-98FAD9793A71}"/>
              </a:ext>
            </a:extLst>
          </p:cNvPr>
          <p:cNvSpPr txBox="1"/>
          <p:nvPr/>
        </p:nvSpPr>
        <p:spPr>
          <a:xfrm>
            <a:off x="7159432" y="3757881"/>
            <a:ext cx="1720581" cy="338554"/>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600" dirty="0" err="1">
                <a:ea typeface="Calibri"/>
                <a:cs typeface="Calibri"/>
              </a:rPr>
              <a:t>Προθερμ</a:t>
            </a:r>
            <a:r>
              <a:rPr lang="de-DE" sz="1600" dirty="0">
                <a:ea typeface="Calibri"/>
                <a:cs typeface="Calibri"/>
              </a:rPr>
              <a:t>α</a:t>
            </a:r>
            <a:r>
              <a:rPr lang="de-DE" sz="1600" dirty="0" err="1">
                <a:ea typeface="Calibri"/>
                <a:cs typeface="Calibri"/>
              </a:rPr>
              <a:t>ντήρ</a:t>
            </a:r>
            <a:r>
              <a:rPr lang="de-DE" sz="1600" dirty="0">
                <a:ea typeface="Calibri"/>
                <a:cs typeface="Calibri"/>
              </a:rPr>
              <a:t>ας</a:t>
            </a:r>
          </a:p>
        </p:txBody>
      </p:sp>
    </p:spTree>
    <p:extLst>
      <p:ext uri="{BB962C8B-B14F-4D97-AF65-F5344CB8AC3E}">
        <p14:creationId xmlns:p14="http://schemas.microsoft.com/office/powerpoint/2010/main" val="16059294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F05FB-6CCE-6996-BBF1-0E9DAD453C8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FE16E81-94DB-D1BE-4089-DE58B0C84F8F}"/>
              </a:ext>
            </a:extLst>
          </p:cNvPr>
          <p:cNvSpPr txBox="1"/>
          <p:nvPr/>
        </p:nvSpPr>
        <p:spPr>
          <a:xfrm>
            <a:off x="7489996" y="3981645"/>
            <a:ext cx="4176876"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dirty="0" err="1">
                <a:ea typeface="Calibri"/>
                <a:cs typeface="Calibri"/>
              </a:rPr>
              <a:t>Εικόν</a:t>
            </a:r>
            <a:r>
              <a:rPr lang="en-US" sz="2000" dirty="0">
                <a:ea typeface="Calibri"/>
                <a:cs typeface="Calibri"/>
              </a:rPr>
              <a:t>α </a:t>
            </a:r>
            <a:r>
              <a:rPr lang="el-GR" sz="2000" dirty="0">
                <a:ea typeface="Calibri"/>
                <a:cs typeface="Calibri"/>
              </a:rPr>
              <a:t>3</a:t>
            </a:r>
            <a:r>
              <a:rPr lang="en-US" sz="2000" dirty="0">
                <a:ea typeface="Calibri"/>
                <a:cs typeface="Calibri"/>
              </a:rPr>
              <a:t>: </a:t>
            </a:r>
            <a:r>
              <a:rPr lang="en-US" sz="2000" dirty="0">
                <a:latin typeface="Calibri"/>
                <a:ea typeface="Calibri"/>
                <a:cs typeface="Calibri"/>
              </a:rPr>
              <a:t>Συγκέντρωση πρωτεϊνών ορού γάλακτος ως προς τον χρόνο παραμονής στο τμήμα παστερίωσης</a:t>
            </a:r>
            <a:endParaRPr lang="en-US" sz="2000" dirty="0">
              <a:latin typeface="Arial"/>
              <a:ea typeface="Calibri"/>
              <a:cs typeface="Arial"/>
            </a:endParaRPr>
          </a:p>
        </p:txBody>
      </p:sp>
      <p:sp>
        <p:nvSpPr>
          <p:cNvPr id="8" name="TextBox 5">
            <a:extLst>
              <a:ext uri="{FF2B5EF4-FFF2-40B4-BE49-F238E27FC236}">
                <a16:creationId xmlns:a16="http://schemas.microsoft.com/office/drawing/2014/main" id="{E2181C27-7838-6545-8DA2-9097F48ADD4B}"/>
              </a:ext>
            </a:extLst>
          </p:cNvPr>
          <p:cNvSpPr txBox="1"/>
          <p:nvPr/>
        </p:nvSpPr>
        <p:spPr>
          <a:xfrm>
            <a:off x="7489994" y="1455563"/>
            <a:ext cx="4176876"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dirty="0" err="1">
                <a:ea typeface="Calibri"/>
                <a:cs typeface="Calibri"/>
              </a:rPr>
              <a:t>Εικόν</a:t>
            </a:r>
            <a:r>
              <a:rPr lang="en-US" sz="2000" dirty="0">
                <a:ea typeface="Calibri"/>
                <a:cs typeface="Calibri"/>
              </a:rPr>
              <a:t>α </a:t>
            </a:r>
            <a:r>
              <a:rPr lang="el-GR" sz="2000" dirty="0">
                <a:ea typeface="Calibri"/>
                <a:cs typeface="Calibri"/>
              </a:rPr>
              <a:t>2</a:t>
            </a:r>
            <a:r>
              <a:rPr lang="en-US" sz="2000" dirty="0">
                <a:ea typeface="Calibri"/>
                <a:cs typeface="Calibri"/>
              </a:rPr>
              <a:t>: </a:t>
            </a:r>
            <a:r>
              <a:rPr lang="en-US" sz="2000" dirty="0" err="1">
                <a:latin typeface="Calibri"/>
                <a:ea typeface="Calibri"/>
                <a:cs typeface="Calibri"/>
              </a:rPr>
              <a:t>Συγκέντρωση</a:t>
            </a:r>
            <a:r>
              <a:rPr lang="en-US" sz="2000" dirty="0">
                <a:latin typeface="Calibri"/>
                <a:ea typeface="Calibri"/>
                <a:cs typeface="Calibri"/>
              </a:rPr>
              <a:t> </a:t>
            </a:r>
            <a:r>
              <a:rPr lang="en-US" sz="2000" dirty="0" err="1">
                <a:latin typeface="Calibri"/>
                <a:ea typeface="Calibri"/>
                <a:cs typeface="Calibri"/>
              </a:rPr>
              <a:t>φωσφ</a:t>
            </a:r>
            <a:r>
              <a:rPr lang="en-US" sz="2000" dirty="0">
                <a:latin typeface="Calibri"/>
                <a:ea typeface="Calibri"/>
                <a:cs typeface="Calibri"/>
              </a:rPr>
              <a:t>ατάσης ως προς τον χρόνο παραμονής στο τμήμα παστερίωσης</a:t>
            </a:r>
            <a:endParaRPr lang="en-US" sz="2000" dirty="0">
              <a:latin typeface="Arial"/>
              <a:ea typeface="Calibri"/>
              <a:cs typeface="Arial"/>
            </a:endParaRPr>
          </a:p>
        </p:txBody>
      </p:sp>
      <p:sp>
        <p:nvSpPr>
          <p:cNvPr id="13" name="Title 1">
            <a:extLst>
              <a:ext uri="{FF2B5EF4-FFF2-40B4-BE49-F238E27FC236}">
                <a16:creationId xmlns:a16="http://schemas.microsoft.com/office/drawing/2014/main" id="{CDE0081F-EAD1-B8B5-591A-D99AFC7A1FB7}"/>
              </a:ext>
            </a:extLst>
          </p:cNvPr>
          <p:cNvSpPr txBox="1">
            <a:spLocks/>
          </p:cNvSpPr>
          <p:nvPr/>
        </p:nvSpPr>
        <p:spPr>
          <a:xfrm>
            <a:off x="103898" y="138893"/>
            <a:ext cx="12474090" cy="6868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dirty="0">
                <a:ea typeface="Calibri Light"/>
                <a:cs typeface="Calibri Light"/>
              </a:rPr>
              <a:t>4.1.</a:t>
            </a:r>
            <a:r>
              <a:rPr lang="el-GR" sz="3100" dirty="0">
                <a:ea typeface="Calibri Light"/>
                <a:cs typeface="Calibri Light"/>
              </a:rPr>
              <a:t>2</a:t>
            </a:r>
            <a:r>
              <a:rPr lang="en-US" sz="3100" dirty="0">
                <a:ea typeface="Calibri Light"/>
                <a:cs typeface="Calibri Light"/>
              </a:rPr>
              <a:t> </a:t>
            </a:r>
            <a:r>
              <a:rPr lang="en-US" sz="3100" dirty="0" err="1">
                <a:ea typeface="Calibri Light"/>
                <a:cs typeface="Calibri Light"/>
              </a:rPr>
              <a:t>Μοντέλο</a:t>
            </a:r>
            <a:r>
              <a:rPr lang="en-US" sz="3100" dirty="0">
                <a:ea typeface="Calibri Light"/>
                <a:cs typeface="Calibri Light"/>
              </a:rPr>
              <a:t> Πα</a:t>
            </a:r>
            <a:r>
              <a:rPr lang="en-US" sz="3100" dirty="0" err="1">
                <a:ea typeface="Calibri Light"/>
                <a:cs typeface="Calibri Light"/>
              </a:rPr>
              <a:t>στερίωσης</a:t>
            </a:r>
            <a:r>
              <a:rPr lang="en-US" sz="3100" dirty="0">
                <a:ea typeface="Calibri Light"/>
                <a:cs typeface="Calibri Light"/>
              </a:rPr>
              <a:t>-Απ</a:t>
            </a:r>
            <a:r>
              <a:rPr lang="en-US" sz="3100" dirty="0" err="1">
                <a:ea typeface="Calibri Light"/>
                <a:cs typeface="Calibri Light"/>
              </a:rPr>
              <a:t>οτελέσμ</a:t>
            </a:r>
            <a:r>
              <a:rPr lang="en-US" sz="3100" dirty="0">
                <a:ea typeface="Calibri Light"/>
                <a:cs typeface="Calibri Light"/>
              </a:rPr>
              <a:t>ατα Προσομοίωσης (2/2)</a:t>
            </a:r>
          </a:p>
        </p:txBody>
      </p:sp>
      <p:sp>
        <p:nvSpPr>
          <p:cNvPr id="2" name="Foliennummernplatzhalter 1">
            <a:extLst>
              <a:ext uri="{FF2B5EF4-FFF2-40B4-BE49-F238E27FC236}">
                <a16:creationId xmlns:a16="http://schemas.microsoft.com/office/drawing/2014/main" id="{DE682FB2-4FD5-57FE-88AA-01C8B3BEBE2C}"/>
              </a:ext>
            </a:extLst>
          </p:cNvPr>
          <p:cNvSpPr>
            <a:spLocks noGrp="1"/>
          </p:cNvSpPr>
          <p:nvPr>
            <p:ph type="sldNum" sz="quarter" idx="12"/>
          </p:nvPr>
        </p:nvSpPr>
        <p:spPr/>
        <p:txBody>
          <a:bodyPr/>
          <a:lstStyle/>
          <a:p>
            <a:fld id="{48F63A3B-78C7-47BE-AE5E-E10140E04643}" type="slidenum">
              <a:rPr lang="en-US" smtClean="0"/>
              <a:t>9</a:t>
            </a:fld>
            <a:r>
              <a:rPr lang="en-US" dirty="0"/>
              <a:t>/</a:t>
            </a:r>
            <a:r>
              <a:rPr lang="el-GR" dirty="0"/>
              <a:t>2</a:t>
            </a:r>
            <a:r>
              <a:rPr lang="en-US" dirty="0"/>
              <a:t>2</a:t>
            </a:r>
            <a:endParaRPr lang="de-DE" dirty="0"/>
          </a:p>
        </p:txBody>
      </p:sp>
      <p:sp>
        <p:nvSpPr>
          <p:cNvPr id="3" name="Rechteck 2">
            <a:extLst>
              <a:ext uri="{FF2B5EF4-FFF2-40B4-BE49-F238E27FC236}">
                <a16:creationId xmlns:a16="http://schemas.microsoft.com/office/drawing/2014/main" id="{BC6384F5-436B-7B5B-C7F3-C5BC76598AC2}"/>
              </a:ext>
            </a:extLst>
          </p:cNvPr>
          <p:cNvSpPr/>
          <p:nvPr/>
        </p:nvSpPr>
        <p:spPr>
          <a:xfrm>
            <a:off x="118782" y="732916"/>
            <a:ext cx="6942860" cy="5777612"/>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2" name="Εικόνα 11">
            <a:extLst>
              <a:ext uri="{FF2B5EF4-FFF2-40B4-BE49-F238E27FC236}">
                <a16:creationId xmlns:a16="http://schemas.microsoft.com/office/drawing/2014/main" id="{8DFAEDB4-786F-2EB4-D2C9-6279DB44294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4124" y="825721"/>
            <a:ext cx="5104602" cy="2980496"/>
          </a:xfrm>
          <a:prstGeom prst="rect">
            <a:avLst/>
          </a:prstGeom>
        </p:spPr>
      </p:pic>
      <p:pic>
        <p:nvPicPr>
          <p:cNvPr id="4" name="Εικόνα 3">
            <a:extLst>
              <a:ext uri="{FF2B5EF4-FFF2-40B4-BE49-F238E27FC236}">
                <a16:creationId xmlns:a16="http://schemas.microsoft.com/office/drawing/2014/main" id="{53596000-412B-3392-0F3D-CD891E4839D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71967" y="3429000"/>
            <a:ext cx="5048916" cy="2927350"/>
          </a:xfrm>
          <a:prstGeom prst="rect">
            <a:avLst/>
          </a:prstGeom>
        </p:spPr>
      </p:pic>
      <p:sp>
        <p:nvSpPr>
          <p:cNvPr id="14" name="Rechteck 2">
            <a:extLst>
              <a:ext uri="{FF2B5EF4-FFF2-40B4-BE49-F238E27FC236}">
                <a16:creationId xmlns:a16="http://schemas.microsoft.com/office/drawing/2014/main" id="{CBCDBA55-753C-C8F2-8C68-716962B31942}"/>
              </a:ext>
            </a:extLst>
          </p:cNvPr>
          <p:cNvSpPr/>
          <p:nvPr/>
        </p:nvSpPr>
        <p:spPr>
          <a:xfrm>
            <a:off x="5594710" y="3435645"/>
            <a:ext cx="712131" cy="285116"/>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6" name="Textfeld 23">
            <a:extLst>
              <a:ext uri="{FF2B5EF4-FFF2-40B4-BE49-F238E27FC236}">
                <a16:creationId xmlns:a16="http://schemas.microsoft.com/office/drawing/2014/main" id="{95756852-B004-A2AF-404C-1DB1D8823847}"/>
              </a:ext>
            </a:extLst>
          </p:cNvPr>
          <p:cNvSpPr txBox="1"/>
          <p:nvPr/>
        </p:nvSpPr>
        <p:spPr>
          <a:xfrm>
            <a:off x="1307702" y="6177541"/>
            <a:ext cx="4667217" cy="307777"/>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l-GR" sz="1400" dirty="0">
                <a:ea typeface="Calibri"/>
                <a:cs typeface="Calibri"/>
              </a:rPr>
              <a:t>Χρόνος παραμονής γάλακτος στο τμήμα παστερίωσης (</a:t>
            </a:r>
            <a:r>
              <a:rPr lang="en-US" sz="1400" dirty="0">
                <a:ea typeface="Calibri"/>
                <a:cs typeface="Calibri"/>
              </a:rPr>
              <a:t>s)</a:t>
            </a:r>
            <a:endParaRPr lang="de-DE" sz="1400" dirty="0">
              <a:ea typeface="Calibri"/>
              <a:cs typeface="Calibri"/>
            </a:endParaRPr>
          </a:p>
        </p:txBody>
      </p:sp>
      <p:sp>
        <p:nvSpPr>
          <p:cNvPr id="37" name="Textfeld 23">
            <a:extLst>
              <a:ext uri="{FF2B5EF4-FFF2-40B4-BE49-F238E27FC236}">
                <a16:creationId xmlns:a16="http://schemas.microsoft.com/office/drawing/2014/main" id="{92ECC644-5004-DB93-D22F-5073FE9EB0C9}"/>
              </a:ext>
            </a:extLst>
          </p:cNvPr>
          <p:cNvSpPr txBox="1"/>
          <p:nvPr/>
        </p:nvSpPr>
        <p:spPr>
          <a:xfrm rot="16200000">
            <a:off x="-824318" y="4380733"/>
            <a:ext cx="2980496" cy="523220"/>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l-GR" sz="1400" dirty="0">
                <a:ea typeface="Calibri"/>
                <a:cs typeface="Calibri"/>
              </a:rPr>
              <a:t>Κλάσμα μάζας πρωτεΐνης ορού γάλακτος (</a:t>
            </a:r>
            <a:r>
              <a:rPr lang="en-US" sz="1400" dirty="0">
                <a:ea typeface="Calibri"/>
                <a:cs typeface="Calibri"/>
              </a:rPr>
              <a:t>kg/kg)</a:t>
            </a:r>
            <a:endParaRPr lang="de-DE" sz="1400" dirty="0">
              <a:ea typeface="Calibri"/>
              <a:cs typeface="Calibri"/>
            </a:endParaRPr>
          </a:p>
        </p:txBody>
      </p:sp>
      <p:sp>
        <p:nvSpPr>
          <p:cNvPr id="38" name="Textfeld 23">
            <a:extLst>
              <a:ext uri="{FF2B5EF4-FFF2-40B4-BE49-F238E27FC236}">
                <a16:creationId xmlns:a16="http://schemas.microsoft.com/office/drawing/2014/main" id="{5A1BBE95-F87F-0326-8973-6EA3E69F7EB7}"/>
              </a:ext>
            </a:extLst>
          </p:cNvPr>
          <p:cNvSpPr txBox="1"/>
          <p:nvPr/>
        </p:nvSpPr>
        <p:spPr>
          <a:xfrm rot="16200000">
            <a:off x="-375615" y="1749773"/>
            <a:ext cx="2324710" cy="523220"/>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l-GR" sz="1400" dirty="0">
                <a:ea typeface="Calibri"/>
                <a:cs typeface="Calibri"/>
              </a:rPr>
              <a:t>Συγκέντρωση </a:t>
            </a:r>
            <a:r>
              <a:rPr lang="el-GR" sz="1400" dirty="0" err="1">
                <a:ea typeface="Calibri"/>
                <a:cs typeface="Calibri"/>
              </a:rPr>
              <a:t>φωσφατάσης</a:t>
            </a:r>
            <a:r>
              <a:rPr lang="el-GR" sz="1400" dirty="0">
                <a:ea typeface="Calibri"/>
                <a:cs typeface="Calibri"/>
              </a:rPr>
              <a:t> (</a:t>
            </a:r>
            <a:r>
              <a:rPr lang="en-US" sz="1400" dirty="0">
                <a:ea typeface="Calibri"/>
                <a:cs typeface="Calibri"/>
              </a:rPr>
              <a:t>units/mL)</a:t>
            </a:r>
            <a:endParaRPr lang="de-DE" sz="1400" dirty="0">
              <a:ea typeface="Calibri"/>
              <a:cs typeface="Calibri"/>
            </a:endParaRPr>
          </a:p>
        </p:txBody>
      </p:sp>
    </p:spTree>
    <p:extLst>
      <p:ext uri="{BB962C8B-B14F-4D97-AF65-F5344CB8AC3E}">
        <p14:creationId xmlns:p14="http://schemas.microsoft.com/office/powerpoint/2010/main" val="31300707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5B803-3E7E-5534-D315-A4B96C0C4757}"/>
            </a:ext>
          </a:extLst>
        </p:cNvPr>
        <p:cNvGrpSpPr/>
        <p:nvPr/>
      </p:nvGrpSpPr>
      <p:grpSpPr>
        <a:xfrm>
          <a:off x="0" y="0"/>
          <a:ext cx="0" cy="0"/>
          <a:chOff x="0" y="0"/>
          <a:chExt cx="0" cy="0"/>
        </a:xfrm>
      </p:grpSpPr>
      <p:grpSp>
        <p:nvGrpSpPr>
          <p:cNvPr id="8" name="Gruppieren 7">
            <a:extLst>
              <a:ext uri="{FF2B5EF4-FFF2-40B4-BE49-F238E27FC236}">
                <a16:creationId xmlns:a16="http://schemas.microsoft.com/office/drawing/2014/main" id="{86A43091-74B0-83E8-D488-E8F3BE99A55F}"/>
              </a:ext>
            </a:extLst>
          </p:cNvPr>
          <p:cNvGrpSpPr/>
          <p:nvPr/>
        </p:nvGrpSpPr>
        <p:grpSpPr>
          <a:xfrm>
            <a:off x="6653163" y="2251584"/>
            <a:ext cx="3799220" cy="3329011"/>
            <a:chOff x="5420516" y="1187025"/>
            <a:chExt cx="3799220" cy="3329011"/>
          </a:xfrm>
        </p:grpSpPr>
        <p:sp>
          <p:nvSpPr>
            <p:cNvPr id="6" name="Rechteck 5">
              <a:extLst>
                <a:ext uri="{FF2B5EF4-FFF2-40B4-BE49-F238E27FC236}">
                  <a16:creationId xmlns:a16="http://schemas.microsoft.com/office/drawing/2014/main" id="{528A6BC7-1D00-3A69-01FC-27136725A0C3}"/>
                </a:ext>
              </a:extLst>
            </p:cNvPr>
            <p:cNvSpPr/>
            <p:nvPr/>
          </p:nvSpPr>
          <p:spPr>
            <a:xfrm>
              <a:off x="5420516" y="1187025"/>
              <a:ext cx="3799220" cy="3329011"/>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8" name="Grafik 17" descr="Ein Bild, das Text, Schrift, Screenshot, Zahl enthält.&#10;&#10;KI-generierte Inhalte können fehlerhaft sein.">
              <a:extLst>
                <a:ext uri="{FF2B5EF4-FFF2-40B4-BE49-F238E27FC236}">
                  <a16:creationId xmlns:a16="http://schemas.microsoft.com/office/drawing/2014/main" id="{0FE9C2E9-968B-E201-AE04-FEC9F4CC0274}"/>
                </a:ext>
              </a:extLst>
            </p:cNvPr>
            <p:cNvPicPr>
              <a:picLocks noChangeAspect="1"/>
            </p:cNvPicPr>
            <p:nvPr/>
          </p:nvPicPr>
          <p:blipFill>
            <a:blip r:embed="rId3"/>
            <a:srcRect l="2786" t="2281" r="5573" b="1141"/>
            <a:stretch>
              <a:fillRect/>
            </a:stretch>
          </p:blipFill>
          <p:spPr>
            <a:xfrm>
              <a:off x="5682127" y="1425726"/>
              <a:ext cx="3325677" cy="2851710"/>
            </a:xfrm>
            <a:prstGeom prst="rect">
              <a:avLst/>
            </a:prstGeom>
          </p:spPr>
        </p:pic>
      </p:grpSp>
      <p:grpSp>
        <p:nvGrpSpPr>
          <p:cNvPr id="7" name="Gruppieren 6">
            <a:extLst>
              <a:ext uri="{FF2B5EF4-FFF2-40B4-BE49-F238E27FC236}">
                <a16:creationId xmlns:a16="http://schemas.microsoft.com/office/drawing/2014/main" id="{AA948144-9F8A-3A38-054D-2A5DE6EA9E1E}"/>
              </a:ext>
            </a:extLst>
          </p:cNvPr>
          <p:cNvGrpSpPr/>
          <p:nvPr/>
        </p:nvGrpSpPr>
        <p:grpSpPr>
          <a:xfrm>
            <a:off x="1666546" y="2386054"/>
            <a:ext cx="3541486" cy="3071277"/>
            <a:chOff x="478722" y="2509319"/>
            <a:chExt cx="3541486" cy="3071277"/>
          </a:xfrm>
        </p:grpSpPr>
        <p:sp>
          <p:nvSpPr>
            <p:cNvPr id="5" name="Rechteck 4">
              <a:extLst>
                <a:ext uri="{FF2B5EF4-FFF2-40B4-BE49-F238E27FC236}">
                  <a16:creationId xmlns:a16="http://schemas.microsoft.com/office/drawing/2014/main" id="{A5F063E0-7C62-1496-8A6C-43926DD5F924}"/>
                </a:ext>
              </a:extLst>
            </p:cNvPr>
            <p:cNvSpPr/>
            <p:nvPr/>
          </p:nvSpPr>
          <p:spPr>
            <a:xfrm>
              <a:off x="478722" y="2509319"/>
              <a:ext cx="3541486" cy="3071277"/>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7" name="Grafik 16" descr="Ein Bild, das Text, Schrift, Handschrift, Screenshot enthält.&#10;&#10;KI-generierte Inhalte können fehlerhaft sein.">
              <a:extLst>
                <a:ext uri="{FF2B5EF4-FFF2-40B4-BE49-F238E27FC236}">
                  <a16:creationId xmlns:a16="http://schemas.microsoft.com/office/drawing/2014/main" id="{EDD1AEB4-19C5-5168-AB8E-94D0CEEFBB54}"/>
                </a:ext>
              </a:extLst>
            </p:cNvPr>
            <p:cNvPicPr>
              <a:picLocks noChangeAspect="1"/>
            </p:cNvPicPr>
            <p:nvPr/>
          </p:nvPicPr>
          <p:blipFill>
            <a:blip r:embed="rId4"/>
            <a:srcRect l="1105" t="3950" r="40055"/>
            <a:stretch>
              <a:fillRect/>
            </a:stretch>
          </p:blipFill>
          <p:spPr>
            <a:xfrm>
              <a:off x="660817" y="2805462"/>
              <a:ext cx="2381914" cy="2561667"/>
            </a:xfrm>
            <a:prstGeom prst="rect">
              <a:avLst/>
            </a:prstGeom>
          </p:spPr>
        </p:pic>
        <p:pic>
          <p:nvPicPr>
            <p:cNvPr id="2" name="Grafik 1" descr="Ein Bild, das Text, Schrift, Handschrift, Screenshot enthält.&#10;&#10;KI-generierte Inhalte können fehlerhaft sein.">
              <a:extLst>
                <a:ext uri="{FF2B5EF4-FFF2-40B4-BE49-F238E27FC236}">
                  <a16:creationId xmlns:a16="http://schemas.microsoft.com/office/drawing/2014/main" id="{23CB76F3-5C87-058A-B676-0309E8DA3BC2}"/>
                </a:ext>
              </a:extLst>
            </p:cNvPr>
            <p:cNvPicPr>
              <a:picLocks noChangeAspect="1"/>
            </p:cNvPicPr>
            <p:nvPr/>
          </p:nvPicPr>
          <p:blipFill>
            <a:blip r:embed="rId4"/>
            <a:srcRect l="83978" t="578" r="829" b="4110"/>
            <a:stretch>
              <a:fillRect/>
            </a:stretch>
          </p:blipFill>
          <p:spPr>
            <a:xfrm>
              <a:off x="3204552" y="2681921"/>
              <a:ext cx="615048" cy="2541991"/>
            </a:xfrm>
            <a:prstGeom prst="rect">
              <a:avLst/>
            </a:prstGeom>
          </p:spPr>
        </p:pic>
      </p:grpSp>
      <p:sp>
        <p:nvSpPr>
          <p:cNvPr id="3" name="Foliennummernplatzhalter 2">
            <a:extLst>
              <a:ext uri="{FF2B5EF4-FFF2-40B4-BE49-F238E27FC236}">
                <a16:creationId xmlns:a16="http://schemas.microsoft.com/office/drawing/2014/main" id="{AE39AEE8-2A9A-950B-F1D5-53F51C7750F3}"/>
              </a:ext>
            </a:extLst>
          </p:cNvPr>
          <p:cNvSpPr>
            <a:spLocks noGrp="1"/>
          </p:cNvSpPr>
          <p:nvPr>
            <p:ph type="sldNum" sz="quarter" idx="12"/>
          </p:nvPr>
        </p:nvSpPr>
        <p:spPr/>
        <p:txBody>
          <a:bodyPr/>
          <a:lstStyle/>
          <a:p>
            <a:fld id="{48F63A3B-78C7-47BE-AE5E-E10140E04643}" type="slidenum">
              <a:rPr lang="en-US" smtClean="0"/>
              <a:t>10</a:t>
            </a:fld>
            <a:r>
              <a:rPr lang="en-US" dirty="0"/>
              <a:t>/</a:t>
            </a:r>
            <a:r>
              <a:rPr lang="el-GR" dirty="0"/>
              <a:t>2</a:t>
            </a:r>
            <a:r>
              <a:rPr lang="en-US" dirty="0"/>
              <a:t>2</a:t>
            </a:r>
            <a:endParaRPr lang="de-DE" dirty="0"/>
          </a:p>
        </p:txBody>
      </p:sp>
      <p:sp>
        <p:nvSpPr>
          <p:cNvPr id="10" name="Title 1">
            <a:extLst>
              <a:ext uri="{FF2B5EF4-FFF2-40B4-BE49-F238E27FC236}">
                <a16:creationId xmlns:a16="http://schemas.microsoft.com/office/drawing/2014/main" id="{E367A8F2-A24A-93C9-DEE7-5BB21EB672A8}"/>
              </a:ext>
            </a:extLst>
          </p:cNvPr>
          <p:cNvSpPr txBox="1">
            <a:spLocks/>
          </p:cNvSpPr>
          <p:nvPr/>
        </p:nvSpPr>
        <p:spPr>
          <a:xfrm>
            <a:off x="193377" y="348"/>
            <a:ext cx="11801015" cy="122946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dirty="0">
                <a:ea typeface="Calibri Light"/>
                <a:cs typeface="Calibri Light"/>
              </a:rPr>
              <a:t>4.2.1 Βα</a:t>
            </a:r>
            <a:r>
              <a:rPr lang="en-US" sz="3100" dirty="0" err="1">
                <a:ea typeface="Calibri Light"/>
                <a:cs typeface="Calibri Light"/>
              </a:rPr>
              <a:t>σικές</a:t>
            </a:r>
            <a:r>
              <a:rPr lang="en-US" sz="3100" dirty="0">
                <a:ea typeface="Calibri Light"/>
                <a:cs typeface="Calibri Light"/>
              </a:rPr>
              <a:t> </a:t>
            </a:r>
            <a:r>
              <a:rPr lang="en-US" sz="3100" dirty="0" err="1">
                <a:ea typeface="Calibri Light"/>
                <a:cs typeface="Calibri Light"/>
              </a:rPr>
              <a:t>Εξισώσεις</a:t>
            </a:r>
            <a:r>
              <a:rPr lang="en-US" sz="3100" dirty="0">
                <a:ea typeface="Calibri Light"/>
                <a:cs typeface="Calibri Light"/>
              </a:rPr>
              <a:t> </a:t>
            </a:r>
            <a:r>
              <a:rPr lang="en-US" sz="3100" dirty="0" err="1">
                <a:ea typeface="Calibri Light"/>
                <a:cs typeface="Calibri Light"/>
              </a:rPr>
              <a:t>του</a:t>
            </a:r>
            <a:r>
              <a:rPr lang="en-US" sz="3100" dirty="0">
                <a:ea typeface="Calibri Light"/>
                <a:cs typeface="Calibri Light"/>
              </a:rPr>
              <a:t> Μα</a:t>
            </a:r>
            <a:r>
              <a:rPr lang="en-US" sz="3100" dirty="0" err="1">
                <a:ea typeface="Calibri Light"/>
                <a:cs typeface="Calibri Light"/>
              </a:rPr>
              <a:t>θημ</a:t>
            </a:r>
            <a:r>
              <a:rPr lang="en-US" sz="3100" dirty="0">
                <a:ea typeface="Calibri Light"/>
                <a:cs typeface="Calibri Light"/>
              </a:rPr>
              <a:t>α</a:t>
            </a:r>
            <a:r>
              <a:rPr lang="en-US" sz="3100" dirty="0" err="1">
                <a:ea typeface="Calibri Light"/>
                <a:cs typeface="Calibri Light"/>
              </a:rPr>
              <a:t>τικού</a:t>
            </a:r>
            <a:r>
              <a:rPr lang="en-US" sz="3100" dirty="0">
                <a:ea typeface="Calibri Light"/>
                <a:cs typeface="Calibri Light"/>
              </a:rPr>
              <a:t> </a:t>
            </a:r>
            <a:r>
              <a:rPr lang="en-US" sz="3100" dirty="0" err="1">
                <a:ea typeface="Calibri Light"/>
                <a:cs typeface="Calibri Light"/>
              </a:rPr>
              <a:t>Μοντέλου</a:t>
            </a:r>
            <a:r>
              <a:rPr lang="en-US" sz="3100" dirty="0">
                <a:ea typeface="Calibri Light"/>
                <a:cs typeface="Calibri Light"/>
              </a:rPr>
              <a:t> </a:t>
            </a:r>
            <a:r>
              <a:rPr lang="en-US" sz="3100" dirty="0" err="1">
                <a:ea typeface="Calibri Light"/>
                <a:cs typeface="Calibri Light"/>
              </a:rPr>
              <a:t>της</a:t>
            </a:r>
            <a:r>
              <a:rPr lang="en-US" sz="3100" dirty="0">
                <a:ea typeface="Calibri Light"/>
                <a:cs typeface="Calibri Light"/>
              </a:rPr>
              <a:t> </a:t>
            </a:r>
            <a:r>
              <a:rPr lang="en-US" sz="3100" dirty="0" err="1">
                <a:ea typeface="Calibri Light"/>
                <a:cs typeface="Calibri Light"/>
              </a:rPr>
              <a:t>Διεργ</a:t>
            </a:r>
            <a:r>
              <a:rPr lang="en-US" sz="3100" dirty="0">
                <a:ea typeface="Calibri Light"/>
                <a:cs typeface="Calibri Light"/>
              </a:rPr>
              <a:t>α</a:t>
            </a:r>
            <a:r>
              <a:rPr lang="en-US" sz="3100" dirty="0" err="1">
                <a:ea typeface="Calibri Light"/>
                <a:cs typeface="Calibri Light"/>
              </a:rPr>
              <a:t>σί</a:t>
            </a:r>
            <a:r>
              <a:rPr lang="en-US" sz="3100" dirty="0">
                <a:ea typeface="Calibri Light"/>
                <a:cs typeface="Calibri Light"/>
              </a:rPr>
              <a:t>ας </a:t>
            </a:r>
            <a:r>
              <a:rPr lang="en-US" sz="3100" dirty="0" err="1">
                <a:ea typeface="Calibri Light"/>
                <a:cs typeface="Calibri Light"/>
              </a:rPr>
              <a:t>Διήθησης</a:t>
            </a:r>
            <a:r>
              <a:rPr lang="en-US" sz="3100" dirty="0">
                <a:ea typeface="Calibri Light"/>
                <a:cs typeface="Calibri Light"/>
              </a:rPr>
              <a:t> </a:t>
            </a:r>
            <a:r>
              <a:rPr lang="en-US" sz="3100" dirty="0" err="1">
                <a:ea typeface="Calibri Light"/>
                <a:cs typeface="Calibri Light"/>
              </a:rPr>
              <a:t>με</a:t>
            </a:r>
            <a:r>
              <a:rPr lang="en-US" sz="3100" dirty="0">
                <a:ea typeface="Calibri Light"/>
                <a:cs typeface="Calibri Light"/>
              </a:rPr>
              <a:t> </a:t>
            </a:r>
            <a:r>
              <a:rPr lang="en-US" sz="3100" dirty="0" err="1">
                <a:ea typeface="Calibri Light"/>
                <a:cs typeface="Calibri Light"/>
              </a:rPr>
              <a:t>Μεμ</a:t>
            </a:r>
            <a:r>
              <a:rPr lang="en-US" sz="3100" dirty="0">
                <a:ea typeface="Calibri Light"/>
                <a:cs typeface="Calibri Light"/>
              </a:rPr>
              <a:t>β</a:t>
            </a:r>
            <a:r>
              <a:rPr lang="en-US" sz="3100" dirty="0" err="1">
                <a:ea typeface="Calibri Light"/>
                <a:cs typeface="Calibri Light"/>
              </a:rPr>
              <a:t>ράνη</a:t>
            </a:r>
            <a:r>
              <a:rPr lang="en-US" sz="3100" dirty="0">
                <a:ea typeface="Calibri Light"/>
                <a:cs typeface="Calibri Light"/>
              </a:rPr>
              <a:t> </a:t>
            </a:r>
          </a:p>
        </p:txBody>
      </p:sp>
      <p:sp>
        <p:nvSpPr>
          <p:cNvPr id="4" name="TextBox 3">
            <a:extLst>
              <a:ext uri="{FF2B5EF4-FFF2-40B4-BE49-F238E27FC236}">
                <a16:creationId xmlns:a16="http://schemas.microsoft.com/office/drawing/2014/main" id="{D98A3B33-5BF1-F8BD-4F26-AA3C4D805E49}"/>
              </a:ext>
            </a:extLst>
          </p:cNvPr>
          <p:cNvSpPr txBox="1"/>
          <p:nvPr/>
        </p:nvSpPr>
        <p:spPr>
          <a:xfrm>
            <a:off x="98526" y="6165874"/>
            <a:ext cx="11990716" cy="584775"/>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just"/>
            <a:r>
              <a:rPr lang="en-US" sz="1600" dirty="0" err="1"/>
              <a:t>Bampzeli</a:t>
            </a:r>
            <a:r>
              <a:rPr lang="en-US" sz="1600" dirty="0"/>
              <a:t>, A., </a:t>
            </a:r>
            <a:r>
              <a:rPr lang="en-US" sz="1600" dirty="0" err="1"/>
              <a:t>Charakleias</a:t>
            </a:r>
            <a:r>
              <a:rPr lang="en-US" sz="1600" dirty="0"/>
              <a:t>, E., &amp; Georgiadis, M. C. (2026). Modeling, simulation and optimization of integrated milk pasteurization and membrane filtration processes. </a:t>
            </a:r>
            <a:r>
              <a:rPr lang="en-US" sz="1600" i="1" dirty="0"/>
              <a:t>Food and Bioproducts Processing</a:t>
            </a:r>
            <a:r>
              <a:rPr lang="en-US" sz="1600" dirty="0"/>
              <a:t>, </a:t>
            </a:r>
            <a:r>
              <a:rPr lang="en-US" sz="1600" i="1" dirty="0"/>
              <a:t>157</a:t>
            </a:r>
            <a:r>
              <a:rPr lang="en-US" sz="1600" dirty="0"/>
              <a:t>, 583-599. </a:t>
            </a:r>
            <a:r>
              <a:rPr lang="en-US" sz="1600" dirty="0">
                <a:hlinkClick r:id="rId5"/>
              </a:rPr>
              <a:t>https://doi.org/10.1016/j.fbp.2026.04.006</a:t>
            </a:r>
            <a:endParaRPr lang="el-GR" sz="1600" dirty="0"/>
          </a:p>
        </p:txBody>
      </p:sp>
    </p:spTree>
    <p:extLst>
      <p:ext uri="{BB962C8B-B14F-4D97-AF65-F5344CB8AC3E}">
        <p14:creationId xmlns:p14="http://schemas.microsoft.com/office/powerpoint/2010/main" val="7771666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1AA40-B991-E0AE-5A55-C31224E01B6B}"/>
            </a:ext>
          </a:extLst>
        </p:cNvPr>
        <p:cNvGrpSpPr/>
        <p:nvPr/>
      </p:nvGrpSpPr>
      <p:grpSpPr>
        <a:xfrm>
          <a:off x="0" y="0"/>
          <a:ext cx="0" cy="0"/>
          <a:chOff x="0" y="0"/>
          <a:chExt cx="0" cy="0"/>
        </a:xfrm>
      </p:grpSpPr>
      <p:pic>
        <p:nvPicPr>
          <p:cNvPr id="8" name="Εικόνα 7" descr="Εικόνα που περιέχει κείμενο, στιγμιότυπο οθόνης, διάγραμμα, Σχέδιο&#10;&#10;Το περιεχόμενο που δημιουργείται από AI ενδέχεται να είναι εσφαλμένο.">
            <a:extLst>
              <a:ext uri="{FF2B5EF4-FFF2-40B4-BE49-F238E27FC236}">
                <a16:creationId xmlns:a16="http://schemas.microsoft.com/office/drawing/2014/main" id="{17C8B50E-512A-52AF-56E0-B0FC01EECE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96896" y="825721"/>
            <a:ext cx="7303008" cy="5598973"/>
          </a:xfrm>
          <a:prstGeom prst="rect">
            <a:avLst/>
          </a:prstGeom>
        </p:spPr>
      </p:pic>
      <p:sp>
        <p:nvSpPr>
          <p:cNvPr id="3" name="Speech Bubble: Rectangle with Corners Rounded 2">
            <a:extLst>
              <a:ext uri="{FF2B5EF4-FFF2-40B4-BE49-F238E27FC236}">
                <a16:creationId xmlns:a16="http://schemas.microsoft.com/office/drawing/2014/main" id="{B9842281-763C-DE7E-119E-E3734271B33C}"/>
              </a:ext>
            </a:extLst>
          </p:cNvPr>
          <p:cNvSpPr/>
          <p:nvPr/>
        </p:nvSpPr>
        <p:spPr>
          <a:xfrm>
            <a:off x="4746587" y="3268739"/>
            <a:ext cx="602654" cy="315707"/>
          </a:xfrm>
          <a:prstGeom prst="wedgeRoundRectCallou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ea typeface="Calibri"/>
                <a:cs typeface="Calibri"/>
              </a:rPr>
              <a:t>20 °C</a:t>
            </a:r>
          </a:p>
        </p:txBody>
      </p:sp>
      <p:sp>
        <p:nvSpPr>
          <p:cNvPr id="6" name="Speech Bubble: Rectangle with Corners Rounded 5">
            <a:extLst>
              <a:ext uri="{FF2B5EF4-FFF2-40B4-BE49-F238E27FC236}">
                <a16:creationId xmlns:a16="http://schemas.microsoft.com/office/drawing/2014/main" id="{75F08A8D-C867-5FD0-B271-6CE777205C1D}"/>
              </a:ext>
            </a:extLst>
          </p:cNvPr>
          <p:cNvSpPr/>
          <p:nvPr/>
        </p:nvSpPr>
        <p:spPr>
          <a:xfrm>
            <a:off x="5926946" y="1597102"/>
            <a:ext cx="642907" cy="390628"/>
          </a:xfrm>
          <a:prstGeom prst="wedgeRoundRectCallou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ea typeface="Calibri"/>
                <a:cs typeface="Calibri"/>
              </a:rPr>
              <a:t>20 °C</a:t>
            </a:r>
          </a:p>
        </p:txBody>
      </p:sp>
      <p:sp>
        <p:nvSpPr>
          <p:cNvPr id="7" name="Speech Bubble: Rectangle with Corners Rounded 6">
            <a:extLst>
              <a:ext uri="{FF2B5EF4-FFF2-40B4-BE49-F238E27FC236}">
                <a16:creationId xmlns:a16="http://schemas.microsoft.com/office/drawing/2014/main" id="{EDC1D086-2DCD-2DDB-42BA-2B01E750FE5E}"/>
              </a:ext>
            </a:extLst>
          </p:cNvPr>
          <p:cNvSpPr/>
          <p:nvPr/>
        </p:nvSpPr>
        <p:spPr>
          <a:xfrm>
            <a:off x="6109171" y="5107502"/>
            <a:ext cx="1330638" cy="448137"/>
          </a:xfrm>
          <a:prstGeom prst="wedgeRoundRectCallou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ea typeface="Calibri"/>
                <a:cs typeface="Calibri"/>
              </a:rPr>
              <a:t>20% </a:t>
            </a:r>
            <a:r>
              <a:rPr lang="el-GR" sz="1400" dirty="0">
                <a:ea typeface="Calibri"/>
                <a:cs typeface="Calibri"/>
              </a:rPr>
              <a:t>στερεά</a:t>
            </a:r>
            <a:endParaRPr lang="en-US" sz="1400" dirty="0">
              <a:ea typeface="Calibri"/>
              <a:cs typeface="Calibri"/>
            </a:endParaRPr>
          </a:p>
          <a:p>
            <a:pPr algn="ctr"/>
            <a:r>
              <a:rPr lang="en-US" sz="1400" dirty="0">
                <a:ea typeface="Calibri"/>
                <a:cs typeface="Calibri"/>
              </a:rPr>
              <a:t>16% </a:t>
            </a:r>
            <a:r>
              <a:rPr lang="el-GR" sz="1400" dirty="0">
                <a:ea typeface="Calibri"/>
                <a:cs typeface="Calibri"/>
              </a:rPr>
              <a:t>πρωτεΐνες</a:t>
            </a:r>
            <a:endParaRPr lang="en-US" sz="1400" dirty="0">
              <a:ea typeface="Calibri"/>
              <a:cs typeface="Calibri"/>
            </a:endParaRPr>
          </a:p>
        </p:txBody>
      </p:sp>
      <p:sp>
        <p:nvSpPr>
          <p:cNvPr id="2" name="Speech Bubble: Rectangle with Corners Rounded 1">
            <a:extLst>
              <a:ext uri="{FF2B5EF4-FFF2-40B4-BE49-F238E27FC236}">
                <a16:creationId xmlns:a16="http://schemas.microsoft.com/office/drawing/2014/main" id="{550A4479-3AD4-F40B-D35B-77E94952EAB3}"/>
              </a:ext>
            </a:extLst>
          </p:cNvPr>
          <p:cNvSpPr/>
          <p:nvPr/>
        </p:nvSpPr>
        <p:spPr>
          <a:xfrm>
            <a:off x="8382167" y="1616638"/>
            <a:ext cx="1037945" cy="425860"/>
          </a:xfrm>
          <a:prstGeom prst="wedgeRoundRectCallou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ea typeface="Calibri"/>
                <a:cs typeface="Calibri"/>
              </a:rPr>
              <a:t>3108 kg/h, 20 °C</a:t>
            </a:r>
          </a:p>
        </p:txBody>
      </p:sp>
      <p:sp>
        <p:nvSpPr>
          <p:cNvPr id="5" name="Speech Bubble: Rectangle with Corners Rounded 4">
            <a:extLst>
              <a:ext uri="{FF2B5EF4-FFF2-40B4-BE49-F238E27FC236}">
                <a16:creationId xmlns:a16="http://schemas.microsoft.com/office/drawing/2014/main" id="{7CC87063-169D-0590-DE69-856313ACD598}"/>
              </a:ext>
            </a:extLst>
          </p:cNvPr>
          <p:cNvSpPr/>
          <p:nvPr/>
        </p:nvSpPr>
        <p:spPr>
          <a:xfrm>
            <a:off x="6974850" y="5616680"/>
            <a:ext cx="1037945" cy="448137"/>
          </a:xfrm>
          <a:prstGeom prst="wedgeRoundRectCallou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ea typeface="Calibri"/>
                <a:cs typeface="Calibri"/>
              </a:rPr>
              <a:t>485 kg/h, 20 °C</a:t>
            </a:r>
          </a:p>
        </p:txBody>
      </p:sp>
      <p:sp>
        <p:nvSpPr>
          <p:cNvPr id="10" name="Speech Bubble: Rectangle with Corners Rounded 9">
            <a:extLst>
              <a:ext uri="{FF2B5EF4-FFF2-40B4-BE49-F238E27FC236}">
                <a16:creationId xmlns:a16="http://schemas.microsoft.com/office/drawing/2014/main" id="{747E32F5-BC68-5657-A3A1-47F9E2B31ECE}"/>
              </a:ext>
            </a:extLst>
          </p:cNvPr>
          <p:cNvSpPr/>
          <p:nvPr/>
        </p:nvSpPr>
        <p:spPr>
          <a:xfrm>
            <a:off x="5383217" y="3259276"/>
            <a:ext cx="991344" cy="315707"/>
          </a:xfrm>
          <a:prstGeom prst="wedgeRoundRectCallou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ea typeface="Calibri"/>
                <a:cs typeface="Calibri"/>
              </a:rPr>
              <a:t>1063 kg/h</a:t>
            </a:r>
          </a:p>
        </p:txBody>
      </p:sp>
      <p:sp>
        <p:nvSpPr>
          <p:cNvPr id="4" name="Slide Number Placeholder 3">
            <a:extLst>
              <a:ext uri="{FF2B5EF4-FFF2-40B4-BE49-F238E27FC236}">
                <a16:creationId xmlns:a16="http://schemas.microsoft.com/office/drawing/2014/main" id="{AAC88B83-E225-C6F9-AAE5-1599CB05FBB5}"/>
              </a:ext>
            </a:extLst>
          </p:cNvPr>
          <p:cNvSpPr>
            <a:spLocks noGrp="1"/>
          </p:cNvSpPr>
          <p:nvPr>
            <p:ph type="sldNum" sz="quarter" idx="12"/>
          </p:nvPr>
        </p:nvSpPr>
        <p:spPr/>
        <p:txBody>
          <a:bodyPr/>
          <a:lstStyle/>
          <a:p>
            <a:fld id="{48F63A3B-78C7-47BE-AE5E-E10140E04643}" type="slidenum">
              <a:rPr lang="en-US" smtClean="0"/>
              <a:t>11</a:t>
            </a:fld>
            <a:r>
              <a:rPr lang="en-US" dirty="0"/>
              <a:t>/</a:t>
            </a:r>
            <a:r>
              <a:rPr lang="el-GR" dirty="0"/>
              <a:t>2</a:t>
            </a:r>
            <a:r>
              <a:rPr lang="en-US" dirty="0"/>
              <a:t>2</a:t>
            </a:r>
          </a:p>
        </p:txBody>
      </p:sp>
      <p:sp>
        <p:nvSpPr>
          <p:cNvPr id="11" name="Speech Bubble: Rectangle with Corners Rounded 9">
            <a:extLst>
              <a:ext uri="{FF2B5EF4-FFF2-40B4-BE49-F238E27FC236}">
                <a16:creationId xmlns:a16="http://schemas.microsoft.com/office/drawing/2014/main" id="{962600CA-506F-5709-30A5-23B286E19DFF}"/>
              </a:ext>
            </a:extLst>
          </p:cNvPr>
          <p:cNvSpPr/>
          <p:nvPr/>
        </p:nvSpPr>
        <p:spPr>
          <a:xfrm>
            <a:off x="6636022" y="1597103"/>
            <a:ext cx="1037945" cy="390627"/>
          </a:xfrm>
          <a:prstGeom prst="wedgeRoundRectCallou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ea typeface="Calibri"/>
                <a:cs typeface="Calibri"/>
              </a:rPr>
              <a:t>2530 kg/h</a:t>
            </a:r>
          </a:p>
        </p:txBody>
      </p:sp>
      <p:sp>
        <p:nvSpPr>
          <p:cNvPr id="12" name="Title 1">
            <a:extLst>
              <a:ext uri="{FF2B5EF4-FFF2-40B4-BE49-F238E27FC236}">
                <a16:creationId xmlns:a16="http://schemas.microsoft.com/office/drawing/2014/main" id="{D08F79DB-A9A1-258D-C1AD-E5D550BBFDF5}"/>
              </a:ext>
            </a:extLst>
          </p:cNvPr>
          <p:cNvSpPr txBox="1">
            <a:spLocks/>
          </p:cNvSpPr>
          <p:nvPr/>
        </p:nvSpPr>
        <p:spPr>
          <a:xfrm>
            <a:off x="103898" y="138893"/>
            <a:ext cx="12541326" cy="686828"/>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alibri Light"/>
                <a:ea typeface="Calibri Light"/>
                <a:cs typeface="Calibri Light"/>
              </a:rPr>
              <a:t>4.2.</a:t>
            </a:r>
            <a:r>
              <a:rPr lang="el-GR" sz="3600" dirty="0">
                <a:latin typeface="Calibri Light"/>
                <a:ea typeface="Calibri Light"/>
                <a:cs typeface="Calibri Light"/>
              </a:rPr>
              <a:t>2</a:t>
            </a:r>
            <a:r>
              <a:rPr lang="en-US" sz="3600" dirty="0">
                <a:latin typeface="Calibri Light"/>
                <a:ea typeface="Calibri Light"/>
                <a:cs typeface="Calibri Light"/>
              </a:rPr>
              <a:t> </a:t>
            </a:r>
            <a:r>
              <a:rPr lang="en-US" sz="3600" dirty="0" err="1">
                <a:latin typeface="Calibri Light"/>
                <a:ea typeface="Calibri Light"/>
                <a:cs typeface="Calibri Light"/>
              </a:rPr>
              <a:t>Μοντέλο</a:t>
            </a:r>
            <a:r>
              <a:rPr lang="en-US" sz="3600" dirty="0">
                <a:latin typeface="Calibri Light"/>
                <a:ea typeface="Calibri Light"/>
                <a:cs typeface="Calibri Light"/>
              </a:rPr>
              <a:t> </a:t>
            </a:r>
            <a:r>
              <a:rPr lang="en-US" sz="3600" dirty="0" err="1">
                <a:latin typeface="Calibri Light"/>
                <a:ea typeface="Calibri Light"/>
                <a:cs typeface="Calibri Light"/>
              </a:rPr>
              <a:t>Διήθησης</a:t>
            </a:r>
            <a:r>
              <a:rPr lang="en-US" sz="3600" dirty="0">
                <a:latin typeface="Calibri Light"/>
                <a:ea typeface="Calibri Light"/>
                <a:cs typeface="Calibri Light"/>
              </a:rPr>
              <a:t> </a:t>
            </a:r>
            <a:r>
              <a:rPr lang="en-US" sz="3600" dirty="0" err="1">
                <a:latin typeface="Calibri Light"/>
                <a:ea typeface="Calibri Light"/>
                <a:cs typeface="Calibri Light"/>
              </a:rPr>
              <a:t>με</a:t>
            </a:r>
            <a:r>
              <a:rPr lang="en-US" sz="3600" dirty="0">
                <a:latin typeface="Calibri Light"/>
                <a:ea typeface="Calibri Light"/>
                <a:cs typeface="Calibri Light"/>
              </a:rPr>
              <a:t> </a:t>
            </a:r>
            <a:r>
              <a:rPr lang="en-US" sz="3600" dirty="0" err="1">
                <a:latin typeface="Calibri Light"/>
                <a:ea typeface="Calibri Light"/>
                <a:cs typeface="Calibri Light"/>
              </a:rPr>
              <a:t>Μεμ</a:t>
            </a:r>
            <a:r>
              <a:rPr lang="en-US" sz="3600" dirty="0">
                <a:latin typeface="Calibri Light"/>
                <a:ea typeface="Calibri Light"/>
                <a:cs typeface="Calibri Light"/>
              </a:rPr>
              <a:t>βράνη-Αποτελέσματα Προσομοίωσης</a:t>
            </a:r>
          </a:p>
        </p:txBody>
      </p:sp>
      <p:sp>
        <p:nvSpPr>
          <p:cNvPr id="13" name="Textfeld 25">
            <a:extLst>
              <a:ext uri="{FF2B5EF4-FFF2-40B4-BE49-F238E27FC236}">
                <a16:creationId xmlns:a16="http://schemas.microsoft.com/office/drawing/2014/main" id="{0ED413D3-48DB-31B6-2F4F-E0663ED6A7FA}"/>
              </a:ext>
            </a:extLst>
          </p:cNvPr>
          <p:cNvSpPr txBox="1"/>
          <p:nvPr/>
        </p:nvSpPr>
        <p:spPr>
          <a:xfrm>
            <a:off x="3526904" y="1173995"/>
            <a:ext cx="1676032" cy="338554"/>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600" dirty="0" err="1">
                <a:ea typeface="Calibri"/>
                <a:cs typeface="Calibri"/>
              </a:rPr>
              <a:t>Προδι</a:t>
            </a:r>
            <a:r>
              <a:rPr lang="de-DE" sz="1600" dirty="0">
                <a:ea typeface="Calibri"/>
                <a:cs typeface="Calibri"/>
              </a:rPr>
              <a:t>α</a:t>
            </a:r>
            <a:r>
              <a:rPr lang="de-DE" sz="1600" dirty="0" err="1">
                <a:ea typeface="Calibri"/>
                <a:cs typeface="Calibri"/>
              </a:rPr>
              <a:t>γρ</a:t>
            </a:r>
            <a:r>
              <a:rPr lang="de-DE" sz="1600" dirty="0">
                <a:ea typeface="Calibri"/>
                <a:cs typeface="Calibri"/>
              </a:rPr>
              <a:t>α</a:t>
            </a:r>
            <a:r>
              <a:rPr lang="de-DE" sz="1600" dirty="0" err="1">
                <a:ea typeface="Calibri"/>
                <a:cs typeface="Calibri"/>
              </a:rPr>
              <a:t>φές</a:t>
            </a:r>
          </a:p>
        </p:txBody>
      </p:sp>
      <p:sp>
        <p:nvSpPr>
          <p:cNvPr id="15" name="Textfeld 19">
            <a:extLst>
              <a:ext uri="{FF2B5EF4-FFF2-40B4-BE49-F238E27FC236}">
                <a16:creationId xmlns:a16="http://schemas.microsoft.com/office/drawing/2014/main" id="{05E9DC00-B009-FBB2-6D6D-4EDD997611C5}"/>
              </a:ext>
            </a:extLst>
          </p:cNvPr>
          <p:cNvSpPr txBox="1"/>
          <p:nvPr/>
        </p:nvSpPr>
        <p:spPr>
          <a:xfrm>
            <a:off x="4612188" y="1651870"/>
            <a:ext cx="1281674" cy="338554"/>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600" dirty="0" err="1">
                <a:ea typeface="Calibri"/>
                <a:cs typeface="Calibri"/>
              </a:rPr>
              <a:t>Τροφοδοσί</a:t>
            </a:r>
            <a:r>
              <a:rPr lang="de-DE" sz="1600" dirty="0">
                <a:ea typeface="Calibri"/>
                <a:cs typeface="Calibri"/>
              </a:rPr>
              <a:t>α</a:t>
            </a:r>
          </a:p>
        </p:txBody>
      </p:sp>
      <p:sp>
        <p:nvSpPr>
          <p:cNvPr id="17" name="Textfeld 23">
            <a:extLst>
              <a:ext uri="{FF2B5EF4-FFF2-40B4-BE49-F238E27FC236}">
                <a16:creationId xmlns:a16="http://schemas.microsoft.com/office/drawing/2014/main" id="{23EEAB28-16AC-92E2-DE75-AF74FCA424A3}"/>
              </a:ext>
            </a:extLst>
          </p:cNvPr>
          <p:cNvSpPr txBox="1"/>
          <p:nvPr/>
        </p:nvSpPr>
        <p:spPr>
          <a:xfrm>
            <a:off x="3335126" y="4463655"/>
            <a:ext cx="2923840" cy="338554"/>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600" dirty="0" err="1">
                <a:ea typeface="Calibri"/>
                <a:cs typeface="Calibri"/>
              </a:rPr>
              <a:t>Ρυθμιστής</a:t>
            </a:r>
            <a:r>
              <a:rPr lang="de-DE" sz="1600" dirty="0">
                <a:ea typeface="Calibri"/>
                <a:cs typeface="Calibri"/>
              </a:rPr>
              <a:t> </a:t>
            </a:r>
            <a:r>
              <a:rPr lang="de-DE" sz="1600" dirty="0" err="1">
                <a:ea typeface="Calibri"/>
                <a:cs typeface="Calibri"/>
              </a:rPr>
              <a:t>κλάσμ</a:t>
            </a:r>
            <a:r>
              <a:rPr lang="de-DE" sz="1600" dirty="0">
                <a:ea typeface="Calibri"/>
                <a:cs typeface="Calibri"/>
              </a:rPr>
              <a:t>α</a:t>
            </a:r>
            <a:r>
              <a:rPr lang="de-DE" sz="1600" dirty="0" err="1">
                <a:ea typeface="Calibri"/>
                <a:cs typeface="Calibri"/>
              </a:rPr>
              <a:t>τος</a:t>
            </a:r>
            <a:r>
              <a:rPr lang="de-DE" sz="1600" dirty="0">
                <a:ea typeface="Calibri"/>
                <a:cs typeface="Calibri"/>
              </a:rPr>
              <a:t> </a:t>
            </a:r>
            <a:r>
              <a:rPr lang="de-DE" sz="1600" dirty="0" err="1">
                <a:ea typeface="Calibri"/>
                <a:cs typeface="Calibri"/>
              </a:rPr>
              <a:t>στερεών</a:t>
            </a:r>
          </a:p>
        </p:txBody>
      </p:sp>
      <p:sp>
        <p:nvSpPr>
          <p:cNvPr id="18" name="Textfeld 21">
            <a:extLst>
              <a:ext uri="{FF2B5EF4-FFF2-40B4-BE49-F238E27FC236}">
                <a16:creationId xmlns:a16="http://schemas.microsoft.com/office/drawing/2014/main" id="{15C7D8AD-3437-8603-9A0D-21AF86E871F5}"/>
              </a:ext>
            </a:extLst>
          </p:cNvPr>
          <p:cNvSpPr txBox="1"/>
          <p:nvPr/>
        </p:nvSpPr>
        <p:spPr>
          <a:xfrm>
            <a:off x="2671556" y="5848724"/>
            <a:ext cx="2581469" cy="338554"/>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600" dirty="0" err="1">
                <a:ea typeface="Calibri"/>
                <a:cs typeface="Calibri"/>
              </a:rPr>
              <a:t>Διάρκει</a:t>
            </a:r>
            <a:r>
              <a:rPr lang="de-DE" sz="1600" dirty="0">
                <a:ea typeface="Calibri"/>
                <a:cs typeface="Calibri"/>
              </a:rPr>
              <a:t>α π</a:t>
            </a:r>
            <a:r>
              <a:rPr lang="de-DE" sz="1600" dirty="0" err="1">
                <a:ea typeface="Calibri"/>
                <a:cs typeface="Calibri"/>
              </a:rPr>
              <a:t>ροσομοίωσης</a:t>
            </a:r>
            <a:endParaRPr lang="de-DE" sz="1600" dirty="0">
              <a:ea typeface="Calibri"/>
              <a:cs typeface="Calibri"/>
            </a:endParaRPr>
          </a:p>
        </p:txBody>
      </p:sp>
      <p:sp>
        <p:nvSpPr>
          <p:cNvPr id="19" name="Textfeld 15">
            <a:extLst>
              <a:ext uri="{FF2B5EF4-FFF2-40B4-BE49-F238E27FC236}">
                <a16:creationId xmlns:a16="http://schemas.microsoft.com/office/drawing/2014/main" id="{E6FC18CA-8E22-CF10-08BA-32C009AB5A9C}"/>
              </a:ext>
            </a:extLst>
          </p:cNvPr>
          <p:cNvSpPr txBox="1"/>
          <p:nvPr/>
        </p:nvSpPr>
        <p:spPr>
          <a:xfrm>
            <a:off x="8199522" y="5863002"/>
            <a:ext cx="1467520" cy="338554"/>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600" dirty="0" err="1">
                <a:ea typeface="Calibri"/>
                <a:cs typeface="Calibri"/>
              </a:rPr>
              <a:t>Συμ</a:t>
            </a:r>
            <a:r>
              <a:rPr lang="de-DE" sz="1600" dirty="0">
                <a:ea typeface="Calibri"/>
                <a:cs typeface="Calibri"/>
              </a:rPr>
              <a:t>π</a:t>
            </a:r>
            <a:r>
              <a:rPr lang="de-DE" sz="1600" dirty="0" err="1">
                <a:ea typeface="Calibri"/>
                <a:cs typeface="Calibri"/>
              </a:rPr>
              <a:t>ύκνωμ</a:t>
            </a:r>
            <a:r>
              <a:rPr lang="de-DE" sz="1600" dirty="0">
                <a:ea typeface="Calibri"/>
                <a:cs typeface="Calibri"/>
              </a:rPr>
              <a:t>α</a:t>
            </a:r>
          </a:p>
        </p:txBody>
      </p:sp>
      <p:sp>
        <p:nvSpPr>
          <p:cNvPr id="20" name="Textfeld 10">
            <a:extLst>
              <a:ext uri="{FF2B5EF4-FFF2-40B4-BE49-F238E27FC236}">
                <a16:creationId xmlns:a16="http://schemas.microsoft.com/office/drawing/2014/main" id="{21951C29-354B-9CC5-C46E-6C11E9A78B94}"/>
              </a:ext>
            </a:extLst>
          </p:cNvPr>
          <p:cNvSpPr txBox="1"/>
          <p:nvPr/>
        </p:nvSpPr>
        <p:spPr>
          <a:xfrm>
            <a:off x="7529539" y="4902808"/>
            <a:ext cx="2370365" cy="338554"/>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600" dirty="0" err="1">
                <a:ea typeface="Calibri"/>
                <a:cs typeface="Calibri"/>
              </a:rPr>
              <a:t>Μεμ</a:t>
            </a:r>
            <a:r>
              <a:rPr lang="de-DE" sz="1600" dirty="0">
                <a:ea typeface="Calibri"/>
                <a:cs typeface="Calibri"/>
              </a:rPr>
              <a:t>β</a:t>
            </a:r>
            <a:r>
              <a:rPr lang="de-DE" sz="1600" dirty="0" err="1">
                <a:ea typeface="Calibri"/>
                <a:cs typeface="Calibri"/>
              </a:rPr>
              <a:t>ράνη</a:t>
            </a:r>
            <a:r>
              <a:rPr lang="de-DE" sz="1600" dirty="0">
                <a:ea typeface="Calibri"/>
                <a:cs typeface="Calibri"/>
              </a:rPr>
              <a:t> υπ</a:t>
            </a:r>
            <a:r>
              <a:rPr lang="de-DE" sz="1600" dirty="0" err="1">
                <a:ea typeface="Calibri"/>
                <a:cs typeface="Calibri"/>
              </a:rPr>
              <a:t>ερδιήθησης</a:t>
            </a:r>
          </a:p>
        </p:txBody>
      </p:sp>
      <p:sp>
        <p:nvSpPr>
          <p:cNvPr id="21" name="Textfeld 17">
            <a:extLst>
              <a:ext uri="{FF2B5EF4-FFF2-40B4-BE49-F238E27FC236}">
                <a16:creationId xmlns:a16="http://schemas.microsoft.com/office/drawing/2014/main" id="{ADE45777-8289-AEE1-E6AF-7378CB54D26D}"/>
              </a:ext>
            </a:extLst>
          </p:cNvPr>
          <p:cNvSpPr txBox="1"/>
          <p:nvPr/>
        </p:nvSpPr>
        <p:spPr>
          <a:xfrm>
            <a:off x="8610600" y="2560049"/>
            <a:ext cx="1248868" cy="338554"/>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600" dirty="0" err="1">
                <a:ea typeface="Calibri"/>
                <a:cs typeface="Calibri"/>
              </a:rPr>
              <a:t>Διήθημ</a:t>
            </a:r>
            <a:r>
              <a:rPr lang="de-DE" sz="1600" dirty="0">
                <a:ea typeface="Calibri"/>
                <a:cs typeface="Calibri"/>
              </a:rPr>
              <a:t>α</a:t>
            </a:r>
          </a:p>
        </p:txBody>
      </p:sp>
      <p:sp>
        <p:nvSpPr>
          <p:cNvPr id="23" name="Textfeld 23">
            <a:extLst>
              <a:ext uri="{FF2B5EF4-FFF2-40B4-BE49-F238E27FC236}">
                <a16:creationId xmlns:a16="http://schemas.microsoft.com/office/drawing/2014/main" id="{84C0DBB6-C8A3-ACBF-7BA4-2B2BEE2D23A2}"/>
              </a:ext>
            </a:extLst>
          </p:cNvPr>
          <p:cNvSpPr txBox="1"/>
          <p:nvPr/>
        </p:nvSpPr>
        <p:spPr>
          <a:xfrm>
            <a:off x="3551207" y="3024954"/>
            <a:ext cx="1195380" cy="217196"/>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endParaRPr lang="de-DE" sz="1100" dirty="0" err="1">
              <a:ea typeface="Calibri"/>
              <a:cs typeface="Calibri"/>
            </a:endParaRPr>
          </a:p>
        </p:txBody>
      </p:sp>
      <p:sp>
        <p:nvSpPr>
          <p:cNvPr id="22" name="Textfeld 23">
            <a:extLst>
              <a:ext uri="{FF2B5EF4-FFF2-40B4-BE49-F238E27FC236}">
                <a16:creationId xmlns:a16="http://schemas.microsoft.com/office/drawing/2014/main" id="{2ABA018E-3C79-2054-38C6-F75D8276D010}"/>
              </a:ext>
            </a:extLst>
          </p:cNvPr>
          <p:cNvSpPr txBox="1"/>
          <p:nvPr/>
        </p:nvSpPr>
        <p:spPr>
          <a:xfrm>
            <a:off x="4464900" y="2370604"/>
            <a:ext cx="1768682" cy="338554"/>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600" dirty="0" err="1">
                <a:ea typeface="Calibri"/>
                <a:cs typeface="Calibri"/>
              </a:rPr>
              <a:t>Ρυθμιστής</a:t>
            </a:r>
            <a:r>
              <a:rPr lang="de-DE" sz="1600" dirty="0">
                <a:ea typeface="Calibri"/>
                <a:cs typeface="Calibri"/>
              </a:rPr>
              <a:t> </a:t>
            </a:r>
            <a:r>
              <a:rPr lang="el-GR" sz="1600" dirty="0">
                <a:ea typeface="Calibri"/>
                <a:cs typeface="Calibri"/>
              </a:rPr>
              <a:t>μάζας</a:t>
            </a:r>
            <a:endParaRPr lang="de-DE" sz="1600" dirty="0" err="1">
              <a:ea typeface="Calibri"/>
              <a:cs typeface="Calibri"/>
            </a:endParaRPr>
          </a:p>
        </p:txBody>
      </p:sp>
      <p:sp>
        <p:nvSpPr>
          <p:cNvPr id="24" name="Textfeld 23">
            <a:extLst>
              <a:ext uri="{FF2B5EF4-FFF2-40B4-BE49-F238E27FC236}">
                <a16:creationId xmlns:a16="http://schemas.microsoft.com/office/drawing/2014/main" id="{174F54F0-E8C4-F4C7-ABB0-2739FF73846F}"/>
              </a:ext>
            </a:extLst>
          </p:cNvPr>
          <p:cNvSpPr txBox="1"/>
          <p:nvPr/>
        </p:nvSpPr>
        <p:spPr>
          <a:xfrm>
            <a:off x="4683508" y="2977237"/>
            <a:ext cx="1314955" cy="217196"/>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endParaRPr lang="de-DE" sz="1100" dirty="0" err="1">
              <a:ea typeface="Calibri"/>
              <a:cs typeface="Calibri"/>
            </a:endParaRPr>
          </a:p>
        </p:txBody>
      </p:sp>
      <p:sp>
        <p:nvSpPr>
          <p:cNvPr id="25" name="Textfeld 23">
            <a:extLst>
              <a:ext uri="{FF2B5EF4-FFF2-40B4-BE49-F238E27FC236}">
                <a16:creationId xmlns:a16="http://schemas.microsoft.com/office/drawing/2014/main" id="{FBFDE9B8-A0A3-303D-3382-9376F2C2724D}"/>
              </a:ext>
            </a:extLst>
          </p:cNvPr>
          <p:cNvSpPr txBox="1"/>
          <p:nvPr/>
        </p:nvSpPr>
        <p:spPr>
          <a:xfrm>
            <a:off x="4272892" y="3801746"/>
            <a:ext cx="451967" cy="251646"/>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endParaRPr lang="de-DE" sz="1100" dirty="0" err="1">
              <a:ea typeface="Calibri"/>
              <a:cs typeface="Calibri"/>
            </a:endParaRPr>
          </a:p>
        </p:txBody>
      </p:sp>
      <p:sp>
        <p:nvSpPr>
          <p:cNvPr id="16" name="Textfeld 12">
            <a:extLst>
              <a:ext uri="{FF2B5EF4-FFF2-40B4-BE49-F238E27FC236}">
                <a16:creationId xmlns:a16="http://schemas.microsoft.com/office/drawing/2014/main" id="{CE36AF2D-5872-9A6B-4B0B-63D843CB4813}"/>
              </a:ext>
            </a:extLst>
          </p:cNvPr>
          <p:cNvSpPr txBox="1"/>
          <p:nvPr/>
        </p:nvSpPr>
        <p:spPr>
          <a:xfrm>
            <a:off x="4498876" y="3667121"/>
            <a:ext cx="1768682" cy="338554"/>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600" dirty="0" err="1">
                <a:ea typeface="Calibri"/>
                <a:cs typeface="Calibri"/>
              </a:rPr>
              <a:t>Νερό</a:t>
            </a:r>
            <a:r>
              <a:rPr lang="de-DE" sz="1600" dirty="0">
                <a:ea typeface="Calibri"/>
                <a:cs typeface="Calibri"/>
              </a:rPr>
              <a:t> </a:t>
            </a:r>
            <a:r>
              <a:rPr lang="de-DE" sz="1600" dirty="0" err="1">
                <a:ea typeface="Calibri"/>
                <a:cs typeface="Calibri"/>
              </a:rPr>
              <a:t>δι</a:t>
            </a:r>
            <a:r>
              <a:rPr lang="de-DE" sz="1600" dirty="0">
                <a:ea typeface="Calibri"/>
                <a:cs typeface="Calibri"/>
              </a:rPr>
              <a:t>α</a:t>
            </a:r>
            <a:r>
              <a:rPr lang="de-DE" sz="1600" dirty="0" err="1">
                <a:ea typeface="Calibri"/>
                <a:cs typeface="Calibri"/>
              </a:rPr>
              <a:t>διήθησης</a:t>
            </a:r>
          </a:p>
        </p:txBody>
      </p:sp>
    </p:spTree>
    <p:extLst>
      <p:ext uri="{BB962C8B-B14F-4D97-AF65-F5344CB8AC3E}">
        <p14:creationId xmlns:p14="http://schemas.microsoft.com/office/powerpoint/2010/main" val="34489844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2A0A4-CFAC-FDAC-7977-EDB1A1CF1CC7}"/>
            </a:ext>
          </a:extLst>
        </p:cNvPr>
        <p:cNvGrpSpPr/>
        <p:nvPr/>
      </p:nvGrpSpPr>
      <p:grpSpPr>
        <a:xfrm>
          <a:off x="0" y="0"/>
          <a:ext cx="0" cy="0"/>
          <a:chOff x="0" y="0"/>
          <a:chExt cx="0" cy="0"/>
        </a:xfrm>
      </p:grpSpPr>
      <p:sp>
        <p:nvSpPr>
          <p:cNvPr id="55" name="Textfeld 54">
            <a:extLst>
              <a:ext uri="{FF2B5EF4-FFF2-40B4-BE49-F238E27FC236}">
                <a16:creationId xmlns:a16="http://schemas.microsoft.com/office/drawing/2014/main" id="{0A353DDA-6FB5-0D0C-3CFD-952130BEC4F3}"/>
              </a:ext>
            </a:extLst>
          </p:cNvPr>
          <p:cNvSpPr txBox="1"/>
          <p:nvPr/>
        </p:nvSpPr>
        <p:spPr>
          <a:xfrm>
            <a:off x="217147" y="6540414"/>
            <a:ext cx="11752298" cy="321889"/>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endParaRPr lang="de-DE" sz="1600" dirty="0">
              <a:ea typeface="Calibri"/>
              <a:cs typeface="Calibri"/>
            </a:endParaRPr>
          </a:p>
        </p:txBody>
      </p:sp>
      <p:pic>
        <p:nvPicPr>
          <p:cNvPr id="13" name="Picture 12" descr="A computer screen shot of a diagram&#10;&#10;AI-generated content may be incorrect.">
            <a:extLst>
              <a:ext uri="{FF2B5EF4-FFF2-40B4-BE49-F238E27FC236}">
                <a16:creationId xmlns:a16="http://schemas.microsoft.com/office/drawing/2014/main" id="{7727E763-2AFE-B7F0-A206-27FA3CEEF18A}"/>
              </a:ext>
            </a:extLst>
          </p:cNvPr>
          <p:cNvPicPr>
            <a:picLocks noChangeAspect="1"/>
          </p:cNvPicPr>
          <p:nvPr/>
        </p:nvPicPr>
        <p:blipFill>
          <a:blip r:embed="rId3"/>
          <a:srcRect l="27936" t="18110" r="14442" b="29833"/>
          <a:stretch>
            <a:fillRect/>
          </a:stretch>
        </p:blipFill>
        <p:spPr>
          <a:xfrm>
            <a:off x="215661" y="839613"/>
            <a:ext cx="11747124" cy="5883307"/>
          </a:xfrm>
          <a:prstGeom prst="rect">
            <a:avLst/>
          </a:prstGeom>
        </p:spPr>
      </p:pic>
      <p:sp>
        <p:nvSpPr>
          <p:cNvPr id="15" name="Speech Bubble: Rectangle with Corners Rounded 14">
            <a:extLst>
              <a:ext uri="{FF2B5EF4-FFF2-40B4-BE49-F238E27FC236}">
                <a16:creationId xmlns:a16="http://schemas.microsoft.com/office/drawing/2014/main" id="{EAADF45A-7A93-3790-51C9-F1BDB04DBBD5}"/>
              </a:ext>
            </a:extLst>
          </p:cNvPr>
          <p:cNvSpPr/>
          <p:nvPr/>
        </p:nvSpPr>
        <p:spPr>
          <a:xfrm>
            <a:off x="1102654" y="2412501"/>
            <a:ext cx="1037945" cy="548777"/>
          </a:xfrm>
          <a:prstGeom prst="wedgeRoundRectCallou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ea typeface="Calibri"/>
                <a:cs typeface="Calibri"/>
              </a:rPr>
              <a:t>2500 kg/h, 5 °C</a:t>
            </a:r>
          </a:p>
        </p:txBody>
      </p:sp>
      <p:sp>
        <p:nvSpPr>
          <p:cNvPr id="21" name="Speech Bubble: Rectangle with Corners Rounded 20">
            <a:extLst>
              <a:ext uri="{FF2B5EF4-FFF2-40B4-BE49-F238E27FC236}">
                <a16:creationId xmlns:a16="http://schemas.microsoft.com/office/drawing/2014/main" id="{F8CB59E7-F957-0E06-5A9C-0FF06E77D454}"/>
              </a:ext>
            </a:extLst>
          </p:cNvPr>
          <p:cNvSpPr/>
          <p:nvPr/>
        </p:nvSpPr>
        <p:spPr>
          <a:xfrm>
            <a:off x="9153973" y="2685669"/>
            <a:ext cx="649757" cy="390627"/>
          </a:xfrm>
          <a:prstGeom prst="wedgeRoundRectCallou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ea typeface="Calibri"/>
                <a:cs typeface="Calibri"/>
              </a:rPr>
              <a:t>73 °C</a:t>
            </a:r>
          </a:p>
        </p:txBody>
      </p:sp>
      <p:sp>
        <p:nvSpPr>
          <p:cNvPr id="23" name="Speech Bubble: Rectangle with Corners Rounded 22">
            <a:extLst>
              <a:ext uri="{FF2B5EF4-FFF2-40B4-BE49-F238E27FC236}">
                <a16:creationId xmlns:a16="http://schemas.microsoft.com/office/drawing/2014/main" id="{72664C32-81EE-666D-743E-6852DD37AA1F}"/>
              </a:ext>
            </a:extLst>
          </p:cNvPr>
          <p:cNvSpPr/>
          <p:nvPr/>
        </p:nvSpPr>
        <p:spPr>
          <a:xfrm>
            <a:off x="7169896" y="989141"/>
            <a:ext cx="649757" cy="390627"/>
          </a:xfrm>
          <a:prstGeom prst="wedgeRoundRectCallou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ea typeface="Calibri"/>
                <a:cs typeface="Calibri"/>
              </a:rPr>
              <a:t>73 °C</a:t>
            </a:r>
          </a:p>
        </p:txBody>
      </p:sp>
      <p:sp>
        <p:nvSpPr>
          <p:cNvPr id="9" name="Speech Bubble: Rectangle with Corners Rounded 8">
            <a:extLst>
              <a:ext uri="{FF2B5EF4-FFF2-40B4-BE49-F238E27FC236}">
                <a16:creationId xmlns:a16="http://schemas.microsoft.com/office/drawing/2014/main" id="{014199A2-D75E-AEEB-127C-05F2BCE0DBE1}"/>
              </a:ext>
            </a:extLst>
          </p:cNvPr>
          <p:cNvSpPr/>
          <p:nvPr/>
        </p:nvSpPr>
        <p:spPr>
          <a:xfrm>
            <a:off x="2252839" y="4224046"/>
            <a:ext cx="649757" cy="390627"/>
          </a:xfrm>
          <a:prstGeom prst="wedgeRoundRectCallou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dirty="0">
                <a:ea typeface="Calibri"/>
                <a:cs typeface="Calibri"/>
              </a:rPr>
              <a:t>20 °C</a:t>
            </a:r>
          </a:p>
        </p:txBody>
      </p:sp>
      <p:sp>
        <p:nvSpPr>
          <p:cNvPr id="11" name="Speech Bubble: Rectangle with Corners Rounded 10">
            <a:extLst>
              <a:ext uri="{FF2B5EF4-FFF2-40B4-BE49-F238E27FC236}">
                <a16:creationId xmlns:a16="http://schemas.microsoft.com/office/drawing/2014/main" id="{972B60B7-C6E7-4A55-58AD-2FCA7ACBA613}"/>
              </a:ext>
            </a:extLst>
          </p:cNvPr>
          <p:cNvSpPr/>
          <p:nvPr/>
        </p:nvSpPr>
        <p:spPr>
          <a:xfrm>
            <a:off x="3934991" y="2570651"/>
            <a:ext cx="649757" cy="390627"/>
          </a:xfrm>
          <a:prstGeom prst="wedgeRoundRectCallou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dirty="0">
                <a:ea typeface="Calibri"/>
                <a:cs typeface="Calibri"/>
              </a:rPr>
              <a:t>58 °C</a:t>
            </a:r>
          </a:p>
        </p:txBody>
      </p:sp>
      <p:sp>
        <p:nvSpPr>
          <p:cNvPr id="18" name="Speech Bubble: Rectangle with Corners Rounded 17">
            <a:extLst>
              <a:ext uri="{FF2B5EF4-FFF2-40B4-BE49-F238E27FC236}">
                <a16:creationId xmlns:a16="http://schemas.microsoft.com/office/drawing/2014/main" id="{B8B13092-0011-873C-4E32-F45108224D69}"/>
              </a:ext>
            </a:extLst>
          </p:cNvPr>
          <p:cNvSpPr/>
          <p:nvPr/>
        </p:nvSpPr>
        <p:spPr>
          <a:xfrm>
            <a:off x="6781710" y="1708010"/>
            <a:ext cx="1037945" cy="548777"/>
          </a:xfrm>
          <a:prstGeom prst="wedgeRoundRectCallou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ea typeface="Calibri"/>
                <a:cs typeface="Calibri"/>
              </a:rPr>
              <a:t>1985 kg/h, 80 °C</a:t>
            </a:r>
          </a:p>
        </p:txBody>
      </p:sp>
      <p:sp>
        <p:nvSpPr>
          <p:cNvPr id="22" name="Speech Bubble: Rectangle with Corners Rounded 21">
            <a:extLst>
              <a:ext uri="{FF2B5EF4-FFF2-40B4-BE49-F238E27FC236}">
                <a16:creationId xmlns:a16="http://schemas.microsoft.com/office/drawing/2014/main" id="{42D5ACBF-941F-EE38-223F-9AFA6076099F}"/>
              </a:ext>
            </a:extLst>
          </p:cNvPr>
          <p:cNvSpPr/>
          <p:nvPr/>
        </p:nvSpPr>
        <p:spPr>
          <a:xfrm>
            <a:off x="4216009" y="3675076"/>
            <a:ext cx="737477" cy="321889"/>
          </a:xfrm>
          <a:prstGeom prst="wedgeRoundRectCallou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ea typeface="Calibri"/>
                <a:cs typeface="Calibri"/>
              </a:rPr>
              <a:t>0 kg/h</a:t>
            </a:r>
          </a:p>
        </p:txBody>
      </p:sp>
      <p:sp>
        <p:nvSpPr>
          <p:cNvPr id="27" name="Speech Bubble: Rectangle with Corners Rounded 26">
            <a:extLst>
              <a:ext uri="{FF2B5EF4-FFF2-40B4-BE49-F238E27FC236}">
                <a16:creationId xmlns:a16="http://schemas.microsoft.com/office/drawing/2014/main" id="{0C232B4A-BCC6-2D27-93E2-B48139FEC319}"/>
              </a:ext>
            </a:extLst>
          </p:cNvPr>
          <p:cNvSpPr/>
          <p:nvPr/>
        </p:nvSpPr>
        <p:spPr>
          <a:xfrm>
            <a:off x="7169897" y="5172953"/>
            <a:ext cx="1037945" cy="548777"/>
          </a:xfrm>
          <a:prstGeom prst="wedgeRoundRectCallou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ea typeface="Calibri"/>
                <a:cs typeface="Calibri"/>
              </a:rPr>
              <a:t>542 kg/h, 20 °C</a:t>
            </a:r>
          </a:p>
        </p:txBody>
      </p:sp>
      <p:sp>
        <p:nvSpPr>
          <p:cNvPr id="53" name="Textfeld 52">
            <a:extLst>
              <a:ext uri="{FF2B5EF4-FFF2-40B4-BE49-F238E27FC236}">
                <a16:creationId xmlns:a16="http://schemas.microsoft.com/office/drawing/2014/main" id="{DAA8BF6E-DC86-99BC-141F-D2D5484F757A}"/>
              </a:ext>
            </a:extLst>
          </p:cNvPr>
          <p:cNvSpPr txBox="1"/>
          <p:nvPr/>
        </p:nvSpPr>
        <p:spPr>
          <a:xfrm>
            <a:off x="8609172" y="5868649"/>
            <a:ext cx="1756062" cy="171496"/>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endParaRPr lang="de-DE" sz="1600" dirty="0">
              <a:ea typeface="Calibri"/>
              <a:cs typeface="Calibri"/>
            </a:endParaRPr>
          </a:p>
        </p:txBody>
      </p:sp>
      <p:pic>
        <p:nvPicPr>
          <p:cNvPr id="6" name="Picture 12" descr="A computer screen shot of a diagram&#10;&#10;AI-generated content may be incorrect.">
            <a:extLst>
              <a:ext uri="{FF2B5EF4-FFF2-40B4-BE49-F238E27FC236}">
                <a16:creationId xmlns:a16="http://schemas.microsoft.com/office/drawing/2014/main" id="{8124059E-073A-32BD-7AFD-E904105732E1}"/>
              </a:ext>
            </a:extLst>
          </p:cNvPr>
          <p:cNvPicPr>
            <a:picLocks noChangeAspect="1"/>
          </p:cNvPicPr>
          <p:nvPr/>
        </p:nvPicPr>
        <p:blipFill>
          <a:blip r:embed="rId3"/>
          <a:srcRect l="36429" t="42830" r="62952" b="55431"/>
          <a:stretch>
            <a:fillRect/>
          </a:stretch>
        </p:blipFill>
        <p:spPr>
          <a:xfrm>
            <a:off x="9028704" y="5867729"/>
            <a:ext cx="126214" cy="196645"/>
          </a:xfrm>
          <a:prstGeom prst="rect">
            <a:avLst/>
          </a:prstGeom>
        </p:spPr>
      </p:pic>
      <p:sp>
        <p:nvSpPr>
          <p:cNvPr id="26" name="Speech Bubble: Rectangle with Corners Rounded 25">
            <a:extLst>
              <a:ext uri="{FF2B5EF4-FFF2-40B4-BE49-F238E27FC236}">
                <a16:creationId xmlns:a16="http://schemas.microsoft.com/office/drawing/2014/main" id="{C3C0EBFC-4483-2E27-D2A1-63B92023C0FC}"/>
              </a:ext>
            </a:extLst>
          </p:cNvPr>
          <p:cNvSpPr/>
          <p:nvPr/>
        </p:nvSpPr>
        <p:spPr>
          <a:xfrm>
            <a:off x="7486199" y="3675076"/>
            <a:ext cx="649757" cy="390627"/>
          </a:xfrm>
          <a:prstGeom prst="wedgeRoundRectCallou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ea typeface="Calibri"/>
                <a:cs typeface="Calibri"/>
              </a:rPr>
              <a:t>63 °C</a:t>
            </a:r>
          </a:p>
        </p:txBody>
      </p:sp>
      <p:sp>
        <p:nvSpPr>
          <p:cNvPr id="25" name="Speech Bubble: Rectangle with Corners Rounded 24">
            <a:extLst>
              <a:ext uri="{FF2B5EF4-FFF2-40B4-BE49-F238E27FC236}">
                <a16:creationId xmlns:a16="http://schemas.microsoft.com/office/drawing/2014/main" id="{03C25572-0295-32EC-E892-ECA769344331}"/>
              </a:ext>
            </a:extLst>
          </p:cNvPr>
          <p:cNvSpPr/>
          <p:nvPr/>
        </p:nvSpPr>
        <p:spPr>
          <a:xfrm>
            <a:off x="6695444" y="4281555"/>
            <a:ext cx="649757" cy="390627"/>
          </a:xfrm>
          <a:prstGeom prst="wedgeRoundRectCallou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ea typeface="Calibri"/>
                <a:cs typeface="Calibri"/>
              </a:rPr>
              <a:t>20 °C</a:t>
            </a:r>
          </a:p>
        </p:txBody>
      </p:sp>
      <p:sp>
        <p:nvSpPr>
          <p:cNvPr id="2" name="Textfeld 30">
            <a:extLst>
              <a:ext uri="{FF2B5EF4-FFF2-40B4-BE49-F238E27FC236}">
                <a16:creationId xmlns:a16="http://schemas.microsoft.com/office/drawing/2014/main" id="{47090D74-0586-9C4F-C36E-2A4EEE79196A}"/>
              </a:ext>
            </a:extLst>
          </p:cNvPr>
          <p:cNvSpPr txBox="1"/>
          <p:nvPr/>
        </p:nvSpPr>
        <p:spPr>
          <a:xfrm>
            <a:off x="763634" y="1029535"/>
            <a:ext cx="1711370" cy="349927"/>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de-DE" sz="1600" err="1">
                <a:ea typeface="Calibri"/>
                <a:cs typeface="Calibri"/>
              </a:rPr>
              <a:t>Προδι</a:t>
            </a:r>
            <a:r>
              <a:rPr lang="de-DE" sz="1600" dirty="0">
                <a:ea typeface="Calibri"/>
                <a:cs typeface="Calibri"/>
              </a:rPr>
              <a:t>α</a:t>
            </a:r>
            <a:r>
              <a:rPr lang="de-DE" sz="1600" err="1">
                <a:ea typeface="Calibri"/>
                <a:cs typeface="Calibri"/>
              </a:rPr>
              <a:t>γρ</a:t>
            </a:r>
            <a:r>
              <a:rPr lang="de-DE" sz="1600" dirty="0">
                <a:ea typeface="Calibri"/>
                <a:cs typeface="Calibri"/>
              </a:rPr>
              <a:t>α</a:t>
            </a:r>
            <a:r>
              <a:rPr lang="de-DE" sz="1600" err="1">
                <a:ea typeface="Calibri"/>
                <a:cs typeface="Calibri"/>
              </a:rPr>
              <a:t>φές</a:t>
            </a:r>
            <a:endParaRPr lang="de-DE"/>
          </a:p>
        </p:txBody>
      </p:sp>
      <p:sp>
        <p:nvSpPr>
          <p:cNvPr id="5" name="Textfeld 16">
            <a:extLst>
              <a:ext uri="{FF2B5EF4-FFF2-40B4-BE49-F238E27FC236}">
                <a16:creationId xmlns:a16="http://schemas.microsoft.com/office/drawing/2014/main" id="{3237CDD8-D2BA-5E87-2CCE-A5021D1AC268}"/>
              </a:ext>
            </a:extLst>
          </p:cNvPr>
          <p:cNvSpPr txBox="1"/>
          <p:nvPr/>
        </p:nvSpPr>
        <p:spPr>
          <a:xfrm>
            <a:off x="546526" y="3332330"/>
            <a:ext cx="1293819" cy="349927"/>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600" dirty="0" err="1">
                <a:ea typeface="Calibri"/>
                <a:cs typeface="Calibri"/>
              </a:rPr>
              <a:t>Τροφοδοσί</a:t>
            </a:r>
            <a:r>
              <a:rPr lang="de-DE" sz="1600" dirty="0">
                <a:ea typeface="Calibri"/>
                <a:cs typeface="Calibri"/>
              </a:rPr>
              <a:t>α</a:t>
            </a:r>
          </a:p>
        </p:txBody>
      </p:sp>
      <p:sp>
        <p:nvSpPr>
          <p:cNvPr id="7" name="Textfeld 19">
            <a:extLst>
              <a:ext uri="{FF2B5EF4-FFF2-40B4-BE49-F238E27FC236}">
                <a16:creationId xmlns:a16="http://schemas.microsoft.com/office/drawing/2014/main" id="{6F2A28B3-6BBF-15D1-F80E-9135F6E955DD}"/>
              </a:ext>
            </a:extLst>
          </p:cNvPr>
          <p:cNvSpPr txBox="1"/>
          <p:nvPr/>
        </p:nvSpPr>
        <p:spPr>
          <a:xfrm>
            <a:off x="546526" y="5819435"/>
            <a:ext cx="2254456" cy="338554"/>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600" dirty="0" err="1">
                <a:ea typeface="Calibri"/>
                <a:cs typeface="Calibri"/>
              </a:rPr>
              <a:t>Διάρκει</a:t>
            </a:r>
            <a:r>
              <a:rPr lang="de-DE" sz="1600" dirty="0">
                <a:ea typeface="Calibri"/>
                <a:cs typeface="Calibri"/>
              </a:rPr>
              <a:t>α π</a:t>
            </a:r>
            <a:r>
              <a:rPr lang="de-DE" sz="1600" dirty="0" err="1">
                <a:ea typeface="Calibri"/>
                <a:cs typeface="Calibri"/>
              </a:rPr>
              <a:t>ροσομοίωσης</a:t>
            </a:r>
            <a:endParaRPr lang="de-DE" sz="1600" dirty="0">
              <a:ea typeface="Calibri"/>
              <a:cs typeface="Calibri"/>
            </a:endParaRPr>
          </a:p>
        </p:txBody>
      </p:sp>
      <p:sp>
        <p:nvSpPr>
          <p:cNvPr id="8" name="Textfeld 34">
            <a:extLst>
              <a:ext uri="{FF2B5EF4-FFF2-40B4-BE49-F238E27FC236}">
                <a16:creationId xmlns:a16="http://schemas.microsoft.com/office/drawing/2014/main" id="{93BFDC11-7283-0922-876C-B299AA3B27D1}"/>
              </a:ext>
            </a:extLst>
          </p:cNvPr>
          <p:cNvSpPr txBox="1"/>
          <p:nvPr/>
        </p:nvSpPr>
        <p:spPr>
          <a:xfrm>
            <a:off x="3154451" y="4281555"/>
            <a:ext cx="1430296" cy="338554"/>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600" dirty="0" err="1">
                <a:ea typeface="Calibri"/>
                <a:cs typeface="Calibri"/>
              </a:rPr>
              <a:t>Νερό</a:t>
            </a:r>
            <a:r>
              <a:rPr lang="de-DE" sz="1600" dirty="0">
                <a:ea typeface="Calibri"/>
                <a:cs typeface="Calibri"/>
              </a:rPr>
              <a:t> </a:t>
            </a:r>
            <a:r>
              <a:rPr lang="de-DE" sz="1600" dirty="0" err="1">
                <a:ea typeface="Calibri"/>
                <a:cs typeface="Calibri"/>
              </a:rPr>
              <a:t>ψύξης</a:t>
            </a:r>
          </a:p>
        </p:txBody>
      </p:sp>
      <p:sp>
        <p:nvSpPr>
          <p:cNvPr id="10" name="Textfeld 4">
            <a:extLst>
              <a:ext uri="{FF2B5EF4-FFF2-40B4-BE49-F238E27FC236}">
                <a16:creationId xmlns:a16="http://schemas.microsoft.com/office/drawing/2014/main" id="{E146DF3E-181F-2B8C-FBFE-DC9B0D4E48E1}"/>
              </a:ext>
            </a:extLst>
          </p:cNvPr>
          <p:cNvSpPr txBox="1"/>
          <p:nvPr/>
        </p:nvSpPr>
        <p:spPr>
          <a:xfrm>
            <a:off x="2043457" y="3266547"/>
            <a:ext cx="2172552" cy="338554"/>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600" dirty="0" err="1">
                <a:ea typeface="Calibri"/>
                <a:cs typeface="Calibri"/>
              </a:rPr>
              <a:t>Αν</a:t>
            </a:r>
            <a:r>
              <a:rPr lang="de-DE" sz="1600" dirty="0">
                <a:ea typeface="Calibri"/>
                <a:cs typeface="Calibri"/>
              </a:rPr>
              <a:t>α</a:t>
            </a:r>
            <a:r>
              <a:rPr lang="de-DE" sz="1600" dirty="0" err="1">
                <a:ea typeface="Calibri"/>
                <a:cs typeface="Calibri"/>
              </a:rPr>
              <a:t>γεννητική</a:t>
            </a:r>
            <a:r>
              <a:rPr lang="de-DE" sz="1600" dirty="0">
                <a:ea typeface="Calibri"/>
                <a:cs typeface="Calibri"/>
              </a:rPr>
              <a:t> </a:t>
            </a:r>
            <a:r>
              <a:rPr lang="de-DE" sz="1600" dirty="0" err="1">
                <a:ea typeface="Calibri"/>
                <a:cs typeface="Calibri"/>
              </a:rPr>
              <a:t>μονάδ</a:t>
            </a:r>
            <a:r>
              <a:rPr lang="de-DE" sz="1600" dirty="0">
                <a:ea typeface="Calibri"/>
                <a:cs typeface="Calibri"/>
              </a:rPr>
              <a:t>α</a:t>
            </a:r>
          </a:p>
        </p:txBody>
      </p:sp>
      <p:sp>
        <p:nvSpPr>
          <p:cNvPr id="12" name="Textfeld 32">
            <a:extLst>
              <a:ext uri="{FF2B5EF4-FFF2-40B4-BE49-F238E27FC236}">
                <a16:creationId xmlns:a16="http://schemas.microsoft.com/office/drawing/2014/main" id="{9A0A6CC0-FFA1-F98A-447A-6CE1627CB57E}"/>
              </a:ext>
            </a:extLst>
          </p:cNvPr>
          <p:cNvSpPr txBox="1"/>
          <p:nvPr/>
        </p:nvSpPr>
        <p:spPr>
          <a:xfrm>
            <a:off x="4813058" y="2576353"/>
            <a:ext cx="1979935" cy="338554"/>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600" dirty="0" err="1">
                <a:ea typeface="Calibri"/>
                <a:cs typeface="Calibri"/>
              </a:rPr>
              <a:t>Νερό</a:t>
            </a:r>
            <a:r>
              <a:rPr lang="de-DE" sz="1600" dirty="0">
                <a:ea typeface="Calibri"/>
                <a:cs typeface="Calibri"/>
              </a:rPr>
              <a:t> </a:t>
            </a:r>
            <a:r>
              <a:rPr lang="de-DE" sz="1600" dirty="0" err="1">
                <a:ea typeface="Calibri"/>
                <a:cs typeface="Calibri"/>
              </a:rPr>
              <a:t>θέρμ</a:t>
            </a:r>
            <a:r>
              <a:rPr lang="de-DE" sz="1600" dirty="0">
                <a:ea typeface="Calibri"/>
                <a:cs typeface="Calibri"/>
              </a:rPr>
              <a:t>α</a:t>
            </a:r>
            <a:r>
              <a:rPr lang="de-DE" sz="1600" dirty="0" err="1">
                <a:ea typeface="Calibri"/>
                <a:cs typeface="Calibri"/>
              </a:rPr>
              <a:t>νσης</a:t>
            </a:r>
          </a:p>
        </p:txBody>
      </p:sp>
      <p:sp>
        <p:nvSpPr>
          <p:cNvPr id="14" name="Textfeld 6">
            <a:extLst>
              <a:ext uri="{FF2B5EF4-FFF2-40B4-BE49-F238E27FC236}">
                <a16:creationId xmlns:a16="http://schemas.microsoft.com/office/drawing/2014/main" id="{B1BD3B45-DA0B-4EF4-0AB4-B00C6A4FE975}"/>
              </a:ext>
            </a:extLst>
          </p:cNvPr>
          <p:cNvSpPr txBox="1"/>
          <p:nvPr/>
        </p:nvSpPr>
        <p:spPr>
          <a:xfrm>
            <a:off x="6959362" y="3322148"/>
            <a:ext cx="1720581" cy="338554"/>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600" dirty="0" err="1">
                <a:ea typeface="Calibri"/>
                <a:cs typeface="Calibri"/>
              </a:rPr>
              <a:t>Προθερμ</a:t>
            </a:r>
            <a:r>
              <a:rPr lang="de-DE" sz="1600" dirty="0">
                <a:ea typeface="Calibri"/>
                <a:cs typeface="Calibri"/>
              </a:rPr>
              <a:t>α</a:t>
            </a:r>
            <a:r>
              <a:rPr lang="de-DE" sz="1600" dirty="0" err="1">
                <a:ea typeface="Calibri"/>
                <a:cs typeface="Calibri"/>
              </a:rPr>
              <a:t>ντήρ</a:t>
            </a:r>
            <a:r>
              <a:rPr lang="de-DE" sz="1600" dirty="0">
                <a:ea typeface="Calibri"/>
                <a:cs typeface="Calibri"/>
              </a:rPr>
              <a:t>ας</a:t>
            </a:r>
          </a:p>
        </p:txBody>
      </p:sp>
      <p:sp>
        <p:nvSpPr>
          <p:cNvPr id="16" name="Textfeld 38">
            <a:extLst>
              <a:ext uri="{FF2B5EF4-FFF2-40B4-BE49-F238E27FC236}">
                <a16:creationId xmlns:a16="http://schemas.microsoft.com/office/drawing/2014/main" id="{F37D642D-AF28-590E-6B03-0E7C511B9F2C}"/>
              </a:ext>
            </a:extLst>
          </p:cNvPr>
          <p:cNvSpPr txBox="1"/>
          <p:nvPr/>
        </p:nvSpPr>
        <p:spPr>
          <a:xfrm>
            <a:off x="7383139" y="4274362"/>
            <a:ext cx="2380720" cy="338554"/>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600" dirty="0" err="1">
                <a:ea typeface="Calibri"/>
                <a:cs typeface="Calibri"/>
              </a:rPr>
              <a:t>Έξοδος</a:t>
            </a:r>
            <a:r>
              <a:rPr lang="de-DE" sz="1600" dirty="0">
                <a:ea typeface="Calibri"/>
                <a:cs typeface="Calibri"/>
              </a:rPr>
              <a:t> </a:t>
            </a:r>
            <a:r>
              <a:rPr lang="de-DE" sz="1600" dirty="0" err="1">
                <a:ea typeface="Calibri"/>
                <a:cs typeface="Calibri"/>
              </a:rPr>
              <a:t>νερού</a:t>
            </a:r>
            <a:r>
              <a:rPr lang="de-DE" sz="1600" dirty="0">
                <a:ea typeface="Calibri"/>
                <a:cs typeface="Calibri"/>
              </a:rPr>
              <a:t> </a:t>
            </a:r>
            <a:r>
              <a:rPr lang="de-DE" sz="1600" dirty="0" err="1">
                <a:ea typeface="Calibri"/>
                <a:cs typeface="Calibri"/>
              </a:rPr>
              <a:t>θέρμ</a:t>
            </a:r>
            <a:r>
              <a:rPr lang="de-DE" sz="1600" dirty="0">
                <a:ea typeface="Calibri"/>
                <a:cs typeface="Calibri"/>
              </a:rPr>
              <a:t>α</a:t>
            </a:r>
            <a:r>
              <a:rPr lang="de-DE" sz="1600" dirty="0" err="1">
                <a:ea typeface="Calibri"/>
                <a:cs typeface="Calibri"/>
              </a:rPr>
              <a:t>νσης</a:t>
            </a:r>
          </a:p>
        </p:txBody>
      </p:sp>
      <p:sp>
        <p:nvSpPr>
          <p:cNvPr id="17" name="Textfeld 9">
            <a:extLst>
              <a:ext uri="{FF2B5EF4-FFF2-40B4-BE49-F238E27FC236}">
                <a16:creationId xmlns:a16="http://schemas.microsoft.com/office/drawing/2014/main" id="{D9151512-3AF5-91FD-EB56-75792CB62EEC}"/>
              </a:ext>
            </a:extLst>
          </p:cNvPr>
          <p:cNvSpPr txBox="1"/>
          <p:nvPr/>
        </p:nvSpPr>
        <p:spPr>
          <a:xfrm>
            <a:off x="9224996" y="3429949"/>
            <a:ext cx="1575439" cy="584775"/>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600" dirty="0" err="1">
                <a:ea typeface="Calibri"/>
                <a:cs typeface="Calibri"/>
              </a:rPr>
              <a:t>Θάλ</a:t>
            </a:r>
            <a:r>
              <a:rPr lang="de-DE" sz="1600" dirty="0">
                <a:ea typeface="Calibri"/>
                <a:cs typeface="Calibri"/>
              </a:rPr>
              <a:t>αμος συγκράτησης</a:t>
            </a:r>
          </a:p>
        </p:txBody>
      </p:sp>
      <p:sp>
        <p:nvSpPr>
          <p:cNvPr id="19" name="Textfeld 42">
            <a:extLst>
              <a:ext uri="{FF2B5EF4-FFF2-40B4-BE49-F238E27FC236}">
                <a16:creationId xmlns:a16="http://schemas.microsoft.com/office/drawing/2014/main" id="{DC9F1518-2BF2-35A5-539E-38C08746DEB9}"/>
              </a:ext>
            </a:extLst>
          </p:cNvPr>
          <p:cNvSpPr txBox="1"/>
          <p:nvPr/>
        </p:nvSpPr>
        <p:spPr>
          <a:xfrm>
            <a:off x="10530661" y="4099843"/>
            <a:ext cx="1305377" cy="338554"/>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600" dirty="0" err="1">
                <a:ea typeface="Calibri"/>
                <a:cs typeface="Calibri"/>
              </a:rPr>
              <a:t>Εικονική</a:t>
            </a:r>
            <a:r>
              <a:rPr lang="de-DE" sz="1600" dirty="0">
                <a:ea typeface="Calibri"/>
                <a:cs typeface="Calibri"/>
              </a:rPr>
              <a:t> </a:t>
            </a:r>
            <a:r>
              <a:rPr lang="de-DE" sz="1600" dirty="0" err="1">
                <a:ea typeface="Calibri"/>
                <a:cs typeface="Calibri"/>
              </a:rPr>
              <a:t>ροή</a:t>
            </a:r>
          </a:p>
        </p:txBody>
      </p:sp>
      <p:sp>
        <p:nvSpPr>
          <p:cNvPr id="20" name="Textfeld 42">
            <a:extLst>
              <a:ext uri="{FF2B5EF4-FFF2-40B4-BE49-F238E27FC236}">
                <a16:creationId xmlns:a16="http://schemas.microsoft.com/office/drawing/2014/main" id="{BEFA786D-8196-234C-0363-A0F98C69813E}"/>
              </a:ext>
            </a:extLst>
          </p:cNvPr>
          <p:cNvSpPr txBox="1"/>
          <p:nvPr/>
        </p:nvSpPr>
        <p:spPr>
          <a:xfrm>
            <a:off x="8953588" y="2087477"/>
            <a:ext cx="1305377" cy="338554"/>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600" dirty="0" err="1">
                <a:ea typeface="Calibri"/>
                <a:cs typeface="Calibri"/>
              </a:rPr>
              <a:t>Εικονική</a:t>
            </a:r>
            <a:r>
              <a:rPr lang="de-DE" sz="1600" dirty="0">
                <a:ea typeface="Calibri"/>
                <a:cs typeface="Calibri"/>
              </a:rPr>
              <a:t> </a:t>
            </a:r>
            <a:r>
              <a:rPr lang="de-DE" sz="1600" dirty="0" err="1">
                <a:ea typeface="Calibri"/>
                <a:cs typeface="Calibri"/>
              </a:rPr>
              <a:t>ροή</a:t>
            </a:r>
          </a:p>
        </p:txBody>
      </p:sp>
      <p:sp>
        <p:nvSpPr>
          <p:cNvPr id="28" name="Speech Bubble: Rectangle with Corners Rounded 27">
            <a:extLst>
              <a:ext uri="{FF2B5EF4-FFF2-40B4-BE49-F238E27FC236}">
                <a16:creationId xmlns:a16="http://schemas.microsoft.com/office/drawing/2014/main" id="{B07E733C-3A21-56AA-8A85-62FE917B4011}"/>
              </a:ext>
            </a:extLst>
          </p:cNvPr>
          <p:cNvSpPr/>
          <p:nvPr/>
        </p:nvSpPr>
        <p:spPr>
          <a:xfrm>
            <a:off x="9700311" y="4410953"/>
            <a:ext cx="1023569" cy="548777"/>
          </a:xfrm>
          <a:prstGeom prst="wedgeRoundRectCallou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ea typeface="Calibri"/>
                <a:cs typeface="Calibri"/>
              </a:rPr>
              <a:t>2539 kg/h, 20 °C</a:t>
            </a:r>
          </a:p>
        </p:txBody>
      </p:sp>
      <p:sp>
        <p:nvSpPr>
          <p:cNvPr id="24" name="Textfeld 50">
            <a:extLst>
              <a:ext uri="{FF2B5EF4-FFF2-40B4-BE49-F238E27FC236}">
                <a16:creationId xmlns:a16="http://schemas.microsoft.com/office/drawing/2014/main" id="{B6A9DCDC-D0E4-2FF9-6DE7-0147B0BF795D}"/>
              </a:ext>
            </a:extLst>
          </p:cNvPr>
          <p:cNvSpPr txBox="1"/>
          <p:nvPr/>
        </p:nvSpPr>
        <p:spPr>
          <a:xfrm>
            <a:off x="10587170" y="5189309"/>
            <a:ext cx="1248868" cy="338554"/>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600" dirty="0" err="1">
                <a:ea typeface="Calibri"/>
                <a:cs typeface="Calibri"/>
              </a:rPr>
              <a:t>Διήθημ</a:t>
            </a:r>
            <a:r>
              <a:rPr lang="de-DE" sz="1600" dirty="0">
                <a:ea typeface="Calibri"/>
                <a:cs typeface="Calibri"/>
              </a:rPr>
              <a:t>α</a:t>
            </a:r>
          </a:p>
        </p:txBody>
      </p:sp>
      <p:sp>
        <p:nvSpPr>
          <p:cNvPr id="30" name="Textfeld 48">
            <a:extLst>
              <a:ext uri="{FF2B5EF4-FFF2-40B4-BE49-F238E27FC236}">
                <a16:creationId xmlns:a16="http://schemas.microsoft.com/office/drawing/2014/main" id="{59660C00-25E5-06EE-5C99-5433FDB94DDE}"/>
              </a:ext>
            </a:extLst>
          </p:cNvPr>
          <p:cNvSpPr txBox="1"/>
          <p:nvPr/>
        </p:nvSpPr>
        <p:spPr>
          <a:xfrm>
            <a:off x="10671922" y="6302847"/>
            <a:ext cx="1297523" cy="350099"/>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600" dirty="0" err="1">
                <a:ea typeface="Calibri"/>
                <a:cs typeface="Calibri"/>
              </a:rPr>
              <a:t>Συμ</a:t>
            </a:r>
            <a:r>
              <a:rPr lang="de-DE" sz="1600" dirty="0">
                <a:ea typeface="Calibri"/>
                <a:cs typeface="Calibri"/>
              </a:rPr>
              <a:t>π</a:t>
            </a:r>
            <a:r>
              <a:rPr lang="de-DE" sz="1600" dirty="0" err="1">
                <a:ea typeface="Calibri"/>
                <a:cs typeface="Calibri"/>
              </a:rPr>
              <a:t>ύκνωμ</a:t>
            </a:r>
            <a:r>
              <a:rPr lang="de-DE" sz="1600" dirty="0">
                <a:ea typeface="Calibri"/>
                <a:cs typeface="Calibri"/>
              </a:rPr>
              <a:t>α</a:t>
            </a:r>
          </a:p>
        </p:txBody>
      </p:sp>
      <p:sp>
        <p:nvSpPr>
          <p:cNvPr id="29" name="Speech Bubble: Rectangle with Corners Rounded 28">
            <a:extLst>
              <a:ext uri="{FF2B5EF4-FFF2-40B4-BE49-F238E27FC236}">
                <a16:creationId xmlns:a16="http://schemas.microsoft.com/office/drawing/2014/main" id="{77B23EFE-9BF5-DEFE-36A2-B55B05D09D09}"/>
              </a:ext>
            </a:extLst>
          </p:cNvPr>
          <p:cNvSpPr/>
          <p:nvPr/>
        </p:nvSpPr>
        <p:spPr>
          <a:xfrm>
            <a:off x="9142613" y="6018387"/>
            <a:ext cx="1444557" cy="653373"/>
          </a:xfrm>
          <a:prstGeom prst="wedgeRoundRectCallou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ea typeface="Calibri"/>
                <a:cs typeface="Calibri"/>
              </a:rPr>
              <a:t>503 kg/h, 20 °C, 20% </a:t>
            </a:r>
            <a:r>
              <a:rPr lang="el-GR" sz="1400" dirty="0">
                <a:ea typeface="Calibri"/>
                <a:cs typeface="Calibri"/>
              </a:rPr>
              <a:t>στερεά</a:t>
            </a:r>
            <a:r>
              <a:rPr lang="en-US" sz="1400" dirty="0">
                <a:ea typeface="Calibri"/>
                <a:cs typeface="Calibri"/>
              </a:rPr>
              <a:t>, 15% </a:t>
            </a:r>
            <a:r>
              <a:rPr lang="el-GR" sz="1400" dirty="0">
                <a:ea typeface="Calibri"/>
                <a:cs typeface="Calibri"/>
              </a:rPr>
              <a:t>πρωτεΐνες</a:t>
            </a:r>
            <a:endParaRPr lang="en-US" sz="1400" dirty="0">
              <a:ea typeface="Calibri"/>
              <a:cs typeface="Calibri"/>
            </a:endParaRPr>
          </a:p>
        </p:txBody>
      </p:sp>
      <p:sp>
        <p:nvSpPr>
          <p:cNvPr id="31" name="Textfeld 46">
            <a:extLst>
              <a:ext uri="{FF2B5EF4-FFF2-40B4-BE49-F238E27FC236}">
                <a16:creationId xmlns:a16="http://schemas.microsoft.com/office/drawing/2014/main" id="{39EFEB3E-612D-87DB-EBD4-B2DBC0756A28}"/>
              </a:ext>
            </a:extLst>
          </p:cNvPr>
          <p:cNvSpPr txBox="1"/>
          <p:nvPr/>
        </p:nvSpPr>
        <p:spPr>
          <a:xfrm>
            <a:off x="5661213" y="6521325"/>
            <a:ext cx="2029010" cy="338554"/>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600" dirty="0" err="1">
                <a:ea typeface="Calibri"/>
                <a:cs typeface="Calibri"/>
              </a:rPr>
              <a:t>Νερό</a:t>
            </a:r>
            <a:r>
              <a:rPr lang="de-DE" sz="1600" dirty="0">
                <a:ea typeface="Calibri"/>
                <a:cs typeface="Calibri"/>
              </a:rPr>
              <a:t> </a:t>
            </a:r>
            <a:r>
              <a:rPr lang="de-DE" sz="1600" dirty="0" err="1">
                <a:ea typeface="Calibri"/>
                <a:cs typeface="Calibri"/>
              </a:rPr>
              <a:t>δι</a:t>
            </a:r>
            <a:r>
              <a:rPr lang="de-DE" sz="1600" dirty="0">
                <a:ea typeface="Calibri"/>
                <a:cs typeface="Calibri"/>
              </a:rPr>
              <a:t>α</a:t>
            </a:r>
            <a:r>
              <a:rPr lang="de-DE" sz="1600" dirty="0" err="1">
                <a:ea typeface="Calibri"/>
                <a:cs typeface="Calibri"/>
              </a:rPr>
              <a:t>διήθησης</a:t>
            </a:r>
          </a:p>
        </p:txBody>
      </p:sp>
      <p:sp>
        <p:nvSpPr>
          <p:cNvPr id="32" name="Textfeld 36">
            <a:extLst>
              <a:ext uri="{FF2B5EF4-FFF2-40B4-BE49-F238E27FC236}">
                <a16:creationId xmlns:a16="http://schemas.microsoft.com/office/drawing/2014/main" id="{CCCE1FA4-DAEC-F71C-450A-B57BD2787F60}"/>
              </a:ext>
            </a:extLst>
          </p:cNvPr>
          <p:cNvSpPr txBox="1"/>
          <p:nvPr/>
        </p:nvSpPr>
        <p:spPr>
          <a:xfrm>
            <a:off x="4864408" y="5750370"/>
            <a:ext cx="1986961" cy="338554"/>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600" dirty="0" err="1">
                <a:ea typeface="Calibri"/>
                <a:cs typeface="Calibri"/>
              </a:rPr>
              <a:t>Έξοδος</a:t>
            </a:r>
            <a:r>
              <a:rPr lang="de-DE" sz="1600" dirty="0">
                <a:ea typeface="Calibri"/>
                <a:cs typeface="Calibri"/>
              </a:rPr>
              <a:t> </a:t>
            </a:r>
            <a:r>
              <a:rPr lang="de-DE" sz="1600" dirty="0" err="1">
                <a:ea typeface="Calibri"/>
                <a:cs typeface="Calibri"/>
              </a:rPr>
              <a:t>νερού</a:t>
            </a:r>
            <a:r>
              <a:rPr lang="de-DE" sz="1600" dirty="0">
                <a:ea typeface="Calibri"/>
                <a:cs typeface="Calibri"/>
              </a:rPr>
              <a:t> </a:t>
            </a:r>
            <a:r>
              <a:rPr lang="de-DE" sz="1600" dirty="0" err="1">
                <a:ea typeface="Calibri"/>
                <a:cs typeface="Calibri"/>
              </a:rPr>
              <a:t>ψύξης</a:t>
            </a:r>
          </a:p>
        </p:txBody>
      </p:sp>
      <p:sp>
        <p:nvSpPr>
          <p:cNvPr id="33" name="Textfeld 13">
            <a:extLst>
              <a:ext uri="{FF2B5EF4-FFF2-40B4-BE49-F238E27FC236}">
                <a16:creationId xmlns:a16="http://schemas.microsoft.com/office/drawing/2014/main" id="{FA6FE191-7928-8D80-BCDE-3709BEE7D90A}"/>
              </a:ext>
            </a:extLst>
          </p:cNvPr>
          <p:cNvSpPr txBox="1"/>
          <p:nvPr/>
        </p:nvSpPr>
        <p:spPr>
          <a:xfrm>
            <a:off x="4592217" y="5005203"/>
            <a:ext cx="822511" cy="338554"/>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1600" dirty="0" err="1">
                <a:ea typeface="Calibri"/>
                <a:cs typeface="Calibri"/>
              </a:rPr>
              <a:t>Ψύκτης</a:t>
            </a:r>
          </a:p>
        </p:txBody>
      </p:sp>
      <p:sp>
        <p:nvSpPr>
          <p:cNvPr id="34" name="Title 1">
            <a:extLst>
              <a:ext uri="{FF2B5EF4-FFF2-40B4-BE49-F238E27FC236}">
                <a16:creationId xmlns:a16="http://schemas.microsoft.com/office/drawing/2014/main" id="{BE6E4EB8-7272-6427-8C9F-FE1EA9D5310D}"/>
              </a:ext>
            </a:extLst>
          </p:cNvPr>
          <p:cNvSpPr txBox="1">
            <a:spLocks/>
          </p:cNvSpPr>
          <p:nvPr/>
        </p:nvSpPr>
        <p:spPr>
          <a:xfrm>
            <a:off x="103898" y="138893"/>
            <a:ext cx="12541326" cy="6868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dirty="0">
                <a:ea typeface="Calibri Light"/>
                <a:cs typeface="Calibri Light"/>
              </a:rPr>
              <a:t>4.3 </a:t>
            </a:r>
            <a:r>
              <a:rPr lang="en-US" sz="3100" dirty="0" err="1">
                <a:ea typeface="Calibri Light"/>
                <a:cs typeface="Calibri Light"/>
              </a:rPr>
              <a:t>Ολοκληρωμένο</a:t>
            </a:r>
            <a:r>
              <a:rPr lang="en-US" sz="3100" dirty="0">
                <a:ea typeface="Calibri Light"/>
                <a:cs typeface="Calibri Light"/>
              </a:rPr>
              <a:t> </a:t>
            </a:r>
            <a:r>
              <a:rPr lang="en-US" sz="3100" dirty="0" err="1">
                <a:ea typeface="Calibri Light"/>
                <a:cs typeface="Calibri Light"/>
              </a:rPr>
              <a:t>Μοντέλο</a:t>
            </a:r>
            <a:r>
              <a:rPr lang="en-US" sz="3100" dirty="0">
                <a:ea typeface="Calibri Light"/>
                <a:cs typeface="Calibri Light"/>
              </a:rPr>
              <a:t>-Απ</a:t>
            </a:r>
            <a:r>
              <a:rPr lang="en-US" sz="3100" dirty="0" err="1">
                <a:ea typeface="Calibri Light"/>
                <a:cs typeface="Calibri Light"/>
              </a:rPr>
              <a:t>οτελέσμ</a:t>
            </a:r>
            <a:r>
              <a:rPr lang="en-US" sz="3100" dirty="0">
                <a:ea typeface="Calibri Light"/>
                <a:cs typeface="Calibri Light"/>
              </a:rPr>
              <a:t>ατα Προσομοίωσης</a:t>
            </a:r>
          </a:p>
        </p:txBody>
      </p:sp>
    </p:spTree>
    <p:extLst>
      <p:ext uri="{BB962C8B-B14F-4D97-AF65-F5344CB8AC3E}">
        <p14:creationId xmlns:p14="http://schemas.microsoft.com/office/powerpoint/2010/main" val="6050026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D98A9-6DF9-9099-6BD2-90C3E5E23577}"/>
            </a:ext>
          </a:extLst>
        </p:cNvPr>
        <p:cNvGrpSpPr/>
        <p:nvPr/>
      </p:nvGrpSpPr>
      <p:grpSpPr>
        <a:xfrm>
          <a:off x="0" y="0"/>
          <a:ext cx="0" cy="0"/>
          <a:chOff x="0" y="0"/>
          <a:chExt cx="0" cy="0"/>
        </a:xfrm>
      </p:grpSpPr>
      <p:pic>
        <p:nvPicPr>
          <p:cNvPr id="9" name="Εικόνα 8">
            <a:extLst>
              <a:ext uri="{FF2B5EF4-FFF2-40B4-BE49-F238E27FC236}">
                <a16:creationId xmlns:a16="http://schemas.microsoft.com/office/drawing/2014/main" id="{F1348B7D-A433-389D-DBEC-6DB23B67DDB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38578" y="1240002"/>
            <a:ext cx="6053422" cy="3632856"/>
          </a:xfrm>
          <a:prstGeom prst="rect">
            <a:avLst/>
          </a:prstGeom>
        </p:spPr>
      </p:pic>
      <p:pic>
        <p:nvPicPr>
          <p:cNvPr id="12" name="Εικόνα 11">
            <a:extLst>
              <a:ext uri="{FF2B5EF4-FFF2-40B4-BE49-F238E27FC236}">
                <a16:creationId xmlns:a16="http://schemas.microsoft.com/office/drawing/2014/main" id="{E910FEFA-F63B-3E0C-4130-612C73FE9C1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451" y="1240002"/>
            <a:ext cx="6058776" cy="3632856"/>
          </a:xfrm>
          <a:prstGeom prst="rect">
            <a:avLst/>
          </a:prstGeom>
        </p:spPr>
      </p:pic>
      <p:sp>
        <p:nvSpPr>
          <p:cNvPr id="6" name="TextBox 5">
            <a:extLst>
              <a:ext uri="{FF2B5EF4-FFF2-40B4-BE49-F238E27FC236}">
                <a16:creationId xmlns:a16="http://schemas.microsoft.com/office/drawing/2014/main" id="{5D57162E-4888-31FA-EE54-4D16208BCB73}"/>
              </a:ext>
            </a:extLst>
          </p:cNvPr>
          <p:cNvSpPr txBox="1"/>
          <p:nvPr/>
        </p:nvSpPr>
        <p:spPr>
          <a:xfrm>
            <a:off x="5363053" y="5287140"/>
            <a:ext cx="6962074"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dirty="0" err="1">
                <a:ea typeface="Calibri"/>
                <a:cs typeface="Calibri"/>
              </a:rPr>
              <a:t>Εικόν</a:t>
            </a:r>
            <a:r>
              <a:rPr lang="en-US" sz="2000" dirty="0">
                <a:ea typeface="Calibri"/>
                <a:cs typeface="Calibri"/>
              </a:rPr>
              <a:t>α </a:t>
            </a:r>
            <a:r>
              <a:rPr lang="el-GR" sz="2000" dirty="0">
                <a:ea typeface="Calibri"/>
                <a:cs typeface="Calibri"/>
              </a:rPr>
              <a:t>5</a:t>
            </a:r>
            <a:r>
              <a:rPr lang="en-US" sz="2000" dirty="0">
                <a:ea typeface="Calibri"/>
                <a:cs typeface="Calibri"/>
              </a:rPr>
              <a:t>: </a:t>
            </a:r>
            <a:r>
              <a:rPr lang="el-GR" sz="2000" dirty="0">
                <a:ea typeface="Calibri"/>
                <a:cs typeface="Calibri"/>
              </a:rPr>
              <a:t>Ο</a:t>
            </a:r>
            <a:r>
              <a:rPr lang="en-US" sz="2000" dirty="0" err="1">
                <a:ea typeface="Calibri"/>
                <a:cs typeface="Calibri"/>
              </a:rPr>
              <a:t>λοκληρωμένο</a:t>
            </a:r>
            <a:r>
              <a:rPr lang="en-US" sz="2000" dirty="0">
                <a:ea typeface="Calibri"/>
                <a:cs typeface="Calibri"/>
              </a:rPr>
              <a:t> μοντέλο</a:t>
            </a:r>
          </a:p>
        </p:txBody>
      </p:sp>
      <p:sp>
        <p:nvSpPr>
          <p:cNvPr id="11" name="Title 1">
            <a:extLst>
              <a:ext uri="{FF2B5EF4-FFF2-40B4-BE49-F238E27FC236}">
                <a16:creationId xmlns:a16="http://schemas.microsoft.com/office/drawing/2014/main" id="{86FA3D65-33FC-3AA6-905C-7A7528BC5767}"/>
              </a:ext>
            </a:extLst>
          </p:cNvPr>
          <p:cNvSpPr txBox="1">
            <a:spLocks/>
          </p:cNvSpPr>
          <p:nvPr/>
        </p:nvSpPr>
        <p:spPr>
          <a:xfrm>
            <a:off x="103898" y="138893"/>
            <a:ext cx="12485296" cy="686828"/>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dirty="0">
                <a:ea typeface="Calibri Light"/>
                <a:cs typeface="Calibri Light"/>
              </a:rPr>
              <a:t>4.4.1 </a:t>
            </a:r>
            <a:r>
              <a:rPr lang="el-GR" sz="3100" dirty="0">
                <a:ea typeface="Calibri Light"/>
                <a:cs typeface="Calibri Light"/>
              </a:rPr>
              <a:t>Συντελεστής μεταφοράς θερμότητας στο θερμό τμήμα της αναγεννητικής μονάδας</a:t>
            </a:r>
            <a:endParaRPr lang="en-US" sz="3100" dirty="0">
              <a:ea typeface="Calibri Light"/>
              <a:cs typeface="Calibri Light"/>
            </a:endParaRPr>
          </a:p>
        </p:txBody>
      </p:sp>
      <p:sp>
        <p:nvSpPr>
          <p:cNvPr id="7" name="Foliennummernplatzhalter 6">
            <a:extLst>
              <a:ext uri="{FF2B5EF4-FFF2-40B4-BE49-F238E27FC236}">
                <a16:creationId xmlns:a16="http://schemas.microsoft.com/office/drawing/2014/main" id="{3613BBD2-C39E-FA0A-9B49-1788E32EE428}"/>
              </a:ext>
            </a:extLst>
          </p:cNvPr>
          <p:cNvSpPr>
            <a:spLocks noGrp="1"/>
          </p:cNvSpPr>
          <p:nvPr>
            <p:ph type="sldNum" sz="quarter" idx="12"/>
          </p:nvPr>
        </p:nvSpPr>
        <p:spPr/>
        <p:txBody>
          <a:bodyPr/>
          <a:lstStyle/>
          <a:p>
            <a:fld id="{48F63A3B-78C7-47BE-AE5E-E10140E04643}" type="slidenum">
              <a:rPr lang="en-US" smtClean="0"/>
              <a:t>13</a:t>
            </a:fld>
            <a:r>
              <a:rPr lang="en-US" dirty="0"/>
              <a:t>/</a:t>
            </a:r>
            <a:r>
              <a:rPr lang="el-GR" dirty="0"/>
              <a:t>2</a:t>
            </a:r>
            <a:r>
              <a:rPr lang="en-US" dirty="0"/>
              <a:t>2</a:t>
            </a:r>
            <a:endParaRPr lang="de-DE" dirty="0"/>
          </a:p>
        </p:txBody>
      </p:sp>
      <p:sp>
        <p:nvSpPr>
          <p:cNvPr id="5" name="TextBox 5">
            <a:extLst>
              <a:ext uri="{FF2B5EF4-FFF2-40B4-BE49-F238E27FC236}">
                <a16:creationId xmlns:a16="http://schemas.microsoft.com/office/drawing/2014/main" id="{AE2B4DBB-BB3E-CF27-2299-5833E648C31F}"/>
              </a:ext>
            </a:extLst>
          </p:cNvPr>
          <p:cNvSpPr txBox="1"/>
          <p:nvPr/>
        </p:nvSpPr>
        <p:spPr>
          <a:xfrm>
            <a:off x="891901" y="5287140"/>
            <a:ext cx="408308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dirty="0" err="1">
                <a:ea typeface="Calibri"/>
                <a:cs typeface="Calibri"/>
              </a:rPr>
              <a:t>Εικόν</a:t>
            </a:r>
            <a:r>
              <a:rPr lang="en-US" sz="2000" dirty="0">
                <a:ea typeface="Calibri"/>
                <a:cs typeface="Calibri"/>
              </a:rPr>
              <a:t>α </a:t>
            </a:r>
            <a:r>
              <a:rPr lang="el-GR" sz="2000" dirty="0">
                <a:ea typeface="Calibri"/>
                <a:cs typeface="Calibri"/>
              </a:rPr>
              <a:t>4</a:t>
            </a:r>
            <a:r>
              <a:rPr lang="en-US" sz="2000" dirty="0">
                <a:ea typeface="Calibri"/>
                <a:cs typeface="Calibri"/>
              </a:rPr>
              <a:t>: </a:t>
            </a:r>
            <a:r>
              <a:rPr lang="en-US" sz="2000" dirty="0" err="1">
                <a:latin typeface="Calibri"/>
                <a:ea typeface="Calibri"/>
                <a:cs typeface="Calibri"/>
              </a:rPr>
              <a:t>Μοντέλο</a:t>
            </a:r>
            <a:r>
              <a:rPr lang="en-US" sz="2000" dirty="0">
                <a:latin typeface="Calibri"/>
                <a:ea typeface="Calibri"/>
                <a:cs typeface="Calibri"/>
              </a:rPr>
              <a:t> Πα</a:t>
            </a:r>
            <a:r>
              <a:rPr lang="en-US" sz="2000" dirty="0" err="1">
                <a:latin typeface="Calibri"/>
                <a:ea typeface="Calibri"/>
                <a:cs typeface="Calibri"/>
              </a:rPr>
              <a:t>στερίωσης</a:t>
            </a:r>
            <a:endParaRPr lang="en-US" sz="2000" dirty="0">
              <a:latin typeface="Calibri"/>
              <a:ea typeface="Calibri"/>
              <a:cs typeface="Calibri"/>
            </a:endParaRPr>
          </a:p>
        </p:txBody>
      </p:sp>
      <p:sp>
        <p:nvSpPr>
          <p:cNvPr id="2" name="Rechteck: abgerundete Ecken 8">
            <a:extLst>
              <a:ext uri="{FF2B5EF4-FFF2-40B4-BE49-F238E27FC236}">
                <a16:creationId xmlns:a16="http://schemas.microsoft.com/office/drawing/2014/main" id="{D0D480A6-044E-D963-E1EF-F13F9E224CFF}"/>
              </a:ext>
            </a:extLst>
          </p:cNvPr>
          <p:cNvSpPr/>
          <p:nvPr/>
        </p:nvSpPr>
        <p:spPr>
          <a:xfrm>
            <a:off x="263673" y="3978235"/>
            <a:ext cx="348975" cy="262505"/>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Rechteck: abgerundete Ecken 8">
            <a:extLst>
              <a:ext uri="{FF2B5EF4-FFF2-40B4-BE49-F238E27FC236}">
                <a16:creationId xmlns:a16="http://schemas.microsoft.com/office/drawing/2014/main" id="{5C3E7775-58E5-1662-64CC-A8666D8FE11E}"/>
              </a:ext>
            </a:extLst>
          </p:cNvPr>
          <p:cNvSpPr/>
          <p:nvPr/>
        </p:nvSpPr>
        <p:spPr>
          <a:xfrm>
            <a:off x="6430759" y="2673681"/>
            <a:ext cx="385731" cy="287202"/>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7510416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922EB-514E-5D0F-7194-D8FB4C53A520}"/>
            </a:ext>
          </a:extLst>
        </p:cNvPr>
        <p:cNvGrpSpPr/>
        <p:nvPr/>
      </p:nvGrpSpPr>
      <p:grpSpPr>
        <a:xfrm>
          <a:off x="0" y="0"/>
          <a:ext cx="0" cy="0"/>
          <a:chOff x="0" y="0"/>
          <a:chExt cx="0" cy="0"/>
        </a:xfrm>
      </p:grpSpPr>
      <p:sp>
        <p:nvSpPr>
          <p:cNvPr id="18" name="Ορθογώνιο 17">
            <a:extLst>
              <a:ext uri="{FF2B5EF4-FFF2-40B4-BE49-F238E27FC236}">
                <a16:creationId xmlns:a16="http://schemas.microsoft.com/office/drawing/2014/main" id="{A4C2F105-B306-81DD-BD39-FEB0DACEFEB2}"/>
              </a:ext>
            </a:extLst>
          </p:cNvPr>
          <p:cNvSpPr/>
          <p:nvPr/>
        </p:nvSpPr>
        <p:spPr>
          <a:xfrm>
            <a:off x="-1" y="1588324"/>
            <a:ext cx="12151951" cy="37781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24" name="TextBox 5">
            <a:extLst>
              <a:ext uri="{FF2B5EF4-FFF2-40B4-BE49-F238E27FC236}">
                <a16:creationId xmlns:a16="http://schemas.microsoft.com/office/drawing/2014/main" id="{9D950669-2260-5205-05BA-D61F4AFD6B9F}"/>
              </a:ext>
            </a:extLst>
          </p:cNvPr>
          <p:cNvSpPr txBox="1"/>
          <p:nvPr/>
        </p:nvSpPr>
        <p:spPr>
          <a:xfrm>
            <a:off x="6284914" y="5728959"/>
            <a:ext cx="551108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dirty="0" err="1">
                <a:ea typeface="Calibri"/>
                <a:cs typeface="Calibri"/>
              </a:rPr>
              <a:t>Εικόν</a:t>
            </a:r>
            <a:r>
              <a:rPr lang="en-US" sz="2000" dirty="0">
                <a:ea typeface="Calibri"/>
                <a:cs typeface="Calibri"/>
              </a:rPr>
              <a:t>α </a:t>
            </a:r>
            <a:r>
              <a:rPr lang="el-GR" sz="2000" dirty="0">
                <a:ea typeface="Calibri"/>
                <a:cs typeface="Calibri"/>
              </a:rPr>
              <a:t>7</a:t>
            </a:r>
            <a:r>
              <a:rPr lang="en-US" sz="2000" dirty="0">
                <a:ea typeface="Calibri"/>
                <a:cs typeface="Calibri"/>
              </a:rPr>
              <a:t>: </a:t>
            </a:r>
            <a:r>
              <a:rPr lang="el-GR" sz="2000" dirty="0">
                <a:ea typeface="Calibri"/>
                <a:cs typeface="Calibri"/>
              </a:rPr>
              <a:t>Ο</a:t>
            </a:r>
            <a:r>
              <a:rPr lang="en-US" sz="2000" dirty="0" err="1">
                <a:latin typeface="Calibri"/>
                <a:ea typeface="Calibri"/>
                <a:cs typeface="Calibri"/>
              </a:rPr>
              <a:t>λοκληρωμένο</a:t>
            </a:r>
            <a:r>
              <a:rPr lang="en-US" sz="2000" dirty="0">
                <a:latin typeface="Calibri"/>
                <a:ea typeface="Calibri"/>
                <a:cs typeface="Calibri"/>
              </a:rPr>
              <a:t> μοντέλο</a:t>
            </a:r>
          </a:p>
        </p:txBody>
      </p:sp>
      <p:sp>
        <p:nvSpPr>
          <p:cNvPr id="6" name="Title 1">
            <a:extLst>
              <a:ext uri="{FF2B5EF4-FFF2-40B4-BE49-F238E27FC236}">
                <a16:creationId xmlns:a16="http://schemas.microsoft.com/office/drawing/2014/main" id="{87BFE969-53D8-5C1D-9A6F-BB7008F2A2C2}"/>
              </a:ext>
            </a:extLst>
          </p:cNvPr>
          <p:cNvSpPr txBox="1">
            <a:spLocks/>
          </p:cNvSpPr>
          <p:nvPr/>
        </p:nvSpPr>
        <p:spPr>
          <a:xfrm>
            <a:off x="103898" y="138893"/>
            <a:ext cx="12362032" cy="686828"/>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dirty="0">
                <a:ea typeface="Calibri Light"/>
                <a:cs typeface="Calibri Light"/>
              </a:rPr>
              <a:t>4.</a:t>
            </a:r>
            <a:r>
              <a:rPr lang="el-GR" sz="3100" dirty="0">
                <a:ea typeface="Calibri Light"/>
                <a:cs typeface="Calibri Light"/>
              </a:rPr>
              <a:t>4.2</a:t>
            </a:r>
            <a:r>
              <a:rPr lang="en-US" sz="3100" dirty="0">
                <a:ea typeface="Calibri Light"/>
                <a:cs typeface="Calibri Light"/>
              </a:rPr>
              <a:t>  </a:t>
            </a:r>
            <a:r>
              <a:rPr lang="el-GR" sz="3100" dirty="0">
                <a:ea typeface="Calibri Light"/>
                <a:cs typeface="Calibri Light"/>
              </a:rPr>
              <a:t>Συγκέντρωση </a:t>
            </a:r>
            <a:r>
              <a:rPr lang="en-US" sz="3100" i="1" dirty="0">
                <a:ea typeface="Calibri Light"/>
                <a:cs typeface="Calibri Light"/>
              </a:rPr>
              <a:t>S. thermophilus </a:t>
            </a:r>
            <a:r>
              <a:rPr lang="el-GR" sz="3100" dirty="0">
                <a:ea typeface="Calibri Light"/>
                <a:cs typeface="Calibri Light"/>
              </a:rPr>
              <a:t>στα τοιχώματα της αναγεννητικής μονάδας</a:t>
            </a:r>
            <a:endParaRPr lang="en-US" sz="3100" dirty="0">
              <a:ea typeface="Calibri Light"/>
              <a:cs typeface="Calibri Light"/>
            </a:endParaRPr>
          </a:p>
        </p:txBody>
      </p:sp>
      <p:sp>
        <p:nvSpPr>
          <p:cNvPr id="7" name="TextBox 5">
            <a:extLst>
              <a:ext uri="{FF2B5EF4-FFF2-40B4-BE49-F238E27FC236}">
                <a16:creationId xmlns:a16="http://schemas.microsoft.com/office/drawing/2014/main" id="{57F8E1FA-A5F7-49D2-3BC6-30EA05D17CEA}"/>
              </a:ext>
            </a:extLst>
          </p:cNvPr>
          <p:cNvSpPr txBox="1"/>
          <p:nvPr/>
        </p:nvSpPr>
        <p:spPr>
          <a:xfrm>
            <a:off x="1276033" y="5728959"/>
            <a:ext cx="408308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dirty="0" err="1">
                <a:ea typeface="Calibri"/>
                <a:cs typeface="Calibri"/>
              </a:rPr>
              <a:t>Εικόν</a:t>
            </a:r>
            <a:r>
              <a:rPr lang="en-US" sz="2000" dirty="0">
                <a:ea typeface="Calibri"/>
                <a:cs typeface="Calibri"/>
              </a:rPr>
              <a:t>α </a:t>
            </a:r>
            <a:r>
              <a:rPr lang="el-GR" sz="2000" dirty="0">
                <a:ea typeface="Calibri"/>
                <a:cs typeface="Calibri"/>
              </a:rPr>
              <a:t>6</a:t>
            </a:r>
            <a:r>
              <a:rPr lang="en-US" sz="2000" dirty="0">
                <a:ea typeface="Calibri"/>
                <a:cs typeface="Calibri"/>
              </a:rPr>
              <a:t>: </a:t>
            </a:r>
            <a:r>
              <a:rPr lang="en-US" sz="2000" dirty="0" err="1">
                <a:latin typeface="Calibri"/>
                <a:ea typeface="Calibri"/>
                <a:cs typeface="Calibri"/>
              </a:rPr>
              <a:t>Μοντέλο</a:t>
            </a:r>
            <a:r>
              <a:rPr lang="en-US" sz="2000" dirty="0">
                <a:latin typeface="Calibri"/>
                <a:ea typeface="Calibri"/>
                <a:cs typeface="Calibri"/>
              </a:rPr>
              <a:t> Πα</a:t>
            </a:r>
            <a:r>
              <a:rPr lang="en-US" sz="2000" dirty="0" err="1">
                <a:latin typeface="Calibri"/>
                <a:ea typeface="Calibri"/>
                <a:cs typeface="Calibri"/>
              </a:rPr>
              <a:t>στερίωσης</a:t>
            </a:r>
            <a:endParaRPr lang="en-US" sz="2000" dirty="0">
              <a:latin typeface="Calibri"/>
              <a:ea typeface="Calibri"/>
              <a:cs typeface="Calibri"/>
            </a:endParaRPr>
          </a:p>
        </p:txBody>
      </p:sp>
      <p:sp>
        <p:nvSpPr>
          <p:cNvPr id="12" name="Foliennummernplatzhalter 11">
            <a:extLst>
              <a:ext uri="{FF2B5EF4-FFF2-40B4-BE49-F238E27FC236}">
                <a16:creationId xmlns:a16="http://schemas.microsoft.com/office/drawing/2014/main" id="{60DF5B6F-33EB-9FC5-5ED4-1E2DF3C31328}"/>
              </a:ext>
            </a:extLst>
          </p:cNvPr>
          <p:cNvSpPr>
            <a:spLocks noGrp="1"/>
          </p:cNvSpPr>
          <p:nvPr>
            <p:ph type="sldNum" sz="quarter" idx="12"/>
          </p:nvPr>
        </p:nvSpPr>
        <p:spPr/>
        <p:txBody>
          <a:bodyPr/>
          <a:lstStyle/>
          <a:p>
            <a:fld id="{48F63A3B-78C7-47BE-AE5E-E10140E04643}" type="slidenum">
              <a:rPr lang="en-US" smtClean="0"/>
              <a:t>14</a:t>
            </a:fld>
            <a:r>
              <a:rPr lang="en-US" dirty="0"/>
              <a:t>/</a:t>
            </a:r>
            <a:r>
              <a:rPr lang="el-GR" dirty="0"/>
              <a:t>2</a:t>
            </a:r>
            <a:r>
              <a:rPr lang="en-US" dirty="0"/>
              <a:t>2</a:t>
            </a:r>
            <a:endParaRPr lang="de-DE" dirty="0"/>
          </a:p>
        </p:txBody>
      </p:sp>
      <p:pic>
        <p:nvPicPr>
          <p:cNvPr id="3" name="Εικόνα 2">
            <a:extLst>
              <a:ext uri="{FF2B5EF4-FFF2-40B4-BE49-F238E27FC236}">
                <a16:creationId xmlns:a16="http://schemas.microsoft.com/office/drawing/2014/main" id="{AE3227F8-A560-AEF9-B207-1E43113F510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7797" y="1840942"/>
            <a:ext cx="5608412" cy="3274847"/>
          </a:xfrm>
          <a:prstGeom prst="rect">
            <a:avLst/>
          </a:prstGeom>
        </p:spPr>
      </p:pic>
      <p:sp>
        <p:nvSpPr>
          <p:cNvPr id="9" name="Textfeld 23">
            <a:extLst>
              <a:ext uri="{FF2B5EF4-FFF2-40B4-BE49-F238E27FC236}">
                <a16:creationId xmlns:a16="http://schemas.microsoft.com/office/drawing/2014/main" id="{FBD93C1A-FA7E-F45F-AC8A-7A6DC8CCF7D1}"/>
              </a:ext>
            </a:extLst>
          </p:cNvPr>
          <p:cNvSpPr txBox="1"/>
          <p:nvPr/>
        </p:nvSpPr>
        <p:spPr>
          <a:xfrm>
            <a:off x="983967" y="4961679"/>
            <a:ext cx="4667217" cy="307777"/>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l-GR" sz="1400" dirty="0">
                <a:ea typeface="Calibri"/>
                <a:cs typeface="Calibri"/>
              </a:rPr>
              <a:t>Χρόνος παραμονής γάλακτος στην αναγεννητική μονάδα (</a:t>
            </a:r>
            <a:r>
              <a:rPr lang="en-US" sz="1400" dirty="0">
                <a:ea typeface="Calibri"/>
                <a:cs typeface="Calibri"/>
              </a:rPr>
              <a:t>s)</a:t>
            </a:r>
            <a:endParaRPr lang="de-DE" sz="1400" dirty="0">
              <a:ea typeface="Calibri"/>
              <a:cs typeface="Calibri"/>
            </a:endParaRPr>
          </a:p>
        </p:txBody>
      </p:sp>
      <p:sp>
        <p:nvSpPr>
          <p:cNvPr id="14" name="Textfeld 23">
            <a:extLst>
              <a:ext uri="{FF2B5EF4-FFF2-40B4-BE49-F238E27FC236}">
                <a16:creationId xmlns:a16="http://schemas.microsoft.com/office/drawing/2014/main" id="{12F5D15A-3A65-D650-2BAE-C434ACD0D2E1}"/>
              </a:ext>
            </a:extLst>
          </p:cNvPr>
          <p:cNvSpPr txBox="1"/>
          <p:nvPr/>
        </p:nvSpPr>
        <p:spPr>
          <a:xfrm rot="16200000">
            <a:off x="-1461633" y="3090884"/>
            <a:ext cx="3526586" cy="523220"/>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l-GR" sz="1400" dirty="0">
                <a:ea typeface="Calibri"/>
                <a:cs typeface="Calibri"/>
              </a:rPr>
              <a:t>Συγκέντρωση </a:t>
            </a:r>
            <a:r>
              <a:rPr lang="en-US" sz="1400" i="1" dirty="0" err="1">
                <a:ea typeface="Calibri"/>
                <a:cs typeface="Calibri"/>
              </a:rPr>
              <a:t>S.thermophilus</a:t>
            </a:r>
            <a:r>
              <a:rPr lang="en-US" sz="1400" i="1" dirty="0">
                <a:ea typeface="Calibri"/>
                <a:cs typeface="Calibri"/>
              </a:rPr>
              <a:t> </a:t>
            </a:r>
            <a:r>
              <a:rPr lang="el-GR" sz="1400" dirty="0">
                <a:ea typeface="Calibri"/>
                <a:cs typeface="Calibri"/>
              </a:rPr>
              <a:t>στα τοιχώματα της αναγεννητικής μονάδας (</a:t>
            </a:r>
            <a:r>
              <a:rPr lang="en-US" sz="1400" dirty="0">
                <a:ea typeface="Calibri"/>
                <a:cs typeface="Calibri"/>
              </a:rPr>
              <a:t>log(CFU cm</a:t>
            </a:r>
            <a:r>
              <a:rPr lang="de-DE" sz="1400" baseline="30000" dirty="0"/>
              <a:t>-2</a:t>
            </a:r>
            <a:r>
              <a:rPr lang="en-US" sz="1400" dirty="0">
                <a:ea typeface="Calibri"/>
                <a:cs typeface="Calibri"/>
              </a:rPr>
              <a:t>))</a:t>
            </a:r>
            <a:endParaRPr lang="de-DE" sz="1400" dirty="0">
              <a:ea typeface="Calibri"/>
              <a:cs typeface="Calibri"/>
            </a:endParaRPr>
          </a:p>
        </p:txBody>
      </p:sp>
      <p:pic>
        <p:nvPicPr>
          <p:cNvPr id="17" name="Εικόνα 16">
            <a:extLst>
              <a:ext uri="{FF2B5EF4-FFF2-40B4-BE49-F238E27FC236}">
                <a16:creationId xmlns:a16="http://schemas.microsoft.com/office/drawing/2014/main" id="{484D287C-DCAF-B8B2-B157-62DE136FA68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981095" y="1685750"/>
            <a:ext cx="6130807" cy="3680716"/>
          </a:xfrm>
          <a:prstGeom prst="rect">
            <a:avLst/>
          </a:prstGeom>
        </p:spPr>
      </p:pic>
      <p:sp>
        <p:nvSpPr>
          <p:cNvPr id="13" name="Textfeld 23">
            <a:extLst>
              <a:ext uri="{FF2B5EF4-FFF2-40B4-BE49-F238E27FC236}">
                <a16:creationId xmlns:a16="http://schemas.microsoft.com/office/drawing/2014/main" id="{CA129185-3BD4-754C-ECED-9EFA15F3DE6A}"/>
              </a:ext>
            </a:extLst>
          </p:cNvPr>
          <p:cNvSpPr txBox="1"/>
          <p:nvPr/>
        </p:nvSpPr>
        <p:spPr>
          <a:xfrm rot="16200000">
            <a:off x="4415723" y="3147347"/>
            <a:ext cx="3526586" cy="523220"/>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l-GR" sz="1400" dirty="0">
                <a:ea typeface="Calibri"/>
                <a:cs typeface="Calibri"/>
              </a:rPr>
              <a:t>Συγκέντρωση </a:t>
            </a:r>
            <a:r>
              <a:rPr lang="en-US" sz="1400" i="1" dirty="0" err="1">
                <a:ea typeface="Calibri"/>
                <a:cs typeface="Calibri"/>
              </a:rPr>
              <a:t>S.thermophilus</a:t>
            </a:r>
            <a:r>
              <a:rPr lang="en-US" sz="1400" i="1" dirty="0">
                <a:ea typeface="Calibri"/>
                <a:cs typeface="Calibri"/>
              </a:rPr>
              <a:t> </a:t>
            </a:r>
            <a:r>
              <a:rPr lang="el-GR" sz="1400" dirty="0">
                <a:ea typeface="Calibri"/>
                <a:cs typeface="Calibri"/>
              </a:rPr>
              <a:t>στα τοιχώματα της αναγεννητικής μονάδας (</a:t>
            </a:r>
            <a:r>
              <a:rPr lang="en-US" sz="1400" dirty="0">
                <a:ea typeface="Calibri"/>
                <a:cs typeface="Calibri"/>
              </a:rPr>
              <a:t>log(CFU cm</a:t>
            </a:r>
            <a:r>
              <a:rPr lang="de-DE" sz="1400" baseline="30000" dirty="0"/>
              <a:t>-2</a:t>
            </a:r>
            <a:r>
              <a:rPr lang="en-US" sz="1400" dirty="0">
                <a:ea typeface="Calibri"/>
                <a:cs typeface="Calibri"/>
              </a:rPr>
              <a:t>))</a:t>
            </a:r>
            <a:endParaRPr lang="de-DE" sz="1400" dirty="0">
              <a:ea typeface="Calibri"/>
              <a:cs typeface="Calibri"/>
            </a:endParaRPr>
          </a:p>
        </p:txBody>
      </p:sp>
      <p:sp>
        <p:nvSpPr>
          <p:cNvPr id="10" name="Textfeld 23">
            <a:extLst>
              <a:ext uri="{FF2B5EF4-FFF2-40B4-BE49-F238E27FC236}">
                <a16:creationId xmlns:a16="http://schemas.microsoft.com/office/drawing/2014/main" id="{B74D729A-F10A-9A57-D26A-292F73E23FD1}"/>
              </a:ext>
            </a:extLst>
          </p:cNvPr>
          <p:cNvSpPr txBox="1"/>
          <p:nvPr/>
        </p:nvSpPr>
        <p:spPr>
          <a:xfrm>
            <a:off x="6850177" y="4961679"/>
            <a:ext cx="4667217" cy="307777"/>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l-GR" sz="1400" dirty="0">
                <a:ea typeface="Calibri"/>
                <a:cs typeface="Calibri"/>
              </a:rPr>
              <a:t>Χρόνος παραμονής γάλακτος στην αναγεννητική μονάδα (</a:t>
            </a:r>
            <a:r>
              <a:rPr lang="en-US" sz="1400" dirty="0">
                <a:ea typeface="Calibri"/>
                <a:cs typeface="Calibri"/>
              </a:rPr>
              <a:t>s)</a:t>
            </a:r>
            <a:endParaRPr lang="de-DE" sz="1400" dirty="0">
              <a:ea typeface="Calibri"/>
              <a:cs typeface="Calibri"/>
            </a:endParaRPr>
          </a:p>
        </p:txBody>
      </p:sp>
    </p:spTree>
    <p:extLst>
      <p:ext uri="{BB962C8B-B14F-4D97-AF65-F5344CB8AC3E}">
        <p14:creationId xmlns:p14="http://schemas.microsoft.com/office/powerpoint/2010/main" val="2833655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AE20-07E2-173C-EA3E-E884975D3194}"/>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50DA0B61-37FE-D43D-BB72-8319AC01E69D}"/>
              </a:ext>
            </a:extLst>
          </p:cNvPr>
          <p:cNvSpPr>
            <a:spLocks noGrp="1"/>
          </p:cNvSpPr>
          <p:nvPr>
            <p:ph type="sldNum" sz="quarter" idx="12"/>
          </p:nvPr>
        </p:nvSpPr>
        <p:spPr/>
        <p:txBody>
          <a:bodyPr/>
          <a:lstStyle/>
          <a:p>
            <a:fld id="{48F63A3B-78C7-47BE-AE5E-E10140E04643}" type="slidenum">
              <a:rPr lang="en-US" smtClean="0"/>
              <a:t>15</a:t>
            </a:fld>
            <a:r>
              <a:rPr lang="en-US" dirty="0"/>
              <a:t>/</a:t>
            </a:r>
            <a:r>
              <a:rPr lang="el-GR" dirty="0"/>
              <a:t>2</a:t>
            </a:r>
            <a:r>
              <a:rPr lang="en-US" dirty="0"/>
              <a:t>2</a:t>
            </a:r>
          </a:p>
        </p:txBody>
      </p:sp>
      <p:sp>
        <p:nvSpPr>
          <p:cNvPr id="7" name="Title 1">
            <a:extLst>
              <a:ext uri="{FF2B5EF4-FFF2-40B4-BE49-F238E27FC236}">
                <a16:creationId xmlns:a16="http://schemas.microsoft.com/office/drawing/2014/main" id="{B959D692-91AF-910E-ACD0-8740DBCE5C9E}"/>
              </a:ext>
            </a:extLst>
          </p:cNvPr>
          <p:cNvSpPr txBox="1">
            <a:spLocks/>
          </p:cNvSpPr>
          <p:nvPr/>
        </p:nvSpPr>
        <p:spPr>
          <a:xfrm>
            <a:off x="103898" y="138893"/>
            <a:ext cx="12541326" cy="6868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dirty="0">
                <a:latin typeface="Calibri Light"/>
                <a:ea typeface="Calibri Light"/>
                <a:cs typeface="Calibri Light"/>
              </a:rPr>
              <a:t>4.</a:t>
            </a:r>
            <a:r>
              <a:rPr lang="el-GR" sz="3100" dirty="0">
                <a:latin typeface="Calibri Light"/>
                <a:ea typeface="Calibri Light"/>
                <a:cs typeface="Calibri Light"/>
              </a:rPr>
              <a:t>4.3</a:t>
            </a:r>
            <a:r>
              <a:rPr lang="en-US" sz="3100" dirty="0">
                <a:latin typeface="Calibri Light"/>
                <a:ea typeface="Calibri Light"/>
                <a:cs typeface="Calibri Light"/>
              </a:rPr>
              <a:t> </a:t>
            </a:r>
            <a:r>
              <a:rPr lang="el-GR" sz="3100" dirty="0">
                <a:latin typeface="Calibri Light"/>
                <a:ea typeface="Calibri Light"/>
                <a:cs typeface="Calibri Light"/>
              </a:rPr>
              <a:t>Σύσταση διηθήματος και συμπυκνώματος σε στερεά</a:t>
            </a:r>
            <a:endParaRPr lang="en-US" sz="3100" dirty="0">
              <a:latin typeface="Calibri Light"/>
              <a:ea typeface="Calibri Light"/>
              <a:cs typeface="Calibri Light"/>
            </a:endParaRPr>
          </a:p>
        </p:txBody>
      </p:sp>
      <p:sp>
        <p:nvSpPr>
          <p:cNvPr id="3" name="TextBox 5">
            <a:extLst>
              <a:ext uri="{FF2B5EF4-FFF2-40B4-BE49-F238E27FC236}">
                <a16:creationId xmlns:a16="http://schemas.microsoft.com/office/drawing/2014/main" id="{6BDCB27E-9385-F7B6-BE59-BD9AAF9E8EA5}"/>
              </a:ext>
            </a:extLst>
          </p:cNvPr>
          <p:cNvSpPr txBox="1"/>
          <p:nvPr/>
        </p:nvSpPr>
        <p:spPr>
          <a:xfrm>
            <a:off x="5630790" y="5697818"/>
            <a:ext cx="741123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dirty="0" err="1">
                <a:ea typeface="Calibri"/>
                <a:cs typeface="Calibri"/>
              </a:rPr>
              <a:t>Εικόν</a:t>
            </a:r>
            <a:r>
              <a:rPr lang="en-US" sz="2000" dirty="0">
                <a:ea typeface="Calibri"/>
                <a:cs typeface="Calibri"/>
              </a:rPr>
              <a:t>α </a:t>
            </a:r>
            <a:r>
              <a:rPr lang="el-GR" sz="2000" dirty="0">
                <a:ea typeface="Calibri"/>
                <a:cs typeface="Calibri"/>
              </a:rPr>
              <a:t>9</a:t>
            </a:r>
            <a:r>
              <a:rPr lang="en-US" sz="2000" dirty="0">
                <a:ea typeface="Calibri"/>
                <a:cs typeface="Calibri"/>
              </a:rPr>
              <a:t>: </a:t>
            </a:r>
            <a:r>
              <a:rPr lang="el-GR" sz="2000" dirty="0">
                <a:ea typeface="Calibri"/>
                <a:cs typeface="Calibri"/>
              </a:rPr>
              <a:t>Ο</a:t>
            </a:r>
            <a:r>
              <a:rPr lang="en-US" sz="2000" dirty="0" err="1">
                <a:latin typeface="Calibri"/>
                <a:ea typeface="Calibri"/>
                <a:cs typeface="Calibri"/>
              </a:rPr>
              <a:t>λοκληρωμένο</a:t>
            </a:r>
            <a:r>
              <a:rPr lang="en-US" sz="2000" dirty="0">
                <a:latin typeface="Calibri"/>
                <a:ea typeface="Calibri"/>
                <a:cs typeface="Calibri"/>
              </a:rPr>
              <a:t> μοντέλο </a:t>
            </a:r>
          </a:p>
        </p:txBody>
      </p:sp>
      <p:sp>
        <p:nvSpPr>
          <p:cNvPr id="10" name="TextBox 5">
            <a:extLst>
              <a:ext uri="{FF2B5EF4-FFF2-40B4-BE49-F238E27FC236}">
                <a16:creationId xmlns:a16="http://schemas.microsoft.com/office/drawing/2014/main" id="{4E68DFAD-F9FD-C3E9-0247-5F6AF278C2A0}"/>
              </a:ext>
            </a:extLst>
          </p:cNvPr>
          <p:cNvSpPr txBox="1"/>
          <p:nvPr/>
        </p:nvSpPr>
        <p:spPr>
          <a:xfrm>
            <a:off x="490770" y="5697818"/>
            <a:ext cx="4774326"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dirty="0" err="1">
                <a:ea typeface="Calibri"/>
                <a:cs typeface="Calibri"/>
              </a:rPr>
              <a:t>Εικόν</a:t>
            </a:r>
            <a:r>
              <a:rPr lang="en-US" sz="2000" dirty="0">
                <a:ea typeface="Calibri"/>
                <a:cs typeface="Calibri"/>
              </a:rPr>
              <a:t>α </a:t>
            </a:r>
            <a:r>
              <a:rPr lang="el-GR" sz="2000" dirty="0">
                <a:ea typeface="Calibri"/>
                <a:cs typeface="Calibri"/>
              </a:rPr>
              <a:t>8</a:t>
            </a:r>
            <a:r>
              <a:rPr lang="en-US" sz="2000" dirty="0">
                <a:ea typeface="Calibri"/>
                <a:cs typeface="Calibri"/>
              </a:rPr>
              <a:t>: </a:t>
            </a:r>
            <a:r>
              <a:rPr lang="en-US" sz="2000" dirty="0" err="1">
                <a:latin typeface="Calibri"/>
                <a:ea typeface="Calibri"/>
                <a:cs typeface="Calibri"/>
              </a:rPr>
              <a:t>Μοντέλο</a:t>
            </a:r>
            <a:r>
              <a:rPr lang="en-US" sz="2000" dirty="0">
                <a:latin typeface="Calibri"/>
                <a:ea typeface="Calibri"/>
                <a:cs typeface="Calibri"/>
              </a:rPr>
              <a:t> </a:t>
            </a:r>
            <a:r>
              <a:rPr lang="en-US" sz="2000" dirty="0" err="1">
                <a:latin typeface="Calibri"/>
                <a:ea typeface="Calibri"/>
                <a:cs typeface="Calibri"/>
              </a:rPr>
              <a:t>Διήθησης</a:t>
            </a:r>
            <a:r>
              <a:rPr lang="en-US" sz="2000" dirty="0">
                <a:latin typeface="Calibri"/>
                <a:ea typeface="Calibri"/>
                <a:cs typeface="Calibri"/>
              </a:rPr>
              <a:t> </a:t>
            </a:r>
            <a:r>
              <a:rPr lang="en-US" sz="2000" dirty="0" err="1">
                <a:latin typeface="Calibri"/>
                <a:ea typeface="Calibri"/>
                <a:cs typeface="Calibri"/>
              </a:rPr>
              <a:t>με</a:t>
            </a:r>
            <a:r>
              <a:rPr lang="en-US" sz="2000" dirty="0">
                <a:latin typeface="Calibri"/>
                <a:ea typeface="Calibri"/>
                <a:cs typeface="Calibri"/>
              </a:rPr>
              <a:t> </a:t>
            </a:r>
            <a:r>
              <a:rPr lang="en-US" sz="2000" dirty="0" err="1">
                <a:latin typeface="Calibri"/>
                <a:ea typeface="Calibri"/>
                <a:cs typeface="Calibri"/>
              </a:rPr>
              <a:t>Μεμ</a:t>
            </a:r>
            <a:r>
              <a:rPr lang="en-US" sz="2000" dirty="0">
                <a:latin typeface="Calibri"/>
                <a:ea typeface="Calibri"/>
                <a:cs typeface="Calibri"/>
              </a:rPr>
              <a:t>βράνη</a:t>
            </a:r>
          </a:p>
        </p:txBody>
      </p:sp>
      <p:graphicFrame>
        <p:nvGraphicFramePr>
          <p:cNvPr id="16" name="Γράφημα 15">
            <a:extLst>
              <a:ext uri="{FF2B5EF4-FFF2-40B4-BE49-F238E27FC236}">
                <a16:creationId xmlns:a16="http://schemas.microsoft.com/office/drawing/2014/main" id="{A04E756B-5DA4-5903-B7A7-48EBAED6784E}"/>
              </a:ext>
            </a:extLst>
          </p:cNvPr>
          <p:cNvGraphicFramePr>
            <a:graphicFrameLocks/>
          </p:cNvGraphicFramePr>
          <p:nvPr>
            <p:extLst>
              <p:ext uri="{D42A27DB-BD31-4B8C-83A1-F6EECF244321}">
                <p14:modId xmlns:p14="http://schemas.microsoft.com/office/powerpoint/2010/main" val="1067030896"/>
              </p:ext>
            </p:extLst>
          </p:nvPr>
        </p:nvGraphicFramePr>
        <p:xfrm>
          <a:off x="103898" y="1180737"/>
          <a:ext cx="5878607" cy="416206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7" name="Γράφημα 16">
            <a:extLst>
              <a:ext uri="{FF2B5EF4-FFF2-40B4-BE49-F238E27FC236}">
                <a16:creationId xmlns:a16="http://schemas.microsoft.com/office/drawing/2014/main" id="{ABD347DF-FDEF-4D42-B7B3-F800F4628136}"/>
              </a:ext>
            </a:extLst>
          </p:cNvPr>
          <p:cNvGraphicFramePr>
            <a:graphicFrameLocks/>
          </p:cNvGraphicFramePr>
          <p:nvPr>
            <p:extLst>
              <p:ext uri="{D42A27DB-BD31-4B8C-83A1-F6EECF244321}">
                <p14:modId xmlns:p14="http://schemas.microsoft.com/office/powerpoint/2010/main" val="1364448315"/>
              </p:ext>
            </p:extLst>
          </p:nvPr>
        </p:nvGraphicFramePr>
        <p:xfrm>
          <a:off x="6096000" y="1180737"/>
          <a:ext cx="5878607" cy="4162064"/>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4275916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E6B9FD-85E2-347B-6AFB-5920CB81DCE8}"/>
              </a:ext>
            </a:extLst>
          </p:cNvPr>
          <p:cNvSpPr>
            <a:spLocks noGrp="1"/>
          </p:cNvSpPr>
          <p:nvPr>
            <p:ph idx="1"/>
          </p:nvPr>
        </p:nvSpPr>
        <p:spPr>
          <a:xfrm>
            <a:off x="289560" y="1526727"/>
            <a:ext cx="5135419" cy="1603521"/>
          </a:xfrm>
        </p:spPr>
        <p:txBody>
          <a:bodyPr vert="horz" lIns="91440" tIns="45720" rIns="91440" bIns="45720" rtlCol="0" anchor="t">
            <a:normAutofit/>
          </a:bodyPr>
          <a:lstStyle/>
          <a:p>
            <a:r>
              <a:rPr lang="en-US" dirty="0">
                <a:ea typeface="Calibri"/>
                <a:cs typeface="Calibri"/>
              </a:rPr>
              <a:t>Global System Analysis </a:t>
            </a:r>
            <a:r>
              <a:rPr lang="en-US" dirty="0" err="1">
                <a:ea typeface="Calibri"/>
                <a:cs typeface="Calibri"/>
              </a:rPr>
              <a:t>εργ</a:t>
            </a:r>
            <a:r>
              <a:rPr lang="en-US" dirty="0">
                <a:ea typeface="Calibri"/>
                <a:cs typeface="Calibri"/>
              </a:rPr>
              <a:t>αλείο</a:t>
            </a:r>
          </a:p>
          <a:p>
            <a:r>
              <a:rPr lang="en-US" dirty="0" err="1">
                <a:ea typeface="Calibri"/>
                <a:cs typeface="Calibri"/>
              </a:rPr>
              <a:t>Ανάλυση</a:t>
            </a:r>
            <a:r>
              <a:rPr lang="en-US" dirty="0">
                <a:ea typeface="Calibri"/>
                <a:cs typeface="Calibri"/>
              </a:rPr>
              <a:t> </a:t>
            </a:r>
            <a:r>
              <a:rPr lang="en-US" dirty="0" err="1">
                <a:ea typeface="Calibri"/>
                <a:cs typeface="Calibri"/>
              </a:rPr>
              <a:t>ευ</a:t>
            </a:r>
            <a:r>
              <a:rPr lang="en-US" dirty="0">
                <a:ea typeface="Calibri"/>
                <a:cs typeface="Calibri"/>
              </a:rPr>
              <a:t>αισθησίας</a:t>
            </a:r>
          </a:p>
          <a:p>
            <a:r>
              <a:rPr lang="en-US" dirty="0" err="1">
                <a:ea typeface="Calibri"/>
                <a:cs typeface="Calibri"/>
              </a:rPr>
              <a:t>Ανάλυση</a:t>
            </a:r>
            <a:r>
              <a:rPr lang="en-US" dirty="0">
                <a:ea typeface="Calibri"/>
                <a:cs typeface="Calibri"/>
              </a:rPr>
              <a:t> αβεβα</a:t>
            </a:r>
            <a:r>
              <a:rPr lang="en-US" dirty="0" err="1">
                <a:ea typeface="Calibri"/>
                <a:cs typeface="Calibri"/>
              </a:rPr>
              <a:t>ιότητ</a:t>
            </a:r>
            <a:r>
              <a:rPr lang="en-US" dirty="0">
                <a:ea typeface="Calibri"/>
                <a:cs typeface="Calibri"/>
              </a:rPr>
              <a:t>ας</a:t>
            </a:r>
          </a:p>
        </p:txBody>
      </p:sp>
      <p:sp>
        <p:nvSpPr>
          <p:cNvPr id="4" name="Slide Number Placeholder 3">
            <a:extLst>
              <a:ext uri="{FF2B5EF4-FFF2-40B4-BE49-F238E27FC236}">
                <a16:creationId xmlns:a16="http://schemas.microsoft.com/office/drawing/2014/main" id="{3C90E4A3-F8AC-8A5F-33F3-B7781BB2CE7A}"/>
              </a:ext>
            </a:extLst>
          </p:cNvPr>
          <p:cNvSpPr>
            <a:spLocks noGrp="1"/>
          </p:cNvSpPr>
          <p:nvPr>
            <p:ph type="sldNum" sz="quarter" idx="12"/>
          </p:nvPr>
        </p:nvSpPr>
        <p:spPr/>
        <p:txBody>
          <a:bodyPr/>
          <a:lstStyle/>
          <a:p>
            <a:fld id="{48F63A3B-78C7-47BE-AE5E-E10140E04643}" type="slidenum">
              <a:rPr lang="en-US" smtClean="0"/>
              <a:t>16</a:t>
            </a:fld>
            <a:r>
              <a:rPr lang="en-US" dirty="0"/>
              <a:t>/</a:t>
            </a:r>
            <a:r>
              <a:rPr lang="el-GR" dirty="0"/>
              <a:t>2</a:t>
            </a:r>
            <a:r>
              <a:rPr lang="en-US" dirty="0"/>
              <a:t>2</a:t>
            </a:r>
          </a:p>
        </p:txBody>
      </p:sp>
      <p:sp>
        <p:nvSpPr>
          <p:cNvPr id="9" name="Title 1">
            <a:extLst>
              <a:ext uri="{FF2B5EF4-FFF2-40B4-BE49-F238E27FC236}">
                <a16:creationId xmlns:a16="http://schemas.microsoft.com/office/drawing/2014/main" id="{DC2AF992-1C5D-0D94-AAFB-33F8743E425B}"/>
              </a:ext>
            </a:extLst>
          </p:cNvPr>
          <p:cNvSpPr txBox="1">
            <a:spLocks/>
          </p:cNvSpPr>
          <p:nvPr/>
        </p:nvSpPr>
        <p:spPr>
          <a:xfrm>
            <a:off x="103898" y="138893"/>
            <a:ext cx="12541326" cy="6868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dirty="0">
                <a:ea typeface="Calibri Light"/>
                <a:cs typeface="Calibri Light"/>
              </a:rPr>
              <a:t>5. </a:t>
            </a:r>
            <a:r>
              <a:rPr lang="en-US" sz="3100" dirty="0" err="1">
                <a:ea typeface="Calibri Light"/>
                <a:cs typeface="Calibri Light"/>
              </a:rPr>
              <a:t>Ανάλυση</a:t>
            </a:r>
            <a:r>
              <a:rPr lang="en-US" sz="3100" dirty="0">
                <a:ea typeface="Calibri Light"/>
                <a:cs typeface="Calibri Light"/>
              </a:rPr>
              <a:t> </a:t>
            </a:r>
            <a:r>
              <a:rPr lang="en-US" sz="3100" dirty="0" err="1">
                <a:ea typeface="Calibri Light"/>
                <a:cs typeface="Calibri Light"/>
              </a:rPr>
              <a:t>Συστήμ</a:t>
            </a:r>
            <a:r>
              <a:rPr lang="en-US" sz="3100" dirty="0">
                <a:ea typeface="Calibri Light"/>
                <a:cs typeface="Calibri Light"/>
              </a:rPr>
              <a:t>α</a:t>
            </a:r>
            <a:r>
              <a:rPr lang="en-US" sz="3100" dirty="0" err="1">
                <a:ea typeface="Calibri Light"/>
                <a:cs typeface="Calibri Light"/>
              </a:rPr>
              <a:t>τος</a:t>
            </a:r>
            <a:r>
              <a:rPr lang="en-US" sz="3100" dirty="0">
                <a:ea typeface="Calibri Light"/>
                <a:cs typeface="Calibri Light"/>
              </a:rPr>
              <a:t> και </a:t>
            </a:r>
            <a:r>
              <a:rPr lang="en-US" sz="3100" dirty="0" err="1">
                <a:ea typeface="Calibri Light"/>
                <a:cs typeface="Calibri Light"/>
              </a:rPr>
              <a:t>Ανάλυση</a:t>
            </a:r>
            <a:r>
              <a:rPr lang="en-US" sz="3100" dirty="0">
                <a:ea typeface="Calibri Light"/>
                <a:cs typeface="Calibri Light"/>
              </a:rPr>
              <a:t> </a:t>
            </a:r>
            <a:r>
              <a:rPr lang="en-US" sz="3100" dirty="0" err="1">
                <a:ea typeface="Calibri Light"/>
                <a:cs typeface="Calibri Light"/>
              </a:rPr>
              <a:t>Κόστους</a:t>
            </a:r>
            <a:endParaRPr lang="en-US" sz="3100" dirty="0">
              <a:ea typeface="Calibri Light"/>
              <a:cs typeface="Calibri Light"/>
            </a:endParaRPr>
          </a:p>
        </p:txBody>
      </p:sp>
      <p:graphicFrame>
        <p:nvGraphicFramePr>
          <p:cNvPr id="5" name="Tabelle 4">
            <a:extLst>
              <a:ext uri="{FF2B5EF4-FFF2-40B4-BE49-F238E27FC236}">
                <a16:creationId xmlns:a16="http://schemas.microsoft.com/office/drawing/2014/main" id="{73392C57-4E55-410C-CBA2-B83D1CF41B08}"/>
              </a:ext>
            </a:extLst>
          </p:cNvPr>
          <p:cNvGraphicFramePr>
            <a:graphicFrameLocks noGrp="1"/>
          </p:cNvGraphicFramePr>
          <p:nvPr>
            <p:extLst>
              <p:ext uri="{D42A27DB-BD31-4B8C-83A1-F6EECF244321}">
                <p14:modId xmlns:p14="http://schemas.microsoft.com/office/powerpoint/2010/main" val="480999058"/>
              </p:ext>
            </p:extLst>
          </p:nvPr>
        </p:nvGraphicFramePr>
        <p:xfrm>
          <a:off x="103898" y="3474256"/>
          <a:ext cx="5791200" cy="2305050"/>
        </p:xfrm>
        <a:graphic>
          <a:graphicData uri="http://schemas.openxmlformats.org/drawingml/2006/table">
            <a:tbl>
              <a:tblPr bandRow="1">
                <a:tableStyleId>{5C22544A-7EE6-4342-B048-85BDC9FD1C3A}</a:tableStyleId>
              </a:tblPr>
              <a:tblGrid>
                <a:gridCol w="3667125">
                  <a:extLst>
                    <a:ext uri="{9D8B030D-6E8A-4147-A177-3AD203B41FA5}">
                      <a16:colId xmlns:a16="http://schemas.microsoft.com/office/drawing/2014/main" val="1269927199"/>
                    </a:ext>
                  </a:extLst>
                </a:gridCol>
                <a:gridCol w="2124075">
                  <a:extLst>
                    <a:ext uri="{9D8B030D-6E8A-4147-A177-3AD203B41FA5}">
                      <a16:colId xmlns:a16="http://schemas.microsoft.com/office/drawing/2014/main" val="2874678490"/>
                    </a:ext>
                  </a:extLst>
                </a:gridCol>
              </a:tblGrid>
              <a:tr h="542925">
                <a:tc>
                  <a:txBody>
                    <a:bodyPr/>
                    <a:lstStyle/>
                    <a:p>
                      <a:pPr algn="ctr" fontAlgn="base">
                        <a:lnSpc>
                          <a:spcPts val="2400"/>
                        </a:lnSpc>
                        <a:buNone/>
                      </a:pPr>
                      <a:r>
                        <a:rPr lang="el-GR" sz="2000" b="1" i="0" dirty="0">
                          <a:solidFill>
                            <a:srgbClr val="FFFFFF"/>
                          </a:solidFill>
                          <a:effectLst/>
                          <a:latin typeface="Calibri" panose="020F0502020204030204" pitchFamily="34" charset="0"/>
                        </a:rPr>
                        <a:t>Κόστος νερού θέρμανσης</a:t>
                      </a:r>
                      <a:endParaRPr lang="el-GR" b="1" i="0" dirty="0">
                        <a:solidFill>
                          <a:srgbClr val="FFFFFF"/>
                        </a:solidFill>
                        <a:effectLst/>
                      </a:endParaRPr>
                    </a:p>
                  </a:txBody>
                  <a:tcPr anchor="ctr">
                    <a:lnL w="9525" cap="flat" cmpd="sng" algn="ctr">
                      <a:solidFill>
                        <a:srgbClr val="8FAADC"/>
                      </a:solidFill>
                      <a:prstDash val="solid"/>
                      <a:round/>
                      <a:headEnd type="none" w="med" len="med"/>
                      <a:tailEnd type="none" w="med" len="med"/>
                    </a:lnL>
                    <a:lnR w="9525" cap="flat" cmpd="sng" algn="ctr">
                      <a:solidFill>
                        <a:srgbClr val="8FAADC"/>
                      </a:solidFill>
                      <a:prstDash val="solid"/>
                      <a:round/>
                      <a:headEnd type="none" w="med" len="med"/>
                      <a:tailEnd type="none" w="med" len="med"/>
                    </a:lnR>
                    <a:lnT w="9525" cap="flat" cmpd="sng" algn="ctr">
                      <a:solidFill>
                        <a:srgbClr val="8FAADC"/>
                      </a:solidFill>
                      <a:prstDash val="solid"/>
                      <a:round/>
                      <a:headEnd type="none" w="med" len="med"/>
                      <a:tailEnd type="none" w="med" len="med"/>
                    </a:lnT>
                    <a:lnB w="9525" cap="flat" cmpd="sng" algn="ctr">
                      <a:solidFill>
                        <a:srgbClr val="8FAADC"/>
                      </a:solidFill>
                      <a:prstDash val="solid"/>
                      <a:round/>
                      <a:headEnd type="none" w="med" len="med"/>
                      <a:tailEnd type="none" w="med" len="med"/>
                    </a:lnB>
                    <a:solidFill>
                      <a:srgbClr val="4472C4"/>
                    </a:solidFill>
                  </a:tcPr>
                </a:tc>
                <a:tc>
                  <a:txBody>
                    <a:bodyPr/>
                    <a:lstStyle/>
                    <a:p>
                      <a:pPr algn="ctr" fontAlgn="base">
                        <a:lnSpc>
                          <a:spcPts val="2400"/>
                        </a:lnSpc>
                        <a:buNone/>
                      </a:pPr>
                      <a:r>
                        <a:rPr lang="en-US" sz="2000" b="0" i="0" dirty="0">
                          <a:solidFill>
                            <a:srgbClr val="000000"/>
                          </a:solidFill>
                          <a:effectLst/>
                          <a:latin typeface="Calibri" panose="020F0502020204030204" pitchFamily="34" charset="0"/>
                        </a:rPr>
                        <a:t>1.5 USD/t</a:t>
                      </a:r>
                      <a:endParaRPr lang="en-US" b="1" i="0" dirty="0">
                        <a:solidFill>
                          <a:srgbClr val="FFFFFF"/>
                        </a:solidFill>
                        <a:effectLst/>
                      </a:endParaRPr>
                    </a:p>
                  </a:txBody>
                  <a:tcPr anchor="ctr">
                    <a:lnL w="9525" cap="flat" cmpd="sng" algn="ctr">
                      <a:solidFill>
                        <a:srgbClr val="8FAADC"/>
                      </a:solidFill>
                      <a:prstDash val="solid"/>
                      <a:round/>
                      <a:headEnd type="none" w="med" len="med"/>
                      <a:tailEnd type="none" w="med" len="med"/>
                    </a:lnL>
                    <a:lnR w="9525" cap="flat" cmpd="sng" algn="ctr">
                      <a:solidFill>
                        <a:srgbClr val="8FAADC"/>
                      </a:solidFill>
                      <a:prstDash val="solid"/>
                      <a:round/>
                      <a:headEnd type="none" w="med" len="med"/>
                      <a:tailEnd type="none" w="med" len="med"/>
                    </a:lnR>
                    <a:lnT w="9525" cap="flat" cmpd="sng" algn="ctr">
                      <a:solidFill>
                        <a:srgbClr val="8FAADC"/>
                      </a:solidFill>
                      <a:prstDash val="solid"/>
                      <a:round/>
                      <a:headEnd type="none" w="med" len="med"/>
                      <a:tailEnd type="none" w="med" len="med"/>
                    </a:lnT>
                    <a:lnB w="9525" cap="flat" cmpd="sng" algn="ctr">
                      <a:solidFill>
                        <a:srgbClr val="8FAADC"/>
                      </a:solidFill>
                      <a:prstDash val="solid"/>
                      <a:round/>
                      <a:headEnd type="none" w="med" len="med"/>
                      <a:tailEnd type="none" w="med" len="med"/>
                    </a:lnB>
                    <a:noFill/>
                  </a:tcPr>
                </a:tc>
                <a:extLst>
                  <a:ext uri="{0D108BD9-81ED-4DB2-BD59-A6C34878D82A}">
                    <a16:rowId xmlns:a16="http://schemas.microsoft.com/office/drawing/2014/main" val="207476572"/>
                  </a:ext>
                </a:extLst>
              </a:tr>
              <a:tr h="542925">
                <a:tc>
                  <a:txBody>
                    <a:bodyPr/>
                    <a:lstStyle/>
                    <a:p>
                      <a:pPr algn="ctr" fontAlgn="base">
                        <a:lnSpc>
                          <a:spcPts val="2400"/>
                        </a:lnSpc>
                        <a:buNone/>
                      </a:pPr>
                      <a:r>
                        <a:rPr lang="el-GR" sz="2000" b="1" i="0">
                          <a:solidFill>
                            <a:srgbClr val="FFFFFF"/>
                          </a:solidFill>
                          <a:effectLst/>
                          <a:latin typeface="Calibri" panose="020F0502020204030204" pitchFamily="34" charset="0"/>
                        </a:rPr>
                        <a:t>Κόστος νερού ψύξης</a:t>
                      </a:r>
                      <a:endParaRPr lang="el-GR" b="0" i="0">
                        <a:solidFill>
                          <a:srgbClr val="000000"/>
                        </a:solidFill>
                        <a:effectLst/>
                      </a:endParaRPr>
                    </a:p>
                  </a:txBody>
                  <a:tcPr anchor="ctr">
                    <a:lnL w="9525" cap="flat" cmpd="sng" algn="ctr">
                      <a:solidFill>
                        <a:srgbClr val="8FAADC"/>
                      </a:solidFill>
                      <a:prstDash val="solid"/>
                      <a:round/>
                      <a:headEnd type="none" w="med" len="med"/>
                      <a:tailEnd type="none" w="med" len="med"/>
                    </a:lnL>
                    <a:lnR w="9525" cap="flat" cmpd="sng" algn="ctr">
                      <a:solidFill>
                        <a:srgbClr val="8FAADC"/>
                      </a:solidFill>
                      <a:prstDash val="solid"/>
                      <a:round/>
                      <a:headEnd type="none" w="med" len="med"/>
                      <a:tailEnd type="none" w="med" len="med"/>
                    </a:lnR>
                    <a:lnT w="9525" cap="flat" cmpd="sng" algn="ctr">
                      <a:solidFill>
                        <a:srgbClr val="8FAADC"/>
                      </a:solidFill>
                      <a:prstDash val="solid"/>
                      <a:round/>
                      <a:headEnd type="none" w="med" len="med"/>
                      <a:tailEnd type="none" w="med" len="med"/>
                    </a:lnT>
                    <a:lnB w="9525" cap="flat" cmpd="sng" algn="ctr">
                      <a:solidFill>
                        <a:srgbClr val="8FAADC"/>
                      </a:solidFill>
                      <a:prstDash val="solid"/>
                      <a:round/>
                      <a:headEnd type="none" w="med" len="med"/>
                      <a:tailEnd type="none" w="med" len="med"/>
                    </a:lnB>
                    <a:solidFill>
                      <a:srgbClr val="4472C4"/>
                    </a:solidFill>
                  </a:tcPr>
                </a:tc>
                <a:tc>
                  <a:txBody>
                    <a:bodyPr/>
                    <a:lstStyle/>
                    <a:p>
                      <a:pPr algn="ctr" fontAlgn="base">
                        <a:lnSpc>
                          <a:spcPts val="2400"/>
                        </a:lnSpc>
                        <a:buNone/>
                      </a:pPr>
                      <a:r>
                        <a:rPr lang="en-US" sz="2000" b="0" i="0" dirty="0">
                          <a:solidFill>
                            <a:srgbClr val="000000"/>
                          </a:solidFill>
                          <a:effectLst/>
                          <a:latin typeface="Calibri" panose="020F0502020204030204" pitchFamily="34" charset="0"/>
                        </a:rPr>
                        <a:t>0.8 USD/t</a:t>
                      </a:r>
                      <a:endParaRPr lang="en-US" b="0" i="0" dirty="0">
                        <a:solidFill>
                          <a:srgbClr val="000000"/>
                        </a:solidFill>
                        <a:effectLst/>
                      </a:endParaRPr>
                    </a:p>
                  </a:txBody>
                  <a:tcPr anchor="ctr">
                    <a:lnL w="9525" cap="flat" cmpd="sng" algn="ctr">
                      <a:solidFill>
                        <a:srgbClr val="8FAADC"/>
                      </a:solidFill>
                      <a:prstDash val="solid"/>
                      <a:round/>
                      <a:headEnd type="none" w="med" len="med"/>
                      <a:tailEnd type="none" w="med" len="med"/>
                    </a:lnL>
                    <a:lnR w="9525" cap="flat" cmpd="sng" algn="ctr">
                      <a:solidFill>
                        <a:srgbClr val="8FAADC"/>
                      </a:solidFill>
                      <a:prstDash val="solid"/>
                      <a:round/>
                      <a:headEnd type="none" w="med" len="med"/>
                      <a:tailEnd type="none" w="med" len="med"/>
                    </a:lnR>
                    <a:lnT w="9525" cap="flat" cmpd="sng" algn="ctr">
                      <a:solidFill>
                        <a:srgbClr val="8FAADC"/>
                      </a:solidFill>
                      <a:prstDash val="solid"/>
                      <a:round/>
                      <a:headEnd type="none" w="med" len="med"/>
                      <a:tailEnd type="none" w="med" len="med"/>
                    </a:lnT>
                    <a:lnB w="9525" cap="flat" cmpd="sng" algn="ctr">
                      <a:solidFill>
                        <a:srgbClr val="8FAADC"/>
                      </a:solidFill>
                      <a:prstDash val="solid"/>
                      <a:round/>
                      <a:headEnd type="none" w="med" len="med"/>
                      <a:tailEnd type="none" w="med" len="med"/>
                    </a:lnB>
                    <a:noFill/>
                  </a:tcPr>
                </a:tc>
                <a:extLst>
                  <a:ext uri="{0D108BD9-81ED-4DB2-BD59-A6C34878D82A}">
                    <a16:rowId xmlns:a16="http://schemas.microsoft.com/office/drawing/2014/main" val="2595333470"/>
                  </a:ext>
                </a:extLst>
              </a:tr>
              <a:tr h="542925">
                <a:tc>
                  <a:txBody>
                    <a:bodyPr/>
                    <a:lstStyle/>
                    <a:p>
                      <a:pPr algn="ctr" fontAlgn="base">
                        <a:lnSpc>
                          <a:spcPts val="2400"/>
                        </a:lnSpc>
                        <a:buNone/>
                      </a:pPr>
                      <a:r>
                        <a:rPr lang="el-GR" sz="2000" b="1" i="0">
                          <a:solidFill>
                            <a:srgbClr val="FFFFFF"/>
                          </a:solidFill>
                          <a:effectLst/>
                          <a:latin typeface="Calibri" panose="020F0502020204030204" pitchFamily="34" charset="0"/>
                        </a:rPr>
                        <a:t>Κόστος νερού διαδιήθησης</a:t>
                      </a:r>
                      <a:endParaRPr lang="el-GR" b="0" i="0">
                        <a:solidFill>
                          <a:srgbClr val="000000"/>
                        </a:solidFill>
                        <a:effectLst/>
                      </a:endParaRPr>
                    </a:p>
                  </a:txBody>
                  <a:tcPr anchor="ctr">
                    <a:lnL w="9525" cap="flat" cmpd="sng" algn="ctr">
                      <a:solidFill>
                        <a:srgbClr val="8FAADC"/>
                      </a:solidFill>
                      <a:prstDash val="solid"/>
                      <a:round/>
                      <a:headEnd type="none" w="med" len="med"/>
                      <a:tailEnd type="none" w="med" len="med"/>
                    </a:lnL>
                    <a:lnR w="9525" cap="flat" cmpd="sng" algn="ctr">
                      <a:solidFill>
                        <a:srgbClr val="8FAADC"/>
                      </a:solidFill>
                      <a:prstDash val="solid"/>
                      <a:round/>
                      <a:headEnd type="none" w="med" len="med"/>
                      <a:tailEnd type="none" w="med" len="med"/>
                    </a:lnR>
                    <a:lnT w="9525" cap="flat" cmpd="sng" algn="ctr">
                      <a:solidFill>
                        <a:srgbClr val="8FAADC"/>
                      </a:solidFill>
                      <a:prstDash val="solid"/>
                      <a:round/>
                      <a:headEnd type="none" w="med" len="med"/>
                      <a:tailEnd type="none" w="med" len="med"/>
                    </a:lnT>
                    <a:lnB w="9525" cap="flat" cmpd="sng" algn="ctr">
                      <a:solidFill>
                        <a:srgbClr val="8FAADC"/>
                      </a:solidFill>
                      <a:prstDash val="solid"/>
                      <a:round/>
                      <a:headEnd type="none" w="med" len="med"/>
                      <a:tailEnd type="none" w="med" len="med"/>
                    </a:lnB>
                    <a:solidFill>
                      <a:srgbClr val="4472C4"/>
                    </a:solidFill>
                  </a:tcPr>
                </a:tc>
                <a:tc>
                  <a:txBody>
                    <a:bodyPr/>
                    <a:lstStyle/>
                    <a:p>
                      <a:pPr algn="ctr" fontAlgn="base">
                        <a:lnSpc>
                          <a:spcPts val="2400"/>
                        </a:lnSpc>
                        <a:buNone/>
                      </a:pPr>
                      <a:r>
                        <a:rPr lang="en-US" sz="2000" b="0" i="0" dirty="0">
                          <a:solidFill>
                            <a:srgbClr val="000000"/>
                          </a:solidFill>
                          <a:effectLst/>
                          <a:latin typeface="Calibri" panose="020F0502020204030204" pitchFamily="34" charset="0"/>
                        </a:rPr>
                        <a:t>0.96 USD/t</a:t>
                      </a:r>
                      <a:endParaRPr lang="en-US" b="0" i="0" dirty="0">
                        <a:solidFill>
                          <a:srgbClr val="000000"/>
                        </a:solidFill>
                        <a:effectLst/>
                      </a:endParaRPr>
                    </a:p>
                  </a:txBody>
                  <a:tcPr anchor="ctr">
                    <a:lnL w="9525" cap="flat" cmpd="sng" algn="ctr">
                      <a:solidFill>
                        <a:srgbClr val="8FAADC"/>
                      </a:solidFill>
                      <a:prstDash val="solid"/>
                      <a:round/>
                      <a:headEnd type="none" w="med" len="med"/>
                      <a:tailEnd type="none" w="med" len="med"/>
                    </a:lnL>
                    <a:lnR w="9525" cap="flat" cmpd="sng" algn="ctr">
                      <a:solidFill>
                        <a:srgbClr val="8FAADC"/>
                      </a:solidFill>
                      <a:prstDash val="solid"/>
                      <a:round/>
                      <a:headEnd type="none" w="med" len="med"/>
                      <a:tailEnd type="none" w="med" len="med"/>
                    </a:lnR>
                    <a:lnT w="9525" cap="flat" cmpd="sng" algn="ctr">
                      <a:solidFill>
                        <a:srgbClr val="8FAADC"/>
                      </a:solidFill>
                      <a:prstDash val="solid"/>
                      <a:round/>
                      <a:headEnd type="none" w="med" len="med"/>
                      <a:tailEnd type="none" w="med" len="med"/>
                    </a:lnT>
                    <a:lnB w="9525" cap="flat" cmpd="sng" algn="ctr">
                      <a:solidFill>
                        <a:srgbClr val="8FAADC"/>
                      </a:solidFill>
                      <a:prstDash val="solid"/>
                      <a:round/>
                      <a:headEnd type="none" w="med" len="med"/>
                      <a:tailEnd type="none" w="med" len="med"/>
                    </a:lnB>
                    <a:noFill/>
                  </a:tcPr>
                </a:tc>
                <a:extLst>
                  <a:ext uri="{0D108BD9-81ED-4DB2-BD59-A6C34878D82A}">
                    <a16:rowId xmlns:a16="http://schemas.microsoft.com/office/drawing/2014/main" val="2509712152"/>
                  </a:ext>
                </a:extLst>
              </a:tr>
              <a:tr h="676275">
                <a:tc>
                  <a:txBody>
                    <a:bodyPr/>
                    <a:lstStyle/>
                    <a:p>
                      <a:pPr algn="ctr" fontAlgn="base">
                        <a:lnSpc>
                          <a:spcPts val="2400"/>
                        </a:lnSpc>
                        <a:buNone/>
                      </a:pPr>
                      <a:r>
                        <a:rPr lang="el-GR" sz="2000" b="1" i="0" dirty="0">
                          <a:solidFill>
                            <a:srgbClr val="FFFFFF"/>
                          </a:solidFill>
                          <a:effectLst/>
                          <a:latin typeface="Calibri" panose="020F0502020204030204" pitchFamily="34" charset="0"/>
                        </a:rPr>
                        <a:t>Έσοδα από συμπυκνωμένο γάλα</a:t>
                      </a:r>
                      <a:endParaRPr lang="el-GR" b="0" i="0" dirty="0">
                        <a:solidFill>
                          <a:srgbClr val="000000"/>
                        </a:solidFill>
                        <a:effectLst/>
                      </a:endParaRPr>
                    </a:p>
                  </a:txBody>
                  <a:tcPr anchor="ctr">
                    <a:lnL w="9525" cap="flat" cmpd="sng" algn="ctr">
                      <a:solidFill>
                        <a:srgbClr val="8FAADC"/>
                      </a:solidFill>
                      <a:prstDash val="solid"/>
                      <a:round/>
                      <a:headEnd type="none" w="med" len="med"/>
                      <a:tailEnd type="none" w="med" len="med"/>
                    </a:lnL>
                    <a:lnR w="9525" cap="flat" cmpd="sng" algn="ctr">
                      <a:solidFill>
                        <a:srgbClr val="8FAADC"/>
                      </a:solidFill>
                      <a:prstDash val="solid"/>
                      <a:round/>
                      <a:headEnd type="none" w="med" len="med"/>
                      <a:tailEnd type="none" w="med" len="med"/>
                    </a:lnR>
                    <a:lnT w="9525" cap="flat" cmpd="sng" algn="ctr">
                      <a:solidFill>
                        <a:srgbClr val="8FAADC"/>
                      </a:solidFill>
                      <a:prstDash val="solid"/>
                      <a:round/>
                      <a:headEnd type="none" w="med" len="med"/>
                      <a:tailEnd type="none" w="med" len="med"/>
                    </a:lnT>
                    <a:lnB w="9525" cap="flat" cmpd="sng" algn="ctr">
                      <a:solidFill>
                        <a:srgbClr val="8FAADC"/>
                      </a:solidFill>
                      <a:prstDash val="solid"/>
                      <a:round/>
                      <a:headEnd type="none" w="med" len="med"/>
                      <a:tailEnd type="none" w="med" len="med"/>
                    </a:lnB>
                    <a:solidFill>
                      <a:srgbClr val="4472C4"/>
                    </a:solidFill>
                  </a:tcPr>
                </a:tc>
                <a:tc>
                  <a:txBody>
                    <a:bodyPr/>
                    <a:lstStyle/>
                    <a:p>
                      <a:pPr algn="ctr" fontAlgn="base">
                        <a:lnSpc>
                          <a:spcPts val="2400"/>
                        </a:lnSpc>
                        <a:buNone/>
                      </a:pPr>
                      <a:r>
                        <a:rPr lang="en-US" sz="2000" b="0" i="0" dirty="0">
                          <a:solidFill>
                            <a:srgbClr val="000000"/>
                          </a:solidFill>
                          <a:effectLst/>
                          <a:latin typeface="Calibri" panose="020F0502020204030204" pitchFamily="34" charset="0"/>
                        </a:rPr>
                        <a:t>585 USD/t</a:t>
                      </a:r>
                      <a:endParaRPr lang="en-US" b="0" i="0" dirty="0">
                        <a:solidFill>
                          <a:srgbClr val="000000"/>
                        </a:solidFill>
                        <a:effectLst/>
                      </a:endParaRPr>
                    </a:p>
                  </a:txBody>
                  <a:tcPr anchor="ctr">
                    <a:lnL w="9525" cap="flat" cmpd="sng" algn="ctr">
                      <a:solidFill>
                        <a:srgbClr val="8FAADC"/>
                      </a:solidFill>
                      <a:prstDash val="solid"/>
                      <a:round/>
                      <a:headEnd type="none" w="med" len="med"/>
                      <a:tailEnd type="none" w="med" len="med"/>
                    </a:lnL>
                    <a:lnR w="9525" cap="flat" cmpd="sng" algn="ctr">
                      <a:solidFill>
                        <a:srgbClr val="8FAADC"/>
                      </a:solidFill>
                      <a:prstDash val="solid"/>
                      <a:round/>
                      <a:headEnd type="none" w="med" len="med"/>
                      <a:tailEnd type="none" w="med" len="med"/>
                    </a:lnR>
                    <a:lnT w="9525" cap="flat" cmpd="sng" algn="ctr">
                      <a:solidFill>
                        <a:srgbClr val="8FAADC"/>
                      </a:solidFill>
                      <a:prstDash val="solid"/>
                      <a:round/>
                      <a:headEnd type="none" w="med" len="med"/>
                      <a:tailEnd type="none" w="med" len="med"/>
                    </a:lnT>
                    <a:lnB w="9525" cap="flat" cmpd="sng" algn="ctr">
                      <a:solidFill>
                        <a:srgbClr val="8FAADC"/>
                      </a:solidFill>
                      <a:prstDash val="solid"/>
                      <a:round/>
                      <a:headEnd type="none" w="med" len="med"/>
                      <a:tailEnd type="none" w="med" len="med"/>
                    </a:lnB>
                    <a:noFill/>
                  </a:tcPr>
                </a:tc>
                <a:extLst>
                  <a:ext uri="{0D108BD9-81ED-4DB2-BD59-A6C34878D82A}">
                    <a16:rowId xmlns:a16="http://schemas.microsoft.com/office/drawing/2014/main" val="1177582582"/>
                  </a:ext>
                </a:extLst>
              </a:tr>
            </a:tbl>
          </a:graphicData>
        </a:graphic>
      </p:graphicFrame>
      <p:sp>
        <p:nvSpPr>
          <p:cNvPr id="6" name="TextBox 5">
            <a:extLst>
              <a:ext uri="{FF2B5EF4-FFF2-40B4-BE49-F238E27FC236}">
                <a16:creationId xmlns:a16="http://schemas.microsoft.com/office/drawing/2014/main" id="{08CCF454-0D35-DBE7-AAAC-CD751EC02622}"/>
              </a:ext>
            </a:extLst>
          </p:cNvPr>
          <p:cNvSpPr txBox="1"/>
          <p:nvPr/>
        </p:nvSpPr>
        <p:spPr>
          <a:xfrm>
            <a:off x="385251" y="5848994"/>
            <a:ext cx="5039728" cy="40011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dirty="0" err="1">
                <a:ea typeface="Calibri"/>
                <a:cs typeface="Calibri"/>
              </a:rPr>
              <a:t>Πίν</a:t>
            </a:r>
            <a:r>
              <a:rPr lang="en-US" sz="2000" dirty="0">
                <a:ea typeface="Calibri"/>
                <a:cs typeface="Calibri"/>
              </a:rPr>
              <a:t>ακας 1: </a:t>
            </a:r>
            <a:r>
              <a:rPr lang="en-US" sz="2000" dirty="0" err="1">
                <a:ea typeface="Calibri"/>
                <a:cs typeface="Calibri"/>
              </a:rPr>
              <a:t>Κόστη</a:t>
            </a:r>
            <a:r>
              <a:rPr lang="en-US" sz="2000" dirty="0">
                <a:ea typeface="Calibri"/>
                <a:cs typeface="Calibri"/>
              </a:rPr>
              <a:t> και </a:t>
            </a:r>
            <a:r>
              <a:rPr lang="en-US" sz="2000" dirty="0" err="1">
                <a:ea typeface="Calibri"/>
                <a:cs typeface="Calibri"/>
              </a:rPr>
              <a:t>έσοδ</a:t>
            </a:r>
            <a:r>
              <a:rPr lang="en-US" sz="2000" dirty="0">
                <a:ea typeface="Calibri"/>
                <a:cs typeface="Calibri"/>
              </a:rPr>
              <a:t>α </a:t>
            </a:r>
            <a:r>
              <a:rPr lang="en-US" sz="2000" dirty="0" err="1">
                <a:ea typeface="Calibri"/>
                <a:cs typeface="Calibri"/>
              </a:rPr>
              <a:t>ρευμάτων</a:t>
            </a:r>
            <a:endParaRPr lang="en-US" sz="2000" dirty="0" err="1">
              <a:latin typeface="Calibri"/>
              <a:ea typeface="Calibri"/>
              <a:cs typeface="Calibri"/>
            </a:endParaRPr>
          </a:p>
        </p:txBody>
      </p:sp>
      <p:pic>
        <p:nvPicPr>
          <p:cNvPr id="2" name="Picture 1" descr="A colorful map of a sea&#10;&#10;AI-generated content may be incorrect.">
            <a:extLst>
              <a:ext uri="{FF2B5EF4-FFF2-40B4-BE49-F238E27FC236}">
                <a16:creationId xmlns:a16="http://schemas.microsoft.com/office/drawing/2014/main" id="{CA564100-DBFC-11B4-7EE6-46DE77673F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96904" y="1128935"/>
            <a:ext cx="5594659" cy="3870237"/>
          </a:xfrm>
          <a:prstGeom prst="rect">
            <a:avLst/>
          </a:prstGeom>
        </p:spPr>
      </p:pic>
      <p:sp>
        <p:nvSpPr>
          <p:cNvPr id="7" name="TextBox 5">
            <a:extLst>
              <a:ext uri="{FF2B5EF4-FFF2-40B4-BE49-F238E27FC236}">
                <a16:creationId xmlns:a16="http://schemas.microsoft.com/office/drawing/2014/main" id="{C4728FED-A2E2-DDC1-0F41-DD6D0038EB3B}"/>
              </a:ext>
            </a:extLst>
          </p:cNvPr>
          <p:cNvSpPr txBox="1"/>
          <p:nvPr/>
        </p:nvSpPr>
        <p:spPr>
          <a:xfrm>
            <a:off x="6096000" y="5117586"/>
            <a:ext cx="6146194"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dirty="0" err="1">
                <a:ea typeface="Calibri"/>
                <a:cs typeface="Calibri"/>
              </a:rPr>
              <a:t>Εικόν</a:t>
            </a:r>
            <a:r>
              <a:rPr lang="en-US" sz="2000" dirty="0">
                <a:ea typeface="Calibri"/>
                <a:cs typeface="Calibri"/>
              </a:rPr>
              <a:t>α 1</a:t>
            </a:r>
            <a:r>
              <a:rPr lang="el-GR" sz="2000" dirty="0">
                <a:ea typeface="Calibri"/>
                <a:cs typeface="Calibri"/>
              </a:rPr>
              <a:t>0</a:t>
            </a:r>
            <a:r>
              <a:rPr lang="en-US" sz="2000" dirty="0">
                <a:ea typeface="Calibri"/>
                <a:cs typeface="Calibri"/>
              </a:rPr>
              <a:t>: </a:t>
            </a:r>
            <a:r>
              <a:rPr lang="en-US" sz="2000" dirty="0">
                <a:latin typeface="Calibri"/>
                <a:ea typeface="Calibri"/>
                <a:cs typeface="Calibri"/>
              </a:rPr>
              <a:t>Επίδραση της διάρκειας της προσομοίωσης και της ελάχιστης θερμοκρασίας ανάπτυξης του </a:t>
            </a:r>
            <a:r>
              <a:rPr lang="en-US" sz="2000" i="1" dirty="0">
                <a:latin typeface="Calibri"/>
                <a:ea typeface="Calibri"/>
                <a:cs typeface="Calibri"/>
              </a:rPr>
              <a:t>S.thermophilus </a:t>
            </a:r>
            <a:r>
              <a:rPr lang="en-US" sz="2000" dirty="0">
                <a:latin typeface="Calibri"/>
                <a:ea typeface="Calibri"/>
                <a:cs typeface="Calibri"/>
              </a:rPr>
              <a:t>στη συγκέντρωσή του στα τοιχώματα της αναγεννητικής μονάδας</a:t>
            </a:r>
          </a:p>
        </p:txBody>
      </p:sp>
    </p:spTree>
    <p:extLst>
      <p:ext uri="{BB962C8B-B14F-4D97-AF65-F5344CB8AC3E}">
        <p14:creationId xmlns:p14="http://schemas.microsoft.com/office/powerpoint/2010/main" val="15246372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323B8-B424-188B-66B3-4D5A2317F9C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38A65A1-D13A-50F8-A224-F3A11DA01BAD}"/>
              </a:ext>
            </a:extLst>
          </p:cNvPr>
          <p:cNvSpPr>
            <a:spLocks noGrp="1"/>
          </p:cNvSpPr>
          <p:nvPr>
            <p:ph type="sldNum" sz="quarter" idx="12"/>
          </p:nvPr>
        </p:nvSpPr>
        <p:spPr/>
        <p:txBody>
          <a:bodyPr/>
          <a:lstStyle/>
          <a:p>
            <a:fld id="{48F63A3B-78C7-47BE-AE5E-E10140E04643}" type="slidenum">
              <a:rPr lang="en-US" smtClean="0"/>
              <a:t>17</a:t>
            </a:fld>
            <a:r>
              <a:rPr lang="en-US" dirty="0"/>
              <a:t>/</a:t>
            </a:r>
            <a:r>
              <a:rPr lang="el-GR" dirty="0"/>
              <a:t>2</a:t>
            </a:r>
            <a:r>
              <a:rPr lang="en-US" dirty="0"/>
              <a:t>2</a:t>
            </a:r>
          </a:p>
        </p:txBody>
      </p:sp>
      <p:sp>
        <p:nvSpPr>
          <p:cNvPr id="8" name="Title 1">
            <a:extLst>
              <a:ext uri="{FF2B5EF4-FFF2-40B4-BE49-F238E27FC236}">
                <a16:creationId xmlns:a16="http://schemas.microsoft.com/office/drawing/2014/main" id="{DE90C67A-2D99-3556-D451-1A1C6162EEF2}"/>
              </a:ext>
            </a:extLst>
          </p:cNvPr>
          <p:cNvSpPr txBox="1">
            <a:spLocks/>
          </p:cNvSpPr>
          <p:nvPr/>
        </p:nvSpPr>
        <p:spPr>
          <a:xfrm>
            <a:off x="103898" y="138893"/>
            <a:ext cx="12541326" cy="6868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dirty="0">
                <a:ea typeface="Calibri Light"/>
                <a:cs typeface="Calibri Light"/>
              </a:rPr>
              <a:t>6.1 </a:t>
            </a:r>
            <a:r>
              <a:rPr lang="en-US" sz="3100" dirty="0" err="1">
                <a:ea typeface="Calibri Light"/>
                <a:cs typeface="Calibri Light"/>
              </a:rPr>
              <a:t>Μοντέλο</a:t>
            </a:r>
            <a:r>
              <a:rPr lang="en-US" sz="3100" dirty="0">
                <a:ea typeface="Calibri Light"/>
                <a:cs typeface="Calibri Light"/>
              </a:rPr>
              <a:t> Πα</a:t>
            </a:r>
            <a:r>
              <a:rPr lang="en-US" sz="3100" dirty="0" err="1">
                <a:ea typeface="Calibri Light"/>
                <a:cs typeface="Calibri Light"/>
              </a:rPr>
              <a:t>στερίωσης-Βελτιστο</a:t>
            </a:r>
            <a:r>
              <a:rPr lang="en-US" sz="3100" dirty="0">
                <a:ea typeface="Calibri Light"/>
                <a:cs typeface="Calibri Light"/>
              </a:rPr>
              <a:t>π</a:t>
            </a:r>
            <a:r>
              <a:rPr lang="en-US" sz="3100" dirty="0" err="1">
                <a:ea typeface="Calibri Light"/>
                <a:cs typeface="Calibri Light"/>
              </a:rPr>
              <a:t>οίηση</a:t>
            </a:r>
            <a:endParaRPr lang="en-US" sz="3100" dirty="0">
              <a:ea typeface="Calibri Light"/>
              <a:cs typeface="Calibri Light"/>
            </a:endParaRPr>
          </a:p>
        </p:txBody>
      </p:sp>
      <p:graphicFrame>
        <p:nvGraphicFramePr>
          <p:cNvPr id="5" name="Tabelle 4">
            <a:extLst>
              <a:ext uri="{FF2B5EF4-FFF2-40B4-BE49-F238E27FC236}">
                <a16:creationId xmlns:a16="http://schemas.microsoft.com/office/drawing/2014/main" id="{BC55B1C4-C864-B233-A9FF-831E79D16D28}"/>
              </a:ext>
            </a:extLst>
          </p:cNvPr>
          <p:cNvGraphicFramePr>
            <a:graphicFrameLocks noGrp="1"/>
          </p:cNvGraphicFramePr>
          <p:nvPr>
            <p:extLst>
              <p:ext uri="{D42A27DB-BD31-4B8C-83A1-F6EECF244321}">
                <p14:modId xmlns:p14="http://schemas.microsoft.com/office/powerpoint/2010/main" val="3025453532"/>
              </p:ext>
            </p:extLst>
          </p:nvPr>
        </p:nvGraphicFramePr>
        <p:xfrm>
          <a:off x="190367" y="801737"/>
          <a:ext cx="11801569" cy="5254525"/>
        </p:xfrm>
        <a:graphic>
          <a:graphicData uri="http://schemas.openxmlformats.org/drawingml/2006/table">
            <a:tbl>
              <a:tblPr firstRow="1" firstCol="1" bandRow="1">
                <a:tableStyleId>{69012ECD-51FC-41F1-AA8D-1B2483CD663E}</a:tableStyleId>
              </a:tblPr>
              <a:tblGrid>
                <a:gridCol w="3111499">
                  <a:extLst>
                    <a:ext uri="{9D8B030D-6E8A-4147-A177-3AD203B41FA5}">
                      <a16:colId xmlns:a16="http://schemas.microsoft.com/office/drawing/2014/main" val="1663565418"/>
                    </a:ext>
                  </a:extLst>
                </a:gridCol>
                <a:gridCol w="1603373">
                  <a:extLst>
                    <a:ext uri="{9D8B030D-6E8A-4147-A177-3AD203B41FA5}">
                      <a16:colId xmlns:a16="http://schemas.microsoft.com/office/drawing/2014/main" val="4271753242"/>
                    </a:ext>
                  </a:extLst>
                </a:gridCol>
                <a:gridCol w="714375">
                  <a:extLst>
                    <a:ext uri="{9D8B030D-6E8A-4147-A177-3AD203B41FA5}">
                      <a16:colId xmlns:a16="http://schemas.microsoft.com/office/drawing/2014/main" val="1252835141"/>
                    </a:ext>
                  </a:extLst>
                </a:gridCol>
                <a:gridCol w="1048666">
                  <a:extLst>
                    <a:ext uri="{9D8B030D-6E8A-4147-A177-3AD203B41FA5}">
                      <a16:colId xmlns:a16="http://schemas.microsoft.com/office/drawing/2014/main" val="640501487"/>
                    </a:ext>
                  </a:extLst>
                </a:gridCol>
                <a:gridCol w="1970598">
                  <a:extLst>
                    <a:ext uri="{9D8B030D-6E8A-4147-A177-3AD203B41FA5}">
                      <a16:colId xmlns:a16="http://schemas.microsoft.com/office/drawing/2014/main" val="3932388530"/>
                    </a:ext>
                  </a:extLst>
                </a:gridCol>
                <a:gridCol w="1880876">
                  <a:extLst>
                    <a:ext uri="{9D8B030D-6E8A-4147-A177-3AD203B41FA5}">
                      <a16:colId xmlns:a16="http://schemas.microsoft.com/office/drawing/2014/main" val="1753384912"/>
                    </a:ext>
                  </a:extLst>
                </a:gridCol>
                <a:gridCol w="1472182">
                  <a:extLst>
                    <a:ext uri="{9D8B030D-6E8A-4147-A177-3AD203B41FA5}">
                      <a16:colId xmlns:a16="http://schemas.microsoft.com/office/drawing/2014/main" val="1821848347"/>
                    </a:ext>
                  </a:extLst>
                </a:gridCol>
              </a:tblGrid>
              <a:tr h="833188">
                <a:tc>
                  <a:txBody>
                    <a:bodyPr/>
                    <a:lstStyle/>
                    <a:p>
                      <a:pPr lvl="0" algn="ctr">
                        <a:buNone/>
                      </a:pPr>
                      <a:r>
                        <a:rPr lang="de-DE" sz="2000" err="1">
                          <a:effectLst/>
                        </a:rPr>
                        <a:t>Μετ</a:t>
                      </a:r>
                      <a:r>
                        <a:rPr lang="de-DE" sz="2000">
                          <a:effectLst/>
                        </a:rPr>
                        <a:t>αβ</a:t>
                      </a:r>
                      <a:r>
                        <a:rPr lang="de-DE" sz="2000" err="1">
                          <a:effectLst/>
                        </a:rPr>
                        <a:t>λητή</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algn="ctr">
                        <a:buNone/>
                      </a:pPr>
                      <a:r>
                        <a:rPr lang="de-DE" sz="2000" err="1">
                          <a:effectLst/>
                        </a:rPr>
                        <a:t>Τύ</a:t>
                      </a:r>
                      <a:r>
                        <a:rPr lang="de-DE" sz="2000">
                          <a:effectLst/>
                        </a:rPr>
                        <a:t>π</a:t>
                      </a:r>
                      <a:r>
                        <a:rPr lang="de-DE" sz="2000" err="1">
                          <a:effectLst/>
                        </a:rPr>
                        <a:t>ος</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algn="ctr">
                        <a:buNone/>
                      </a:pPr>
                      <a:r>
                        <a:rPr lang="de-DE" sz="2000" err="1">
                          <a:effectLst/>
                        </a:rPr>
                        <a:t>Κάτω</a:t>
                      </a:r>
                      <a:r>
                        <a:rPr lang="de-DE" sz="2000">
                          <a:effectLst/>
                        </a:rPr>
                        <a:t> </a:t>
                      </a:r>
                      <a:r>
                        <a:rPr lang="de-DE" sz="2000" err="1">
                          <a:effectLst/>
                        </a:rPr>
                        <a:t>όριο</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algn="ctr">
                        <a:buNone/>
                      </a:pPr>
                      <a:r>
                        <a:rPr lang="de-DE" sz="2000" err="1">
                          <a:effectLst/>
                        </a:rPr>
                        <a:t>Άνω</a:t>
                      </a:r>
                      <a:r>
                        <a:rPr lang="de-DE" sz="2000">
                          <a:effectLst/>
                        </a:rPr>
                        <a:t> </a:t>
                      </a:r>
                      <a:r>
                        <a:rPr lang="de-DE" sz="2000" err="1">
                          <a:effectLst/>
                        </a:rPr>
                        <a:t>όριο</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algn="ctr">
                        <a:buNone/>
                      </a:pPr>
                      <a:r>
                        <a:rPr lang="de-DE" sz="2000" err="1">
                          <a:effectLst/>
                        </a:rPr>
                        <a:t>Τιμή</a:t>
                      </a:r>
                      <a:r>
                        <a:rPr lang="de-DE" sz="2000">
                          <a:effectLst/>
                        </a:rPr>
                        <a:t> β</a:t>
                      </a:r>
                      <a:r>
                        <a:rPr lang="de-DE" sz="2000" err="1">
                          <a:effectLst/>
                        </a:rPr>
                        <a:t>ελτιστο</a:t>
                      </a:r>
                      <a:r>
                        <a:rPr lang="de-DE" sz="2000">
                          <a:effectLst/>
                        </a:rPr>
                        <a:t>π</a:t>
                      </a:r>
                      <a:r>
                        <a:rPr lang="de-DE" sz="2000" err="1">
                          <a:effectLst/>
                        </a:rPr>
                        <a:t>οίησης</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algn="ctr">
                        <a:buNone/>
                      </a:pPr>
                      <a:r>
                        <a:rPr lang="de-DE" sz="2000" err="1">
                          <a:effectLst/>
                        </a:rPr>
                        <a:t>Τιμή</a:t>
                      </a:r>
                      <a:r>
                        <a:rPr lang="de-DE" sz="2000">
                          <a:effectLst/>
                        </a:rPr>
                        <a:t> π</a:t>
                      </a:r>
                      <a:r>
                        <a:rPr lang="de-DE" sz="2000" err="1">
                          <a:effectLst/>
                        </a:rPr>
                        <a:t>ριν</a:t>
                      </a:r>
                      <a:r>
                        <a:rPr lang="de-DE" sz="2000">
                          <a:effectLst/>
                        </a:rPr>
                        <a:t> </a:t>
                      </a:r>
                      <a:r>
                        <a:rPr lang="de-DE" sz="2000" err="1">
                          <a:effectLst/>
                        </a:rPr>
                        <a:t>τη</a:t>
                      </a:r>
                      <a:r>
                        <a:rPr lang="de-DE" sz="2000">
                          <a:effectLst/>
                        </a:rPr>
                        <a:t> β</a:t>
                      </a:r>
                      <a:r>
                        <a:rPr lang="de-DE" sz="2000" err="1">
                          <a:effectLst/>
                        </a:rPr>
                        <a:t>ελτιστο</a:t>
                      </a:r>
                      <a:r>
                        <a:rPr lang="de-DE" sz="2000">
                          <a:effectLst/>
                        </a:rPr>
                        <a:t>π</a:t>
                      </a:r>
                      <a:r>
                        <a:rPr lang="de-DE" sz="2000" err="1">
                          <a:effectLst/>
                        </a:rPr>
                        <a:t>οίηση</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lvl="0" algn="ctr">
                        <a:buNone/>
                      </a:pPr>
                      <a:r>
                        <a:rPr lang="de-DE" sz="2000" err="1">
                          <a:effectLst/>
                        </a:rPr>
                        <a:t>Όφελος</a:t>
                      </a:r>
                      <a:endParaRPr lang="de-DE" err="1"/>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extLst>
                  <a:ext uri="{0D108BD9-81ED-4DB2-BD59-A6C34878D82A}">
                    <a16:rowId xmlns:a16="http://schemas.microsoft.com/office/drawing/2014/main" val="3382985473"/>
                  </a:ext>
                </a:extLst>
              </a:tr>
              <a:tr h="833188">
                <a:tc>
                  <a:txBody>
                    <a:bodyPr/>
                    <a:lstStyle/>
                    <a:p>
                      <a:pPr algn="ctr">
                        <a:buNone/>
                      </a:pPr>
                      <a:r>
                        <a:rPr lang="el-GR" sz="2000" b="1" dirty="0">
                          <a:effectLst/>
                        </a:rPr>
                        <a:t>Κόστος (</a:t>
                      </a:r>
                      <a:r>
                        <a:rPr lang="en-US" sz="2000" b="1" dirty="0">
                          <a:effectLst/>
                        </a:rPr>
                        <a:t>USD)</a:t>
                      </a:r>
                      <a:endParaRPr lang="de-DE" sz="2000" b="1" dirty="0">
                        <a:effectLst/>
                      </a:endParaRPr>
                    </a:p>
                  </a:txBody>
                  <a:tcPr marL="66675" marR="66675" marT="0" marB="0" anchor="ctr">
                    <a:lnL w="3175">
                      <a:solidFill>
                        <a:schemeClr val="accent1">
                          <a:lumMod val="60000"/>
                          <a:lumOff val="40000"/>
                        </a:schemeClr>
                      </a:solidFill>
                    </a:lnL>
                    <a:lnR w="3175" cap="flat" cmpd="sng" algn="ctr">
                      <a:solidFill>
                        <a:schemeClr val="accent1">
                          <a:lumMod val="60000"/>
                          <a:lumOff val="40000"/>
                        </a:schemeClr>
                      </a:solidFill>
                      <a:prstDash val="solid"/>
                      <a:round/>
                      <a:headEnd type="none" w="med" len="med"/>
                      <a:tailEnd type="none" w="med" len="med"/>
                    </a:lnR>
                    <a:lnT w="3175">
                      <a:solidFill>
                        <a:schemeClr val="accent1">
                          <a:lumMod val="60000"/>
                          <a:lumOff val="40000"/>
                        </a:schemeClr>
                      </a:solidFill>
                    </a:lnT>
                    <a:lnB w="3175" cap="flat" cmpd="sng" algn="ctr">
                      <a:solidFill>
                        <a:schemeClr val="accent1">
                          <a:lumMod val="60000"/>
                          <a:lumOff val="40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2000" b="0" dirty="0" err="1">
                          <a:effectLst/>
                        </a:rPr>
                        <a:t>Αντικειμενική</a:t>
                      </a:r>
                      <a:r>
                        <a:rPr lang="de-DE" sz="2000" b="0" dirty="0">
                          <a:effectLst/>
                        </a:rPr>
                        <a:t> </a:t>
                      </a:r>
                      <a:r>
                        <a:rPr lang="de-DE" sz="2000" b="0" dirty="0" err="1">
                          <a:effectLst/>
                        </a:rPr>
                        <a:t>συνάρτηση</a:t>
                      </a:r>
                      <a:endParaRPr lang="de-DE" sz="2000" b="0" dirty="0">
                        <a:effectLst/>
                      </a:endParaRPr>
                    </a:p>
                  </a:txBody>
                  <a:tcPr marL="66675" marR="66675" marT="0" marB="0" anchor="ctr">
                    <a:lnL w="3175" cap="flat" cmpd="sng" algn="ctr">
                      <a:solidFill>
                        <a:schemeClr val="accent1">
                          <a:lumMod val="60000"/>
                          <a:lumOff val="40000"/>
                        </a:schemeClr>
                      </a:solidFill>
                      <a:prstDash val="solid"/>
                      <a:round/>
                      <a:headEnd type="none" w="med" len="med"/>
                      <a:tailEnd type="none" w="med" len="med"/>
                    </a:lnL>
                    <a:lnR w="3175" cap="flat" cmpd="sng" algn="ctr">
                      <a:solidFill>
                        <a:schemeClr val="accent1">
                          <a:lumMod val="60000"/>
                          <a:lumOff val="40000"/>
                        </a:schemeClr>
                      </a:solidFill>
                      <a:prstDash val="solid"/>
                      <a:round/>
                      <a:headEnd type="none" w="med" len="med"/>
                      <a:tailEnd type="none" w="med" len="med"/>
                    </a:lnR>
                    <a:lnT w="3175">
                      <a:solidFill>
                        <a:schemeClr val="accent1">
                          <a:lumMod val="60000"/>
                          <a:lumOff val="40000"/>
                        </a:schemeClr>
                      </a:solidFill>
                    </a:lnT>
                    <a:lnB w="3175" cap="flat" cmpd="sng" algn="ctr">
                      <a:solidFill>
                        <a:schemeClr val="accent1">
                          <a:lumMod val="60000"/>
                          <a:lumOff val="40000"/>
                        </a:schemeClr>
                      </a:solidFill>
                      <a:prstDash val="solid"/>
                      <a:round/>
                      <a:headEnd type="none" w="med" len="med"/>
                      <a:tailEnd type="none" w="med" len="med"/>
                    </a:lnB>
                  </a:tcPr>
                </a:tc>
                <a:tc>
                  <a:txBody>
                    <a:bodyPr/>
                    <a:lstStyle/>
                    <a:p>
                      <a:pPr algn="ctr">
                        <a:buNone/>
                      </a:pPr>
                      <a:r>
                        <a:rPr lang="de-DE" sz="2000" b="0" dirty="0">
                          <a:effectLst/>
                        </a:rPr>
                        <a:t>-</a:t>
                      </a:r>
                    </a:p>
                  </a:txBody>
                  <a:tcPr marL="66675" marR="66675" marT="0" marB="0" anchor="ctr">
                    <a:lnL w="3175" cap="flat" cmpd="sng" algn="ctr">
                      <a:solidFill>
                        <a:schemeClr val="accent1">
                          <a:lumMod val="60000"/>
                          <a:lumOff val="40000"/>
                        </a:schemeClr>
                      </a:solidFill>
                      <a:prstDash val="solid"/>
                      <a:round/>
                      <a:headEnd type="none" w="med" len="med"/>
                      <a:tailEnd type="none" w="med" len="med"/>
                    </a:lnL>
                    <a:lnR w="3175" cap="flat" cmpd="sng" algn="ctr">
                      <a:solidFill>
                        <a:schemeClr val="accent1">
                          <a:lumMod val="60000"/>
                          <a:lumOff val="40000"/>
                        </a:schemeClr>
                      </a:solidFill>
                      <a:prstDash val="solid"/>
                      <a:round/>
                      <a:headEnd type="none" w="med" len="med"/>
                      <a:tailEnd type="none" w="med" len="med"/>
                    </a:lnR>
                    <a:lnT w="3175">
                      <a:solidFill>
                        <a:schemeClr val="accent1">
                          <a:lumMod val="60000"/>
                          <a:lumOff val="40000"/>
                        </a:schemeClr>
                      </a:solidFill>
                    </a:lnT>
                    <a:lnB w="3175" cap="flat" cmpd="sng" algn="ctr">
                      <a:solidFill>
                        <a:schemeClr val="accent1">
                          <a:lumMod val="60000"/>
                          <a:lumOff val="40000"/>
                        </a:schemeClr>
                      </a:solidFill>
                      <a:prstDash val="solid"/>
                      <a:round/>
                      <a:headEnd type="none" w="med" len="med"/>
                      <a:tailEnd type="none" w="med" len="med"/>
                    </a:lnB>
                  </a:tcPr>
                </a:tc>
                <a:tc>
                  <a:txBody>
                    <a:bodyPr/>
                    <a:lstStyle/>
                    <a:p>
                      <a:pPr algn="ctr">
                        <a:buNone/>
                      </a:pPr>
                      <a:r>
                        <a:rPr lang="de-DE" sz="2000" b="0" dirty="0">
                          <a:effectLst/>
                        </a:rPr>
                        <a:t>-</a:t>
                      </a:r>
                    </a:p>
                  </a:txBody>
                  <a:tcPr marL="66675" marR="66675" marT="0" marB="0" anchor="ctr">
                    <a:lnL w="3175" cap="flat" cmpd="sng" algn="ctr">
                      <a:solidFill>
                        <a:schemeClr val="accent1">
                          <a:lumMod val="60000"/>
                          <a:lumOff val="40000"/>
                        </a:schemeClr>
                      </a:solidFill>
                      <a:prstDash val="solid"/>
                      <a:round/>
                      <a:headEnd type="none" w="med" len="med"/>
                      <a:tailEnd type="none" w="med" len="med"/>
                    </a:lnL>
                    <a:lnR w="3175" cap="flat" cmpd="sng" algn="ctr">
                      <a:solidFill>
                        <a:schemeClr val="accent1">
                          <a:lumMod val="60000"/>
                          <a:lumOff val="40000"/>
                        </a:schemeClr>
                      </a:solidFill>
                      <a:prstDash val="solid"/>
                      <a:round/>
                      <a:headEnd type="none" w="med" len="med"/>
                      <a:tailEnd type="none" w="med" len="med"/>
                    </a:lnR>
                    <a:lnT w="3175">
                      <a:solidFill>
                        <a:schemeClr val="accent1">
                          <a:lumMod val="60000"/>
                          <a:lumOff val="40000"/>
                        </a:schemeClr>
                      </a:solidFill>
                    </a:lnT>
                    <a:lnB w="3175" cap="flat" cmpd="sng" algn="ctr">
                      <a:solidFill>
                        <a:schemeClr val="accent1">
                          <a:lumMod val="60000"/>
                          <a:lumOff val="40000"/>
                        </a:schemeClr>
                      </a:solidFill>
                      <a:prstDash val="solid"/>
                      <a:round/>
                      <a:headEnd type="none" w="med" len="med"/>
                      <a:tailEnd type="none" w="med" len="med"/>
                    </a:lnB>
                  </a:tcPr>
                </a:tc>
                <a:tc>
                  <a:txBody>
                    <a:bodyPr/>
                    <a:lstStyle/>
                    <a:p>
                      <a:pPr algn="ctr">
                        <a:buNone/>
                      </a:pPr>
                      <a:r>
                        <a:rPr lang="de-DE" sz="2000" b="0" dirty="0">
                          <a:effectLst/>
                        </a:rPr>
                        <a:t>31</a:t>
                      </a:r>
                    </a:p>
                  </a:txBody>
                  <a:tcPr marL="66675" marR="66675" marT="0" marB="0" anchor="ctr">
                    <a:lnL w="3175" cap="flat" cmpd="sng" algn="ctr">
                      <a:solidFill>
                        <a:schemeClr val="accent1">
                          <a:lumMod val="60000"/>
                          <a:lumOff val="40000"/>
                        </a:schemeClr>
                      </a:solidFill>
                      <a:prstDash val="solid"/>
                      <a:round/>
                      <a:headEnd type="none" w="med" len="med"/>
                      <a:tailEnd type="none" w="med" len="med"/>
                    </a:lnL>
                    <a:lnR w="3175" cap="flat" cmpd="sng" algn="ctr">
                      <a:solidFill>
                        <a:schemeClr val="accent1">
                          <a:lumMod val="60000"/>
                          <a:lumOff val="40000"/>
                        </a:schemeClr>
                      </a:solidFill>
                      <a:prstDash val="solid"/>
                      <a:round/>
                      <a:headEnd type="none" w="med" len="med"/>
                      <a:tailEnd type="none" w="med" len="med"/>
                    </a:lnR>
                    <a:lnT w="3175">
                      <a:solidFill>
                        <a:schemeClr val="accent1">
                          <a:lumMod val="60000"/>
                          <a:lumOff val="40000"/>
                        </a:schemeClr>
                      </a:solidFill>
                    </a:lnT>
                    <a:lnB w="3175" cap="flat" cmpd="sng" algn="ctr">
                      <a:solidFill>
                        <a:schemeClr val="accent1">
                          <a:lumMod val="60000"/>
                          <a:lumOff val="40000"/>
                        </a:schemeClr>
                      </a:solidFill>
                      <a:prstDash val="solid"/>
                      <a:round/>
                      <a:headEnd type="none" w="med" len="med"/>
                      <a:tailEnd type="none" w="med" len="med"/>
                    </a:lnB>
                  </a:tcPr>
                </a:tc>
                <a:tc>
                  <a:txBody>
                    <a:bodyPr/>
                    <a:lstStyle/>
                    <a:p>
                      <a:pPr algn="ctr">
                        <a:buNone/>
                      </a:pPr>
                      <a:r>
                        <a:rPr lang="de-DE" sz="2000" b="0" dirty="0">
                          <a:effectLst/>
                        </a:rPr>
                        <a:t>44</a:t>
                      </a:r>
                    </a:p>
                  </a:txBody>
                  <a:tcPr marL="66675" marR="66675" marT="0" marB="0" anchor="ctr">
                    <a:lnL w="3175" cap="flat" cmpd="sng" algn="ctr">
                      <a:solidFill>
                        <a:schemeClr val="accent1">
                          <a:lumMod val="60000"/>
                          <a:lumOff val="40000"/>
                        </a:schemeClr>
                      </a:solidFill>
                      <a:prstDash val="solid"/>
                      <a:round/>
                      <a:headEnd type="none" w="med" len="med"/>
                      <a:tailEnd type="none" w="med" len="med"/>
                    </a:lnL>
                    <a:lnR w="3175" cap="flat" cmpd="sng" algn="ctr">
                      <a:solidFill>
                        <a:schemeClr val="accent1">
                          <a:lumMod val="60000"/>
                          <a:lumOff val="40000"/>
                        </a:schemeClr>
                      </a:solidFill>
                      <a:prstDash val="solid"/>
                      <a:round/>
                      <a:headEnd type="none" w="med" len="med"/>
                      <a:tailEnd type="none" w="med" len="med"/>
                    </a:lnR>
                    <a:lnT w="3175">
                      <a:solidFill>
                        <a:schemeClr val="accent1">
                          <a:lumMod val="60000"/>
                          <a:lumOff val="40000"/>
                        </a:schemeClr>
                      </a:solidFill>
                    </a:lnT>
                    <a:lnB w="3175" cap="flat" cmpd="sng" algn="ctr">
                      <a:solidFill>
                        <a:schemeClr val="accent1">
                          <a:lumMod val="60000"/>
                          <a:lumOff val="40000"/>
                        </a:schemeClr>
                      </a:solidFill>
                      <a:prstDash val="solid"/>
                      <a:round/>
                      <a:headEnd type="none" w="med" len="med"/>
                      <a:tailEnd type="none" w="med" len="med"/>
                    </a:lnB>
                  </a:tcPr>
                </a:tc>
                <a:tc>
                  <a:txBody>
                    <a:bodyPr/>
                    <a:lstStyle/>
                    <a:p>
                      <a:pPr algn="ctr">
                        <a:buNone/>
                      </a:pPr>
                      <a:r>
                        <a:rPr lang="de-DE" sz="2000" b="0" dirty="0">
                          <a:effectLst/>
                        </a:rPr>
                        <a:t>30%</a:t>
                      </a:r>
                    </a:p>
                  </a:txBody>
                  <a:tcPr marL="66675" marR="66675" marT="0" marB="0" anchor="ctr">
                    <a:lnL w="3175" cap="flat" cmpd="sng" algn="ctr">
                      <a:solidFill>
                        <a:schemeClr val="accent1">
                          <a:lumMod val="60000"/>
                          <a:lumOff val="40000"/>
                        </a:schemeClr>
                      </a:solidFill>
                      <a:prstDash val="solid"/>
                      <a:round/>
                      <a:headEnd type="none" w="med" len="med"/>
                      <a:tailEnd type="none" w="med" len="med"/>
                    </a:lnL>
                    <a:lnR w="3175">
                      <a:solidFill>
                        <a:schemeClr val="accent1">
                          <a:lumMod val="60000"/>
                          <a:lumOff val="40000"/>
                        </a:schemeClr>
                      </a:solidFill>
                    </a:lnR>
                    <a:lnT w="3175">
                      <a:solidFill>
                        <a:schemeClr val="accent1">
                          <a:lumMod val="60000"/>
                          <a:lumOff val="40000"/>
                        </a:schemeClr>
                      </a:solidFill>
                    </a:lnT>
                    <a:lnB w="317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1113111271"/>
                  </a:ext>
                </a:extLst>
              </a:tr>
              <a:tr h="833188">
                <a:tc>
                  <a:txBody>
                    <a:bodyPr/>
                    <a:lstStyle/>
                    <a:p>
                      <a:pPr algn="ctr">
                        <a:buNone/>
                      </a:pPr>
                      <a:r>
                        <a:rPr lang="de-DE" sz="2000" b="1" dirty="0">
                          <a:effectLst/>
                        </a:rPr>
                        <a:t>Κατανα</a:t>
                      </a:r>
                      <a:r>
                        <a:rPr lang="de-DE" sz="2000" b="1" dirty="0" err="1">
                          <a:effectLst/>
                        </a:rPr>
                        <a:t>λισκόμενο</a:t>
                      </a:r>
                      <a:r>
                        <a:rPr lang="de-DE" sz="2000" b="1" dirty="0">
                          <a:effectLst/>
                        </a:rPr>
                        <a:t> </a:t>
                      </a:r>
                      <a:r>
                        <a:rPr lang="de-DE" sz="2000" b="1" dirty="0" err="1">
                          <a:effectLst/>
                        </a:rPr>
                        <a:t>νερό</a:t>
                      </a:r>
                      <a:r>
                        <a:rPr lang="de-DE" sz="2000" b="1" dirty="0">
                          <a:effectLst/>
                        </a:rPr>
                        <a:t> </a:t>
                      </a:r>
                      <a:r>
                        <a:rPr lang="de-DE" sz="2000" b="1" dirty="0" err="1">
                          <a:effectLst/>
                        </a:rPr>
                        <a:t>θέρμ</a:t>
                      </a:r>
                      <a:r>
                        <a:rPr lang="de-DE" sz="2000" b="1" dirty="0">
                          <a:effectLst/>
                        </a:rPr>
                        <a:t>ανσης (kg)</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cap="flat" cmpd="sng" algn="ctr">
                      <a:solidFill>
                        <a:schemeClr val="accent1">
                          <a:lumMod val="60000"/>
                          <a:lumOff val="40000"/>
                        </a:schemeClr>
                      </a:solidFill>
                      <a:prstDash val="solid"/>
                      <a:round/>
                      <a:headEnd type="none" w="med" len="med"/>
                      <a:tailEnd type="none" w="med" len="med"/>
                    </a:lnB>
                  </a:tcPr>
                </a:tc>
                <a:tc>
                  <a:txBody>
                    <a:bodyPr/>
                    <a:lstStyle/>
                    <a:p>
                      <a:pPr algn="ctr">
                        <a:buNone/>
                      </a:pPr>
                      <a:r>
                        <a:rPr lang="de-DE" sz="2000" b="0" dirty="0">
                          <a:effectLst/>
                        </a:rPr>
                        <a:t>-</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cap="flat" cmpd="sng" algn="ctr">
                      <a:solidFill>
                        <a:schemeClr val="accent1">
                          <a:lumMod val="60000"/>
                          <a:lumOff val="40000"/>
                        </a:schemeClr>
                      </a:solidFill>
                      <a:prstDash val="solid"/>
                      <a:round/>
                      <a:headEnd type="none" w="med" len="med"/>
                      <a:tailEnd type="none" w="med" len="med"/>
                    </a:lnB>
                  </a:tcPr>
                </a:tc>
                <a:tc>
                  <a:txBody>
                    <a:bodyPr/>
                    <a:lstStyle/>
                    <a:p>
                      <a:pPr algn="ctr">
                        <a:buNone/>
                      </a:pPr>
                      <a:r>
                        <a:rPr lang="de-DE" sz="2000" b="0" dirty="0">
                          <a:effectLst/>
                        </a:rPr>
                        <a:t>-</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cap="flat" cmpd="sng" algn="ctr">
                      <a:solidFill>
                        <a:schemeClr val="accent1">
                          <a:lumMod val="60000"/>
                          <a:lumOff val="40000"/>
                        </a:schemeClr>
                      </a:solidFill>
                      <a:prstDash val="solid"/>
                      <a:round/>
                      <a:headEnd type="none" w="med" len="med"/>
                      <a:tailEnd type="none" w="med" len="med"/>
                    </a:lnB>
                  </a:tcPr>
                </a:tc>
                <a:tc>
                  <a:txBody>
                    <a:bodyPr/>
                    <a:lstStyle/>
                    <a:p>
                      <a:pPr algn="ctr">
                        <a:buNone/>
                      </a:pPr>
                      <a:r>
                        <a:rPr lang="de-DE" sz="2000" b="0" dirty="0">
                          <a:effectLst/>
                        </a:rPr>
                        <a:t>-</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cap="flat" cmpd="sng" algn="ctr">
                      <a:solidFill>
                        <a:schemeClr val="accent1">
                          <a:lumMod val="60000"/>
                          <a:lumOff val="40000"/>
                        </a:schemeClr>
                      </a:solidFill>
                      <a:prstDash val="solid"/>
                      <a:round/>
                      <a:headEnd type="none" w="med" len="med"/>
                      <a:tailEnd type="none" w="med" len="med"/>
                    </a:lnB>
                  </a:tcPr>
                </a:tc>
                <a:tc>
                  <a:txBody>
                    <a:bodyPr/>
                    <a:lstStyle/>
                    <a:p>
                      <a:pPr algn="ctr">
                        <a:buNone/>
                      </a:pPr>
                      <a:r>
                        <a:rPr lang="de-DE" sz="2000" b="0" dirty="0">
                          <a:effectLst/>
                        </a:rPr>
                        <a:t>19853</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cap="flat" cmpd="sng" algn="ctr">
                      <a:solidFill>
                        <a:schemeClr val="accent1">
                          <a:lumMod val="60000"/>
                          <a:lumOff val="40000"/>
                        </a:schemeClr>
                      </a:solidFill>
                      <a:prstDash val="solid"/>
                      <a:round/>
                      <a:headEnd type="none" w="med" len="med"/>
                      <a:tailEnd type="none" w="med" len="med"/>
                    </a:lnB>
                  </a:tcPr>
                </a:tc>
                <a:tc>
                  <a:txBody>
                    <a:bodyPr/>
                    <a:lstStyle/>
                    <a:p>
                      <a:pPr algn="ctr">
                        <a:buNone/>
                      </a:pPr>
                      <a:r>
                        <a:rPr lang="de-DE" sz="2000" b="0" dirty="0">
                          <a:effectLst/>
                        </a:rPr>
                        <a:t>28626</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cap="flat" cmpd="sng" algn="ctr">
                      <a:solidFill>
                        <a:schemeClr val="accent1">
                          <a:lumMod val="60000"/>
                          <a:lumOff val="40000"/>
                        </a:schemeClr>
                      </a:solidFill>
                      <a:prstDash val="solid"/>
                      <a:round/>
                      <a:headEnd type="none" w="med" len="med"/>
                      <a:tailEnd type="none" w="med" len="med"/>
                    </a:lnB>
                  </a:tcPr>
                </a:tc>
                <a:tc>
                  <a:txBody>
                    <a:bodyPr/>
                    <a:lstStyle/>
                    <a:p>
                      <a:pPr algn="ctr">
                        <a:buNone/>
                      </a:pPr>
                      <a:r>
                        <a:rPr lang="de-DE" sz="2000" b="0" dirty="0">
                          <a:effectLst/>
                        </a:rPr>
                        <a:t>30%</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cap="flat" cmpd="sng" algn="ctr">
                      <a:solidFill>
                        <a:schemeClr val="accent1">
                          <a:lumMod val="60000"/>
                          <a:lumOff val="40000"/>
                        </a:schemeClr>
                      </a:solidFill>
                      <a:prstDash val="solid"/>
                      <a:round/>
                      <a:headEnd type="none" w="med" len="med"/>
                      <a:tailEnd type="none" w="med" len="med"/>
                    </a:lnB>
                  </a:tcPr>
                </a:tc>
                <a:extLst>
                  <a:ext uri="{0D108BD9-81ED-4DB2-BD59-A6C34878D82A}">
                    <a16:rowId xmlns:a16="http://schemas.microsoft.com/office/drawing/2014/main" val="1013959253"/>
                  </a:ext>
                </a:extLst>
              </a:tr>
              <a:tr h="578996">
                <a:tc>
                  <a:txBody>
                    <a:bodyPr/>
                    <a:lstStyle/>
                    <a:p>
                      <a:pPr algn="ctr">
                        <a:buNone/>
                      </a:pPr>
                      <a:r>
                        <a:rPr lang="de-DE" sz="2000" b="1" dirty="0" err="1">
                          <a:effectLst/>
                        </a:rPr>
                        <a:t>Θερμοκρ</a:t>
                      </a:r>
                      <a:r>
                        <a:rPr lang="de-DE" sz="2000" b="1" dirty="0">
                          <a:effectLst/>
                        </a:rPr>
                        <a:t>ασία εξόδου προθερμαντήρα (°C)</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algn="ctr">
                        <a:buNone/>
                      </a:pPr>
                      <a:r>
                        <a:rPr lang="de-DE" sz="2000" b="0" dirty="0" err="1">
                          <a:effectLst/>
                        </a:rPr>
                        <a:t>Μετ</a:t>
                      </a:r>
                      <a:r>
                        <a:rPr lang="de-DE" sz="2000" b="0" dirty="0">
                          <a:effectLst/>
                        </a:rPr>
                        <a:t>αβλητή απόφασης</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algn="ctr">
                        <a:buNone/>
                      </a:pPr>
                      <a:r>
                        <a:rPr lang="de-DE" sz="2000" b="0" dirty="0">
                          <a:effectLst/>
                        </a:rPr>
                        <a:t>73</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algn="ctr">
                        <a:buNone/>
                      </a:pPr>
                      <a:r>
                        <a:rPr lang="de-DE" sz="2000" b="0" dirty="0">
                          <a:effectLst/>
                        </a:rPr>
                        <a:t>80</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algn="ctr">
                        <a:buNone/>
                      </a:pPr>
                      <a:r>
                        <a:rPr lang="de-DE" sz="2000" b="0" dirty="0">
                          <a:effectLst/>
                        </a:rPr>
                        <a:t>73</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algn="ctr">
                        <a:buNone/>
                      </a:pPr>
                      <a:r>
                        <a:rPr lang="de-DE" sz="2000" b="0" dirty="0">
                          <a:effectLst/>
                        </a:rPr>
                        <a:t>75</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algn="ctr">
                        <a:buNone/>
                      </a:pPr>
                      <a:r>
                        <a:rPr lang="de-DE" sz="2000" b="0" dirty="0">
                          <a:effectLst/>
                        </a:rPr>
                        <a:t>-</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extLst>
                  <a:ext uri="{0D108BD9-81ED-4DB2-BD59-A6C34878D82A}">
                    <a16:rowId xmlns:a16="http://schemas.microsoft.com/office/drawing/2014/main" val="2440024128"/>
                  </a:ext>
                </a:extLst>
              </a:tr>
              <a:tr h="578996">
                <a:tc>
                  <a:txBody>
                    <a:bodyPr/>
                    <a:lstStyle/>
                    <a:p>
                      <a:pPr algn="ctr">
                        <a:buNone/>
                      </a:pPr>
                      <a:r>
                        <a:rPr lang="el-GR" sz="2000" b="1" dirty="0">
                          <a:effectLst/>
                        </a:rPr>
                        <a:t>Επιφάνεια αναγεννητικής μονάδας (</a:t>
                      </a:r>
                      <a:r>
                        <a:rPr lang="en-US" sz="2000" b="1" dirty="0">
                          <a:effectLst/>
                        </a:rPr>
                        <a:t>m</a:t>
                      </a:r>
                      <a:r>
                        <a:rPr lang="de-DE" sz="2000" b="1" baseline="30000" dirty="0">
                          <a:effectLst/>
                        </a:rPr>
                        <a:t>2</a:t>
                      </a:r>
                      <a:r>
                        <a:rPr lang="en-US" sz="2000" b="1" dirty="0">
                          <a:effectLst/>
                        </a:rPr>
                        <a:t>)</a:t>
                      </a:r>
                      <a:endParaRPr lang="de-DE" sz="2000" b="1" dirty="0">
                        <a:effectLst/>
                      </a:endParaRPr>
                    </a:p>
                  </a:txBody>
                  <a:tcPr marL="66675" marR="66675" marT="0" marB="0" anchor="ctr">
                    <a:lnL w="3175">
                      <a:solidFill>
                        <a:schemeClr val="accent1">
                          <a:lumMod val="60000"/>
                          <a:lumOff val="40000"/>
                        </a:schemeClr>
                      </a:solidFill>
                    </a:lnL>
                    <a:lnR w="3175" cap="flat" cmpd="sng" algn="ctr">
                      <a:solidFill>
                        <a:schemeClr val="accent1">
                          <a:lumMod val="60000"/>
                          <a:lumOff val="40000"/>
                        </a:schemeClr>
                      </a:solidFill>
                      <a:prstDash val="solid"/>
                      <a:round/>
                      <a:headEnd type="none" w="med" len="med"/>
                      <a:tailEnd type="none" w="med" len="med"/>
                    </a:lnR>
                    <a:lnT w="3175" cap="flat" cmpd="sng" algn="ctr">
                      <a:solidFill>
                        <a:schemeClr val="accent1">
                          <a:lumMod val="60000"/>
                          <a:lumOff val="40000"/>
                        </a:schemeClr>
                      </a:solidFill>
                      <a:prstDash val="solid"/>
                      <a:round/>
                      <a:headEnd type="none" w="med" len="med"/>
                      <a:tailEnd type="none" w="med" len="med"/>
                    </a:lnT>
                    <a:lnB w="3175">
                      <a:solidFill>
                        <a:schemeClr val="accent1">
                          <a:lumMod val="60000"/>
                          <a:lumOff val="40000"/>
                        </a:schemeClr>
                      </a:solidFill>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2000" b="0" dirty="0" err="1">
                          <a:effectLst/>
                        </a:rPr>
                        <a:t>Μετ</a:t>
                      </a:r>
                      <a:r>
                        <a:rPr lang="de-DE" sz="2000" b="0" dirty="0">
                          <a:effectLst/>
                        </a:rPr>
                        <a:t>αβλητή απόφασης</a:t>
                      </a:r>
                    </a:p>
                  </a:txBody>
                  <a:tcPr marL="66675" marR="66675" marT="0" marB="0" anchor="ctr">
                    <a:lnL w="3175" cap="flat" cmpd="sng" algn="ctr">
                      <a:solidFill>
                        <a:schemeClr val="accent1">
                          <a:lumMod val="60000"/>
                          <a:lumOff val="40000"/>
                        </a:schemeClr>
                      </a:solidFill>
                      <a:prstDash val="solid"/>
                      <a:round/>
                      <a:headEnd type="none" w="med" len="med"/>
                      <a:tailEnd type="none" w="med" len="med"/>
                    </a:lnL>
                    <a:lnR w="3175" cap="flat" cmpd="sng" algn="ctr">
                      <a:solidFill>
                        <a:schemeClr val="accent1">
                          <a:lumMod val="60000"/>
                          <a:lumOff val="40000"/>
                        </a:schemeClr>
                      </a:solidFill>
                      <a:prstDash val="solid"/>
                      <a:round/>
                      <a:headEnd type="none" w="med" len="med"/>
                      <a:tailEnd type="none" w="med" len="med"/>
                    </a:lnR>
                    <a:lnT w="3175" cap="flat" cmpd="sng" algn="ctr">
                      <a:solidFill>
                        <a:schemeClr val="accent1">
                          <a:lumMod val="60000"/>
                          <a:lumOff val="40000"/>
                        </a:schemeClr>
                      </a:solidFill>
                      <a:prstDash val="solid"/>
                      <a:round/>
                      <a:headEnd type="none" w="med" len="med"/>
                      <a:tailEnd type="none" w="med" len="med"/>
                    </a:lnT>
                    <a:lnB w="3175">
                      <a:solidFill>
                        <a:schemeClr val="accent1">
                          <a:lumMod val="60000"/>
                          <a:lumOff val="40000"/>
                        </a:schemeClr>
                      </a:solidFill>
                    </a:lnB>
                  </a:tcPr>
                </a:tc>
                <a:tc>
                  <a:txBody>
                    <a:bodyPr/>
                    <a:lstStyle/>
                    <a:p>
                      <a:pPr algn="ctr">
                        <a:buNone/>
                      </a:pPr>
                      <a:r>
                        <a:rPr lang="de-DE" sz="2000" b="0" dirty="0">
                          <a:effectLst/>
                        </a:rPr>
                        <a:t>10</a:t>
                      </a:r>
                    </a:p>
                  </a:txBody>
                  <a:tcPr marL="66675" marR="66675" marT="0" marB="0" anchor="ctr">
                    <a:lnL w="3175" cap="flat" cmpd="sng" algn="ctr">
                      <a:solidFill>
                        <a:schemeClr val="accent1">
                          <a:lumMod val="60000"/>
                          <a:lumOff val="40000"/>
                        </a:schemeClr>
                      </a:solidFill>
                      <a:prstDash val="solid"/>
                      <a:round/>
                      <a:headEnd type="none" w="med" len="med"/>
                      <a:tailEnd type="none" w="med" len="med"/>
                    </a:lnL>
                    <a:lnR w="3175" cap="flat" cmpd="sng" algn="ctr">
                      <a:solidFill>
                        <a:schemeClr val="accent1">
                          <a:lumMod val="60000"/>
                          <a:lumOff val="40000"/>
                        </a:schemeClr>
                      </a:solidFill>
                      <a:prstDash val="solid"/>
                      <a:round/>
                      <a:headEnd type="none" w="med" len="med"/>
                      <a:tailEnd type="none" w="med" len="med"/>
                    </a:lnR>
                    <a:lnT w="3175" cap="flat" cmpd="sng" algn="ctr">
                      <a:solidFill>
                        <a:schemeClr val="accent1">
                          <a:lumMod val="60000"/>
                          <a:lumOff val="40000"/>
                        </a:schemeClr>
                      </a:solidFill>
                      <a:prstDash val="solid"/>
                      <a:round/>
                      <a:headEnd type="none" w="med" len="med"/>
                      <a:tailEnd type="none" w="med" len="med"/>
                    </a:lnT>
                    <a:lnB w="3175">
                      <a:solidFill>
                        <a:schemeClr val="accent1">
                          <a:lumMod val="60000"/>
                          <a:lumOff val="40000"/>
                        </a:schemeClr>
                      </a:solidFill>
                    </a:lnB>
                  </a:tcPr>
                </a:tc>
                <a:tc>
                  <a:txBody>
                    <a:bodyPr/>
                    <a:lstStyle/>
                    <a:p>
                      <a:pPr algn="ctr">
                        <a:buNone/>
                      </a:pPr>
                      <a:r>
                        <a:rPr lang="de-DE" sz="2000" b="0" dirty="0">
                          <a:effectLst/>
                        </a:rPr>
                        <a:t>25</a:t>
                      </a:r>
                    </a:p>
                  </a:txBody>
                  <a:tcPr marL="66675" marR="66675" marT="0" marB="0" anchor="ctr">
                    <a:lnL w="3175" cap="flat" cmpd="sng" algn="ctr">
                      <a:solidFill>
                        <a:schemeClr val="accent1">
                          <a:lumMod val="60000"/>
                          <a:lumOff val="40000"/>
                        </a:schemeClr>
                      </a:solidFill>
                      <a:prstDash val="solid"/>
                      <a:round/>
                      <a:headEnd type="none" w="med" len="med"/>
                      <a:tailEnd type="none" w="med" len="med"/>
                    </a:lnL>
                    <a:lnR w="3175" cap="flat" cmpd="sng" algn="ctr">
                      <a:solidFill>
                        <a:schemeClr val="accent1">
                          <a:lumMod val="60000"/>
                          <a:lumOff val="40000"/>
                        </a:schemeClr>
                      </a:solidFill>
                      <a:prstDash val="solid"/>
                      <a:round/>
                      <a:headEnd type="none" w="med" len="med"/>
                      <a:tailEnd type="none" w="med" len="med"/>
                    </a:lnR>
                    <a:lnT w="3175" cap="flat" cmpd="sng" algn="ctr">
                      <a:solidFill>
                        <a:schemeClr val="accent1">
                          <a:lumMod val="60000"/>
                          <a:lumOff val="40000"/>
                        </a:schemeClr>
                      </a:solidFill>
                      <a:prstDash val="solid"/>
                      <a:round/>
                      <a:headEnd type="none" w="med" len="med"/>
                      <a:tailEnd type="none" w="med" len="med"/>
                    </a:lnT>
                    <a:lnB w="3175">
                      <a:solidFill>
                        <a:schemeClr val="accent1">
                          <a:lumMod val="60000"/>
                          <a:lumOff val="40000"/>
                        </a:schemeClr>
                      </a:solidFill>
                    </a:lnB>
                  </a:tcPr>
                </a:tc>
                <a:tc>
                  <a:txBody>
                    <a:bodyPr/>
                    <a:lstStyle/>
                    <a:p>
                      <a:pPr algn="ctr">
                        <a:buNone/>
                      </a:pPr>
                      <a:r>
                        <a:rPr lang="de-DE" sz="2000" b="0" dirty="0">
                          <a:effectLst/>
                        </a:rPr>
                        <a:t>25</a:t>
                      </a:r>
                    </a:p>
                  </a:txBody>
                  <a:tcPr marL="66675" marR="66675" marT="0" marB="0" anchor="ctr">
                    <a:lnL w="3175" cap="flat" cmpd="sng" algn="ctr">
                      <a:solidFill>
                        <a:schemeClr val="accent1">
                          <a:lumMod val="60000"/>
                          <a:lumOff val="40000"/>
                        </a:schemeClr>
                      </a:solidFill>
                      <a:prstDash val="solid"/>
                      <a:round/>
                      <a:headEnd type="none" w="med" len="med"/>
                      <a:tailEnd type="none" w="med" len="med"/>
                    </a:lnL>
                    <a:lnR w="3175" cap="flat" cmpd="sng" algn="ctr">
                      <a:solidFill>
                        <a:schemeClr val="accent1">
                          <a:lumMod val="60000"/>
                          <a:lumOff val="40000"/>
                        </a:schemeClr>
                      </a:solidFill>
                      <a:prstDash val="solid"/>
                      <a:round/>
                      <a:headEnd type="none" w="med" len="med"/>
                      <a:tailEnd type="none" w="med" len="med"/>
                    </a:lnR>
                    <a:lnT w="3175" cap="flat" cmpd="sng" algn="ctr">
                      <a:solidFill>
                        <a:schemeClr val="accent1">
                          <a:lumMod val="60000"/>
                          <a:lumOff val="40000"/>
                        </a:schemeClr>
                      </a:solidFill>
                      <a:prstDash val="solid"/>
                      <a:round/>
                      <a:headEnd type="none" w="med" len="med"/>
                      <a:tailEnd type="none" w="med" len="med"/>
                    </a:lnT>
                    <a:lnB w="3175">
                      <a:solidFill>
                        <a:schemeClr val="accent1">
                          <a:lumMod val="60000"/>
                          <a:lumOff val="40000"/>
                        </a:schemeClr>
                      </a:solidFill>
                    </a:lnB>
                  </a:tcPr>
                </a:tc>
                <a:tc>
                  <a:txBody>
                    <a:bodyPr/>
                    <a:lstStyle/>
                    <a:p>
                      <a:pPr algn="ctr">
                        <a:buNone/>
                      </a:pPr>
                      <a:r>
                        <a:rPr lang="de-DE" sz="2000" b="0" dirty="0">
                          <a:effectLst/>
                        </a:rPr>
                        <a:t>19.5</a:t>
                      </a:r>
                    </a:p>
                  </a:txBody>
                  <a:tcPr marL="66675" marR="66675" marT="0" marB="0" anchor="ctr">
                    <a:lnL w="3175" cap="flat" cmpd="sng" algn="ctr">
                      <a:solidFill>
                        <a:schemeClr val="accent1">
                          <a:lumMod val="60000"/>
                          <a:lumOff val="40000"/>
                        </a:schemeClr>
                      </a:solidFill>
                      <a:prstDash val="solid"/>
                      <a:round/>
                      <a:headEnd type="none" w="med" len="med"/>
                      <a:tailEnd type="none" w="med" len="med"/>
                    </a:lnL>
                    <a:lnR w="3175" cap="flat" cmpd="sng" algn="ctr">
                      <a:solidFill>
                        <a:schemeClr val="accent1">
                          <a:lumMod val="60000"/>
                          <a:lumOff val="40000"/>
                        </a:schemeClr>
                      </a:solidFill>
                      <a:prstDash val="solid"/>
                      <a:round/>
                      <a:headEnd type="none" w="med" len="med"/>
                      <a:tailEnd type="none" w="med" len="med"/>
                    </a:lnR>
                    <a:lnT w="3175" cap="flat" cmpd="sng" algn="ctr">
                      <a:solidFill>
                        <a:schemeClr val="accent1">
                          <a:lumMod val="60000"/>
                          <a:lumOff val="40000"/>
                        </a:schemeClr>
                      </a:solidFill>
                      <a:prstDash val="solid"/>
                      <a:round/>
                      <a:headEnd type="none" w="med" len="med"/>
                      <a:tailEnd type="none" w="med" len="med"/>
                    </a:lnT>
                    <a:lnB w="3175">
                      <a:solidFill>
                        <a:schemeClr val="accent1">
                          <a:lumMod val="60000"/>
                          <a:lumOff val="40000"/>
                        </a:schemeClr>
                      </a:solidFill>
                    </a:lnB>
                  </a:tcPr>
                </a:tc>
                <a:tc>
                  <a:txBody>
                    <a:bodyPr/>
                    <a:lstStyle/>
                    <a:p>
                      <a:pPr algn="ctr">
                        <a:buNone/>
                      </a:pPr>
                      <a:r>
                        <a:rPr lang="de-DE" sz="2000" b="0" dirty="0">
                          <a:effectLst/>
                        </a:rPr>
                        <a:t>-</a:t>
                      </a:r>
                    </a:p>
                  </a:txBody>
                  <a:tcPr marL="66675" marR="66675" marT="0" marB="0" anchor="ctr">
                    <a:lnL w="3175" cap="flat" cmpd="sng" algn="ctr">
                      <a:solidFill>
                        <a:schemeClr val="accent1">
                          <a:lumMod val="60000"/>
                          <a:lumOff val="40000"/>
                        </a:schemeClr>
                      </a:solidFill>
                      <a:prstDash val="solid"/>
                      <a:round/>
                      <a:headEnd type="none" w="med" len="med"/>
                      <a:tailEnd type="none" w="med" len="med"/>
                    </a:lnL>
                    <a:lnR w="3175">
                      <a:solidFill>
                        <a:schemeClr val="accent1">
                          <a:lumMod val="60000"/>
                          <a:lumOff val="40000"/>
                        </a:schemeClr>
                      </a:solidFill>
                    </a:lnR>
                    <a:lnT w="3175" cap="flat" cmpd="sng" algn="ctr">
                      <a:solidFill>
                        <a:schemeClr val="accent1">
                          <a:lumMod val="60000"/>
                          <a:lumOff val="40000"/>
                        </a:schemeClr>
                      </a:solidFill>
                      <a:prstDash val="solid"/>
                      <a:round/>
                      <a:headEnd type="none" w="med" len="med"/>
                      <a:tailEnd type="none" w="med" len="med"/>
                    </a:lnT>
                    <a:lnB w="3175">
                      <a:solidFill>
                        <a:schemeClr val="accent1">
                          <a:lumMod val="60000"/>
                          <a:lumOff val="40000"/>
                        </a:schemeClr>
                      </a:solidFill>
                    </a:lnB>
                  </a:tcPr>
                </a:tc>
                <a:extLst>
                  <a:ext uri="{0D108BD9-81ED-4DB2-BD59-A6C34878D82A}">
                    <a16:rowId xmlns:a16="http://schemas.microsoft.com/office/drawing/2014/main" val="448327331"/>
                  </a:ext>
                </a:extLst>
              </a:tr>
              <a:tr h="847310">
                <a:tc>
                  <a:txBody>
                    <a:bodyPr/>
                    <a:lstStyle/>
                    <a:p>
                      <a:pPr algn="ctr">
                        <a:buNone/>
                      </a:pPr>
                      <a:r>
                        <a:rPr lang="de-DE" sz="2000" b="1" dirty="0" err="1">
                          <a:effectLst/>
                        </a:rPr>
                        <a:t>Συγκέντρωση</a:t>
                      </a:r>
                      <a:r>
                        <a:rPr lang="de-DE" sz="2000" b="1" dirty="0">
                          <a:effectLst/>
                        </a:rPr>
                        <a:t> </a:t>
                      </a:r>
                      <a:r>
                        <a:rPr lang="de-DE" sz="2000" b="1" dirty="0" err="1">
                          <a:effectLst/>
                        </a:rPr>
                        <a:t>φωσφ</a:t>
                      </a:r>
                      <a:r>
                        <a:rPr lang="de-DE" sz="2000" b="1" dirty="0">
                          <a:effectLst/>
                        </a:rPr>
                        <a:t>ατάσης στην έξοδο του ψύκτη (units mL</a:t>
                      </a:r>
                      <a:r>
                        <a:rPr lang="de-DE" sz="2000" b="1" baseline="30000" dirty="0">
                          <a:effectLst/>
                        </a:rPr>
                        <a:t>-1</a:t>
                      </a:r>
                      <a:r>
                        <a:rPr lang="de-DE" sz="2000" b="1" dirty="0">
                          <a:effectLst/>
                        </a:rPr>
                        <a:t>)</a:t>
                      </a:r>
                    </a:p>
                  </a:txBody>
                  <a:tcPr marL="66675" marR="66675" marT="0" marB="0" anchor="ctr">
                    <a:lnL w="3175">
                      <a:solidFill>
                        <a:schemeClr val="accent1">
                          <a:lumMod val="60000"/>
                          <a:lumOff val="40000"/>
                        </a:schemeClr>
                      </a:solidFill>
                    </a:lnL>
                    <a:lnR w="3175" cap="flat" cmpd="sng" algn="ctr">
                      <a:solidFill>
                        <a:schemeClr val="accent1">
                          <a:lumMod val="60000"/>
                          <a:lumOff val="40000"/>
                        </a:schemeClr>
                      </a:solidFill>
                      <a:prstDash val="solid"/>
                      <a:round/>
                      <a:headEnd type="none" w="med" len="med"/>
                      <a:tailEnd type="none" w="med" len="med"/>
                    </a:lnR>
                    <a:lnT w="3175" cap="flat" cmpd="sng" algn="ctr">
                      <a:solidFill>
                        <a:schemeClr val="accent1">
                          <a:lumMod val="60000"/>
                          <a:lumOff val="40000"/>
                        </a:schemeClr>
                      </a:solidFill>
                      <a:prstDash val="solid"/>
                      <a:round/>
                      <a:headEnd type="none" w="med" len="med"/>
                      <a:tailEnd type="none" w="med" len="med"/>
                    </a:lnT>
                    <a:lnB w="3175">
                      <a:solidFill>
                        <a:schemeClr val="accent1">
                          <a:lumMod val="60000"/>
                          <a:lumOff val="40000"/>
                        </a:schemeClr>
                      </a:solidFill>
                    </a:lnB>
                  </a:tcPr>
                </a:tc>
                <a:tc>
                  <a:txBody>
                    <a:bodyPr/>
                    <a:lstStyle/>
                    <a:p>
                      <a:pPr algn="ctr">
                        <a:buNone/>
                      </a:pPr>
                      <a:r>
                        <a:rPr lang="de-DE" sz="2000" b="0" err="1">
                          <a:effectLst/>
                        </a:rPr>
                        <a:t>Περιορισμός</a:t>
                      </a:r>
                    </a:p>
                  </a:txBody>
                  <a:tcPr marL="66675" marR="66675" marT="0" marB="0" anchor="ctr">
                    <a:lnL w="3175" cap="flat" cmpd="sng" algn="ctr">
                      <a:solidFill>
                        <a:schemeClr val="accent1">
                          <a:lumMod val="60000"/>
                          <a:lumOff val="40000"/>
                        </a:schemeClr>
                      </a:solidFill>
                      <a:prstDash val="solid"/>
                      <a:round/>
                      <a:headEnd type="none" w="med" len="med"/>
                      <a:tailEnd type="none" w="med" len="med"/>
                    </a:lnL>
                    <a:lnR w="3175" cap="flat" cmpd="sng" algn="ctr">
                      <a:solidFill>
                        <a:schemeClr val="accent1">
                          <a:lumMod val="60000"/>
                          <a:lumOff val="40000"/>
                        </a:schemeClr>
                      </a:solidFill>
                      <a:prstDash val="solid"/>
                      <a:round/>
                      <a:headEnd type="none" w="med" len="med"/>
                      <a:tailEnd type="none" w="med" len="med"/>
                    </a:lnR>
                    <a:lnT w="3175" cap="flat" cmpd="sng" algn="ctr">
                      <a:solidFill>
                        <a:schemeClr val="accent1">
                          <a:lumMod val="60000"/>
                          <a:lumOff val="40000"/>
                        </a:schemeClr>
                      </a:solidFill>
                      <a:prstDash val="solid"/>
                      <a:round/>
                      <a:headEnd type="none" w="med" len="med"/>
                      <a:tailEnd type="none" w="med" len="med"/>
                    </a:lnT>
                    <a:lnB w="3175">
                      <a:solidFill>
                        <a:schemeClr val="accent1">
                          <a:lumMod val="60000"/>
                          <a:lumOff val="40000"/>
                        </a:schemeClr>
                      </a:solidFill>
                    </a:lnB>
                  </a:tcPr>
                </a:tc>
                <a:tc>
                  <a:txBody>
                    <a:bodyPr/>
                    <a:lstStyle/>
                    <a:p>
                      <a:pPr algn="ctr">
                        <a:buNone/>
                      </a:pPr>
                      <a:r>
                        <a:rPr lang="de-DE" sz="2000" b="0">
                          <a:effectLst/>
                        </a:rPr>
                        <a:t>0</a:t>
                      </a:r>
                    </a:p>
                  </a:txBody>
                  <a:tcPr marL="66675" marR="66675" marT="0" marB="0" anchor="ctr">
                    <a:lnL w="3175" cap="flat" cmpd="sng" algn="ctr">
                      <a:solidFill>
                        <a:schemeClr val="accent1">
                          <a:lumMod val="60000"/>
                          <a:lumOff val="40000"/>
                        </a:schemeClr>
                      </a:solidFill>
                      <a:prstDash val="solid"/>
                      <a:round/>
                      <a:headEnd type="none" w="med" len="med"/>
                      <a:tailEnd type="none" w="med" len="med"/>
                    </a:lnL>
                    <a:lnR w="3175" cap="flat" cmpd="sng" algn="ctr">
                      <a:solidFill>
                        <a:schemeClr val="accent1">
                          <a:lumMod val="60000"/>
                          <a:lumOff val="40000"/>
                        </a:schemeClr>
                      </a:solidFill>
                      <a:prstDash val="solid"/>
                      <a:round/>
                      <a:headEnd type="none" w="med" len="med"/>
                      <a:tailEnd type="none" w="med" len="med"/>
                    </a:lnR>
                    <a:lnT w="3175" cap="flat" cmpd="sng" algn="ctr">
                      <a:solidFill>
                        <a:schemeClr val="accent1">
                          <a:lumMod val="60000"/>
                          <a:lumOff val="40000"/>
                        </a:schemeClr>
                      </a:solidFill>
                      <a:prstDash val="solid"/>
                      <a:round/>
                      <a:headEnd type="none" w="med" len="med"/>
                      <a:tailEnd type="none" w="med" len="med"/>
                    </a:lnT>
                    <a:lnB w="3175">
                      <a:solidFill>
                        <a:schemeClr val="accent1">
                          <a:lumMod val="60000"/>
                          <a:lumOff val="40000"/>
                        </a:schemeClr>
                      </a:solidFill>
                    </a:lnB>
                  </a:tcPr>
                </a:tc>
                <a:tc>
                  <a:txBody>
                    <a:bodyPr/>
                    <a:lstStyle/>
                    <a:p>
                      <a:pPr algn="ctr">
                        <a:buNone/>
                      </a:pPr>
                      <a:r>
                        <a:rPr lang="de-DE" sz="2000" b="0">
                          <a:effectLst/>
                        </a:rPr>
                        <a:t>3.5×10</a:t>
                      </a:r>
                      <a:r>
                        <a:rPr lang="de-DE" sz="2000" b="0" baseline="30000">
                          <a:effectLst/>
                        </a:rPr>
                        <a:t>-4</a:t>
                      </a:r>
                      <a:endParaRPr lang="de-DE" sz="2000" b="0">
                        <a:effectLst/>
                      </a:endParaRPr>
                    </a:p>
                  </a:txBody>
                  <a:tcPr marL="66675" marR="66675" marT="0" marB="0" anchor="ctr">
                    <a:lnL w="3175" cap="flat" cmpd="sng" algn="ctr">
                      <a:solidFill>
                        <a:schemeClr val="accent1">
                          <a:lumMod val="60000"/>
                          <a:lumOff val="40000"/>
                        </a:schemeClr>
                      </a:solidFill>
                      <a:prstDash val="solid"/>
                      <a:round/>
                      <a:headEnd type="none" w="med" len="med"/>
                      <a:tailEnd type="none" w="med" len="med"/>
                    </a:lnL>
                    <a:lnR w="3175" cap="flat" cmpd="sng" algn="ctr">
                      <a:solidFill>
                        <a:schemeClr val="accent1">
                          <a:lumMod val="60000"/>
                          <a:lumOff val="40000"/>
                        </a:schemeClr>
                      </a:solidFill>
                      <a:prstDash val="solid"/>
                      <a:round/>
                      <a:headEnd type="none" w="med" len="med"/>
                      <a:tailEnd type="none" w="med" len="med"/>
                    </a:lnR>
                    <a:lnT w="3175" cap="flat" cmpd="sng" algn="ctr">
                      <a:solidFill>
                        <a:schemeClr val="accent1">
                          <a:lumMod val="60000"/>
                          <a:lumOff val="40000"/>
                        </a:schemeClr>
                      </a:solidFill>
                      <a:prstDash val="solid"/>
                      <a:round/>
                      <a:headEnd type="none" w="med" len="med"/>
                      <a:tailEnd type="none" w="med" len="med"/>
                    </a:lnT>
                    <a:lnB w="3175">
                      <a:solidFill>
                        <a:schemeClr val="accent1">
                          <a:lumMod val="60000"/>
                          <a:lumOff val="40000"/>
                        </a:schemeClr>
                      </a:solidFill>
                    </a:lnB>
                  </a:tcPr>
                </a:tc>
                <a:tc>
                  <a:txBody>
                    <a:bodyPr/>
                    <a:lstStyle/>
                    <a:p>
                      <a:pPr algn="ctr">
                        <a:buNone/>
                      </a:pPr>
                      <a:r>
                        <a:rPr lang="de-DE" sz="2000" b="0" dirty="0">
                          <a:effectLst/>
                        </a:rPr>
                        <a:t>3.5×10</a:t>
                      </a:r>
                      <a:r>
                        <a:rPr lang="de-DE" sz="2000" b="0" baseline="30000" dirty="0">
                          <a:effectLst/>
                        </a:rPr>
                        <a:t>-11</a:t>
                      </a:r>
                      <a:endParaRPr lang="de-DE" sz="2000" b="0" dirty="0">
                        <a:effectLst/>
                      </a:endParaRPr>
                    </a:p>
                  </a:txBody>
                  <a:tcPr marL="66675" marR="66675" marT="0" marB="0" anchor="ctr">
                    <a:lnL w="3175" cap="flat" cmpd="sng" algn="ctr">
                      <a:solidFill>
                        <a:schemeClr val="accent1">
                          <a:lumMod val="60000"/>
                          <a:lumOff val="40000"/>
                        </a:schemeClr>
                      </a:solidFill>
                      <a:prstDash val="solid"/>
                      <a:round/>
                      <a:headEnd type="none" w="med" len="med"/>
                      <a:tailEnd type="none" w="med" len="med"/>
                    </a:lnL>
                    <a:lnR w="3175" cap="flat" cmpd="sng" algn="ctr">
                      <a:solidFill>
                        <a:schemeClr val="accent1">
                          <a:lumMod val="60000"/>
                          <a:lumOff val="40000"/>
                        </a:schemeClr>
                      </a:solidFill>
                      <a:prstDash val="solid"/>
                      <a:round/>
                      <a:headEnd type="none" w="med" len="med"/>
                      <a:tailEnd type="none" w="med" len="med"/>
                    </a:lnR>
                    <a:lnT w="3175" cap="flat" cmpd="sng" algn="ctr">
                      <a:solidFill>
                        <a:schemeClr val="accent1">
                          <a:lumMod val="60000"/>
                          <a:lumOff val="40000"/>
                        </a:schemeClr>
                      </a:solidFill>
                      <a:prstDash val="solid"/>
                      <a:round/>
                      <a:headEnd type="none" w="med" len="med"/>
                      <a:tailEnd type="none" w="med" len="med"/>
                    </a:lnT>
                    <a:lnB w="3175">
                      <a:solidFill>
                        <a:schemeClr val="accent1">
                          <a:lumMod val="60000"/>
                          <a:lumOff val="40000"/>
                        </a:schemeClr>
                      </a:solidFill>
                    </a:lnB>
                  </a:tcPr>
                </a:tc>
                <a:tc>
                  <a:txBody>
                    <a:bodyPr/>
                    <a:lstStyle/>
                    <a:p>
                      <a:pPr algn="ctr">
                        <a:buNone/>
                      </a:pPr>
                      <a:r>
                        <a:rPr lang="de-DE" sz="2000" b="0" dirty="0">
                          <a:effectLst/>
                        </a:rPr>
                        <a:t>3.7×10</a:t>
                      </a:r>
                      <a:r>
                        <a:rPr lang="de-DE" sz="2000" b="0" baseline="30000" dirty="0">
                          <a:effectLst/>
                        </a:rPr>
                        <a:t>-14</a:t>
                      </a:r>
                      <a:endParaRPr lang="de-DE" sz="2000" b="0" dirty="0">
                        <a:effectLst/>
                      </a:endParaRPr>
                    </a:p>
                  </a:txBody>
                  <a:tcPr marL="66675" marR="66675" marT="0" marB="0" anchor="ctr">
                    <a:lnL w="3175" cap="flat" cmpd="sng" algn="ctr">
                      <a:solidFill>
                        <a:schemeClr val="accent1">
                          <a:lumMod val="60000"/>
                          <a:lumOff val="40000"/>
                        </a:schemeClr>
                      </a:solidFill>
                      <a:prstDash val="solid"/>
                      <a:round/>
                      <a:headEnd type="none" w="med" len="med"/>
                      <a:tailEnd type="none" w="med" len="med"/>
                    </a:lnL>
                    <a:lnR w="3175" cap="flat" cmpd="sng" algn="ctr">
                      <a:solidFill>
                        <a:schemeClr val="accent1">
                          <a:lumMod val="60000"/>
                          <a:lumOff val="40000"/>
                        </a:schemeClr>
                      </a:solidFill>
                      <a:prstDash val="solid"/>
                      <a:round/>
                      <a:headEnd type="none" w="med" len="med"/>
                      <a:tailEnd type="none" w="med" len="med"/>
                    </a:lnR>
                    <a:lnT w="3175" cap="flat" cmpd="sng" algn="ctr">
                      <a:solidFill>
                        <a:schemeClr val="accent1">
                          <a:lumMod val="60000"/>
                          <a:lumOff val="40000"/>
                        </a:schemeClr>
                      </a:solidFill>
                      <a:prstDash val="solid"/>
                      <a:round/>
                      <a:headEnd type="none" w="med" len="med"/>
                      <a:tailEnd type="none" w="med" len="med"/>
                    </a:lnT>
                    <a:lnB w="3175">
                      <a:solidFill>
                        <a:schemeClr val="accent1">
                          <a:lumMod val="60000"/>
                          <a:lumOff val="40000"/>
                        </a:schemeClr>
                      </a:solidFill>
                    </a:lnB>
                  </a:tcPr>
                </a:tc>
                <a:tc>
                  <a:txBody>
                    <a:bodyPr/>
                    <a:lstStyle/>
                    <a:p>
                      <a:pPr algn="ctr">
                        <a:buNone/>
                      </a:pPr>
                      <a:r>
                        <a:rPr lang="de-DE" sz="2000" b="0" dirty="0">
                          <a:effectLst/>
                        </a:rPr>
                        <a:t>Επ</a:t>
                      </a:r>
                      <a:r>
                        <a:rPr lang="de-DE" sz="2000" b="0" dirty="0" err="1">
                          <a:effectLst/>
                        </a:rPr>
                        <a:t>ιτυχής</a:t>
                      </a:r>
                      <a:r>
                        <a:rPr lang="de-DE" sz="2000" b="0" dirty="0">
                          <a:effectLst/>
                        </a:rPr>
                        <a:t> πα</a:t>
                      </a:r>
                      <a:r>
                        <a:rPr lang="de-DE" sz="2000" b="0" dirty="0" err="1">
                          <a:effectLst/>
                        </a:rPr>
                        <a:t>στερίωση</a:t>
                      </a:r>
                      <a:endParaRPr lang="de-DE" sz="2000" b="0" dirty="0">
                        <a:effectLst/>
                      </a:endParaRPr>
                    </a:p>
                  </a:txBody>
                  <a:tcPr marL="66675" marR="66675" marT="0" marB="0" anchor="ctr">
                    <a:lnL w="3175" cap="flat" cmpd="sng" algn="ctr">
                      <a:solidFill>
                        <a:schemeClr val="accent1">
                          <a:lumMod val="60000"/>
                          <a:lumOff val="40000"/>
                        </a:schemeClr>
                      </a:solidFill>
                      <a:prstDash val="solid"/>
                      <a:round/>
                      <a:headEnd type="none" w="med" len="med"/>
                      <a:tailEnd type="none" w="med" len="med"/>
                    </a:lnL>
                    <a:lnR w="3175">
                      <a:solidFill>
                        <a:schemeClr val="accent1">
                          <a:lumMod val="60000"/>
                          <a:lumOff val="40000"/>
                        </a:schemeClr>
                      </a:solidFill>
                    </a:lnR>
                    <a:lnT w="3175" cap="flat" cmpd="sng" algn="ctr">
                      <a:solidFill>
                        <a:schemeClr val="accent1">
                          <a:lumMod val="60000"/>
                          <a:lumOff val="40000"/>
                        </a:schemeClr>
                      </a:solidFill>
                      <a:prstDash val="solid"/>
                      <a:round/>
                      <a:headEnd type="none" w="med" len="med"/>
                      <a:tailEnd type="none" w="med" len="med"/>
                    </a:lnT>
                    <a:lnB w="3175">
                      <a:solidFill>
                        <a:schemeClr val="accent1">
                          <a:lumMod val="60000"/>
                          <a:lumOff val="40000"/>
                        </a:schemeClr>
                      </a:solidFill>
                    </a:lnB>
                  </a:tcPr>
                </a:tc>
                <a:extLst>
                  <a:ext uri="{0D108BD9-81ED-4DB2-BD59-A6C34878D82A}">
                    <a16:rowId xmlns:a16="http://schemas.microsoft.com/office/drawing/2014/main" val="3750274913"/>
                  </a:ext>
                </a:extLst>
              </a:tr>
              <a:tr h="621361">
                <a:tc>
                  <a:txBody>
                    <a:bodyPr/>
                    <a:lstStyle/>
                    <a:p>
                      <a:pPr algn="ctr">
                        <a:buNone/>
                      </a:pPr>
                      <a:r>
                        <a:rPr lang="de-DE" sz="2000" b="1" err="1">
                          <a:effectLst/>
                        </a:rPr>
                        <a:t>Μετουσίωση</a:t>
                      </a:r>
                      <a:r>
                        <a:rPr lang="de-DE" sz="2000" b="1">
                          <a:effectLst/>
                        </a:rPr>
                        <a:t> </a:t>
                      </a:r>
                      <a:r>
                        <a:rPr lang="el-GR" sz="2000" b="1">
                          <a:effectLst/>
                        </a:rPr>
                        <a:t>β-</a:t>
                      </a:r>
                      <a:r>
                        <a:rPr lang="de-DE" sz="2000" b="1">
                          <a:effectLst/>
                        </a:rPr>
                        <a:t>LG </a:t>
                      </a:r>
                      <a:r>
                        <a:rPr lang="de-DE" sz="2000" b="1" err="1">
                          <a:effectLst/>
                        </a:rPr>
                        <a:t>στον</a:t>
                      </a:r>
                      <a:r>
                        <a:rPr lang="de-DE" sz="2000" b="1">
                          <a:effectLst/>
                        </a:rPr>
                        <a:t> </a:t>
                      </a:r>
                      <a:r>
                        <a:rPr lang="de-DE" sz="2000" b="1" err="1">
                          <a:effectLst/>
                        </a:rPr>
                        <a:t>θάλ</a:t>
                      </a:r>
                      <a:r>
                        <a:rPr lang="de-DE" sz="2000" b="1">
                          <a:effectLst/>
                        </a:rPr>
                        <a:t>α</a:t>
                      </a:r>
                      <a:r>
                        <a:rPr lang="de-DE" sz="2000" b="1" err="1">
                          <a:effectLst/>
                        </a:rPr>
                        <a:t>μο</a:t>
                      </a:r>
                      <a:r>
                        <a:rPr lang="de-DE" sz="2000" b="1">
                          <a:effectLst/>
                        </a:rPr>
                        <a:t> </a:t>
                      </a:r>
                      <a:r>
                        <a:rPr lang="de-DE" sz="2000" b="1" err="1">
                          <a:effectLst/>
                        </a:rPr>
                        <a:t>συγκράτησης</a:t>
                      </a:r>
                      <a:r>
                        <a:rPr lang="de-DE" sz="2000" b="1">
                          <a:effectLst/>
                        </a:rPr>
                        <a:t> (%)</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algn="ctr">
                        <a:buNone/>
                      </a:pPr>
                      <a:r>
                        <a:rPr lang="de-DE" sz="2000" b="0" dirty="0" err="1">
                          <a:effectLst/>
                        </a:rPr>
                        <a:t>Περιορισμός</a:t>
                      </a:r>
                      <a:endParaRPr lang="de-DE" sz="2000" b="0" dirty="0">
                        <a:effectLst/>
                      </a:endParaRP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algn="ctr">
                        <a:buNone/>
                      </a:pPr>
                      <a:r>
                        <a:rPr lang="de-DE" sz="2000" b="0">
                          <a:effectLst/>
                        </a:rPr>
                        <a:t>0</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algn="ctr">
                        <a:buNone/>
                      </a:pPr>
                      <a:r>
                        <a:rPr lang="de-DE" sz="2000" b="0">
                          <a:effectLst/>
                        </a:rPr>
                        <a:t>20</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algn="ctr">
                        <a:buNone/>
                      </a:pPr>
                      <a:r>
                        <a:rPr lang="de-DE" sz="2000" b="0" dirty="0">
                          <a:effectLst/>
                        </a:rPr>
                        <a:t>19</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algn="ctr">
                        <a:buNone/>
                      </a:pPr>
                      <a:r>
                        <a:rPr lang="de-DE" sz="2000" b="0" dirty="0">
                          <a:effectLst/>
                        </a:rPr>
                        <a:t>30</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algn="ctr">
                        <a:buNone/>
                      </a:pPr>
                      <a:r>
                        <a:rPr lang="de-DE" sz="2000" b="0" dirty="0">
                          <a:effectLst/>
                        </a:rPr>
                        <a:t>-</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extLst>
                  <a:ext uri="{0D108BD9-81ED-4DB2-BD59-A6C34878D82A}">
                    <a16:rowId xmlns:a16="http://schemas.microsoft.com/office/drawing/2014/main" val="3087875419"/>
                  </a:ext>
                </a:extLst>
              </a:tr>
            </a:tbl>
          </a:graphicData>
        </a:graphic>
      </p:graphicFrame>
      <p:sp>
        <p:nvSpPr>
          <p:cNvPr id="6" name="Textfeld 5">
            <a:extLst>
              <a:ext uri="{FF2B5EF4-FFF2-40B4-BE49-F238E27FC236}">
                <a16:creationId xmlns:a16="http://schemas.microsoft.com/office/drawing/2014/main" id="{0FCC7BEA-6AEF-4446-2B12-D396DD9C5A87}"/>
              </a:ext>
            </a:extLst>
          </p:cNvPr>
          <p:cNvSpPr txBox="1"/>
          <p:nvPr/>
        </p:nvSpPr>
        <p:spPr>
          <a:xfrm>
            <a:off x="2051637" y="6150114"/>
            <a:ext cx="8327572"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aseline="0" dirty="0" err="1">
                <a:latin typeface="Calibri"/>
              </a:rPr>
              <a:t>Πίν</a:t>
            </a:r>
            <a:r>
              <a:rPr lang="en-US" sz="2000" baseline="0" dirty="0">
                <a:latin typeface="Calibri"/>
              </a:rPr>
              <a:t>ακας </a:t>
            </a:r>
            <a:r>
              <a:rPr lang="el-GR" sz="2000" baseline="0" dirty="0">
                <a:latin typeface="Calibri"/>
              </a:rPr>
              <a:t>2</a:t>
            </a:r>
            <a:r>
              <a:rPr lang="en-US" sz="2000" baseline="0" dirty="0">
                <a:latin typeface="Calibri"/>
              </a:rPr>
              <a:t>: </a:t>
            </a:r>
            <a:r>
              <a:rPr lang="en-US" sz="2000" dirty="0">
                <a:latin typeface="Calibri"/>
              </a:rPr>
              <a:t>Μεταβλητές κατά τη βελτιστοποίηση του μοντέλου παστερίωσης, οι κατανομές τους, οι αρχικές και τελικές τους τιμές</a:t>
            </a:r>
            <a:endParaRPr lang="en-US" sz="2000" dirty="0">
              <a:ea typeface="Calibri" panose="020F0502020204030204"/>
              <a:cs typeface="Calibri" panose="020F0502020204030204"/>
            </a:endParaRPr>
          </a:p>
        </p:txBody>
      </p:sp>
      <p:sp>
        <p:nvSpPr>
          <p:cNvPr id="7" name="Rechteck: abgerundete Ecken 6">
            <a:extLst>
              <a:ext uri="{FF2B5EF4-FFF2-40B4-BE49-F238E27FC236}">
                <a16:creationId xmlns:a16="http://schemas.microsoft.com/office/drawing/2014/main" id="{41F055FA-26BF-ABC7-54E6-64EB40184E66}"/>
              </a:ext>
            </a:extLst>
          </p:cNvPr>
          <p:cNvSpPr/>
          <p:nvPr/>
        </p:nvSpPr>
        <p:spPr>
          <a:xfrm>
            <a:off x="10765410" y="1800521"/>
            <a:ext cx="923827" cy="1366886"/>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abgerundete Ecken 8">
            <a:extLst>
              <a:ext uri="{FF2B5EF4-FFF2-40B4-BE49-F238E27FC236}">
                <a16:creationId xmlns:a16="http://schemas.microsoft.com/office/drawing/2014/main" id="{14323E31-9197-1C47-5681-1F7999FEC1CE}"/>
              </a:ext>
            </a:extLst>
          </p:cNvPr>
          <p:cNvSpPr/>
          <p:nvPr/>
        </p:nvSpPr>
        <p:spPr>
          <a:xfrm>
            <a:off x="7230621" y="3287328"/>
            <a:ext cx="805542" cy="605942"/>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9420557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0F144-4CDA-529A-9821-D427D6C5800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0E86166-B89D-A796-8709-D3E9D530B6BF}"/>
              </a:ext>
            </a:extLst>
          </p:cNvPr>
          <p:cNvSpPr>
            <a:spLocks noGrp="1"/>
          </p:cNvSpPr>
          <p:nvPr>
            <p:ph type="sldNum" sz="quarter" idx="12"/>
          </p:nvPr>
        </p:nvSpPr>
        <p:spPr/>
        <p:txBody>
          <a:bodyPr/>
          <a:lstStyle/>
          <a:p>
            <a:fld id="{48F63A3B-78C7-47BE-AE5E-E10140E04643}" type="slidenum">
              <a:rPr lang="en-US" smtClean="0"/>
              <a:t>18</a:t>
            </a:fld>
            <a:r>
              <a:rPr lang="en-US" dirty="0"/>
              <a:t>/</a:t>
            </a:r>
            <a:r>
              <a:rPr lang="el-GR" dirty="0"/>
              <a:t>2</a:t>
            </a:r>
            <a:r>
              <a:rPr lang="en-US" dirty="0"/>
              <a:t>2</a:t>
            </a:r>
          </a:p>
        </p:txBody>
      </p:sp>
      <p:sp>
        <p:nvSpPr>
          <p:cNvPr id="8" name="Title 1">
            <a:extLst>
              <a:ext uri="{FF2B5EF4-FFF2-40B4-BE49-F238E27FC236}">
                <a16:creationId xmlns:a16="http://schemas.microsoft.com/office/drawing/2014/main" id="{730F035F-4512-21D6-541B-40157A69997D}"/>
              </a:ext>
            </a:extLst>
          </p:cNvPr>
          <p:cNvSpPr txBox="1">
            <a:spLocks/>
          </p:cNvSpPr>
          <p:nvPr/>
        </p:nvSpPr>
        <p:spPr>
          <a:xfrm>
            <a:off x="103898" y="138893"/>
            <a:ext cx="12541326" cy="6868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dirty="0">
                <a:ea typeface="Calibri Light"/>
                <a:cs typeface="Calibri Light"/>
              </a:rPr>
              <a:t>6.2 </a:t>
            </a:r>
            <a:r>
              <a:rPr lang="en-US" sz="3100" dirty="0" err="1">
                <a:ea typeface="Calibri Light"/>
                <a:cs typeface="Calibri Light"/>
              </a:rPr>
              <a:t>Μοντέλο</a:t>
            </a:r>
            <a:r>
              <a:rPr lang="en-US" sz="3100" dirty="0">
                <a:ea typeface="Calibri Light"/>
                <a:cs typeface="Calibri Light"/>
              </a:rPr>
              <a:t> </a:t>
            </a:r>
            <a:r>
              <a:rPr lang="en-US" sz="3100" dirty="0" err="1">
                <a:ea typeface="Calibri Light"/>
                <a:cs typeface="Calibri Light"/>
              </a:rPr>
              <a:t>Διήθησης</a:t>
            </a:r>
            <a:r>
              <a:rPr lang="en-US" sz="3100" dirty="0">
                <a:ea typeface="Calibri Light"/>
                <a:cs typeface="Calibri Light"/>
              </a:rPr>
              <a:t> </a:t>
            </a:r>
            <a:r>
              <a:rPr lang="en-US" sz="3100" dirty="0" err="1">
                <a:ea typeface="Calibri Light"/>
                <a:cs typeface="Calibri Light"/>
              </a:rPr>
              <a:t>με</a:t>
            </a:r>
            <a:r>
              <a:rPr lang="en-US" sz="3100" dirty="0">
                <a:ea typeface="Calibri Light"/>
                <a:cs typeface="Calibri Light"/>
              </a:rPr>
              <a:t> </a:t>
            </a:r>
            <a:r>
              <a:rPr lang="en-US" sz="3100" dirty="0" err="1">
                <a:ea typeface="Calibri Light"/>
                <a:cs typeface="Calibri Light"/>
              </a:rPr>
              <a:t>Μεμ</a:t>
            </a:r>
            <a:r>
              <a:rPr lang="en-US" sz="3100" dirty="0">
                <a:ea typeface="Calibri Light"/>
                <a:cs typeface="Calibri Light"/>
              </a:rPr>
              <a:t>β</a:t>
            </a:r>
            <a:r>
              <a:rPr lang="en-US" sz="3100" dirty="0" err="1">
                <a:ea typeface="Calibri Light"/>
                <a:cs typeface="Calibri Light"/>
              </a:rPr>
              <a:t>ράνη-Βελτιστο</a:t>
            </a:r>
            <a:r>
              <a:rPr lang="en-US" sz="3100" dirty="0">
                <a:ea typeface="Calibri Light"/>
                <a:cs typeface="Calibri Light"/>
              </a:rPr>
              <a:t>π</a:t>
            </a:r>
            <a:r>
              <a:rPr lang="en-US" sz="3100" dirty="0" err="1">
                <a:ea typeface="Calibri Light"/>
                <a:cs typeface="Calibri Light"/>
              </a:rPr>
              <a:t>οίηση</a:t>
            </a:r>
            <a:endParaRPr lang="en-US" sz="3100" dirty="0">
              <a:ea typeface="Calibri Light"/>
              <a:cs typeface="Calibri Light"/>
            </a:endParaRPr>
          </a:p>
        </p:txBody>
      </p:sp>
      <p:graphicFrame>
        <p:nvGraphicFramePr>
          <p:cNvPr id="5" name="Tabelle 4">
            <a:extLst>
              <a:ext uri="{FF2B5EF4-FFF2-40B4-BE49-F238E27FC236}">
                <a16:creationId xmlns:a16="http://schemas.microsoft.com/office/drawing/2014/main" id="{42705349-8240-8F6E-FD14-EEC2B9BF8C16}"/>
              </a:ext>
            </a:extLst>
          </p:cNvPr>
          <p:cNvGraphicFramePr>
            <a:graphicFrameLocks noGrp="1"/>
          </p:cNvGraphicFramePr>
          <p:nvPr>
            <p:extLst>
              <p:ext uri="{D42A27DB-BD31-4B8C-83A1-F6EECF244321}">
                <p14:modId xmlns:p14="http://schemas.microsoft.com/office/powerpoint/2010/main" val="2824134278"/>
              </p:ext>
            </p:extLst>
          </p:nvPr>
        </p:nvGraphicFramePr>
        <p:xfrm>
          <a:off x="217714" y="1121228"/>
          <a:ext cx="11763290" cy="4707815"/>
        </p:xfrm>
        <a:graphic>
          <a:graphicData uri="http://schemas.openxmlformats.org/drawingml/2006/table">
            <a:tbl>
              <a:tblPr firstRow="1" firstCol="1" bandRow="1">
                <a:tableStyleId>{69012ECD-51FC-41F1-AA8D-1B2483CD663E}</a:tableStyleId>
              </a:tblPr>
              <a:tblGrid>
                <a:gridCol w="3032125">
                  <a:extLst>
                    <a:ext uri="{9D8B030D-6E8A-4147-A177-3AD203B41FA5}">
                      <a16:colId xmlns:a16="http://schemas.microsoft.com/office/drawing/2014/main" val="2699513667"/>
                    </a:ext>
                  </a:extLst>
                </a:gridCol>
                <a:gridCol w="2333617">
                  <a:extLst>
                    <a:ext uri="{9D8B030D-6E8A-4147-A177-3AD203B41FA5}">
                      <a16:colId xmlns:a16="http://schemas.microsoft.com/office/drawing/2014/main" val="2241873272"/>
                    </a:ext>
                  </a:extLst>
                </a:gridCol>
                <a:gridCol w="841375">
                  <a:extLst>
                    <a:ext uri="{9D8B030D-6E8A-4147-A177-3AD203B41FA5}">
                      <a16:colId xmlns:a16="http://schemas.microsoft.com/office/drawing/2014/main" val="1272545725"/>
                    </a:ext>
                  </a:extLst>
                </a:gridCol>
                <a:gridCol w="682625">
                  <a:extLst>
                    <a:ext uri="{9D8B030D-6E8A-4147-A177-3AD203B41FA5}">
                      <a16:colId xmlns:a16="http://schemas.microsoft.com/office/drawing/2014/main" val="1565127070"/>
                    </a:ext>
                  </a:extLst>
                </a:gridCol>
                <a:gridCol w="1936745">
                  <a:extLst>
                    <a:ext uri="{9D8B030D-6E8A-4147-A177-3AD203B41FA5}">
                      <a16:colId xmlns:a16="http://schemas.microsoft.com/office/drawing/2014/main" val="3273910756"/>
                    </a:ext>
                  </a:extLst>
                </a:gridCol>
                <a:gridCol w="1835720">
                  <a:extLst>
                    <a:ext uri="{9D8B030D-6E8A-4147-A177-3AD203B41FA5}">
                      <a16:colId xmlns:a16="http://schemas.microsoft.com/office/drawing/2014/main" val="687457003"/>
                    </a:ext>
                  </a:extLst>
                </a:gridCol>
                <a:gridCol w="1101083">
                  <a:extLst>
                    <a:ext uri="{9D8B030D-6E8A-4147-A177-3AD203B41FA5}">
                      <a16:colId xmlns:a16="http://schemas.microsoft.com/office/drawing/2014/main" val="4294448758"/>
                    </a:ext>
                  </a:extLst>
                </a:gridCol>
              </a:tblGrid>
              <a:tr h="1035683">
                <a:tc>
                  <a:txBody>
                    <a:bodyPr/>
                    <a:lstStyle/>
                    <a:p>
                      <a:pPr lvl="0" algn="ctr">
                        <a:buNone/>
                      </a:pPr>
                      <a:r>
                        <a:rPr lang="de-DE" sz="2000" err="1">
                          <a:effectLst/>
                        </a:rPr>
                        <a:t>Μετ</a:t>
                      </a:r>
                      <a:r>
                        <a:rPr lang="de-DE" sz="2000">
                          <a:effectLst/>
                        </a:rPr>
                        <a:t>αβ</a:t>
                      </a:r>
                      <a:r>
                        <a:rPr lang="de-DE" sz="2000" err="1">
                          <a:effectLst/>
                        </a:rPr>
                        <a:t>λητή</a:t>
                      </a:r>
                      <a:endParaRPr lang="de-DE" sz="2000">
                        <a:effectLst/>
                      </a:endParaRP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lvl="0" algn="ctr">
                        <a:buNone/>
                      </a:pPr>
                      <a:r>
                        <a:rPr lang="de-DE" sz="2000" err="1">
                          <a:effectLst/>
                        </a:rPr>
                        <a:t>Τύ</a:t>
                      </a:r>
                      <a:r>
                        <a:rPr lang="de-DE" sz="2000">
                          <a:effectLst/>
                        </a:rPr>
                        <a:t>π</a:t>
                      </a:r>
                      <a:r>
                        <a:rPr lang="de-DE" sz="2000" err="1">
                          <a:effectLst/>
                        </a:rPr>
                        <a:t>ος</a:t>
                      </a:r>
                      <a:endParaRPr lang="de-DE" sz="2000">
                        <a:effectLst/>
                      </a:endParaRP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lvl="0" algn="ctr">
                        <a:buNone/>
                      </a:pPr>
                      <a:r>
                        <a:rPr lang="de-DE" sz="2000" err="1">
                          <a:effectLst/>
                        </a:rPr>
                        <a:t>Κάτω</a:t>
                      </a:r>
                      <a:r>
                        <a:rPr lang="de-DE" sz="2000">
                          <a:effectLst/>
                        </a:rPr>
                        <a:t> </a:t>
                      </a:r>
                      <a:r>
                        <a:rPr lang="de-DE" sz="2000" err="1">
                          <a:effectLst/>
                        </a:rPr>
                        <a:t>όριο</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lvl="0" algn="ctr">
                        <a:buNone/>
                      </a:pPr>
                      <a:r>
                        <a:rPr lang="de-DE" sz="2000" err="1">
                          <a:effectLst/>
                        </a:rPr>
                        <a:t>Άνω</a:t>
                      </a:r>
                      <a:r>
                        <a:rPr lang="de-DE" sz="2000">
                          <a:effectLst/>
                        </a:rPr>
                        <a:t> </a:t>
                      </a:r>
                      <a:r>
                        <a:rPr lang="de-DE" sz="2000" err="1">
                          <a:effectLst/>
                        </a:rPr>
                        <a:t>όριο</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lvl="0" algn="ctr">
                        <a:buNone/>
                      </a:pPr>
                      <a:r>
                        <a:rPr lang="de-DE" sz="2000" err="1">
                          <a:effectLst/>
                        </a:rPr>
                        <a:t>Τιμή</a:t>
                      </a:r>
                      <a:r>
                        <a:rPr lang="de-DE" sz="2000">
                          <a:effectLst/>
                        </a:rPr>
                        <a:t> β</a:t>
                      </a:r>
                      <a:r>
                        <a:rPr lang="de-DE" sz="2000" err="1">
                          <a:effectLst/>
                        </a:rPr>
                        <a:t>ελτιστο</a:t>
                      </a:r>
                      <a:r>
                        <a:rPr lang="de-DE" sz="2000">
                          <a:effectLst/>
                        </a:rPr>
                        <a:t>π</a:t>
                      </a:r>
                      <a:r>
                        <a:rPr lang="de-DE" sz="2000" err="1">
                          <a:effectLst/>
                        </a:rPr>
                        <a:t>οίησης</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lvl="0" algn="ctr">
                        <a:buNone/>
                      </a:pPr>
                      <a:r>
                        <a:rPr lang="de-DE" sz="2000" err="1">
                          <a:effectLst/>
                        </a:rPr>
                        <a:t>Τιμή</a:t>
                      </a:r>
                      <a:r>
                        <a:rPr lang="de-DE" sz="2000">
                          <a:effectLst/>
                        </a:rPr>
                        <a:t> π</a:t>
                      </a:r>
                      <a:r>
                        <a:rPr lang="de-DE" sz="2000" err="1">
                          <a:effectLst/>
                        </a:rPr>
                        <a:t>ριν</a:t>
                      </a:r>
                      <a:r>
                        <a:rPr lang="de-DE" sz="2000">
                          <a:effectLst/>
                        </a:rPr>
                        <a:t> </a:t>
                      </a:r>
                      <a:r>
                        <a:rPr lang="de-DE" sz="2000" err="1">
                          <a:effectLst/>
                        </a:rPr>
                        <a:t>τη</a:t>
                      </a:r>
                      <a:r>
                        <a:rPr lang="de-DE" sz="2000">
                          <a:effectLst/>
                        </a:rPr>
                        <a:t> β</a:t>
                      </a:r>
                      <a:r>
                        <a:rPr lang="de-DE" sz="2000" err="1">
                          <a:effectLst/>
                        </a:rPr>
                        <a:t>ελτιστο</a:t>
                      </a:r>
                      <a:r>
                        <a:rPr lang="de-DE" sz="2000">
                          <a:effectLst/>
                        </a:rPr>
                        <a:t>π</a:t>
                      </a:r>
                      <a:r>
                        <a:rPr lang="de-DE" sz="2000" err="1">
                          <a:effectLst/>
                        </a:rPr>
                        <a:t>οίηση</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lvl="0" algn="ctr">
                        <a:buNone/>
                      </a:pPr>
                      <a:r>
                        <a:rPr lang="de-DE" sz="2000" err="1">
                          <a:effectLst/>
                        </a:rPr>
                        <a:t>Όφελος</a:t>
                      </a:r>
                      <a:endParaRPr lang="de-DE"/>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extLst>
                  <a:ext uri="{0D108BD9-81ED-4DB2-BD59-A6C34878D82A}">
                    <a16:rowId xmlns:a16="http://schemas.microsoft.com/office/drawing/2014/main" val="2371912668"/>
                  </a:ext>
                </a:extLst>
              </a:tr>
              <a:tr h="613233">
                <a:tc>
                  <a:txBody>
                    <a:bodyPr/>
                    <a:lstStyle/>
                    <a:p>
                      <a:pPr algn="ctr">
                        <a:buNone/>
                      </a:pPr>
                      <a:r>
                        <a:rPr lang="de-DE" sz="2000">
                          <a:effectLst/>
                        </a:rPr>
                        <a:t>Κατανα</a:t>
                      </a:r>
                      <a:r>
                        <a:rPr lang="de-DE" sz="2000" err="1">
                          <a:effectLst/>
                        </a:rPr>
                        <a:t>λισκόμενο</a:t>
                      </a:r>
                      <a:r>
                        <a:rPr lang="de-DE" sz="2000">
                          <a:effectLst/>
                        </a:rPr>
                        <a:t> </a:t>
                      </a:r>
                      <a:r>
                        <a:rPr lang="de-DE" sz="2000" err="1">
                          <a:effectLst/>
                        </a:rPr>
                        <a:t>νερό</a:t>
                      </a:r>
                      <a:r>
                        <a:rPr lang="de-DE" sz="2000">
                          <a:effectLst/>
                        </a:rPr>
                        <a:t> </a:t>
                      </a:r>
                      <a:r>
                        <a:rPr lang="de-DE" sz="2000" err="1">
                          <a:effectLst/>
                        </a:rPr>
                        <a:t>δι</a:t>
                      </a:r>
                      <a:r>
                        <a:rPr lang="de-DE" sz="2000">
                          <a:effectLst/>
                        </a:rPr>
                        <a:t>α</a:t>
                      </a:r>
                      <a:r>
                        <a:rPr lang="de-DE" sz="2000" err="1">
                          <a:effectLst/>
                        </a:rPr>
                        <a:t>διήθησης</a:t>
                      </a:r>
                      <a:r>
                        <a:rPr lang="de-DE" sz="2000">
                          <a:effectLst/>
                        </a:rPr>
                        <a:t> (kg)</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3175" cap="flat" cmpd="sng" algn="ctr">
                      <a:solidFill>
                        <a:schemeClr val="accent1">
                          <a:lumMod val="60000"/>
                          <a:lumOff val="40000"/>
                        </a:schemeClr>
                      </a:solidFill>
                      <a:prstDash val="solid"/>
                      <a:round/>
                      <a:headEnd type="none" w="med" len="med"/>
                      <a:tailEnd type="none" w="med" len="med"/>
                    </a:lnT>
                    <a:lnB w="12700">
                      <a:solidFill>
                        <a:schemeClr val="accent1">
                          <a:lumMod val="60000"/>
                          <a:lumOff val="40000"/>
                        </a:schemeClr>
                      </a:solidFill>
                    </a:lnB>
                  </a:tcPr>
                </a:tc>
                <a:tc>
                  <a:txBody>
                    <a:bodyPr/>
                    <a:lstStyle/>
                    <a:p>
                      <a:pPr algn="ctr">
                        <a:buNone/>
                      </a:pPr>
                      <a:r>
                        <a:rPr lang="de-DE" sz="2000" err="1">
                          <a:effectLst/>
                        </a:rPr>
                        <a:t>Αντικειμενική</a:t>
                      </a:r>
                      <a:r>
                        <a:rPr lang="de-DE" sz="2000">
                          <a:effectLst/>
                        </a:rPr>
                        <a:t> </a:t>
                      </a:r>
                      <a:r>
                        <a:rPr lang="de-DE" sz="2000" err="1">
                          <a:effectLst/>
                        </a:rPr>
                        <a:t>συνάρτηση</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3175" cap="flat" cmpd="sng" algn="ctr">
                      <a:solidFill>
                        <a:schemeClr val="accent1">
                          <a:lumMod val="60000"/>
                          <a:lumOff val="40000"/>
                        </a:schemeClr>
                      </a:solidFill>
                      <a:prstDash val="solid"/>
                      <a:round/>
                      <a:headEnd type="none" w="med" len="med"/>
                      <a:tailEnd type="none" w="med" len="med"/>
                    </a:lnT>
                    <a:lnB w="12700">
                      <a:solidFill>
                        <a:schemeClr val="accent1">
                          <a:lumMod val="60000"/>
                          <a:lumOff val="40000"/>
                        </a:schemeClr>
                      </a:solidFill>
                    </a:lnB>
                  </a:tcPr>
                </a:tc>
                <a:tc>
                  <a:txBody>
                    <a:bodyPr/>
                    <a:lstStyle/>
                    <a:p>
                      <a:pPr algn="ctr">
                        <a:buNone/>
                      </a:pPr>
                      <a:r>
                        <a:rPr lang="de-DE" sz="200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3175" cap="flat" cmpd="sng" algn="ctr">
                      <a:solidFill>
                        <a:schemeClr val="accent1">
                          <a:lumMod val="60000"/>
                          <a:lumOff val="40000"/>
                        </a:schemeClr>
                      </a:solidFill>
                      <a:prstDash val="solid"/>
                      <a:round/>
                      <a:headEnd type="none" w="med" len="med"/>
                      <a:tailEnd type="none" w="med" len="med"/>
                    </a:lnT>
                    <a:lnB w="12700">
                      <a:solidFill>
                        <a:schemeClr val="accent1">
                          <a:lumMod val="60000"/>
                          <a:lumOff val="40000"/>
                        </a:schemeClr>
                      </a:solidFill>
                    </a:lnB>
                  </a:tcPr>
                </a:tc>
                <a:tc>
                  <a:txBody>
                    <a:bodyPr/>
                    <a:lstStyle/>
                    <a:p>
                      <a:pPr algn="ctr">
                        <a:buNone/>
                      </a:pPr>
                      <a:r>
                        <a:rPr lang="de-DE" sz="200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3175" cap="flat" cmpd="sng" algn="ctr">
                      <a:solidFill>
                        <a:schemeClr val="accent1">
                          <a:lumMod val="60000"/>
                          <a:lumOff val="40000"/>
                        </a:schemeClr>
                      </a:solidFill>
                      <a:prstDash val="solid"/>
                      <a:round/>
                      <a:headEnd type="none" w="med" len="med"/>
                      <a:tailEnd type="none" w="med" len="med"/>
                    </a:lnT>
                    <a:lnB w="12700">
                      <a:solidFill>
                        <a:schemeClr val="accent1">
                          <a:lumMod val="60000"/>
                          <a:lumOff val="40000"/>
                        </a:schemeClr>
                      </a:solidFill>
                    </a:lnB>
                  </a:tcPr>
                </a:tc>
                <a:tc>
                  <a:txBody>
                    <a:bodyPr/>
                    <a:lstStyle/>
                    <a:p>
                      <a:pPr algn="ctr">
                        <a:buNone/>
                      </a:pPr>
                      <a:r>
                        <a:rPr lang="de-DE" sz="2000" dirty="0">
                          <a:effectLst/>
                        </a:rPr>
                        <a:t>5421</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3175" cap="flat" cmpd="sng" algn="ctr">
                      <a:solidFill>
                        <a:schemeClr val="accent1">
                          <a:lumMod val="60000"/>
                          <a:lumOff val="40000"/>
                        </a:schemeClr>
                      </a:solidFill>
                      <a:prstDash val="solid"/>
                      <a:round/>
                      <a:headEnd type="none" w="med" len="med"/>
                      <a:tailEnd type="none" w="med" len="med"/>
                    </a:lnT>
                    <a:lnB w="12700">
                      <a:solidFill>
                        <a:schemeClr val="accent1">
                          <a:lumMod val="60000"/>
                          <a:lumOff val="40000"/>
                        </a:schemeClr>
                      </a:solidFill>
                    </a:lnB>
                  </a:tcPr>
                </a:tc>
                <a:tc>
                  <a:txBody>
                    <a:bodyPr/>
                    <a:lstStyle/>
                    <a:p>
                      <a:pPr algn="ctr">
                        <a:buNone/>
                      </a:pPr>
                      <a:r>
                        <a:rPr lang="de-DE" sz="2000" dirty="0">
                          <a:effectLst/>
                        </a:rPr>
                        <a:t>10647</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3175" cap="flat" cmpd="sng" algn="ctr">
                      <a:solidFill>
                        <a:schemeClr val="accent1">
                          <a:lumMod val="60000"/>
                          <a:lumOff val="40000"/>
                        </a:schemeClr>
                      </a:solidFill>
                      <a:prstDash val="solid"/>
                      <a:round/>
                      <a:headEnd type="none" w="med" len="med"/>
                      <a:tailEnd type="none" w="med" len="med"/>
                    </a:lnT>
                    <a:lnB w="12700">
                      <a:solidFill>
                        <a:schemeClr val="accent1">
                          <a:lumMod val="60000"/>
                          <a:lumOff val="40000"/>
                        </a:schemeClr>
                      </a:solidFill>
                    </a:lnB>
                  </a:tcPr>
                </a:tc>
                <a:tc>
                  <a:txBody>
                    <a:bodyPr/>
                    <a:lstStyle/>
                    <a:p>
                      <a:pPr algn="ctr">
                        <a:buNone/>
                      </a:pPr>
                      <a:r>
                        <a:rPr lang="de-DE" sz="2000" dirty="0">
                          <a:effectLst/>
                        </a:rPr>
                        <a:t>49%</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3175" cap="flat" cmpd="sng" algn="ctr">
                      <a:solidFill>
                        <a:schemeClr val="accent1">
                          <a:lumMod val="60000"/>
                          <a:lumOff val="40000"/>
                        </a:schemeClr>
                      </a:solidFill>
                      <a:prstDash val="solid"/>
                      <a:round/>
                      <a:headEnd type="none" w="med" len="med"/>
                      <a:tailEnd type="none" w="med" len="med"/>
                    </a:lnT>
                    <a:lnB w="12700">
                      <a:solidFill>
                        <a:schemeClr val="accent1">
                          <a:lumMod val="60000"/>
                          <a:lumOff val="40000"/>
                        </a:schemeClr>
                      </a:solidFill>
                    </a:lnB>
                  </a:tcPr>
                </a:tc>
                <a:extLst>
                  <a:ext uri="{0D108BD9-81ED-4DB2-BD59-A6C34878D82A}">
                    <a16:rowId xmlns:a16="http://schemas.microsoft.com/office/drawing/2014/main" val="776498289"/>
                  </a:ext>
                </a:extLst>
              </a:tr>
              <a:tr h="327058">
                <a:tc>
                  <a:txBody>
                    <a:bodyPr/>
                    <a:lstStyle/>
                    <a:p>
                      <a:pPr algn="ctr">
                        <a:buNone/>
                      </a:pPr>
                      <a:r>
                        <a:rPr lang="de-DE" sz="2000" err="1">
                          <a:effectLst/>
                        </a:rPr>
                        <a:t>Κόστος</a:t>
                      </a:r>
                      <a:r>
                        <a:rPr lang="de-DE" sz="2000">
                          <a:effectLst/>
                        </a:rPr>
                        <a:t> </a:t>
                      </a:r>
                      <a:r>
                        <a:rPr lang="de-DE" sz="2000" err="1">
                          <a:effectLst/>
                        </a:rPr>
                        <a:t>νερού</a:t>
                      </a:r>
                      <a:r>
                        <a:rPr lang="de-DE" sz="2000">
                          <a:effectLst/>
                        </a:rPr>
                        <a:t> </a:t>
                      </a:r>
                      <a:r>
                        <a:rPr lang="de-DE" sz="2000" err="1">
                          <a:effectLst/>
                        </a:rPr>
                        <a:t>δι</a:t>
                      </a:r>
                      <a:r>
                        <a:rPr lang="de-DE" sz="2000">
                          <a:effectLst/>
                        </a:rPr>
                        <a:t>α</a:t>
                      </a:r>
                      <a:r>
                        <a:rPr lang="de-DE" sz="2000" err="1">
                          <a:effectLst/>
                        </a:rPr>
                        <a:t>διήθησης</a:t>
                      </a:r>
                      <a:r>
                        <a:rPr lang="de-DE" sz="2000">
                          <a:effectLst/>
                        </a:rPr>
                        <a:t> (USD h</a:t>
                      </a:r>
                      <a:r>
                        <a:rPr lang="de-DE" sz="2000" baseline="30000">
                          <a:effectLst/>
                        </a:rPr>
                        <a:t>-1</a:t>
                      </a:r>
                      <a:r>
                        <a:rPr lang="de-DE" sz="2000" baseline="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0.52</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1.02</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49%</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extLst>
                  <a:ext uri="{0D108BD9-81ED-4DB2-BD59-A6C34878D82A}">
                    <a16:rowId xmlns:a16="http://schemas.microsoft.com/office/drawing/2014/main" val="2116605441"/>
                  </a:ext>
                </a:extLst>
              </a:tr>
              <a:tr h="613233">
                <a:tc>
                  <a:txBody>
                    <a:bodyPr/>
                    <a:lstStyle/>
                    <a:p>
                      <a:pPr algn="ctr">
                        <a:buNone/>
                      </a:pPr>
                      <a:r>
                        <a:rPr lang="de-DE" sz="2000" err="1">
                          <a:effectLst/>
                        </a:rPr>
                        <a:t>Κλάσμ</a:t>
                      </a:r>
                      <a:r>
                        <a:rPr lang="de-DE" sz="2000">
                          <a:effectLst/>
                        </a:rPr>
                        <a:t>α </a:t>
                      </a:r>
                      <a:r>
                        <a:rPr lang="de-DE" sz="2000" err="1">
                          <a:effectLst/>
                        </a:rPr>
                        <a:t>δι</a:t>
                      </a:r>
                      <a:r>
                        <a:rPr lang="de-DE" sz="2000">
                          <a:effectLst/>
                        </a:rPr>
                        <a:t>α</a:t>
                      </a:r>
                      <a:r>
                        <a:rPr lang="de-DE" sz="2000" err="1">
                          <a:effectLst/>
                        </a:rPr>
                        <a:t>χωρισμού</a:t>
                      </a:r>
                      <a:r>
                        <a:rPr lang="de-DE" sz="2000">
                          <a:effectLst/>
                        </a:rPr>
                        <a:t> </a:t>
                      </a:r>
                      <a:r>
                        <a:rPr lang="de-DE" sz="2000" err="1">
                          <a:effectLst/>
                        </a:rPr>
                        <a:t>στ</a:t>
                      </a:r>
                      <a:r>
                        <a:rPr lang="de-DE" sz="2000">
                          <a:effectLst/>
                        </a:rPr>
                        <a:t>α</a:t>
                      </a:r>
                      <a:r>
                        <a:rPr lang="de-DE" sz="2000" err="1">
                          <a:effectLst/>
                        </a:rPr>
                        <a:t>δίου</a:t>
                      </a:r>
                      <a:r>
                        <a:rPr lang="de-DE" sz="2000">
                          <a:effectLst/>
                        </a:rPr>
                        <a:t> 1</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err="1">
                          <a:effectLst/>
                        </a:rPr>
                        <a:t>Μετ</a:t>
                      </a:r>
                      <a:r>
                        <a:rPr lang="de-DE" sz="2000">
                          <a:effectLst/>
                        </a:rPr>
                        <a:t>αβ</a:t>
                      </a:r>
                      <a:r>
                        <a:rPr lang="de-DE" sz="2000" err="1">
                          <a:effectLst/>
                        </a:rPr>
                        <a:t>λητή</a:t>
                      </a:r>
                      <a:r>
                        <a:rPr lang="de-DE" sz="2000">
                          <a:effectLst/>
                        </a:rPr>
                        <a:t> απ</a:t>
                      </a:r>
                      <a:r>
                        <a:rPr lang="de-DE" sz="2000" err="1">
                          <a:effectLst/>
                        </a:rPr>
                        <a:t>όφ</a:t>
                      </a:r>
                      <a:r>
                        <a:rPr lang="de-DE" sz="2000">
                          <a:effectLst/>
                        </a:rPr>
                        <a:t>α</a:t>
                      </a:r>
                      <a:r>
                        <a:rPr lang="de-DE" sz="2000" err="1">
                          <a:effectLst/>
                        </a:rPr>
                        <a:t>σης</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0</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1</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0</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0.33</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extLst>
                  <a:ext uri="{0D108BD9-81ED-4DB2-BD59-A6C34878D82A}">
                    <a16:rowId xmlns:a16="http://schemas.microsoft.com/office/drawing/2014/main" val="296096034"/>
                  </a:ext>
                </a:extLst>
              </a:tr>
              <a:tr h="613233">
                <a:tc>
                  <a:txBody>
                    <a:bodyPr/>
                    <a:lstStyle/>
                    <a:p>
                      <a:pPr lvl="0" algn="ctr">
                        <a:buNone/>
                      </a:pPr>
                      <a:r>
                        <a:rPr lang="de-DE" sz="2000" b="1" i="0" u="none" strike="noStrike" noProof="0" err="1">
                          <a:solidFill>
                            <a:srgbClr val="000000"/>
                          </a:solidFill>
                          <a:effectLst/>
                          <a:latin typeface="Calibri"/>
                        </a:rPr>
                        <a:t>Κλάσμ</a:t>
                      </a:r>
                      <a:r>
                        <a:rPr lang="de-DE" sz="2000" b="1" i="0" u="none" strike="noStrike" noProof="0">
                          <a:solidFill>
                            <a:srgbClr val="000000"/>
                          </a:solidFill>
                          <a:effectLst/>
                          <a:latin typeface="Calibri"/>
                        </a:rPr>
                        <a:t>α </a:t>
                      </a:r>
                      <a:r>
                        <a:rPr lang="de-DE" sz="2000" b="1" i="0" u="none" strike="noStrike" noProof="0" err="1">
                          <a:solidFill>
                            <a:srgbClr val="000000"/>
                          </a:solidFill>
                          <a:effectLst/>
                          <a:latin typeface="Calibri"/>
                        </a:rPr>
                        <a:t>δι</a:t>
                      </a:r>
                      <a:r>
                        <a:rPr lang="de-DE" sz="2000" b="1" i="0" u="none" strike="noStrike" noProof="0">
                          <a:solidFill>
                            <a:srgbClr val="000000"/>
                          </a:solidFill>
                          <a:effectLst/>
                          <a:latin typeface="Calibri"/>
                        </a:rPr>
                        <a:t>α</a:t>
                      </a:r>
                      <a:r>
                        <a:rPr lang="de-DE" sz="2000" b="1" i="0" u="none" strike="noStrike" noProof="0" err="1">
                          <a:solidFill>
                            <a:srgbClr val="000000"/>
                          </a:solidFill>
                          <a:effectLst/>
                          <a:latin typeface="Calibri"/>
                        </a:rPr>
                        <a:t>χωρισμού</a:t>
                      </a:r>
                      <a:r>
                        <a:rPr lang="de-DE" sz="2000" b="1" i="0" u="none" strike="noStrike" noProof="0">
                          <a:solidFill>
                            <a:srgbClr val="000000"/>
                          </a:solidFill>
                          <a:effectLst/>
                          <a:latin typeface="Calibri"/>
                        </a:rPr>
                        <a:t> </a:t>
                      </a:r>
                      <a:r>
                        <a:rPr lang="de-DE" sz="2000" b="1" i="0" u="none" strike="noStrike" noProof="0" err="1">
                          <a:solidFill>
                            <a:srgbClr val="000000"/>
                          </a:solidFill>
                          <a:effectLst/>
                          <a:latin typeface="Calibri"/>
                        </a:rPr>
                        <a:t>στ</a:t>
                      </a:r>
                      <a:r>
                        <a:rPr lang="de-DE" sz="2000" b="1" i="0" u="none" strike="noStrike" noProof="0">
                          <a:solidFill>
                            <a:srgbClr val="000000"/>
                          </a:solidFill>
                          <a:effectLst/>
                          <a:latin typeface="Calibri"/>
                        </a:rPr>
                        <a:t>α</a:t>
                      </a:r>
                      <a:r>
                        <a:rPr lang="de-DE" sz="2000" b="1" i="0" u="none" strike="noStrike" noProof="0" err="1">
                          <a:solidFill>
                            <a:srgbClr val="000000"/>
                          </a:solidFill>
                          <a:effectLst/>
                          <a:latin typeface="Calibri"/>
                        </a:rPr>
                        <a:t>δίου</a:t>
                      </a:r>
                      <a:r>
                        <a:rPr lang="de-DE" sz="2000">
                          <a:effectLst/>
                        </a:rPr>
                        <a:t> 2</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lvl="0" algn="ctr">
                        <a:buNone/>
                      </a:pPr>
                      <a:r>
                        <a:rPr lang="de-DE" sz="2000" b="0" i="0" u="none" strike="noStrike" noProof="0" err="1">
                          <a:solidFill>
                            <a:srgbClr val="000000"/>
                          </a:solidFill>
                          <a:effectLst/>
                          <a:latin typeface="Calibri"/>
                        </a:rPr>
                        <a:t>Μετ</a:t>
                      </a:r>
                      <a:r>
                        <a:rPr lang="de-DE" sz="2000" b="0" i="0" u="none" strike="noStrike" noProof="0">
                          <a:solidFill>
                            <a:srgbClr val="000000"/>
                          </a:solidFill>
                          <a:effectLst/>
                          <a:latin typeface="Calibri"/>
                        </a:rPr>
                        <a:t>αβ</a:t>
                      </a:r>
                      <a:r>
                        <a:rPr lang="de-DE" sz="2000" b="0" i="0" u="none" strike="noStrike" noProof="0" err="1">
                          <a:solidFill>
                            <a:srgbClr val="000000"/>
                          </a:solidFill>
                          <a:effectLst/>
                          <a:latin typeface="Calibri"/>
                        </a:rPr>
                        <a:t>λητή</a:t>
                      </a:r>
                      <a:r>
                        <a:rPr lang="de-DE" sz="2000" b="0" i="0" u="none" strike="noStrike" noProof="0">
                          <a:solidFill>
                            <a:srgbClr val="000000"/>
                          </a:solidFill>
                          <a:effectLst/>
                          <a:latin typeface="Calibri"/>
                        </a:rPr>
                        <a:t> απ</a:t>
                      </a:r>
                      <a:r>
                        <a:rPr lang="de-DE" sz="2000" b="0" i="0" u="none" strike="noStrike" noProof="0" err="1">
                          <a:solidFill>
                            <a:srgbClr val="000000"/>
                          </a:solidFill>
                          <a:effectLst/>
                          <a:latin typeface="Calibri"/>
                        </a:rPr>
                        <a:t>όφ</a:t>
                      </a:r>
                      <a:r>
                        <a:rPr lang="de-DE" sz="2000" b="0" i="0" u="none" strike="noStrike" noProof="0">
                          <a:solidFill>
                            <a:srgbClr val="000000"/>
                          </a:solidFill>
                          <a:effectLst/>
                          <a:latin typeface="Calibri"/>
                        </a:rPr>
                        <a:t>α</a:t>
                      </a:r>
                      <a:r>
                        <a:rPr lang="de-DE" sz="2000" b="0" i="0" u="none" strike="noStrike" noProof="0" err="1">
                          <a:solidFill>
                            <a:srgbClr val="000000"/>
                          </a:solidFill>
                          <a:effectLst/>
                          <a:latin typeface="Calibri"/>
                        </a:rPr>
                        <a:t>σης</a:t>
                      </a:r>
                      <a:endParaRPr lang="de-DE" sz="2000" err="1">
                        <a:effectLst/>
                      </a:endParaRP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0</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1</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0</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0.33</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extLst>
                  <a:ext uri="{0D108BD9-81ED-4DB2-BD59-A6C34878D82A}">
                    <a16:rowId xmlns:a16="http://schemas.microsoft.com/office/drawing/2014/main" val="4169691469"/>
                  </a:ext>
                </a:extLst>
              </a:tr>
              <a:tr h="613233">
                <a:tc>
                  <a:txBody>
                    <a:bodyPr/>
                    <a:lstStyle/>
                    <a:p>
                      <a:pPr lvl="0" algn="ctr">
                        <a:buNone/>
                      </a:pPr>
                      <a:r>
                        <a:rPr lang="de-DE" sz="2000" b="1" i="0" u="none" strike="noStrike" noProof="0" err="1">
                          <a:solidFill>
                            <a:srgbClr val="000000"/>
                          </a:solidFill>
                          <a:effectLst/>
                          <a:latin typeface="Calibri"/>
                        </a:rPr>
                        <a:t>Κλάσμ</a:t>
                      </a:r>
                      <a:r>
                        <a:rPr lang="de-DE" sz="2000" b="1" i="0" u="none" strike="noStrike" noProof="0">
                          <a:solidFill>
                            <a:srgbClr val="000000"/>
                          </a:solidFill>
                          <a:effectLst/>
                          <a:latin typeface="Calibri"/>
                        </a:rPr>
                        <a:t>α </a:t>
                      </a:r>
                      <a:r>
                        <a:rPr lang="de-DE" sz="2000" b="1" i="0" u="none" strike="noStrike" noProof="0" err="1">
                          <a:solidFill>
                            <a:srgbClr val="000000"/>
                          </a:solidFill>
                          <a:effectLst/>
                          <a:latin typeface="Calibri"/>
                        </a:rPr>
                        <a:t>δι</a:t>
                      </a:r>
                      <a:r>
                        <a:rPr lang="de-DE" sz="2000" b="1" i="0" u="none" strike="noStrike" noProof="0">
                          <a:solidFill>
                            <a:srgbClr val="000000"/>
                          </a:solidFill>
                          <a:effectLst/>
                          <a:latin typeface="Calibri"/>
                        </a:rPr>
                        <a:t>α</a:t>
                      </a:r>
                      <a:r>
                        <a:rPr lang="de-DE" sz="2000" b="1" i="0" u="none" strike="noStrike" noProof="0" err="1">
                          <a:solidFill>
                            <a:srgbClr val="000000"/>
                          </a:solidFill>
                          <a:effectLst/>
                          <a:latin typeface="Calibri"/>
                        </a:rPr>
                        <a:t>χωρισμού</a:t>
                      </a:r>
                      <a:r>
                        <a:rPr lang="de-DE" sz="2000" b="1" i="0" u="none" strike="noStrike" noProof="0">
                          <a:solidFill>
                            <a:srgbClr val="000000"/>
                          </a:solidFill>
                          <a:effectLst/>
                          <a:latin typeface="Calibri"/>
                        </a:rPr>
                        <a:t> </a:t>
                      </a:r>
                      <a:r>
                        <a:rPr lang="de-DE" sz="2000" b="1" i="0" u="none" strike="noStrike" noProof="0" err="1">
                          <a:solidFill>
                            <a:srgbClr val="000000"/>
                          </a:solidFill>
                          <a:effectLst/>
                          <a:latin typeface="Calibri"/>
                        </a:rPr>
                        <a:t>στ</a:t>
                      </a:r>
                      <a:r>
                        <a:rPr lang="de-DE" sz="2000" b="1" i="0" u="none" strike="noStrike" noProof="0">
                          <a:solidFill>
                            <a:srgbClr val="000000"/>
                          </a:solidFill>
                          <a:effectLst/>
                          <a:latin typeface="Calibri"/>
                        </a:rPr>
                        <a:t>α</a:t>
                      </a:r>
                      <a:r>
                        <a:rPr lang="de-DE" sz="2000" b="1" i="0" u="none" strike="noStrike" noProof="0" err="1">
                          <a:solidFill>
                            <a:srgbClr val="000000"/>
                          </a:solidFill>
                          <a:effectLst/>
                          <a:latin typeface="Calibri"/>
                        </a:rPr>
                        <a:t>δίου</a:t>
                      </a:r>
                      <a:r>
                        <a:rPr lang="de-DE" sz="2000">
                          <a:effectLst/>
                        </a:rPr>
                        <a:t> 3</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lvl="0" algn="ctr">
                        <a:buNone/>
                      </a:pPr>
                      <a:r>
                        <a:rPr lang="de-DE" sz="2000" b="0" i="0" u="none" strike="noStrike" noProof="0" err="1">
                          <a:solidFill>
                            <a:srgbClr val="000000"/>
                          </a:solidFill>
                          <a:effectLst/>
                          <a:latin typeface="Calibri"/>
                        </a:rPr>
                        <a:t>Μετ</a:t>
                      </a:r>
                      <a:r>
                        <a:rPr lang="de-DE" sz="2000" b="0" i="0" u="none" strike="noStrike" noProof="0">
                          <a:solidFill>
                            <a:srgbClr val="000000"/>
                          </a:solidFill>
                          <a:effectLst/>
                          <a:latin typeface="Calibri"/>
                        </a:rPr>
                        <a:t>αβ</a:t>
                      </a:r>
                      <a:r>
                        <a:rPr lang="de-DE" sz="2000" b="0" i="0" u="none" strike="noStrike" noProof="0" err="1">
                          <a:solidFill>
                            <a:srgbClr val="000000"/>
                          </a:solidFill>
                          <a:effectLst/>
                          <a:latin typeface="Calibri"/>
                        </a:rPr>
                        <a:t>λητή</a:t>
                      </a:r>
                      <a:r>
                        <a:rPr lang="de-DE" sz="2000" b="0" i="0" u="none" strike="noStrike" noProof="0">
                          <a:solidFill>
                            <a:srgbClr val="000000"/>
                          </a:solidFill>
                          <a:effectLst/>
                          <a:latin typeface="Calibri"/>
                        </a:rPr>
                        <a:t> απ</a:t>
                      </a:r>
                      <a:r>
                        <a:rPr lang="de-DE" sz="2000" b="0" i="0" u="none" strike="noStrike" noProof="0" err="1">
                          <a:solidFill>
                            <a:srgbClr val="000000"/>
                          </a:solidFill>
                          <a:effectLst/>
                          <a:latin typeface="Calibri"/>
                        </a:rPr>
                        <a:t>όφ</a:t>
                      </a:r>
                      <a:r>
                        <a:rPr lang="de-DE" sz="2000" b="0" i="0" u="none" strike="noStrike" noProof="0">
                          <a:solidFill>
                            <a:srgbClr val="000000"/>
                          </a:solidFill>
                          <a:effectLst/>
                          <a:latin typeface="Calibri"/>
                        </a:rPr>
                        <a:t>α</a:t>
                      </a:r>
                      <a:r>
                        <a:rPr lang="de-DE" sz="2000" b="0" i="0" u="none" strike="noStrike" noProof="0" err="1">
                          <a:solidFill>
                            <a:srgbClr val="000000"/>
                          </a:solidFill>
                          <a:effectLst/>
                          <a:latin typeface="Calibri"/>
                        </a:rPr>
                        <a:t>σης</a:t>
                      </a:r>
                      <a:endParaRPr lang="de-DE" sz="2000" err="1">
                        <a:effectLst/>
                      </a:endParaRP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0</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1</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1</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0.33</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extLst>
                  <a:ext uri="{0D108BD9-81ED-4DB2-BD59-A6C34878D82A}">
                    <a16:rowId xmlns:a16="http://schemas.microsoft.com/office/drawing/2014/main" val="412688306"/>
                  </a:ext>
                </a:extLst>
              </a:tr>
              <a:tr h="313431">
                <a:tc>
                  <a:txBody>
                    <a:bodyPr/>
                    <a:lstStyle/>
                    <a:p>
                      <a:pPr lvl="0" algn="ctr">
                        <a:buNone/>
                      </a:pPr>
                      <a:r>
                        <a:rPr lang="de-DE" sz="2000" err="1">
                          <a:effectLst/>
                        </a:rPr>
                        <a:t>Κλάσμ</a:t>
                      </a:r>
                      <a:r>
                        <a:rPr lang="de-DE" sz="2000">
                          <a:effectLst/>
                        </a:rPr>
                        <a:t>α </a:t>
                      </a:r>
                      <a:r>
                        <a:rPr lang="de-DE" sz="2000" err="1">
                          <a:effectLst/>
                        </a:rPr>
                        <a:t>μάζ</a:t>
                      </a:r>
                      <a:r>
                        <a:rPr lang="de-DE" sz="2000">
                          <a:effectLst/>
                        </a:rPr>
                        <a:t>ας κα</a:t>
                      </a:r>
                      <a:r>
                        <a:rPr lang="de-DE" sz="2000" err="1">
                          <a:effectLst/>
                        </a:rPr>
                        <a:t>ζεϊνης</a:t>
                      </a:r>
                      <a:r>
                        <a:rPr lang="de-DE" sz="2000">
                          <a:effectLst/>
                        </a:rPr>
                        <a:t> </a:t>
                      </a:r>
                      <a:r>
                        <a:rPr lang="de-DE" sz="2000" err="1">
                          <a:effectLst/>
                        </a:rPr>
                        <a:t>στο</a:t>
                      </a:r>
                      <a:r>
                        <a:rPr lang="de-DE" sz="2000">
                          <a:effectLst/>
                        </a:rPr>
                        <a:t> </a:t>
                      </a:r>
                      <a:r>
                        <a:rPr lang="de-DE" sz="2000" err="1">
                          <a:effectLst/>
                        </a:rPr>
                        <a:t>συμ</a:t>
                      </a:r>
                      <a:r>
                        <a:rPr lang="de-DE" sz="2000">
                          <a:effectLst/>
                        </a:rPr>
                        <a:t>π</a:t>
                      </a:r>
                      <a:r>
                        <a:rPr lang="de-DE" sz="2000" err="1">
                          <a:effectLst/>
                        </a:rPr>
                        <a:t>ύκνωμ</a:t>
                      </a:r>
                      <a:r>
                        <a:rPr lang="de-DE" sz="2000">
                          <a:effectLst/>
                        </a:rPr>
                        <a:t>α</a:t>
                      </a:r>
                      <a:endParaRPr lang="de-DE"/>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err="1">
                          <a:effectLst/>
                        </a:rPr>
                        <a:t>Περιορισμός</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0.1 </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1</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0.14</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0.13</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extLst>
                  <a:ext uri="{0D108BD9-81ED-4DB2-BD59-A6C34878D82A}">
                    <a16:rowId xmlns:a16="http://schemas.microsoft.com/office/drawing/2014/main" val="1458012104"/>
                  </a:ext>
                </a:extLst>
              </a:tr>
            </a:tbl>
          </a:graphicData>
        </a:graphic>
      </p:graphicFrame>
      <p:sp>
        <p:nvSpPr>
          <p:cNvPr id="3" name="Textfeld 2">
            <a:extLst>
              <a:ext uri="{FF2B5EF4-FFF2-40B4-BE49-F238E27FC236}">
                <a16:creationId xmlns:a16="http://schemas.microsoft.com/office/drawing/2014/main" id="{8FDC9CE6-52A3-D02A-41A1-4D707F637E8E}"/>
              </a:ext>
            </a:extLst>
          </p:cNvPr>
          <p:cNvSpPr txBox="1"/>
          <p:nvPr/>
        </p:nvSpPr>
        <p:spPr>
          <a:xfrm>
            <a:off x="1666920" y="5997458"/>
            <a:ext cx="9176656"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aseline="0" dirty="0" err="1">
                <a:latin typeface="Calibri"/>
              </a:rPr>
              <a:t>Πίν</a:t>
            </a:r>
            <a:r>
              <a:rPr lang="en-US" sz="2000" baseline="0" dirty="0">
                <a:latin typeface="Calibri"/>
              </a:rPr>
              <a:t>ακας </a:t>
            </a:r>
            <a:r>
              <a:rPr lang="el-GR" sz="2000" baseline="0" dirty="0">
                <a:latin typeface="Calibri"/>
              </a:rPr>
              <a:t>3</a:t>
            </a:r>
            <a:r>
              <a:rPr lang="en-US" sz="2000" baseline="0" dirty="0">
                <a:latin typeface="Calibri"/>
              </a:rPr>
              <a:t>: </a:t>
            </a:r>
            <a:r>
              <a:rPr lang="en-US" sz="2000" dirty="0" err="1">
                <a:latin typeface="Calibri"/>
              </a:rPr>
              <a:t>Μετ</a:t>
            </a:r>
            <a:r>
              <a:rPr lang="en-US" sz="2000" dirty="0">
                <a:latin typeface="Calibri"/>
              </a:rPr>
              <a:t>αβλητές κατά τη βελτιστοποίηση του μοντέλου διήθησης με μεμβράνη, οι κατανομές τους, οι αρχικές και τελικές τους τιμές</a:t>
            </a:r>
            <a:endParaRPr lang="en-US" sz="2000" dirty="0">
              <a:ea typeface="Calibri" panose="020F0502020204030204"/>
              <a:cs typeface="Calibri" panose="020F0502020204030204"/>
            </a:endParaRPr>
          </a:p>
        </p:txBody>
      </p:sp>
      <p:sp>
        <p:nvSpPr>
          <p:cNvPr id="6" name="Rechteck: abgerundete Ecken 5">
            <a:extLst>
              <a:ext uri="{FF2B5EF4-FFF2-40B4-BE49-F238E27FC236}">
                <a16:creationId xmlns:a16="http://schemas.microsoft.com/office/drawing/2014/main" id="{2E81B6CC-CE20-4B9D-DC05-563569D15DF4}"/>
              </a:ext>
            </a:extLst>
          </p:cNvPr>
          <p:cNvSpPr/>
          <p:nvPr/>
        </p:nvSpPr>
        <p:spPr>
          <a:xfrm>
            <a:off x="11029361" y="2191500"/>
            <a:ext cx="810705" cy="1155015"/>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abgerundete Ecken 8">
            <a:extLst>
              <a:ext uri="{FF2B5EF4-FFF2-40B4-BE49-F238E27FC236}">
                <a16:creationId xmlns:a16="http://schemas.microsoft.com/office/drawing/2014/main" id="{86542BC8-AE51-167C-EF23-47F235F0041E}"/>
              </a:ext>
            </a:extLst>
          </p:cNvPr>
          <p:cNvSpPr/>
          <p:nvPr/>
        </p:nvSpPr>
        <p:spPr>
          <a:xfrm>
            <a:off x="7747629" y="4627591"/>
            <a:ext cx="628732" cy="587827"/>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5124090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A8E94-02A3-DB6C-FF65-4550068AFF8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6BD99F3-B8AA-BDE5-FD42-BEA3029C8B06}"/>
              </a:ext>
            </a:extLst>
          </p:cNvPr>
          <p:cNvSpPr>
            <a:spLocks noGrp="1"/>
          </p:cNvSpPr>
          <p:nvPr>
            <p:ph type="sldNum" sz="quarter" idx="12"/>
          </p:nvPr>
        </p:nvSpPr>
        <p:spPr/>
        <p:txBody>
          <a:bodyPr/>
          <a:lstStyle/>
          <a:p>
            <a:fld id="{48F63A3B-78C7-47BE-AE5E-E10140E04643}" type="slidenum">
              <a:rPr lang="en-US" smtClean="0"/>
              <a:t>19</a:t>
            </a:fld>
            <a:r>
              <a:rPr lang="en-US" dirty="0"/>
              <a:t>/</a:t>
            </a:r>
            <a:r>
              <a:rPr lang="el-GR" dirty="0"/>
              <a:t>2</a:t>
            </a:r>
            <a:r>
              <a:rPr lang="en-US" dirty="0"/>
              <a:t>2</a:t>
            </a:r>
          </a:p>
        </p:txBody>
      </p:sp>
      <p:sp>
        <p:nvSpPr>
          <p:cNvPr id="8" name="Title 1">
            <a:extLst>
              <a:ext uri="{FF2B5EF4-FFF2-40B4-BE49-F238E27FC236}">
                <a16:creationId xmlns:a16="http://schemas.microsoft.com/office/drawing/2014/main" id="{740222E9-7139-AE88-D708-B4D9BFDA7623}"/>
              </a:ext>
            </a:extLst>
          </p:cNvPr>
          <p:cNvSpPr txBox="1">
            <a:spLocks/>
          </p:cNvSpPr>
          <p:nvPr/>
        </p:nvSpPr>
        <p:spPr>
          <a:xfrm>
            <a:off x="103898" y="138893"/>
            <a:ext cx="12541326" cy="6868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dirty="0">
                <a:ea typeface="Calibri Light"/>
                <a:cs typeface="Calibri Light"/>
              </a:rPr>
              <a:t>6.3 </a:t>
            </a:r>
            <a:r>
              <a:rPr lang="en-US" sz="3100" dirty="0" err="1">
                <a:ea typeface="Calibri Light"/>
                <a:cs typeface="Calibri Light"/>
              </a:rPr>
              <a:t>Ολοκληρωμένο</a:t>
            </a:r>
            <a:r>
              <a:rPr lang="en-US" sz="3100" dirty="0">
                <a:ea typeface="Calibri Light"/>
                <a:cs typeface="Calibri Light"/>
              </a:rPr>
              <a:t> </a:t>
            </a:r>
            <a:r>
              <a:rPr lang="en-US" sz="3100" dirty="0" err="1">
                <a:ea typeface="Calibri Light"/>
                <a:cs typeface="Calibri Light"/>
              </a:rPr>
              <a:t>Μοντέλο-Βελτιστο</a:t>
            </a:r>
            <a:r>
              <a:rPr lang="en-US" sz="3100" dirty="0">
                <a:ea typeface="Calibri Light"/>
                <a:cs typeface="Calibri Light"/>
              </a:rPr>
              <a:t>ποίηση</a:t>
            </a:r>
          </a:p>
        </p:txBody>
      </p:sp>
      <p:graphicFrame>
        <p:nvGraphicFramePr>
          <p:cNvPr id="5" name="Tabelle 4">
            <a:extLst>
              <a:ext uri="{FF2B5EF4-FFF2-40B4-BE49-F238E27FC236}">
                <a16:creationId xmlns:a16="http://schemas.microsoft.com/office/drawing/2014/main" id="{FB88F352-B96D-0121-19CF-5196FFA65A6C}"/>
              </a:ext>
            </a:extLst>
          </p:cNvPr>
          <p:cNvGraphicFramePr>
            <a:graphicFrameLocks noGrp="1"/>
          </p:cNvGraphicFramePr>
          <p:nvPr>
            <p:extLst>
              <p:ext uri="{D42A27DB-BD31-4B8C-83A1-F6EECF244321}">
                <p14:modId xmlns:p14="http://schemas.microsoft.com/office/powerpoint/2010/main" val="3258026258"/>
              </p:ext>
            </p:extLst>
          </p:nvPr>
        </p:nvGraphicFramePr>
        <p:xfrm>
          <a:off x="103725" y="1130506"/>
          <a:ext cx="11928974" cy="4439127"/>
        </p:xfrm>
        <a:graphic>
          <a:graphicData uri="http://schemas.openxmlformats.org/drawingml/2006/table">
            <a:tbl>
              <a:tblPr firstRow="1" firstCol="1" bandRow="1">
                <a:tableStyleId>{69012ECD-51FC-41F1-AA8D-1B2483CD663E}</a:tableStyleId>
              </a:tblPr>
              <a:tblGrid>
                <a:gridCol w="3540124">
                  <a:extLst>
                    <a:ext uri="{9D8B030D-6E8A-4147-A177-3AD203B41FA5}">
                      <a16:colId xmlns:a16="http://schemas.microsoft.com/office/drawing/2014/main" val="1105387782"/>
                    </a:ext>
                  </a:extLst>
                </a:gridCol>
                <a:gridCol w="1784565">
                  <a:extLst>
                    <a:ext uri="{9D8B030D-6E8A-4147-A177-3AD203B41FA5}">
                      <a16:colId xmlns:a16="http://schemas.microsoft.com/office/drawing/2014/main" val="4248975382"/>
                    </a:ext>
                  </a:extLst>
                </a:gridCol>
                <a:gridCol w="793750">
                  <a:extLst>
                    <a:ext uri="{9D8B030D-6E8A-4147-A177-3AD203B41FA5}">
                      <a16:colId xmlns:a16="http://schemas.microsoft.com/office/drawing/2014/main" val="687664231"/>
                    </a:ext>
                  </a:extLst>
                </a:gridCol>
                <a:gridCol w="857244">
                  <a:extLst>
                    <a:ext uri="{9D8B030D-6E8A-4147-A177-3AD203B41FA5}">
                      <a16:colId xmlns:a16="http://schemas.microsoft.com/office/drawing/2014/main" val="1873999438"/>
                    </a:ext>
                  </a:extLst>
                </a:gridCol>
                <a:gridCol w="2049850">
                  <a:extLst>
                    <a:ext uri="{9D8B030D-6E8A-4147-A177-3AD203B41FA5}">
                      <a16:colId xmlns:a16="http://schemas.microsoft.com/office/drawing/2014/main" val="2033022175"/>
                    </a:ext>
                  </a:extLst>
                </a:gridCol>
                <a:gridCol w="1901535">
                  <a:extLst>
                    <a:ext uri="{9D8B030D-6E8A-4147-A177-3AD203B41FA5}">
                      <a16:colId xmlns:a16="http://schemas.microsoft.com/office/drawing/2014/main" val="2501130996"/>
                    </a:ext>
                  </a:extLst>
                </a:gridCol>
                <a:gridCol w="1001906">
                  <a:extLst>
                    <a:ext uri="{9D8B030D-6E8A-4147-A177-3AD203B41FA5}">
                      <a16:colId xmlns:a16="http://schemas.microsoft.com/office/drawing/2014/main" val="2422951579"/>
                    </a:ext>
                  </a:extLst>
                </a:gridCol>
              </a:tblGrid>
              <a:tr h="822542">
                <a:tc>
                  <a:txBody>
                    <a:bodyPr/>
                    <a:lstStyle/>
                    <a:p>
                      <a:pPr lvl="0" algn="ctr">
                        <a:buNone/>
                      </a:pPr>
                      <a:r>
                        <a:rPr lang="de-DE" sz="2000" dirty="0" err="1">
                          <a:effectLst/>
                        </a:rPr>
                        <a:t>Μετ</a:t>
                      </a:r>
                      <a:r>
                        <a:rPr lang="de-DE" sz="2000" dirty="0">
                          <a:effectLst/>
                        </a:rPr>
                        <a:t>αβ</a:t>
                      </a:r>
                      <a:r>
                        <a:rPr lang="de-DE" sz="2000" dirty="0" err="1">
                          <a:effectLst/>
                        </a:rPr>
                        <a:t>λητή</a:t>
                      </a:r>
                      <a:endParaRPr lang="de-DE" sz="2000" dirty="0">
                        <a:effectLst/>
                      </a:endParaRP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lvl="0" algn="ctr">
                        <a:buNone/>
                      </a:pPr>
                      <a:r>
                        <a:rPr lang="de-DE" sz="2000" dirty="0" err="1">
                          <a:effectLst/>
                        </a:rPr>
                        <a:t>Τύ</a:t>
                      </a:r>
                      <a:r>
                        <a:rPr lang="de-DE" sz="2000" dirty="0">
                          <a:effectLst/>
                        </a:rPr>
                        <a:t>π</a:t>
                      </a:r>
                      <a:r>
                        <a:rPr lang="de-DE" sz="2000" dirty="0" err="1">
                          <a:effectLst/>
                        </a:rPr>
                        <a:t>ος</a:t>
                      </a:r>
                      <a:endParaRPr lang="de-DE" sz="2000" dirty="0">
                        <a:effectLst/>
                      </a:endParaRP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lvl="0" algn="ctr">
                        <a:buNone/>
                      </a:pPr>
                      <a:r>
                        <a:rPr lang="de-DE" sz="2000" dirty="0" err="1">
                          <a:effectLst/>
                        </a:rPr>
                        <a:t>Κάτω</a:t>
                      </a:r>
                      <a:r>
                        <a:rPr lang="de-DE" sz="2000" dirty="0">
                          <a:effectLst/>
                        </a:rPr>
                        <a:t> </a:t>
                      </a:r>
                      <a:r>
                        <a:rPr lang="de-DE" sz="2000" dirty="0" err="1">
                          <a:effectLst/>
                        </a:rPr>
                        <a:t>όριο</a:t>
                      </a:r>
                      <a:endParaRPr lang="de-DE" sz="2000" dirty="0">
                        <a:effectLst/>
                      </a:endParaRP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lvl="0" algn="ctr">
                        <a:buNone/>
                      </a:pPr>
                      <a:r>
                        <a:rPr lang="de-DE" sz="2000" dirty="0" err="1">
                          <a:effectLst/>
                        </a:rPr>
                        <a:t>Άνω</a:t>
                      </a:r>
                      <a:r>
                        <a:rPr lang="de-DE" sz="2000" dirty="0">
                          <a:effectLst/>
                        </a:rPr>
                        <a:t> </a:t>
                      </a:r>
                      <a:r>
                        <a:rPr lang="de-DE" sz="2000" dirty="0" err="1">
                          <a:effectLst/>
                        </a:rPr>
                        <a:t>όριο</a:t>
                      </a:r>
                      <a:endParaRPr lang="de-DE" sz="2000" dirty="0">
                        <a:effectLst/>
                      </a:endParaRP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lvl="0" algn="ctr">
                        <a:buNone/>
                      </a:pPr>
                      <a:r>
                        <a:rPr lang="de-DE" sz="2000" dirty="0" err="1">
                          <a:effectLst/>
                        </a:rPr>
                        <a:t>Τιμή</a:t>
                      </a:r>
                      <a:r>
                        <a:rPr lang="de-DE" sz="2000" dirty="0">
                          <a:effectLst/>
                        </a:rPr>
                        <a:t> β</a:t>
                      </a:r>
                      <a:r>
                        <a:rPr lang="de-DE" sz="2000" dirty="0" err="1">
                          <a:effectLst/>
                        </a:rPr>
                        <a:t>ελτιστο</a:t>
                      </a:r>
                      <a:r>
                        <a:rPr lang="de-DE" sz="2000" dirty="0">
                          <a:effectLst/>
                        </a:rPr>
                        <a:t>π</a:t>
                      </a:r>
                      <a:r>
                        <a:rPr lang="de-DE" sz="2000" dirty="0" err="1">
                          <a:effectLst/>
                        </a:rPr>
                        <a:t>οίησης</a:t>
                      </a:r>
                      <a:endParaRPr lang="de-DE" sz="2000" dirty="0">
                        <a:effectLst/>
                      </a:endParaRP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lvl="0" algn="ctr">
                        <a:buNone/>
                      </a:pPr>
                      <a:r>
                        <a:rPr lang="de-DE" sz="2000" dirty="0" err="1">
                          <a:effectLst/>
                        </a:rPr>
                        <a:t>Τιμή</a:t>
                      </a:r>
                      <a:r>
                        <a:rPr lang="de-DE" sz="2000" dirty="0">
                          <a:effectLst/>
                        </a:rPr>
                        <a:t> π</a:t>
                      </a:r>
                      <a:r>
                        <a:rPr lang="de-DE" sz="2000" dirty="0" err="1">
                          <a:effectLst/>
                        </a:rPr>
                        <a:t>ριν</a:t>
                      </a:r>
                      <a:r>
                        <a:rPr lang="de-DE" sz="2000" dirty="0">
                          <a:effectLst/>
                        </a:rPr>
                        <a:t> </a:t>
                      </a:r>
                      <a:r>
                        <a:rPr lang="de-DE" sz="2000" dirty="0" err="1">
                          <a:effectLst/>
                        </a:rPr>
                        <a:t>τη</a:t>
                      </a:r>
                      <a:r>
                        <a:rPr lang="de-DE" sz="2000" dirty="0">
                          <a:effectLst/>
                        </a:rPr>
                        <a:t> β</a:t>
                      </a:r>
                      <a:r>
                        <a:rPr lang="de-DE" sz="2000" dirty="0" err="1">
                          <a:effectLst/>
                        </a:rPr>
                        <a:t>ελτιστο</a:t>
                      </a:r>
                      <a:r>
                        <a:rPr lang="de-DE" sz="2000" dirty="0">
                          <a:effectLst/>
                        </a:rPr>
                        <a:t>π</a:t>
                      </a:r>
                      <a:r>
                        <a:rPr lang="de-DE" sz="2000" dirty="0" err="1">
                          <a:effectLst/>
                        </a:rPr>
                        <a:t>οίηση</a:t>
                      </a:r>
                      <a:endParaRPr lang="de-DE" sz="2000" dirty="0">
                        <a:effectLst/>
                      </a:endParaRP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lvl="0" algn="ctr">
                        <a:buNone/>
                      </a:pPr>
                      <a:r>
                        <a:rPr lang="de-DE" sz="2000" err="1">
                          <a:effectLst/>
                        </a:rPr>
                        <a:t>Όφελος</a:t>
                      </a:r>
                      <a:endParaRPr lang="de-DE"/>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extLst>
                  <a:ext uri="{0D108BD9-81ED-4DB2-BD59-A6C34878D82A}">
                    <a16:rowId xmlns:a16="http://schemas.microsoft.com/office/drawing/2014/main" val="2831765191"/>
                  </a:ext>
                </a:extLst>
              </a:tr>
              <a:tr h="483849">
                <a:tc>
                  <a:txBody>
                    <a:bodyPr/>
                    <a:lstStyle/>
                    <a:p>
                      <a:pPr algn="ctr">
                        <a:buNone/>
                      </a:pPr>
                      <a:r>
                        <a:rPr lang="el-GR" sz="2000" dirty="0">
                          <a:effectLst/>
                        </a:rPr>
                        <a:t>Κέρδος </a:t>
                      </a:r>
                      <a:r>
                        <a:rPr lang="de-DE" sz="2000" dirty="0">
                          <a:effectLst/>
                        </a:rPr>
                        <a:t>(USD)</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3175" cap="flat" cmpd="sng" algn="ctr">
                      <a:solidFill>
                        <a:schemeClr val="accent1">
                          <a:lumMod val="60000"/>
                          <a:lumOff val="40000"/>
                        </a:schemeClr>
                      </a:solidFill>
                      <a:prstDash val="solid"/>
                      <a:round/>
                      <a:headEnd type="none" w="med" len="med"/>
                      <a:tailEnd type="none" w="med" len="med"/>
                    </a:lnT>
                    <a:lnB w="12700">
                      <a:solidFill>
                        <a:schemeClr val="accent1">
                          <a:lumMod val="60000"/>
                          <a:lumOff val="40000"/>
                        </a:schemeClr>
                      </a:solidFill>
                    </a:lnB>
                  </a:tcPr>
                </a:tc>
                <a:tc>
                  <a:txBody>
                    <a:bodyPr/>
                    <a:lstStyle/>
                    <a:p>
                      <a:pPr lvl="0" algn="ctr">
                        <a:buNone/>
                      </a:pPr>
                      <a:r>
                        <a:rPr lang="de-DE" sz="2000" dirty="0" err="1">
                          <a:effectLst/>
                        </a:rPr>
                        <a:t>Αντικειμενική</a:t>
                      </a:r>
                      <a:r>
                        <a:rPr lang="de-DE" sz="2000" dirty="0">
                          <a:effectLst/>
                        </a:rPr>
                        <a:t> </a:t>
                      </a:r>
                      <a:r>
                        <a:rPr lang="de-DE" sz="2000" dirty="0" err="1">
                          <a:effectLst/>
                        </a:rPr>
                        <a:t>συνάρτηση</a:t>
                      </a:r>
                      <a:endParaRPr lang="de-DE" dirty="0" err="1"/>
                    </a:p>
                  </a:txBody>
                  <a:tcPr marL="66675" marR="66675" marT="0" marB="0" anchor="ctr">
                    <a:lnL w="12700">
                      <a:solidFill>
                        <a:schemeClr val="accent1">
                          <a:lumMod val="60000"/>
                          <a:lumOff val="40000"/>
                        </a:schemeClr>
                      </a:solidFill>
                    </a:lnL>
                    <a:lnR w="12700">
                      <a:solidFill>
                        <a:schemeClr val="accent1">
                          <a:lumMod val="60000"/>
                          <a:lumOff val="40000"/>
                        </a:schemeClr>
                      </a:solidFill>
                    </a:lnR>
                    <a:lnT w="3175" cap="flat" cmpd="sng" algn="ctr">
                      <a:solidFill>
                        <a:schemeClr val="accent1">
                          <a:lumMod val="60000"/>
                          <a:lumOff val="40000"/>
                        </a:schemeClr>
                      </a:solidFill>
                      <a:prstDash val="solid"/>
                      <a:round/>
                      <a:headEnd type="none" w="med" len="med"/>
                      <a:tailEnd type="none" w="med" len="med"/>
                    </a:lnT>
                    <a:lnB w="12700">
                      <a:solidFill>
                        <a:schemeClr val="accent1">
                          <a:lumMod val="60000"/>
                          <a:lumOff val="40000"/>
                        </a:schemeClr>
                      </a:solidFill>
                    </a:lnB>
                  </a:tcPr>
                </a:tc>
                <a:tc>
                  <a:txBody>
                    <a:bodyPr/>
                    <a:lstStyle/>
                    <a:p>
                      <a:pPr algn="ctr">
                        <a:buNone/>
                      </a:pPr>
                      <a:r>
                        <a:rPr lang="de-DE" sz="2000" dirty="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3175" cap="flat" cmpd="sng" algn="ctr">
                      <a:solidFill>
                        <a:schemeClr val="accent1">
                          <a:lumMod val="60000"/>
                          <a:lumOff val="40000"/>
                        </a:schemeClr>
                      </a:solidFill>
                      <a:prstDash val="solid"/>
                      <a:round/>
                      <a:headEnd type="none" w="med" len="med"/>
                      <a:tailEnd type="none" w="med" len="med"/>
                    </a:lnT>
                    <a:lnB w="12700">
                      <a:solidFill>
                        <a:schemeClr val="accent1">
                          <a:lumMod val="60000"/>
                          <a:lumOff val="40000"/>
                        </a:schemeClr>
                      </a:solidFill>
                    </a:lnB>
                  </a:tcPr>
                </a:tc>
                <a:tc>
                  <a:txBody>
                    <a:bodyPr/>
                    <a:lstStyle/>
                    <a:p>
                      <a:pPr algn="ctr">
                        <a:buNone/>
                      </a:pPr>
                      <a:r>
                        <a:rPr lang="de-DE" sz="2000" dirty="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3175" cap="flat" cmpd="sng" algn="ctr">
                      <a:solidFill>
                        <a:schemeClr val="accent1">
                          <a:lumMod val="60000"/>
                          <a:lumOff val="40000"/>
                        </a:schemeClr>
                      </a:solidFill>
                      <a:prstDash val="solid"/>
                      <a:round/>
                      <a:headEnd type="none" w="med" len="med"/>
                      <a:tailEnd type="none" w="med" len="med"/>
                    </a:lnT>
                    <a:lnB w="12700">
                      <a:solidFill>
                        <a:schemeClr val="accent1">
                          <a:lumMod val="60000"/>
                          <a:lumOff val="40000"/>
                        </a:schemeClr>
                      </a:solidFill>
                    </a:lnB>
                  </a:tcPr>
                </a:tc>
                <a:tc>
                  <a:txBody>
                    <a:bodyPr/>
                    <a:lstStyle/>
                    <a:p>
                      <a:pPr algn="ctr">
                        <a:buNone/>
                      </a:pPr>
                      <a:r>
                        <a:rPr lang="el-GR" sz="2000" dirty="0">
                          <a:effectLst/>
                        </a:rPr>
                        <a:t>3196</a:t>
                      </a:r>
                      <a:endParaRPr lang="de-DE" sz="2000" dirty="0">
                        <a:effectLst/>
                      </a:endParaRPr>
                    </a:p>
                  </a:txBody>
                  <a:tcPr marL="66675" marR="66675" marT="0" marB="0" anchor="ctr">
                    <a:lnL w="12700">
                      <a:solidFill>
                        <a:schemeClr val="accent1">
                          <a:lumMod val="60000"/>
                          <a:lumOff val="40000"/>
                        </a:schemeClr>
                      </a:solidFill>
                    </a:lnL>
                    <a:lnR w="12700">
                      <a:solidFill>
                        <a:schemeClr val="accent1">
                          <a:lumMod val="60000"/>
                          <a:lumOff val="40000"/>
                        </a:schemeClr>
                      </a:solidFill>
                    </a:lnR>
                    <a:lnT w="3175" cap="flat" cmpd="sng" algn="ctr">
                      <a:solidFill>
                        <a:schemeClr val="accent1">
                          <a:lumMod val="60000"/>
                          <a:lumOff val="40000"/>
                        </a:schemeClr>
                      </a:solidFill>
                      <a:prstDash val="solid"/>
                      <a:round/>
                      <a:headEnd type="none" w="med" len="med"/>
                      <a:tailEnd type="none" w="med" len="med"/>
                    </a:lnT>
                    <a:lnB w="12700">
                      <a:solidFill>
                        <a:schemeClr val="accent1">
                          <a:lumMod val="60000"/>
                          <a:lumOff val="40000"/>
                        </a:schemeClr>
                      </a:solidFill>
                    </a:lnB>
                  </a:tcPr>
                </a:tc>
                <a:tc>
                  <a:txBody>
                    <a:bodyPr/>
                    <a:lstStyle/>
                    <a:p>
                      <a:pPr algn="ctr">
                        <a:buNone/>
                      </a:pPr>
                      <a:r>
                        <a:rPr lang="el-GR" sz="2000" dirty="0">
                          <a:effectLst/>
                        </a:rPr>
                        <a:t>2908</a:t>
                      </a:r>
                      <a:endParaRPr lang="de-DE" sz="2000" dirty="0">
                        <a:effectLst/>
                      </a:endParaRPr>
                    </a:p>
                  </a:txBody>
                  <a:tcPr marL="66675" marR="66675" marT="0" marB="0" anchor="ctr">
                    <a:lnL w="12700">
                      <a:solidFill>
                        <a:schemeClr val="accent1">
                          <a:lumMod val="60000"/>
                          <a:lumOff val="40000"/>
                        </a:schemeClr>
                      </a:solidFill>
                    </a:lnL>
                    <a:lnR w="12700">
                      <a:solidFill>
                        <a:schemeClr val="accent1">
                          <a:lumMod val="60000"/>
                          <a:lumOff val="40000"/>
                        </a:schemeClr>
                      </a:solidFill>
                    </a:lnR>
                    <a:lnT w="3175" cap="flat" cmpd="sng" algn="ctr">
                      <a:solidFill>
                        <a:schemeClr val="accent1">
                          <a:lumMod val="60000"/>
                          <a:lumOff val="40000"/>
                        </a:schemeClr>
                      </a:solidFill>
                      <a:prstDash val="solid"/>
                      <a:round/>
                      <a:headEnd type="none" w="med" len="med"/>
                      <a:tailEnd type="none" w="med" len="med"/>
                    </a:lnT>
                    <a:lnB w="12700">
                      <a:solidFill>
                        <a:schemeClr val="accent1">
                          <a:lumMod val="60000"/>
                          <a:lumOff val="40000"/>
                        </a:schemeClr>
                      </a:solidFill>
                    </a:lnB>
                  </a:tcPr>
                </a:tc>
                <a:tc>
                  <a:txBody>
                    <a:bodyPr/>
                    <a:lstStyle/>
                    <a:p>
                      <a:pPr algn="ctr">
                        <a:buNone/>
                      </a:pPr>
                      <a:r>
                        <a:rPr lang="el-GR" sz="2000" dirty="0">
                          <a:effectLst/>
                        </a:rPr>
                        <a:t>9</a:t>
                      </a:r>
                      <a:r>
                        <a:rPr lang="de-DE" sz="2000" dirty="0">
                          <a:effectLst/>
                        </a:rPr>
                        <a:t>.9%</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3175" cap="flat" cmpd="sng" algn="ctr">
                      <a:solidFill>
                        <a:schemeClr val="accent1">
                          <a:lumMod val="60000"/>
                          <a:lumOff val="40000"/>
                        </a:schemeClr>
                      </a:solidFill>
                      <a:prstDash val="solid"/>
                      <a:round/>
                      <a:headEnd type="none" w="med" len="med"/>
                      <a:tailEnd type="none" w="med" len="med"/>
                    </a:lnT>
                    <a:lnB w="12700">
                      <a:solidFill>
                        <a:schemeClr val="accent1">
                          <a:lumMod val="60000"/>
                          <a:lumOff val="40000"/>
                        </a:schemeClr>
                      </a:solidFill>
                    </a:lnB>
                  </a:tcPr>
                </a:tc>
                <a:extLst>
                  <a:ext uri="{0D108BD9-81ED-4DB2-BD59-A6C34878D82A}">
                    <a16:rowId xmlns:a16="http://schemas.microsoft.com/office/drawing/2014/main" val="1727064412"/>
                  </a:ext>
                </a:extLst>
              </a:tr>
              <a:tr h="568585">
                <a:tc>
                  <a:txBody>
                    <a:bodyPr/>
                    <a:lstStyle/>
                    <a:p>
                      <a:pPr algn="ctr">
                        <a:buNone/>
                      </a:pPr>
                      <a:r>
                        <a:rPr lang="de-DE" sz="2000" dirty="0" err="1">
                          <a:effectLst/>
                        </a:rPr>
                        <a:t>Ροή</a:t>
                      </a:r>
                      <a:r>
                        <a:rPr lang="de-DE" sz="2000" dirty="0">
                          <a:effectLst/>
                        </a:rPr>
                        <a:t> </a:t>
                      </a:r>
                      <a:r>
                        <a:rPr lang="de-DE" sz="2000" dirty="0" err="1">
                          <a:effectLst/>
                        </a:rPr>
                        <a:t>συμ</a:t>
                      </a:r>
                      <a:r>
                        <a:rPr lang="de-DE" sz="2000" dirty="0">
                          <a:effectLst/>
                        </a:rPr>
                        <a:t>π</a:t>
                      </a:r>
                      <a:r>
                        <a:rPr lang="de-DE" sz="2000" dirty="0" err="1">
                          <a:effectLst/>
                        </a:rPr>
                        <a:t>υκνώμ</a:t>
                      </a:r>
                      <a:r>
                        <a:rPr lang="de-DE" sz="2000" dirty="0">
                          <a:effectLst/>
                        </a:rPr>
                        <a:t>α</a:t>
                      </a:r>
                      <a:r>
                        <a:rPr lang="de-DE" sz="2000" dirty="0" err="1">
                          <a:effectLst/>
                        </a:rPr>
                        <a:t>τος</a:t>
                      </a:r>
                      <a:r>
                        <a:rPr lang="de-DE" sz="2000" dirty="0">
                          <a:effectLst/>
                        </a:rPr>
                        <a:t> (kg h</a:t>
                      </a:r>
                      <a:r>
                        <a:rPr lang="de-DE" sz="2000" baseline="30000" dirty="0">
                          <a:effectLst/>
                        </a:rPr>
                        <a:t>-1</a:t>
                      </a:r>
                      <a:r>
                        <a:rPr lang="de-DE" sz="2000" dirty="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el-GR" sz="2000" dirty="0">
                          <a:effectLst/>
                        </a:rPr>
                        <a:t>5</a:t>
                      </a:r>
                      <a:r>
                        <a:rPr lang="de-DE" sz="2000" dirty="0">
                          <a:effectLst/>
                        </a:rPr>
                        <a:t>4</a:t>
                      </a:r>
                      <a:r>
                        <a:rPr lang="el-GR" sz="2000" dirty="0">
                          <a:effectLst/>
                        </a:rPr>
                        <a:t>0</a:t>
                      </a:r>
                      <a:endParaRPr lang="de-DE" sz="2000" dirty="0">
                        <a:effectLst/>
                      </a:endParaRP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el-GR" sz="2000" dirty="0">
                          <a:effectLst/>
                        </a:rPr>
                        <a:t>503</a:t>
                      </a:r>
                      <a:endParaRPr lang="de-DE" sz="2000" dirty="0">
                        <a:effectLst/>
                      </a:endParaRP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el-GR" sz="2000" dirty="0">
                          <a:effectLst/>
                        </a:rPr>
                        <a:t>7.4</a:t>
                      </a:r>
                      <a:r>
                        <a:rPr lang="de-DE" sz="2000" dirty="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extLst>
                  <a:ext uri="{0D108BD9-81ED-4DB2-BD59-A6C34878D82A}">
                    <a16:rowId xmlns:a16="http://schemas.microsoft.com/office/drawing/2014/main" val="4084128811"/>
                  </a:ext>
                </a:extLst>
              </a:tr>
              <a:tr h="483849">
                <a:tc>
                  <a:txBody>
                    <a:bodyPr/>
                    <a:lstStyle/>
                    <a:p>
                      <a:pPr algn="ctr">
                        <a:buNone/>
                      </a:pPr>
                      <a:r>
                        <a:rPr lang="de-DE" sz="2000" dirty="0" err="1">
                          <a:effectLst/>
                        </a:rPr>
                        <a:t>Ροή</a:t>
                      </a:r>
                      <a:r>
                        <a:rPr lang="de-DE" sz="2000" dirty="0">
                          <a:effectLst/>
                        </a:rPr>
                        <a:t> </a:t>
                      </a:r>
                      <a:r>
                        <a:rPr lang="de-DE" sz="2000" dirty="0" err="1">
                          <a:effectLst/>
                        </a:rPr>
                        <a:t>τροφοδοσί</a:t>
                      </a:r>
                      <a:r>
                        <a:rPr lang="de-DE" sz="2000" dirty="0">
                          <a:effectLst/>
                        </a:rPr>
                        <a:t>ας (kg h</a:t>
                      </a:r>
                      <a:r>
                        <a:rPr lang="de-DE" sz="2000" baseline="30000" dirty="0">
                          <a:effectLst/>
                        </a:rPr>
                        <a:t>-1</a:t>
                      </a:r>
                      <a:r>
                        <a:rPr lang="de-DE" sz="2000" dirty="0">
                          <a:effectLst/>
                        </a:rPr>
                        <a:t>)</a:t>
                      </a:r>
                    </a:p>
                  </a:txBody>
                  <a:tcPr marL="66675" marR="66675" marT="0" marB="0" anchor="ctr">
                    <a:lnL w="12700">
                      <a:solidFill>
                        <a:schemeClr val="accent1">
                          <a:lumMod val="60000"/>
                          <a:lumOff val="40000"/>
                        </a:schemeClr>
                      </a:solidFill>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a:solidFill>
                        <a:schemeClr val="accent1">
                          <a:lumMod val="60000"/>
                          <a:lumOff val="40000"/>
                        </a:schemeClr>
                      </a:solidFill>
                    </a:lnB>
                  </a:tcPr>
                </a:tc>
                <a:tc>
                  <a:txBody>
                    <a:bodyPr/>
                    <a:lstStyle/>
                    <a:p>
                      <a:pPr algn="ctr">
                        <a:buNone/>
                      </a:pPr>
                      <a:r>
                        <a:rPr lang="de-DE" sz="2000" dirty="0" err="1">
                          <a:effectLst/>
                        </a:rPr>
                        <a:t>Μετ</a:t>
                      </a:r>
                      <a:r>
                        <a:rPr lang="de-DE" sz="2000" dirty="0">
                          <a:effectLst/>
                        </a:rPr>
                        <a:t>αβ</a:t>
                      </a:r>
                      <a:r>
                        <a:rPr lang="de-DE" sz="2000" dirty="0" err="1">
                          <a:effectLst/>
                        </a:rPr>
                        <a:t>λητή</a:t>
                      </a:r>
                      <a:r>
                        <a:rPr lang="de-DE" sz="2000" dirty="0">
                          <a:effectLst/>
                        </a:rPr>
                        <a:t> απ</a:t>
                      </a:r>
                      <a:r>
                        <a:rPr lang="de-DE" sz="2000" dirty="0" err="1">
                          <a:effectLst/>
                        </a:rPr>
                        <a:t>όφ</a:t>
                      </a:r>
                      <a:r>
                        <a:rPr lang="de-DE" sz="2000" dirty="0">
                          <a:effectLst/>
                        </a:rPr>
                        <a:t>α</a:t>
                      </a:r>
                      <a:r>
                        <a:rPr lang="de-DE" sz="2000" dirty="0" err="1">
                          <a:effectLst/>
                        </a:rPr>
                        <a:t>σης</a:t>
                      </a:r>
                    </a:p>
                  </a:txBody>
                  <a:tcPr marL="66675" marR="66675"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a:solidFill>
                        <a:schemeClr val="accent1">
                          <a:lumMod val="60000"/>
                          <a:lumOff val="40000"/>
                        </a:schemeClr>
                      </a:solidFill>
                    </a:lnB>
                  </a:tcPr>
                </a:tc>
                <a:tc>
                  <a:txBody>
                    <a:bodyPr/>
                    <a:lstStyle/>
                    <a:p>
                      <a:pPr algn="ctr">
                        <a:buNone/>
                      </a:pPr>
                      <a:r>
                        <a:rPr lang="el-GR" sz="2000" dirty="0">
                          <a:effectLst/>
                        </a:rPr>
                        <a:t>17</a:t>
                      </a:r>
                      <a:r>
                        <a:rPr lang="de-DE" sz="2000" dirty="0">
                          <a:effectLst/>
                        </a:rPr>
                        <a:t>00</a:t>
                      </a:r>
                    </a:p>
                  </a:txBody>
                  <a:tcPr marL="66675" marR="66675"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a:solidFill>
                        <a:schemeClr val="accent1">
                          <a:lumMod val="60000"/>
                          <a:lumOff val="40000"/>
                        </a:schemeClr>
                      </a:solidFill>
                    </a:lnB>
                  </a:tcPr>
                </a:tc>
                <a:tc>
                  <a:txBody>
                    <a:bodyPr/>
                    <a:lstStyle/>
                    <a:p>
                      <a:pPr algn="ctr">
                        <a:buNone/>
                      </a:pPr>
                      <a:r>
                        <a:rPr lang="de-DE" sz="2000" dirty="0">
                          <a:effectLst/>
                        </a:rPr>
                        <a:t>2</a:t>
                      </a:r>
                      <a:r>
                        <a:rPr lang="el-GR" sz="2000" dirty="0">
                          <a:effectLst/>
                        </a:rPr>
                        <a:t>7</a:t>
                      </a:r>
                      <a:r>
                        <a:rPr lang="de-DE" sz="2000" dirty="0">
                          <a:effectLst/>
                        </a:rPr>
                        <a:t>00</a:t>
                      </a:r>
                    </a:p>
                  </a:txBody>
                  <a:tcPr marL="66675" marR="66675"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a:solidFill>
                        <a:schemeClr val="accent1">
                          <a:lumMod val="60000"/>
                          <a:lumOff val="40000"/>
                        </a:schemeClr>
                      </a:solidFill>
                    </a:lnB>
                  </a:tcPr>
                </a:tc>
                <a:tc>
                  <a:txBody>
                    <a:bodyPr/>
                    <a:lstStyle/>
                    <a:p>
                      <a:pPr algn="ctr">
                        <a:buNone/>
                      </a:pPr>
                      <a:r>
                        <a:rPr lang="el-GR" sz="2000" dirty="0">
                          <a:effectLst/>
                        </a:rPr>
                        <a:t>2700</a:t>
                      </a:r>
                      <a:endParaRPr lang="de-DE" sz="2000" dirty="0">
                        <a:effectLst/>
                      </a:endParaRPr>
                    </a:p>
                  </a:txBody>
                  <a:tcPr marL="66675" marR="66675"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a:solidFill>
                        <a:schemeClr val="accent1">
                          <a:lumMod val="60000"/>
                          <a:lumOff val="40000"/>
                        </a:schemeClr>
                      </a:solidFill>
                    </a:lnB>
                  </a:tcPr>
                </a:tc>
                <a:tc>
                  <a:txBody>
                    <a:bodyPr/>
                    <a:lstStyle/>
                    <a:p>
                      <a:pPr algn="ctr">
                        <a:buNone/>
                      </a:pPr>
                      <a:r>
                        <a:rPr lang="el-GR" sz="2000" dirty="0">
                          <a:effectLst/>
                        </a:rPr>
                        <a:t>25</a:t>
                      </a:r>
                      <a:r>
                        <a:rPr lang="de-DE" sz="2000" dirty="0">
                          <a:effectLst/>
                        </a:rPr>
                        <a:t>00</a:t>
                      </a:r>
                    </a:p>
                  </a:txBody>
                  <a:tcPr marL="66675" marR="66675"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a:solidFill>
                        <a:schemeClr val="accent1">
                          <a:lumMod val="60000"/>
                          <a:lumOff val="40000"/>
                        </a:schemeClr>
                      </a:solidFill>
                    </a:lnB>
                  </a:tcPr>
                </a:tc>
                <a:tc>
                  <a:txBody>
                    <a:bodyPr/>
                    <a:lstStyle/>
                    <a:p>
                      <a:pPr algn="ctr">
                        <a:buNone/>
                      </a:pPr>
                      <a:r>
                        <a:rPr lang="de-DE" sz="2000" dirty="0">
                          <a:effectLst/>
                        </a:rPr>
                        <a:t>-</a:t>
                      </a:r>
                    </a:p>
                  </a:txBody>
                  <a:tcPr marL="66675" marR="66675" marT="0" marB="0" anchor="ctr">
                    <a:lnL w="12700" cap="flat" cmpd="sng" algn="ctr">
                      <a:solidFill>
                        <a:schemeClr val="accent1">
                          <a:lumMod val="60000"/>
                          <a:lumOff val="40000"/>
                        </a:schemeClr>
                      </a:solidFill>
                      <a:prstDash val="solid"/>
                      <a:round/>
                      <a:headEnd type="none" w="med" len="med"/>
                      <a:tailEnd type="none" w="med" len="med"/>
                    </a:lnL>
                    <a:lnR w="12700">
                      <a:solidFill>
                        <a:schemeClr val="accent1">
                          <a:lumMod val="60000"/>
                          <a:lumOff val="40000"/>
                        </a:schemeClr>
                      </a:solidFill>
                    </a:lnR>
                    <a:lnT w="12700" cap="flat" cmpd="sng" algn="ctr">
                      <a:solidFill>
                        <a:schemeClr val="accent1">
                          <a:lumMod val="60000"/>
                          <a:lumOff val="40000"/>
                        </a:schemeClr>
                      </a:solidFill>
                      <a:prstDash val="solid"/>
                      <a:round/>
                      <a:headEnd type="none" w="med" len="med"/>
                      <a:tailEnd type="none" w="med" len="med"/>
                    </a:lnT>
                    <a:lnB w="12700">
                      <a:solidFill>
                        <a:schemeClr val="accent1">
                          <a:lumMod val="60000"/>
                          <a:lumOff val="40000"/>
                        </a:schemeClr>
                      </a:solidFill>
                    </a:lnB>
                  </a:tcPr>
                </a:tc>
                <a:extLst>
                  <a:ext uri="{0D108BD9-81ED-4DB2-BD59-A6C34878D82A}">
                    <a16:rowId xmlns:a16="http://schemas.microsoft.com/office/drawing/2014/main" val="78256653"/>
                  </a:ext>
                </a:extLst>
              </a:tr>
              <a:tr h="495944">
                <a:tc>
                  <a:txBody>
                    <a:bodyPr/>
                    <a:lstStyle/>
                    <a:p>
                      <a:pPr algn="ctr">
                        <a:buNone/>
                      </a:pPr>
                      <a:r>
                        <a:rPr lang="de-DE" sz="2000" dirty="0" err="1">
                          <a:effectLst/>
                        </a:rPr>
                        <a:t>Ροή</a:t>
                      </a:r>
                      <a:r>
                        <a:rPr lang="de-DE" sz="2000" dirty="0">
                          <a:effectLst/>
                        </a:rPr>
                        <a:t> </a:t>
                      </a:r>
                      <a:r>
                        <a:rPr lang="de-DE" sz="2000" dirty="0" err="1">
                          <a:effectLst/>
                        </a:rPr>
                        <a:t>νερού</a:t>
                      </a:r>
                      <a:r>
                        <a:rPr lang="de-DE" sz="2000" dirty="0">
                          <a:effectLst/>
                        </a:rPr>
                        <a:t> </a:t>
                      </a:r>
                      <a:r>
                        <a:rPr lang="de-DE" sz="2000" dirty="0" err="1">
                          <a:effectLst/>
                        </a:rPr>
                        <a:t>θέρμ</a:t>
                      </a:r>
                      <a:r>
                        <a:rPr lang="de-DE" sz="2000" dirty="0">
                          <a:effectLst/>
                        </a:rPr>
                        <a:t>α</a:t>
                      </a:r>
                      <a:r>
                        <a:rPr lang="de-DE" sz="2000" dirty="0" err="1">
                          <a:effectLst/>
                        </a:rPr>
                        <a:t>νσης</a:t>
                      </a:r>
                      <a:r>
                        <a:rPr lang="de-DE" sz="2000" dirty="0">
                          <a:effectLst/>
                        </a:rPr>
                        <a:t> (kg h</a:t>
                      </a:r>
                      <a:r>
                        <a:rPr lang="de-DE" sz="2000" baseline="30000" dirty="0">
                          <a:effectLst/>
                        </a:rPr>
                        <a:t>-1</a:t>
                      </a:r>
                      <a:r>
                        <a:rPr lang="de-DE" sz="2000" dirty="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lvl="0" algn="ctr">
                        <a:buNone/>
                      </a:pPr>
                      <a:r>
                        <a:rPr lang="de-DE" sz="2000" b="0" i="0" u="none" strike="noStrike" noProof="0" dirty="0" err="1">
                          <a:solidFill>
                            <a:srgbClr val="000000"/>
                          </a:solidFill>
                          <a:effectLst/>
                          <a:latin typeface="Calibri"/>
                        </a:rPr>
                        <a:t>Μετ</a:t>
                      </a:r>
                      <a:r>
                        <a:rPr lang="de-DE" sz="2000" b="0" i="0" u="none" strike="noStrike" noProof="0" dirty="0">
                          <a:solidFill>
                            <a:srgbClr val="000000"/>
                          </a:solidFill>
                          <a:effectLst/>
                          <a:latin typeface="Calibri"/>
                        </a:rPr>
                        <a:t>αβ</a:t>
                      </a:r>
                      <a:r>
                        <a:rPr lang="de-DE" sz="2000" b="0" i="0" u="none" strike="noStrike" noProof="0" dirty="0" err="1">
                          <a:solidFill>
                            <a:srgbClr val="000000"/>
                          </a:solidFill>
                          <a:effectLst/>
                          <a:latin typeface="Calibri"/>
                        </a:rPr>
                        <a:t>λητή</a:t>
                      </a:r>
                      <a:r>
                        <a:rPr lang="de-DE" sz="2000" b="0" i="0" u="none" strike="noStrike" noProof="0" dirty="0">
                          <a:solidFill>
                            <a:srgbClr val="000000"/>
                          </a:solidFill>
                          <a:effectLst/>
                          <a:latin typeface="Calibri"/>
                        </a:rPr>
                        <a:t> απ</a:t>
                      </a:r>
                      <a:r>
                        <a:rPr lang="de-DE" sz="2000" b="0" i="0" u="none" strike="noStrike" noProof="0" dirty="0" err="1">
                          <a:solidFill>
                            <a:srgbClr val="000000"/>
                          </a:solidFill>
                          <a:effectLst/>
                          <a:latin typeface="Calibri"/>
                        </a:rPr>
                        <a:t>όφ</a:t>
                      </a:r>
                      <a:r>
                        <a:rPr lang="de-DE" sz="2000" b="0" i="0" u="none" strike="noStrike" noProof="0" dirty="0">
                          <a:solidFill>
                            <a:srgbClr val="000000"/>
                          </a:solidFill>
                          <a:effectLst/>
                          <a:latin typeface="Calibri"/>
                        </a:rPr>
                        <a:t>α</a:t>
                      </a:r>
                      <a:r>
                        <a:rPr lang="de-DE" sz="2000" b="0" i="0" u="none" strike="noStrike" noProof="0" dirty="0" err="1">
                          <a:solidFill>
                            <a:srgbClr val="000000"/>
                          </a:solidFill>
                          <a:effectLst/>
                          <a:latin typeface="Calibri"/>
                        </a:rPr>
                        <a:t>σης</a:t>
                      </a:r>
                      <a:endParaRPr lang="de-DE" sz="2000" dirty="0" err="1">
                        <a:effectLst/>
                      </a:endParaRP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el-GR" sz="2000" dirty="0">
                          <a:effectLst/>
                        </a:rPr>
                        <a:t>1</a:t>
                      </a:r>
                      <a:r>
                        <a:rPr lang="de-DE" sz="2000" dirty="0">
                          <a:effectLst/>
                        </a:rPr>
                        <a:t>000</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9000</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el-GR" sz="2000" dirty="0">
                          <a:effectLst/>
                        </a:rPr>
                        <a:t>2169</a:t>
                      </a:r>
                      <a:endParaRPr lang="de-DE" sz="2000" dirty="0">
                        <a:effectLst/>
                      </a:endParaRP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el-GR" sz="2000" dirty="0">
                          <a:effectLst/>
                        </a:rPr>
                        <a:t>1985</a:t>
                      </a:r>
                      <a:endParaRPr lang="de-DE" sz="2000" dirty="0">
                        <a:effectLst/>
                      </a:endParaRP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extLst>
                  <a:ext uri="{0D108BD9-81ED-4DB2-BD59-A6C34878D82A}">
                    <a16:rowId xmlns:a16="http://schemas.microsoft.com/office/drawing/2014/main" val="438163168"/>
                  </a:ext>
                </a:extLst>
              </a:tr>
              <a:tr h="483849">
                <a:tc>
                  <a:txBody>
                    <a:bodyPr/>
                    <a:lstStyle/>
                    <a:p>
                      <a:pPr algn="ctr">
                        <a:buNone/>
                      </a:pPr>
                      <a:r>
                        <a:rPr lang="de-DE" sz="2000" dirty="0" err="1">
                          <a:effectLst/>
                        </a:rPr>
                        <a:t>Ροή</a:t>
                      </a:r>
                      <a:r>
                        <a:rPr lang="de-DE" sz="2000" dirty="0">
                          <a:effectLst/>
                        </a:rPr>
                        <a:t> </a:t>
                      </a:r>
                      <a:r>
                        <a:rPr lang="de-DE" sz="2000" dirty="0" err="1">
                          <a:effectLst/>
                        </a:rPr>
                        <a:t>νερού</a:t>
                      </a:r>
                      <a:r>
                        <a:rPr lang="de-DE" sz="2000" dirty="0">
                          <a:effectLst/>
                        </a:rPr>
                        <a:t> </a:t>
                      </a:r>
                      <a:r>
                        <a:rPr lang="de-DE" sz="2000" dirty="0" err="1">
                          <a:effectLst/>
                        </a:rPr>
                        <a:t>ψύξης</a:t>
                      </a:r>
                      <a:r>
                        <a:rPr lang="de-DE" sz="2000" dirty="0">
                          <a:effectLst/>
                        </a:rPr>
                        <a:t> (kg h</a:t>
                      </a:r>
                      <a:r>
                        <a:rPr lang="de-DE" sz="2000" baseline="30000" dirty="0">
                          <a:effectLst/>
                        </a:rPr>
                        <a:t>-1</a:t>
                      </a:r>
                      <a:r>
                        <a:rPr lang="de-DE" sz="2000" dirty="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lvl="0" algn="ctr">
                        <a:buNone/>
                      </a:pPr>
                      <a:r>
                        <a:rPr lang="de-DE" sz="2000" b="0" i="0" u="none" strike="noStrike" noProof="0" dirty="0" err="1">
                          <a:solidFill>
                            <a:srgbClr val="000000"/>
                          </a:solidFill>
                          <a:effectLst/>
                          <a:latin typeface="Calibri"/>
                        </a:rPr>
                        <a:t>Μετ</a:t>
                      </a:r>
                      <a:r>
                        <a:rPr lang="de-DE" sz="2000" b="0" i="0" u="none" strike="noStrike" noProof="0" dirty="0">
                          <a:solidFill>
                            <a:srgbClr val="000000"/>
                          </a:solidFill>
                          <a:effectLst/>
                          <a:latin typeface="Calibri"/>
                        </a:rPr>
                        <a:t>αβ</a:t>
                      </a:r>
                      <a:r>
                        <a:rPr lang="de-DE" sz="2000" b="0" i="0" u="none" strike="noStrike" noProof="0" dirty="0" err="1">
                          <a:solidFill>
                            <a:srgbClr val="000000"/>
                          </a:solidFill>
                          <a:effectLst/>
                          <a:latin typeface="Calibri"/>
                        </a:rPr>
                        <a:t>λητή</a:t>
                      </a:r>
                      <a:r>
                        <a:rPr lang="de-DE" sz="2000" b="0" i="0" u="none" strike="noStrike" noProof="0" dirty="0">
                          <a:solidFill>
                            <a:srgbClr val="000000"/>
                          </a:solidFill>
                          <a:effectLst/>
                          <a:latin typeface="Calibri"/>
                        </a:rPr>
                        <a:t> απ</a:t>
                      </a:r>
                      <a:r>
                        <a:rPr lang="de-DE" sz="2000" b="0" i="0" u="none" strike="noStrike" noProof="0" dirty="0" err="1">
                          <a:solidFill>
                            <a:srgbClr val="000000"/>
                          </a:solidFill>
                          <a:effectLst/>
                          <a:latin typeface="Calibri"/>
                        </a:rPr>
                        <a:t>όφ</a:t>
                      </a:r>
                      <a:r>
                        <a:rPr lang="de-DE" sz="2000" b="0" i="0" u="none" strike="noStrike" noProof="0" dirty="0">
                          <a:solidFill>
                            <a:srgbClr val="000000"/>
                          </a:solidFill>
                          <a:effectLst/>
                          <a:latin typeface="Calibri"/>
                        </a:rPr>
                        <a:t>α</a:t>
                      </a:r>
                      <a:r>
                        <a:rPr lang="de-DE" sz="2000" b="0" i="0" u="none" strike="noStrike" noProof="0" dirty="0" err="1">
                          <a:solidFill>
                            <a:srgbClr val="000000"/>
                          </a:solidFill>
                          <a:effectLst/>
                          <a:latin typeface="Calibri"/>
                        </a:rPr>
                        <a:t>σης</a:t>
                      </a:r>
                      <a:endParaRPr lang="de-DE" sz="2000" dirty="0" err="1">
                        <a:effectLst/>
                      </a:endParaRP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0</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el-GR" sz="2000" dirty="0">
                          <a:effectLst/>
                        </a:rPr>
                        <a:t>1</a:t>
                      </a:r>
                      <a:r>
                        <a:rPr lang="de-DE" sz="2000" dirty="0">
                          <a:effectLst/>
                        </a:rPr>
                        <a:t>000</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el-GR" sz="2000" dirty="0">
                          <a:effectLst/>
                        </a:rPr>
                        <a:t>0</a:t>
                      </a:r>
                      <a:endParaRPr lang="de-DE" sz="2000" dirty="0">
                        <a:effectLst/>
                      </a:endParaRP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el-GR" sz="2000" dirty="0">
                          <a:effectLst/>
                        </a:rPr>
                        <a:t>0</a:t>
                      </a:r>
                      <a:endParaRPr lang="de-DE" sz="2000" dirty="0">
                        <a:effectLst/>
                      </a:endParaRP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el-GR" sz="2000" dirty="0">
                          <a:effectLst/>
                        </a:rPr>
                        <a:t>-</a:t>
                      </a:r>
                      <a:endParaRPr lang="de-DE" sz="2000" dirty="0">
                        <a:effectLst/>
                      </a:endParaRP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extLst>
                  <a:ext uri="{0D108BD9-81ED-4DB2-BD59-A6C34878D82A}">
                    <a16:rowId xmlns:a16="http://schemas.microsoft.com/office/drawing/2014/main" val="665431402"/>
                  </a:ext>
                </a:extLst>
              </a:tr>
              <a:tr h="495944">
                <a:tc>
                  <a:txBody>
                    <a:bodyPr/>
                    <a:lstStyle/>
                    <a:p>
                      <a:pPr algn="ctr">
                        <a:buNone/>
                      </a:pPr>
                      <a:r>
                        <a:rPr lang="de-DE" sz="2000" dirty="0" err="1">
                          <a:effectLst/>
                        </a:rPr>
                        <a:t>Ροή</a:t>
                      </a:r>
                      <a:r>
                        <a:rPr lang="de-DE" sz="2000" dirty="0">
                          <a:effectLst/>
                        </a:rPr>
                        <a:t> </a:t>
                      </a:r>
                      <a:r>
                        <a:rPr lang="de-DE" sz="2000" dirty="0" err="1">
                          <a:effectLst/>
                        </a:rPr>
                        <a:t>νερού</a:t>
                      </a:r>
                      <a:r>
                        <a:rPr lang="de-DE" sz="2000" dirty="0">
                          <a:effectLst/>
                        </a:rPr>
                        <a:t> </a:t>
                      </a:r>
                      <a:r>
                        <a:rPr lang="de-DE" sz="2000" dirty="0" err="1">
                          <a:effectLst/>
                        </a:rPr>
                        <a:t>δι</a:t>
                      </a:r>
                      <a:r>
                        <a:rPr lang="de-DE" sz="2000" dirty="0">
                          <a:effectLst/>
                        </a:rPr>
                        <a:t>α</a:t>
                      </a:r>
                      <a:r>
                        <a:rPr lang="de-DE" sz="2000" dirty="0" err="1">
                          <a:effectLst/>
                        </a:rPr>
                        <a:t>διήθησης</a:t>
                      </a:r>
                      <a:r>
                        <a:rPr lang="de-DE" sz="2000" dirty="0">
                          <a:effectLst/>
                        </a:rPr>
                        <a:t> (kg h</a:t>
                      </a:r>
                      <a:r>
                        <a:rPr lang="de-DE" sz="2000" baseline="30000" dirty="0">
                          <a:effectLst/>
                        </a:rPr>
                        <a:t>-1</a:t>
                      </a:r>
                      <a:r>
                        <a:rPr lang="de-DE" sz="2000" dirty="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lvl="0" algn="ctr">
                        <a:buNone/>
                      </a:pPr>
                      <a:r>
                        <a:rPr lang="de-DE" sz="2000" b="0" i="0" u="none" strike="noStrike" noProof="0" dirty="0" err="1">
                          <a:solidFill>
                            <a:srgbClr val="000000"/>
                          </a:solidFill>
                          <a:effectLst/>
                          <a:latin typeface="Calibri"/>
                        </a:rPr>
                        <a:t>Μετ</a:t>
                      </a:r>
                      <a:r>
                        <a:rPr lang="de-DE" sz="2000" b="0" i="0" u="none" strike="noStrike" noProof="0" dirty="0">
                          <a:solidFill>
                            <a:srgbClr val="000000"/>
                          </a:solidFill>
                          <a:effectLst/>
                          <a:latin typeface="Calibri"/>
                        </a:rPr>
                        <a:t>αβ</a:t>
                      </a:r>
                      <a:r>
                        <a:rPr lang="de-DE" sz="2000" b="0" i="0" u="none" strike="noStrike" noProof="0" dirty="0" err="1">
                          <a:solidFill>
                            <a:srgbClr val="000000"/>
                          </a:solidFill>
                          <a:effectLst/>
                          <a:latin typeface="Calibri"/>
                        </a:rPr>
                        <a:t>λητή</a:t>
                      </a:r>
                      <a:r>
                        <a:rPr lang="de-DE" sz="2000" b="0" i="0" u="none" strike="noStrike" noProof="0" dirty="0">
                          <a:solidFill>
                            <a:srgbClr val="000000"/>
                          </a:solidFill>
                          <a:effectLst/>
                          <a:latin typeface="Calibri"/>
                        </a:rPr>
                        <a:t> απ</a:t>
                      </a:r>
                      <a:r>
                        <a:rPr lang="de-DE" sz="2000" b="0" i="0" u="none" strike="noStrike" noProof="0" dirty="0" err="1">
                          <a:solidFill>
                            <a:srgbClr val="000000"/>
                          </a:solidFill>
                          <a:effectLst/>
                          <a:latin typeface="Calibri"/>
                        </a:rPr>
                        <a:t>όφ</a:t>
                      </a:r>
                      <a:r>
                        <a:rPr lang="de-DE" sz="2000" b="0" i="0" u="none" strike="noStrike" noProof="0" dirty="0">
                          <a:solidFill>
                            <a:srgbClr val="000000"/>
                          </a:solidFill>
                          <a:effectLst/>
                          <a:latin typeface="Calibri"/>
                        </a:rPr>
                        <a:t>α</a:t>
                      </a:r>
                      <a:r>
                        <a:rPr lang="de-DE" sz="2000" b="0" i="0" u="none" strike="noStrike" noProof="0" dirty="0" err="1">
                          <a:solidFill>
                            <a:srgbClr val="000000"/>
                          </a:solidFill>
                          <a:effectLst/>
                          <a:latin typeface="Calibri"/>
                        </a:rPr>
                        <a:t>σης</a:t>
                      </a:r>
                      <a:endParaRPr lang="de-DE" sz="2000" dirty="0" err="1">
                        <a:effectLst/>
                      </a:endParaRP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0</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el-GR" sz="2000" dirty="0">
                          <a:effectLst/>
                        </a:rPr>
                        <a:t>2</a:t>
                      </a:r>
                      <a:r>
                        <a:rPr lang="de-DE" sz="2000" dirty="0">
                          <a:effectLst/>
                        </a:rPr>
                        <a:t>000</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el-GR" sz="2000" dirty="0">
                          <a:effectLst/>
                        </a:rPr>
                        <a:t>527</a:t>
                      </a:r>
                      <a:endParaRPr lang="de-DE" sz="2000" dirty="0">
                        <a:effectLst/>
                      </a:endParaRP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el-GR" sz="2000" dirty="0">
                          <a:effectLst/>
                        </a:rPr>
                        <a:t>542</a:t>
                      </a:r>
                      <a:endParaRPr lang="de-DE" sz="2000" dirty="0">
                        <a:effectLst/>
                      </a:endParaRP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2.</a:t>
                      </a:r>
                      <a:r>
                        <a:rPr lang="el-GR" sz="2000" dirty="0">
                          <a:effectLst/>
                        </a:rPr>
                        <a:t>8</a:t>
                      </a:r>
                      <a:r>
                        <a:rPr lang="de-DE" sz="2000" dirty="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extLst>
                  <a:ext uri="{0D108BD9-81ED-4DB2-BD59-A6C34878D82A}">
                    <a16:rowId xmlns:a16="http://schemas.microsoft.com/office/drawing/2014/main" val="3196300824"/>
                  </a:ext>
                </a:extLst>
              </a:tr>
            </a:tbl>
          </a:graphicData>
        </a:graphic>
      </p:graphicFrame>
      <p:sp>
        <p:nvSpPr>
          <p:cNvPr id="3" name="Textfeld 2">
            <a:extLst>
              <a:ext uri="{FF2B5EF4-FFF2-40B4-BE49-F238E27FC236}">
                <a16:creationId xmlns:a16="http://schemas.microsoft.com/office/drawing/2014/main" id="{97A26DAE-125D-1085-478C-83FFA6CFF96D}"/>
              </a:ext>
            </a:extLst>
          </p:cNvPr>
          <p:cNvSpPr txBox="1"/>
          <p:nvPr/>
        </p:nvSpPr>
        <p:spPr>
          <a:xfrm>
            <a:off x="1479884" y="5874418"/>
            <a:ext cx="9176656" cy="9848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aseline="0" dirty="0" err="1">
                <a:latin typeface="Calibri"/>
              </a:rPr>
              <a:t>Πίν</a:t>
            </a:r>
            <a:r>
              <a:rPr lang="en-US" sz="2000" baseline="0" dirty="0">
                <a:latin typeface="Calibri"/>
              </a:rPr>
              <a:t>ακας </a:t>
            </a:r>
            <a:r>
              <a:rPr lang="el-GR" sz="2000" baseline="0" dirty="0">
                <a:latin typeface="Calibri"/>
              </a:rPr>
              <a:t>4</a:t>
            </a:r>
            <a:r>
              <a:rPr lang="en-US" sz="2000" baseline="0" dirty="0">
                <a:latin typeface="Calibri"/>
              </a:rPr>
              <a:t>: </a:t>
            </a:r>
            <a:r>
              <a:rPr lang="en-US" sz="2000" dirty="0" err="1">
                <a:latin typeface="Calibri"/>
              </a:rPr>
              <a:t>Μετ</a:t>
            </a:r>
            <a:r>
              <a:rPr lang="en-US" sz="2000" dirty="0">
                <a:latin typeface="Calibri"/>
              </a:rPr>
              <a:t>αβλητές κατά τη βελτιστοποίηση του ολοκληρωμένου μοντέλου, οι κατανομές τους, οι αρχικές και τελικές τους τιμές</a:t>
            </a:r>
            <a:endParaRPr lang="en-US" sz="2000" dirty="0">
              <a:ea typeface="Calibri" panose="020F0502020204030204"/>
              <a:cs typeface="Calibri" panose="020F0502020204030204"/>
            </a:endParaRPr>
          </a:p>
          <a:p>
            <a:pPr algn="ctr"/>
            <a:endParaRPr lang="de-DE" dirty="0"/>
          </a:p>
        </p:txBody>
      </p:sp>
      <p:sp>
        <p:nvSpPr>
          <p:cNvPr id="6" name="Rechteck: abgerundete Ecken 5">
            <a:extLst>
              <a:ext uri="{FF2B5EF4-FFF2-40B4-BE49-F238E27FC236}">
                <a16:creationId xmlns:a16="http://schemas.microsoft.com/office/drawing/2014/main" id="{A452145C-FA91-50A6-7019-3947744B8195}"/>
              </a:ext>
            </a:extLst>
          </p:cNvPr>
          <p:cNvSpPr/>
          <p:nvPr/>
        </p:nvSpPr>
        <p:spPr>
          <a:xfrm>
            <a:off x="11022967" y="2038177"/>
            <a:ext cx="1009732" cy="412321"/>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abgerundete Ecken 8">
            <a:extLst>
              <a:ext uri="{FF2B5EF4-FFF2-40B4-BE49-F238E27FC236}">
                <a16:creationId xmlns:a16="http://schemas.microsoft.com/office/drawing/2014/main" id="{7C1B9D22-5BB2-9466-3E30-98ABFA1778B3}"/>
              </a:ext>
            </a:extLst>
          </p:cNvPr>
          <p:cNvSpPr/>
          <p:nvPr/>
        </p:nvSpPr>
        <p:spPr>
          <a:xfrm>
            <a:off x="7695628" y="3153251"/>
            <a:ext cx="763370" cy="551498"/>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8983876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9A9D9-44D8-714A-5345-EF9411ECB10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93E5A86-3BD6-63D3-69FB-7D7CCFC1FF3F}"/>
              </a:ext>
            </a:extLst>
          </p:cNvPr>
          <p:cNvSpPr>
            <a:spLocks noGrp="1"/>
          </p:cNvSpPr>
          <p:nvPr>
            <p:ph type="sldNum" sz="quarter" idx="12"/>
          </p:nvPr>
        </p:nvSpPr>
        <p:spPr/>
        <p:txBody>
          <a:bodyPr/>
          <a:lstStyle/>
          <a:p>
            <a:fld id="{48F63A3B-78C7-47BE-AE5E-E10140E04643}" type="slidenum">
              <a:rPr lang="en-US" smtClean="0"/>
              <a:t>20</a:t>
            </a:fld>
            <a:r>
              <a:rPr lang="en-US" dirty="0"/>
              <a:t>/</a:t>
            </a:r>
            <a:r>
              <a:rPr lang="el-GR" dirty="0"/>
              <a:t>2</a:t>
            </a:r>
            <a:r>
              <a:rPr lang="en-US" dirty="0"/>
              <a:t>2</a:t>
            </a:r>
          </a:p>
        </p:txBody>
      </p:sp>
      <p:sp>
        <p:nvSpPr>
          <p:cNvPr id="6" name="Title 1">
            <a:extLst>
              <a:ext uri="{FF2B5EF4-FFF2-40B4-BE49-F238E27FC236}">
                <a16:creationId xmlns:a16="http://schemas.microsoft.com/office/drawing/2014/main" id="{FA1D65F7-1645-F2A6-CEC1-78477041B8CE}"/>
              </a:ext>
            </a:extLst>
          </p:cNvPr>
          <p:cNvSpPr txBox="1">
            <a:spLocks/>
          </p:cNvSpPr>
          <p:nvPr/>
        </p:nvSpPr>
        <p:spPr>
          <a:xfrm>
            <a:off x="103898" y="138893"/>
            <a:ext cx="12541326" cy="6868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dirty="0">
                <a:ea typeface="Calibri Light"/>
                <a:cs typeface="Calibri Light"/>
              </a:rPr>
              <a:t>7.1 </a:t>
            </a:r>
            <a:r>
              <a:rPr lang="en-US" sz="3100" dirty="0" err="1">
                <a:ea typeface="Calibri Light"/>
                <a:cs typeface="Calibri Light"/>
              </a:rPr>
              <a:t>Συμ</a:t>
            </a:r>
            <a:r>
              <a:rPr lang="en-US" sz="3100" dirty="0">
                <a:ea typeface="Calibri Light"/>
                <a:cs typeface="Calibri Light"/>
              </a:rPr>
              <a:t>περάσματα</a:t>
            </a:r>
          </a:p>
        </p:txBody>
      </p:sp>
      <p:sp>
        <p:nvSpPr>
          <p:cNvPr id="5" name="Inhaltsplatzhalter 4">
            <a:extLst>
              <a:ext uri="{FF2B5EF4-FFF2-40B4-BE49-F238E27FC236}">
                <a16:creationId xmlns:a16="http://schemas.microsoft.com/office/drawing/2014/main" id="{5214282D-CDDE-2263-8E66-F4B89A64D5AC}"/>
              </a:ext>
            </a:extLst>
          </p:cNvPr>
          <p:cNvSpPr>
            <a:spLocks noGrp="1"/>
          </p:cNvSpPr>
          <p:nvPr>
            <p:ph idx="1"/>
          </p:nvPr>
        </p:nvSpPr>
        <p:spPr>
          <a:xfrm>
            <a:off x="463314" y="1427775"/>
            <a:ext cx="11517680" cy="4466159"/>
          </a:xfrm>
        </p:spPr>
        <p:txBody>
          <a:bodyPr vert="horz" lIns="91440" tIns="45720" rIns="91440" bIns="45720" rtlCol="0" anchor="t">
            <a:normAutofit/>
          </a:bodyPr>
          <a:lstStyle/>
          <a:p>
            <a:pPr algn="just"/>
            <a:r>
              <a:rPr lang="de-DE" b="1" dirty="0">
                <a:ea typeface="Calibri"/>
                <a:cs typeface="Calibri"/>
              </a:rPr>
              <a:t>Επ</a:t>
            </a:r>
            <a:r>
              <a:rPr lang="de-DE" b="1" dirty="0" err="1">
                <a:ea typeface="Calibri"/>
                <a:cs typeface="Calibri"/>
              </a:rPr>
              <a:t>ιδρ</a:t>
            </a:r>
            <a:r>
              <a:rPr lang="de-DE" b="1" dirty="0">
                <a:ea typeface="Calibri"/>
                <a:cs typeface="Calibri"/>
              </a:rPr>
              <a:t>αστικός παράγοντας</a:t>
            </a:r>
            <a:r>
              <a:rPr lang="de-DE" dirty="0">
                <a:ea typeface="Calibri"/>
                <a:cs typeface="Calibri"/>
              </a:rPr>
              <a:t>: Ροή τροφοδοσίας γάλακτος (</a:t>
            </a:r>
            <a:r>
              <a:rPr lang="el-GR" dirty="0">
                <a:ea typeface="Calibri"/>
                <a:cs typeface="Calibri"/>
              </a:rPr>
              <a:t>270</a:t>
            </a:r>
            <a:r>
              <a:rPr lang="de-DE" dirty="0">
                <a:ea typeface="Calibri"/>
                <a:cs typeface="Calibri"/>
              </a:rPr>
              <a:t>0 kg/h)</a:t>
            </a:r>
            <a:endParaRPr lang="de-DE" dirty="0"/>
          </a:p>
          <a:p>
            <a:pPr algn="just"/>
            <a:r>
              <a:rPr lang="de-DE" b="1" dirty="0" err="1">
                <a:ea typeface="Calibri"/>
                <a:cs typeface="Calibri"/>
              </a:rPr>
              <a:t>Κοστοφόρ</a:t>
            </a:r>
            <a:r>
              <a:rPr lang="de-DE" b="1" dirty="0">
                <a:ea typeface="Calibri"/>
                <a:cs typeface="Calibri"/>
              </a:rPr>
              <a:t>α μεταβλητή</a:t>
            </a:r>
            <a:r>
              <a:rPr lang="de-DE" dirty="0">
                <a:ea typeface="Calibri"/>
                <a:cs typeface="Calibri"/>
              </a:rPr>
              <a:t>: Νερό θέρμανσης (</a:t>
            </a:r>
            <a:r>
              <a:rPr lang="el-GR" dirty="0">
                <a:ea typeface="Calibri"/>
                <a:cs typeface="Calibri"/>
              </a:rPr>
              <a:t>3.3</a:t>
            </a:r>
            <a:r>
              <a:rPr lang="de-DE" dirty="0">
                <a:ea typeface="Calibri"/>
                <a:cs typeface="Calibri"/>
              </a:rPr>
              <a:t> USD</a:t>
            </a:r>
            <a:r>
              <a:rPr lang="el-GR" dirty="0">
                <a:ea typeface="Calibri"/>
                <a:cs typeface="Calibri"/>
              </a:rPr>
              <a:t>/</a:t>
            </a:r>
            <a:r>
              <a:rPr lang="en-US" dirty="0">
                <a:ea typeface="Calibri"/>
                <a:cs typeface="Calibri"/>
              </a:rPr>
              <a:t>h</a:t>
            </a:r>
            <a:r>
              <a:rPr lang="de-DE" dirty="0">
                <a:ea typeface="Calibri"/>
                <a:cs typeface="Calibri"/>
              </a:rPr>
              <a:t>)</a:t>
            </a:r>
          </a:p>
          <a:p>
            <a:pPr algn="just"/>
            <a:r>
              <a:rPr lang="de-DE" b="1" dirty="0" err="1">
                <a:ea typeface="Calibri"/>
                <a:cs typeface="Calibri"/>
              </a:rPr>
              <a:t>Φωσφ</a:t>
            </a:r>
            <a:r>
              <a:rPr lang="de-DE" b="1" dirty="0">
                <a:ea typeface="Calibri"/>
                <a:cs typeface="Calibri"/>
              </a:rPr>
              <a:t>α</a:t>
            </a:r>
            <a:r>
              <a:rPr lang="de-DE" b="1" dirty="0" err="1">
                <a:ea typeface="Calibri"/>
                <a:cs typeface="Calibri"/>
              </a:rPr>
              <a:t>τάση</a:t>
            </a:r>
            <a:r>
              <a:rPr lang="de-DE" dirty="0">
                <a:ea typeface="Calibri"/>
                <a:cs typeface="Calibri"/>
              </a:rPr>
              <a:t>: απ</a:t>
            </a:r>
            <a:r>
              <a:rPr lang="de-DE" dirty="0" err="1">
                <a:ea typeface="Calibri"/>
                <a:cs typeface="Calibri"/>
              </a:rPr>
              <a:t>ενεργο</a:t>
            </a:r>
            <a:r>
              <a:rPr lang="de-DE" dirty="0">
                <a:ea typeface="Calibri"/>
                <a:cs typeface="Calibri"/>
              </a:rPr>
              <a:t>π</a:t>
            </a:r>
            <a:r>
              <a:rPr lang="de-DE" dirty="0" err="1">
                <a:ea typeface="Calibri"/>
                <a:cs typeface="Calibri"/>
              </a:rPr>
              <a:t>οίηση</a:t>
            </a:r>
            <a:r>
              <a:rPr lang="de-DE" dirty="0">
                <a:ea typeface="Calibri"/>
                <a:cs typeface="Calibri"/>
              </a:rPr>
              <a:t> </a:t>
            </a:r>
            <a:r>
              <a:rPr lang="de-DE" dirty="0" err="1">
                <a:ea typeface="Calibri"/>
                <a:cs typeface="Calibri"/>
              </a:rPr>
              <a:t>κυρίως</a:t>
            </a:r>
            <a:r>
              <a:rPr lang="de-DE" dirty="0">
                <a:ea typeface="Calibri"/>
                <a:cs typeface="Calibri"/>
              </a:rPr>
              <a:t> </a:t>
            </a:r>
            <a:r>
              <a:rPr lang="de-DE" dirty="0" err="1">
                <a:ea typeface="Calibri"/>
                <a:cs typeface="Calibri"/>
              </a:rPr>
              <a:t>στον</a:t>
            </a:r>
            <a:r>
              <a:rPr lang="de-DE" dirty="0">
                <a:ea typeface="Calibri"/>
                <a:cs typeface="Calibri"/>
              </a:rPr>
              <a:t> π</a:t>
            </a:r>
            <a:r>
              <a:rPr lang="de-DE" dirty="0" err="1">
                <a:ea typeface="Calibri"/>
                <a:cs typeface="Calibri"/>
              </a:rPr>
              <a:t>ροθερμ</a:t>
            </a:r>
            <a:r>
              <a:rPr lang="de-DE" dirty="0">
                <a:ea typeface="Calibri"/>
                <a:cs typeface="Calibri"/>
              </a:rPr>
              <a:t>α</a:t>
            </a:r>
            <a:r>
              <a:rPr lang="de-DE" dirty="0" err="1">
                <a:ea typeface="Calibri"/>
                <a:cs typeface="Calibri"/>
              </a:rPr>
              <a:t>ντήρ</a:t>
            </a:r>
            <a:r>
              <a:rPr lang="de-DE" dirty="0">
                <a:ea typeface="Calibri"/>
                <a:cs typeface="Calibri"/>
              </a:rPr>
              <a:t>α</a:t>
            </a:r>
          </a:p>
          <a:p>
            <a:pPr algn="just"/>
            <a:r>
              <a:rPr lang="de-DE" b="1" dirty="0" err="1">
                <a:ea typeface="Calibri"/>
                <a:cs typeface="Calibri"/>
              </a:rPr>
              <a:t>Πρωτεΐνες</a:t>
            </a:r>
            <a:r>
              <a:rPr lang="de-DE" dirty="0">
                <a:ea typeface="Calibri"/>
                <a:cs typeface="Calibri"/>
              </a:rPr>
              <a:t>: </a:t>
            </a:r>
            <a:r>
              <a:rPr lang="de-DE" dirty="0" err="1">
                <a:ea typeface="Calibri"/>
                <a:cs typeface="Calibri"/>
              </a:rPr>
              <a:t>μετουσίωση</a:t>
            </a:r>
            <a:r>
              <a:rPr lang="de-DE" dirty="0">
                <a:ea typeface="Calibri"/>
                <a:cs typeface="Calibri"/>
              </a:rPr>
              <a:t> </a:t>
            </a:r>
            <a:r>
              <a:rPr lang="de-DE" dirty="0" err="1">
                <a:ea typeface="Calibri"/>
                <a:cs typeface="Calibri"/>
              </a:rPr>
              <a:t>κυρίως</a:t>
            </a:r>
            <a:r>
              <a:rPr lang="de-DE" dirty="0">
                <a:ea typeface="Calibri"/>
                <a:cs typeface="Calibri"/>
              </a:rPr>
              <a:t> στον </a:t>
            </a:r>
            <a:r>
              <a:rPr lang="de-DE" dirty="0" err="1">
                <a:ea typeface="Calibri"/>
                <a:cs typeface="Calibri"/>
              </a:rPr>
              <a:t>θάλ</a:t>
            </a:r>
            <a:r>
              <a:rPr lang="de-DE" dirty="0">
                <a:ea typeface="Calibri"/>
                <a:cs typeface="Calibri"/>
              </a:rPr>
              <a:t>αμο συγκράτησης (1</a:t>
            </a:r>
            <a:r>
              <a:rPr lang="el-GR" dirty="0">
                <a:ea typeface="Calibri"/>
                <a:cs typeface="Calibri"/>
              </a:rPr>
              <a:t>5</a:t>
            </a:r>
            <a:r>
              <a:rPr lang="de-DE" dirty="0">
                <a:ea typeface="Calibri"/>
                <a:cs typeface="Calibri"/>
              </a:rPr>
              <a:t>.7%) </a:t>
            </a:r>
          </a:p>
          <a:p>
            <a:pPr algn="just"/>
            <a:r>
              <a:rPr lang="de-DE" b="1" dirty="0">
                <a:ea typeface="Calibri"/>
                <a:cs typeface="Calibri"/>
              </a:rPr>
              <a:t>Επ</a:t>
            </a:r>
            <a:r>
              <a:rPr lang="de-DE" b="1" dirty="0" err="1">
                <a:ea typeface="Calibri"/>
                <a:cs typeface="Calibri"/>
              </a:rPr>
              <a:t>ικ</a:t>
            </a:r>
            <a:r>
              <a:rPr lang="de-DE" b="1" dirty="0">
                <a:ea typeface="Calibri"/>
                <a:cs typeface="Calibri"/>
              </a:rPr>
              <a:t>α</a:t>
            </a:r>
            <a:r>
              <a:rPr lang="de-DE" b="1" dirty="0" err="1">
                <a:ea typeface="Calibri"/>
                <a:cs typeface="Calibri"/>
              </a:rPr>
              <a:t>θήσεις</a:t>
            </a:r>
            <a:r>
              <a:rPr lang="de-DE" dirty="0">
                <a:ea typeface="Calibri"/>
                <a:cs typeface="Calibri"/>
              </a:rPr>
              <a:t>: α</a:t>
            </a:r>
            <a:r>
              <a:rPr lang="de-DE" dirty="0" err="1">
                <a:ea typeface="Calibri"/>
                <a:cs typeface="Calibri"/>
              </a:rPr>
              <a:t>μελητέες</a:t>
            </a:r>
            <a:r>
              <a:rPr lang="de-DE" dirty="0">
                <a:ea typeface="Calibri"/>
                <a:cs typeface="Calibri"/>
              </a:rPr>
              <a:t>, </a:t>
            </a:r>
            <a:r>
              <a:rPr lang="de-DE" dirty="0" err="1">
                <a:ea typeface="Calibri"/>
                <a:cs typeface="Calibri"/>
              </a:rPr>
              <a:t>κυρίως</a:t>
            </a:r>
            <a:r>
              <a:rPr lang="de-DE" dirty="0">
                <a:ea typeface="Calibri"/>
                <a:cs typeface="Calibri"/>
              </a:rPr>
              <a:t> </a:t>
            </a:r>
            <a:r>
              <a:rPr lang="de-DE" dirty="0" err="1">
                <a:ea typeface="Calibri"/>
                <a:cs typeface="Calibri"/>
              </a:rPr>
              <a:t>στην</a:t>
            </a:r>
            <a:r>
              <a:rPr lang="de-DE" dirty="0">
                <a:ea typeface="Calibri"/>
                <a:cs typeface="Calibri"/>
              </a:rPr>
              <a:t> ανα</a:t>
            </a:r>
            <a:r>
              <a:rPr lang="de-DE" dirty="0" err="1">
                <a:ea typeface="Calibri"/>
                <a:cs typeface="Calibri"/>
              </a:rPr>
              <a:t>γεννητική</a:t>
            </a:r>
            <a:r>
              <a:rPr lang="de-DE" dirty="0">
                <a:ea typeface="Calibri"/>
                <a:cs typeface="Calibri"/>
              </a:rPr>
              <a:t> </a:t>
            </a:r>
            <a:r>
              <a:rPr lang="de-DE" dirty="0" err="1">
                <a:ea typeface="Calibri"/>
                <a:cs typeface="Calibri"/>
              </a:rPr>
              <a:t>μονάδ</a:t>
            </a:r>
            <a:r>
              <a:rPr lang="de-DE" dirty="0">
                <a:ea typeface="Calibri"/>
                <a:cs typeface="Calibri"/>
              </a:rPr>
              <a:t>α</a:t>
            </a:r>
          </a:p>
          <a:p>
            <a:pPr algn="just"/>
            <a:r>
              <a:rPr lang="de-DE" b="1" i="1" dirty="0">
                <a:ea typeface="Calibri"/>
                <a:cs typeface="Calibri"/>
              </a:rPr>
              <a:t>Streptococcus </a:t>
            </a:r>
            <a:r>
              <a:rPr lang="de-DE" b="1" i="1" dirty="0" err="1">
                <a:ea typeface="Calibri"/>
                <a:cs typeface="Calibri"/>
              </a:rPr>
              <a:t>thermophilus</a:t>
            </a:r>
            <a:r>
              <a:rPr lang="de-DE" dirty="0">
                <a:ea typeface="Calibri"/>
                <a:cs typeface="Calibri"/>
              </a:rPr>
              <a:t>: α</a:t>
            </a:r>
            <a:r>
              <a:rPr lang="de-DE" dirty="0" err="1">
                <a:ea typeface="Calibri"/>
                <a:cs typeface="Calibri"/>
              </a:rPr>
              <a:t>νά</a:t>
            </a:r>
            <a:r>
              <a:rPr lang="de-DE" dirty="0">
                <a:ea typeface="Calibri"/>
                <a:cs typeface="Calibri"/>
              </a:rPr>
              <a:t>πτυξη κυρίως στα τοιχώματα της αναγεννητικής μονάδας</a:t>
            </a:r>
          </a:p>
          <a:p>
            <a:pPr algn="just"/>
            <a:r>
              <a:rPr lang="de-DE" dirty="0" err="1">
                <a:ea typeface="Calibri"/>
                <a:cs typeface="Calibri"/>
              </a:rPr>
              <a:t>Βελτιστο</a:t>
            </a:r>
            <a:r>
              <a:rPr lang="de-DE" dirty="0">
                <a:ea typeface="Calibri"/>
                <a:cs typeface="Calibri"/>
              </a:rPr>
              <a:t>ποίηση </a:t>
            </a:r>
            <a:r>
              <a:rPr lang="de-DE" b="1" dirty="0">
                <a:ea typeface="Calibri"/>
                <a:cs typeface="Calibri"/>
              </a:rPr>
              <a:t>ολοκληρωμένου μοντέλου</a:t>
            </a:r>
            <a:r>
              <a:rPr lang="de-DE" dirty="0">
                <a:ea typeface="Calibri"/>
                <a:cs typeface="Calibri"/>
              </a:rPr>
              <a:t>: </a:t>
            </a:r>
            <a:r>
              <a:rPr lang="el-GR" dirty="0">
                <a:ea typeface="Calibri"/>
                <a:cs typeface="Calibri"/>
              </a:rPr>
              <a:t>9.9</a:t>
            </a:r>
            <a:r>
              <a:rPr lang="de-DE" dirty="0">
                <a:ea typeface="Calibri"/>
                <a:cs typeface="Calibri"/>
              </a:rPr>
              <a:t>% α</a:t>
            </a:r>
            <a:r>
              <a:rPr lang="de-DE" dirty="0" err="1">
                <a:ea typeface="Calibri"/>
                <a:cs typeface="Calibri"/>
              </a:rPr>
              <a:t>ύξηση</a:t>
            </a:r>
            <a:r>
              <a:rPr lang="de-DE" dirty="0">
                <a:ea typeface="Calibri"/>
                <a:cs typeface="Calibri"/>
              </a:rPr>
              <a:t> </a:t>
            </a:r>
            <a:r>
              <a:rPr lang="de-DE" dirty="0" err="1">
                <a:ea typeface="Calibri"/>
                <a:cs typeface="Calibri"/>
              </a:rPr>
              <a:t>κέρδους</a:t>
            </a:r>
            <a:endParaRPr lang="de-DE" dirty="0">
              <a:ea typeface="Calibri"/>
              <a:cs typeface="Calibri"/>
            </a:endParaRPr>
          </a:p>
        </p:txBody>
      </p:sp>
    </p:spTree>
    <p:extLst>
      <p:ext uri="{BB962C8B-B14F-4D97-AF65-F5344CB8AC3E}">
        <p14:creationId xmlns:p14="http://schemas.microsoft.com/office/powerpoint/2010/main" val="4087528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fade">
                                      <p:cBhvr>
                                        <p:cTn id="17" dur="5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fade">
                                      <p:cBhvr>
                                        <p:cTn id="22" dur="500"/>
                                        <p:tgtEl>
                                          <p:spTgt spid="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fade">
                                      <p:cBhvr>
                                        <p:cTn id="27" dur="500"/>
                                        <p:tgtEl>
                                          <p:spTgt spid="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xEl>
                                              <p:pRg st="6" end="6"/>
                                            </p:txEl>
                                          </p:spTgt>
                                        </p:tgtEl>
                                        <p:attrNameLst>
                                          <p:attrName>style.visibility</p:attrName>
                                        </p:attrNameLst>
                                      </p:cBhvr>
                                      <p:to>
                                        <p:strVal val="visible"/>
                                      </p:to>
                                    </p:set>
                                    <p:animEffect transition="in" filter="fade">
                                      <p:cBhvr>
                                        <p:cTn id="32"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3F4E2-9665-B914-4925-5990629234C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6F359D1-FF4D-AD51-9144-125CAEE80A2F}"/>
              </a:ext>
            </a:extLst>
          </p:cNvPr>
          <p:cNvSpPr>
            <a:spLocks noGrp="1"/>
          </p:cNvSpPr>
          <p:nvPr>
            <p:ph type="sldNum" sz="quarter" idx="12"/>
          </p:nvPr>
        </p:nvSpPr>
        <p:spPr/>
        <p:txBody>
          <a:bodyPr/>
          <a:lstStyle/>
          <a:p>
            <a:fld id="{48F63A3B-78C7-47BE-AE5E-E10140E04643}" type="slidenum">
              <a:rPr lang="en-US" smtClean="0"/>
              <a:t>21</a:t>
            </a:fld>
            <a:r>
              <a:rPr lang="en-US" dirty="0"/>
              <a:t>/</a:t>
            </a:r>
            <a:r>
              <a:rPr lang="el-GR" dirty="0"/>
              <a:t>2</a:t>
            </a:r>
            <a:r>
              <a:rPr lang="en-US" dirty="0"/>
              <a:t>2</a:t>
            </a:r>
          </a:p>
        </p:txBody>
      </p:sp>
      <p:sp>
        <p:nvSpPr>
          <p:cNvPr id="6" name="Title 1">
            <a:extLst>
              <a:ext uri="{FF2B5EF4-FFF2-40B4-BE49-F238E27FC236}">
                <a16:creationId xmlns:a16="http://schemas.microsoft.com/office/drawing/2014/main" id="{0B852A9A-7E12-0126-7AAE-FB5A015F5AAE}"/>
              </a:ext>
            </a:extLst>
          </p:cNvPr>
          <p:cNvSpPr txBox="1">
            <a:spLocks/>
          </p:cNvSpPr>
          <p:nvPr/>
        </p:nvSpPr>
        <p:spPr>
          <a:xfrm>
            <a:off x="103898" y="138893"/>
            <a:ext cx="12541326" cy="6868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dirty="0">
                <a:ea typeface="Calibri Light"/>
                <a:cs typeface="Calibri Light"/>
              </a:rPr>
              <a:t>7.2 </a:t>
            </a:r>
            <a:r>
              <a:rPr lang="en-US" sz="3100" dirty="0" err="1">
                <a:ea typeface="Calibri Light"/>
                <a:cs typeface="Calibri Light"/>
              </a:rPr>
              <a:t>Προτάσεις</a:t>
            </a:r>
            <a:r>
              <a:rPr lang="en-US" sz="3100" dirty="0">
                <a:ea typeface="Calibri Light"/>
                <a:cs typeface="Calibri Light"/>
              </a:rPr>
              <a:t> </a:t>
            </a:r>
            <a:r>
              <a:rPr lang="en-US" sz="3100" dirty="0" err="1">
                <a:ea typeface="Calibri Light"/>
                <a:cs typeface="Calibri Light"/>
              </a:rPr>
              <a:t>γι</a:t>
            </a:r>
            <a:r>
              <a:rPr lang="en-US" sz="3100" dirty="0">
                <a:ea typeface="Calibri Light"/>
                <a:cs typeface="Calibri Light"/>
              </a:rPr>
              <a:t>α </a:t>
            </a:r>
            <a:r>
              <a:rPr lang="en-US" sz="3100" dirty="0" err="1">
                <a:ea typeface="Calibri Light"/>
                <a:cs typeface="Calibri Light"/>
              </a:rPr>
              <a:t>Μελλοντική</a:t>
            </a:r>
            <a:r>
              <a:rPr lang="en-US" sz="3100" dirty="0">
                <a:ea typeface="Calibri Light"/>
                <a:cs typeface="Calibri Light"/>
              </a:rPr>
              <a:t> </a:t>
            </a:r>
            <a:r>
              <a:rPr lang="en-US" sz="3100" dirty="0" err="1">
                <a:ea typeface="Calibri Light"/>
                <a:cs typeface="Calibri Light"/>
              </a:rPr>
              <a:t>Έρευν</a:t>
            </a:r>
            <a:r>
              <a:rPr lang="en-US" sz="3100" dirty="0">
                <a:ea typeface="Calibri Light"/>
                <a:cs typeface="Calibri Light"/>
              </a:rPr>
              <a:t>α</a:t>
            </a:r>
          </a:p>
        </p:txBody>
      </p:sp>
      <p:sp>
        <p:nvSpPr>
          <p:cNvPr id="3" name="Content Placeholder 2">
            <a:extLst>
              <a:ext uri="{FF2B5EF4-FFF2-40B4-BE49-F238E27FC236}">
                <a16:creationId xmlns:a16="http://schemas.microsoft.com/office/drawing/2014/main" id="{B5AA49C5-8442-04B8-79E7-93A6456B5E5F}"/>
              </a:ext>
            </a:extLst>
          </p:cNvPr>
          <p:cNvSpPr>
            <a:spLocks noGrp="1"/>
          </p:cNvSpPr>
          <p:nvPr>
            <p:ph idx="1"/>
          </p:nvPr>
        </p:nvSpPr>
        <p:spPr>
          <a:xfrm>
            <a:off x="411019" y="1825625"/>
            <a:ext cx="11266370" cy="4351338"/>
          </a:xfrm>
        </p:spPr>
        <p:txBody>
          <a:bodyPr vert="horz" lIns="91440" tIns="45720" rIns="91440" bIns="45720" rtlCol="0" anchor="t">
            <a:normAutofit/>
          </a:bodyPr>
          <a:lstStyle/>
          <a:p>
            <a:r>
              <a:rPr lang="en-US" dirty="0" err="1">
                <a:ea typeface="Calibri"/>
                <a:cs typeface="Calibri"/>
              </a:rPr>
              <a:t>Αξιολόγηση</a:t>
            </a:r>
            <a:r>
              <a:rPr lang="en-US" dirty="0">
                <a:ea typeface="Calibri"/>
                <a:cs typeface="Calibri"/>
              </a:rPr>
              <a:t> </a:t>
            </a:r>
            <a:r>
              <a:rPr lang="en-US" dirty="0" err="1">
                <a:ea typeface="Calibri"/>
                <a:cs typeface="Calibri"/>
              </a:rPr>
              <a:t>του</a:t>
            </a:r>
            <a:r>
              <a:rPr lang="en-US" dirty="0">
                <a:ea typeface="Calibri"/>
                <a:cs typeface="Calibri"/>
              </a:rPr>
              <a:t> </a:t>
            </a:r>
            <a:r>
              <a:rPr lang="en-US" dirty="0" err="1">
                <a:ea typeface="Calibri"/>
                <a:cs typeface="Calibri"/>
              </a:rPr>
              <a:t>μοντέλου</a:t>
            </a:r>
            <a:r>
              <a:rPr lang="en-US" dirty="0">
                <a:ea typeface="Calibri"/>
                <a:cs typeface="Calibri"/>
              </a:rPr>
              <a:t> </a:t>
            </a:r>
            <a:r>
              <a:rPr lang="en-US" dirty="0" err="1">
                <a:ea typeface="Calibri"/>
                <a:cs typeface="Calibri"/>
              </a:rPr>
              <a:t>με</a:t>
            </a:r>
            <a:r>
              <a:rPr lang="en-US" dirty="0">
                <a:ea typeface="Calibri"/>
                <a:cs typeface="Calibri"/>
              </a:rPr>
              <a:t> </a:t>
            </a:r>
            <a:r>
              <a:rPr lang="en-US" dirty="0" err="1">
                <a:ea typeface="Calibri"/>
                <a:cs typeface="Calibri"/>
              </a:rPr>
              <a:t>χρήση</a:t>
            </a:r>
            <a:r>
              <a:rPr lang="en-US" dirty="0">
                <a:ea typeface="Calibri"/>
                <a:cs typeface="Calibri"/>
              </a:rPr>
              <a:t> </a:t>
            </a:r>
            <a:r>
              <a:rPr lang="en-US" dirty="0" err="1">
                <a:ea typeface="Calibri"/>
                <a:cs typeface="Calibri"/>
              </a:rPr>
              <a:t>δεδομένων</a:t>
            </a:r>
            <a:r>
              <a:rPr lang="en-US" dirty="0">
                <a:ea typeface="Calibri"/>
                <a:cs typeface="Calibri"/>
              </a:rPr>
              <a:t> π</a:t>
            </a:r>
            <a:r>
              <a:rPr lang="en-US" dirty="0" err="1">
                <a:ea typeface="Calibri"/>
                <a:cs typeface="Calibri"/>
              </a:rPr>
              <a:t>ιλοτικής</a:t>
            </a:r>
            <a:r>
              <a:rPr lang="en-US" dirty="0">
                <a:ea typeface="Calibri"/>
                <a:cs typeface="Calibri"/>
              </a:rPr>
              <a:t> ή β</a:t>
            </a:r>
            <a:r>
              <a:rPr lang="en-US" dirty="0" err="1">
                <a:ea typeface="Calibri"/>
                <a:cs typeface="Calibri"/>
              </a:rPr>
              <a:t>ιομηχ</a:t>
            </a:r>
            <a:r>
              <a:rPr lang="en-US" dirty="0">
                <a:ea typeface="Calibri"/>
                <a:cs typeface="Calibri"/>
              </a:rPr>
              <a:t>α</a:t>
            </a:r>
            <a:r>
              <a:rPr lang="en-US" dirty="0" err="1">
                <a:ea typeface="Calibri"/>
                <a:cs typeface="Calibri"/>
              </a:rPr>
              <a:t>νικής</a:t>
            </a:r>
            <a:r>
              <a:rPr lang="en-US" dirty="0">
                <a:ea typeface="Calibri"/>
                <a:cs typeface="Calibri"/>
              </a:rPr>
              <a:t> </a:t>
            </a:r>
            <a:r>
              <a:rPr lang="en-US" dirty="0" err="1">
                <a:ea typeface="Calibri"/>
                <a:cs typeface="Calibri"/>
              </a:rPr>
              <a:t>κλίμ</a:t>
            </a:r>
            <a:r>
              <a:rPr lang="en-US" dirty="0">
                <a:ea typeface="Calibri"/>
                <a:cs typeface="Calibri"/>
              </a:rPr>
              <a:t>ακας</a:t>
            </a:r>
          </a:p>
          <a:p>
            <a:r>
              <a:rPr lang="en-US" dirty="0" err="1">
                <a:ea typeface="Calibri"/>
                <a:cs typeface="Calibri"/>
              </a:rPr>
              <a:t>Πολιτική</a:t>
            </a:r>
            <a:r>
              <a:rPr lang="en-US" dirty="0">
                <a:ea typeface="Calibri"/>
                <a:cs typeface="Calibri"/>
              </a:rPr>
              <a:t> </a:t>
            </a:r>
            <a:r>
              <a:rPr lang="en-US" dirty="0" err="1">
                <a:ea typeface="Calibri"/>
                <a:cs typeface="Calibri"/>
              </a:rPr>
              <a:t>ελέγχου</a:t>
            </a:r>
            <a:r>
              <a:rPr lang="en-US" dirty="0">
                <a:ea typeface="Calibri"/>
                <a:cs typeface="Calibri"/>
              </a:rPr>
              <a:t> </a:t>
            </a:r>
            <a:r>
              <a:rPr lang="en-US" dirty="0" err="1">
                <a:ea typeface="Calibri"/>
                <a:cs typeface="Calibri"/>
              </a:rPr>
              <a:t>θερμοκρ</a:t>
            </a:r>
            <a:r>
              <a:rPr lang="en-US" dirty="0">
                <a:ea typeface="Calibri"/>
                <a:cs typeface="Calibri"/>
              </a:rPr>
              <a:t>α</a:t>
            </a:r>
            <a:r>
              <a:rPr lang="en-US" dirty="0" err="1">
                <a:ea typeface="Calibri"/>
                <a:cs typeface="Calibri"/>
              </a:rPr>
              <a:t>σί</a:t>
            </a:r>
            <a:r>
              <a:rPr lang="en-US" dirty="0">
                <a:ea typeface="Calibri"/>
                <a:cs typeface="Calibri"/>
              </a:rPr>
              <a:t>ας πα</a:t>
            </a:r>
            <a:r>
              <a:rPr lang="en-US" dirty="0" err="1">
                <a:ea typeface="Calibri"/>
                <a:cs typeface="Calibri"/>
              </a:rPr>
              <a:t>στερίωσης</a:t>
            </a:r>
            <a:endParaRPr lang="en-US" dirty="0">
              <a:ea typeface="Calibri"/>
              <a:cs typeface="Calibri"/>
            </a:endParaRPr>
          </a:p>
          <a:p>
            <a:r>
              <a:rPr lang="en-US" dirty="0" err="1">
                <a:ea typeface="Calibri"/>
                <a:cs typeface="Calibri"/>
              </a:rPr>
              <a:t>Χρονο</a:t>
            </a:r>
            <a:r>
              <a:rPr lang="en-US" dirty="0">
                <a:ea typeface="Calibri"/>
                <a:cs typeface="Calibri"/>
              </a:rPr>
              <a:t>π</a:t>
            </a:r>
            <a:r>
              <a:rPr lang="en-US" dirty="0" err="1">
                <a:ea typeface="Calibri"/>
                <a:cs typeface="Calibri"/>
              </a:rPr>
              <a:t>ρογρ</a:t>
            </a:r>
            <a:r>
              <a:rPr lang="en-US" dirty="0">
                <a:ea typeface="Calibri"/>
                <a:cs typeface="Calibri"/>
              </a:rPr>
              <a:t>α</a:t>
            </a:r>
            <a:r>
              <a:rPr lang="en-US" dirty="0" err="1">
                <a:ea typeface="Calibri"/>
                <a:cs typeface="Calibri"/>
              </a:rPr>
              <a:t>μμ</a:t>
            </a:r>
            <a:r>
              <a:rPr lang="en-US" dirty="0">
                <a:ea typeface="Calibri"/>
                <a:cs typeface="Calibri"/>
              </a:rPr>
              <a:t>α</a:t>
            </a:r>
            <a:r>
              <a:rPr lang="en-US" dirty="0" err="1">
                <a:ea typeface="Calibri"/>
                <a:cs typeface="Calibri"/>
              </a:rPr>
              <a:t>τισμός</a:t>
            </a:r>
            <a:r>
              <a:rPr lang="en-US" dirty="0">
                <a:ea typeface="Calibri"/>
                <a:cs typeface="Calibri"/>
              </a:rPr>
              <a:t> καθα</a:t>
            </a:r>
            <a:r>
              <a:rPr lang="en-US" dirty="0" err="1">
                <a:ea typeface="Calibri"/>
                <a:cs typeface="Calibri"/>
              </a:rPr>
              <a:t>ρισμού</a:t>
            </a:r>
            <a:endParaRPr lang="en-US" dirty="0">
              <a:ea typeface="Calibri"/>
              <a:cs typeface="Calibri"/>
            </a:endParaRPr>
          </a:p>
          <a:p>
            <a:r>
              <a:rPr lang="en-US" dirty="0">
                <a:ea typeface="Calibri"/>
                <a:cs typeface="Calibri"/>
              </a:rPr>
              <a:t>Επ</a:t>
            </a:r>
            <a:r>
              <a:rPr lang="en-US" dirty="0" err="1">
                <a:ea typeface="Calibri"/>
                <a:cs typeface="Calibri"/>
              </a:rPr>
              <a:t>ίδρ</a:t>
            </a:r>
            <a:r>
              <a:rPr lang="en-US" dirty="0">
                <a:ea typeface="Calibri"/>
                <a:cs typeface="Calibri"/>
              </a:rPr>
              <a:t>α</a:t>
            </a:r>
            <a:r>
              <a:rPr lang="en-US" dirty="0" err="1">
                <a:ea typeface="Calibri"/>
                <a:cs typeface="Calibri"/>
              </a:rPr>
              <a:t>ση</a:t>
            </a:r>
            <a:r>
              <a:rPr lang="en-US" dirty="0">
                <a:ea typeface="Calibri"/>
                <a:cs typeface="Calibri"/>
              </a:rPr>
              <a:t> </a:t>
            </a:r>
            <a:r>
              <a:rPr lang="en-US" dirty="0" err="1">
                <a:ea typeface="Calibri"/>
                <a:cs typeface="Calibri"/>
              </a:rPr>
              <a:t>ροής</a:t>
            </a:r>
            <a:r>
              <a:rPr lang="en-US" dirty="0">
                <a:ea typeface="Calibri"/>
                <a:cs typeface="Calibri"/>
              </a:rPr>
              <a:t> </a:t>
            </a:r>
            <a:r>
              <a:rPr lang="en-US" dirty="0" err="1">
                <a:ea typeface="Calibri"/>
                <a:cs typeface="Calibri"/>
              </a:rPr>
              <a:t>τροφοδοσί</a:t>
            </a:r>
            <a:r>
              <a:rPr lang="en-US" dirty="0">
                <a:ea typeface="Calibri"/>
                <a:cs typeface="Calibri"/>
              </a:rPr>
              <a:t>ας </a:t>
            </a:r>
            <a:r>
              <a:rPr lang="en-US" dirty="0" err="1">
                <a:ea typeface="Calibri"/>
                <a:cs typeface="Calibri"/>
              </a:rPr>
              <a:t>στην</a:t>
            </a:r>
            <a:r>
              <a:rPr lang="en-US" dirty="0">
                <a:ea typeface="Calibri"/>
                <a:cs typeface="Calibri"/>
              </a:rPr>
              <a:t> </a:t>
            </a:r>
            <a:r>
              <a:rPr lang="en-US" dirty="0" err="1">
                <a:ea typeface="Calibri"/>
                <a:cs typeface="Calibri"/>
              </a:rPr>
              <a:t>ολοκληρωμένη</a:t>
            </a:r>
            <a:r>
              <a:rPr lang="en-US" dirty="0">
                <a:ea typeface="Calibri"/>
                <a:cs typeface="Calibri"/>
              </a:rPr>
              <a:t> α</a:t>
            </a:r>
            <a:r>
              <a:rPr lang="en-US" dirty="0" err="1">
                <a:ea typeface="Calibri"/>
                <a:cs typeface="Calibri"/>
              </a:rPr>
              <a:t>λυσίδ</a:t>
            </a:r>
            <a:r>
              <a:rPr lang="en-US" dirty="0">
                <a:ea typeface="Calibri"/>
                <a:cs typeface="Calibri"/>
              </a:rPr>
              <a:t>α παρα</a:t>
            </a:r>
            <a:r>
              <a:rPr lang="en-US" dirty="0" err="1">
                <a:ea typeface="Calibri"/>
                <a:cs typeface="Calibri"/>
              </a:rPr>
              <a:t>γωγής</a:t>
            </a:r>
            <a:endParaRPr lang="en-US" dirty="0">
              <a:ea typeface="Calibri"/>
              <a:cs typeface="Calibri"/>
            </a:endParaRPr>
          </a:p>
          <a:p>
            <a:r>
              <a:rPr lang="en-US" dirty="0">
                <a:ea typeface="Calibri"/>
                <a:cs typeface="Calibri"/>
              </a:rPr>
              <a:t>Επ</a:t>
            </a:r>
            <a:r>
              <a:rPr lang="en-US" dirty="0" err="1">
                <a:ea typeface="Calibri"/>
                <a:cs typeface="Calibri"/>
              </a:rPr>
              <a:t>ίδρ</a:t>
            </a:r>
            <a:r>
              <a:rPr lang="en-US" dirty="0">
                <a:ea typeface="Calibri"/>
                <a:cs typeface="Calibri"/>
              </a:rPr>
              <a:t>α</a:t>
            </a:r>
            <a:r>
              <a:rPr lang="en-US" dirty="0" err="1">
                <a:ea typeface="Calibri"/>
                <a:cs typeface="Calibri"/>
              </a:rPr>
              <a:t>ση</a:t>
            </a:r>
            <a:r>
              <a:rPr lang="en-US" dirty="0">
                <a:ea typeface="Calibri"/>
                <a:cs typeface="Calibri"/>
              </a:rPr>
              <a:t> </a:t>
            </a:r>
            <a:r>
              <a:rPr lang="en-US" dirty="0" err="1">
                <a:ea typeface="Calibri"/>
                <a:cs typeface="Calibri"/>
              </a:rPr>
              <a:t>σχεδι</a:t>
            </a:r>
            <a:r>
              <a:rPr lang="en-US" dirty="0">
                <a:ea typeface="Calibri"/>
                <a:cs typeface="Calibri"/>
              </a:rPr>
              <a:t>α</a:t>
            </a:r>
            <a:r>
              <a:rPr lang="en-US" dirty="0" err="1">
                <a:ea typeface="Calibri"/>
                <a:cs typeface="Calibri"/>
              </a:rPr>
              <a:t>στικών</a:t>
            </a:r>
            <a:r>
              <a:rPr lang="en-US" dirty="0">
                <a:ea typeface="Calibri"/>
                <a:cs typeface="Calibri"/>
              </a:rPr>
              <a:t> παρα</a:t>
            </a:r>
            <a:r>
              <a:rPr lang="en-US" dirty="0" err="1">
                <a:ea typeface="Calibri"/>
                <a:cs typeface="Calibri"/>
              </a:rPr>
              <a:t>μέτρων</a:t>
            </a:r>
            <a:endParaRPr lang="en-US" dirty="0">
              <a:ea typeface="Calibri"/>
              <a:cs typeface="Calibri"/>
            </a:endParaRPr>
          </a:p>
        </p:txBody>
      </p:sp>
    </p:spTree>
    <p:extLst>
      <p:ext uri="{BB962C8B-B14F-4D97-AF65-F5344CB8AC3E}">
        <p14:creationId xmlns:p14="http://schemas.microsoft.com/office/powerpoint/2010/main" val="361739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B3362-4E23-7F2A-EE97-F0C1FF743828}"/>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BCE3569C-A5FD-DE41-BCDB-D7592C7A4DCC}"/>
              </a:ext>
            </a:extLst>
          </p:cNvPr>
          <p:cNvSpPr>
            <a:spLocks noGrp="1"/>
          </p:cNvSpPr>
          <p:nvPr>
            <p:ph type="subTitle" idx="1"/>
          </p:nvPr>
        </p:nvSpPr>
        <p:spPr>
          <a:xfrm>
            <a:off x="8181875" y="2139507"/>
            <a:ext cx="4010125" cy="2231136"/>
          </a:xfrm>
        </p:spPr>
        <p:txBody>
          <a:bodyPr vert="horz" lIns="91440" tIns="45720" rIns="91440" bIns="45720" rtlCol="0" anchor="t">
            <a:normAutofit/>
          </a:bodyPr>
          <a:lstStyle/>
          <a:p>
            <a:r>
              <a:rPr lang="en-US" dirty="0" err="1">
                <a:ea typeface="Calibri"/>
                <a:cs typeface="Calibri"/>
              </a:rPr>
              <a:t>Αθηνά</a:t>
            </a:r>
            <a:r>
              <a:rPr lang="en-US" dirty="0">
                <a:ea typeface="Calibri"/>
                <a:cs typeface="Calibri"/>
              </a:rPr>
              <a:t> Μπαμπ</a:t>
            </a:r>
            <a:r>
              <a:rPr lang="en-US" dirty="0" err="1">
                <a:ea typeface="Calibri"/>
                <a:cs typeface="Calibri"/>
              </a:rPr>
              <a:t>ζέλη</a:t>
            </a:r>
            <a:endParaRPr lang="en-US" dirty="0">
              <a:ea typeface="Calibri"/>
              <a:cs typeface="Calibri"/>
            </a:endParaRPr>
          </a:p>
          <a:p>
            <a:r>
              <a:rPr lang="el-GR" dirty="0">
                <a:ea typeface="Calibri"/>
                <a:cs typeface="Calibri"/>
              </a:rPr>
              <a:t>Χημικός Μηχανικός Α.Π.Θ.</a:t>
            </a:r>
            <a:endParaRPr lang="en-US" dirty="0">
              <a:ea typeface="Calibri"/>
              <a:cs typeface="Calibri"/>
            </a:endParaRPr>
          </a:p>
          <a:p>
            <a:r>
              <a:rPr lang="en-US" dirty="0">
                <a:ea typeface="Calibri"/>
                <a:cs typeface="Calibri"/>
                <a:hlinkClick r:id="rId3"/>
              </a:rPr>
              <a:t>athbabzeli@gmail.com</a:t>
            </a:r>
            <a:endParaRPr lang="en-US" dirty="0">
              <a:ea typeface="Calibri"/>
              <a:cs typeface="Calibri"/>
            </a:endParaRPr>
          </a:p>
          <a:p>
            <a:r>
              <a:rPr lang="en-US" u="sng" dirty="0">
                <a:solidFill>
                  <a:srgbClr val="0563C1"/>
                </a:solidFill>
                <a:ea typeface="Calibri"/>
                <a:cs typeface="Calibri"/>
              </a:rPr>
              <a:t>athinabampzeli.com</a:t>
            </a:r>
          </a:p>
          <a:p>
            <a:endParaRPr lang="en-US" sz="2800" dirty="0">
              <a:ea typeface="Calibri"/>
              <a:cs typeface="Calibri"/>
            </a:endParaRPr>
          </a:p>
        </p:txBody>
      </p:sp>
      <p:pic>
        <p:nvPicPr>
          <p:cNvPr id="7" name="Γραφικό 6" descr="Φάκελος περίγραμμα">
            <a:extLst>
              <a:ext uri="{FF2B5EF4-FFF2-40B4-BE49-F238E27FC236}">
                <a16:creationId xmlns:a16="http://schemas.microsoft.com/office/drawing/2014/main" id="{15948EBC-444C-8A01-2A36-686B3F16BD6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10839" y="2796026"/>
            <a:ext cx="459049" cy="459049"/>
          </a:xfrm>
          <a:prstGeom prst="rect">
            <a:avLst/>
          </a:prstGeom>
        </p:spPr>
      </p:pic>
      <p:pic>
        <p:nvPicPr>
          <p:cNvPr id="11" name="Γραφικό 10" descr="Κόσμος περίγραμμα">
            <a:extLst>
              <a:ext uri="{FF2B5EF4-FFF2-40B4-BE49-F238E27FC236}">
                <a16:creationId xmlns:a16="http://schemas.microsoft.com/office/drawing/2014/main" id="{273B66C7-1CF7-AE7A-25F2-49F65F2DBD9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310839" y="3255075"/>
            <a:ext cx="459049" cy="459049"/>
          </a:xfrm>
          <a:prstGeom prst="rect">
            <a:avLst/>
          </a:prstGeom>
        </p:spPr>
      </p:pic>
      <p:sp>
        <p:nvSpPr>
          <p:cNvPr id="6" name="TextBox 5">
            <a:extLst>
              <a:ext uri="{FF2B5EF4-FFF2-40B4-BE49-F238E27FC236}">
                <a16:creationId xmlns:a16="http://schemas.microsoft.com/office/drawing/2014/main" id="{967FCDFB-9BDC-1650-4C7D-F5C4CBFAA534}"/>
              </a:ext>
            </a:extLst>
          </p:cNvPr>
          <p:cNvSpPr txBox="1"/>
          <p:nvPr/>
        </p:nvSpPr>
        <p:spPr>
          <a:xfrm>
            <a:off x="105333" y="4856306"/>
            <a:ext cx="8184601" cy="1323439"/>
          </a:xfrm>
          <a:prstGeom prst="rect">
            <a:avLst/>
          </a:prstGeom>
          <a:noFill/>
        </p:spPr>
        <p:txBody>
          <a:bodyPr wrap="square">
            <a:spAutoFit/>
          </a:bodyPr>
          <a:lstStyle/>
          <a:p>
            <a:pPr algn="just"/>
            <a:r>
              <a:rPr lang="en-US" sz="2000" dirty="0" err="1"/>
              <a:t>Bampzeli</a:t>
            </a:r>
            <a:r>
              <a:rPr lang="en-US" sz="2000" dirty="0"/>
              <a:t>, A., </a:t>
            </a:r>
            <a:r>
              <a:rPr lang="en-US" sz="2000" dirty="0" err="1"/>
              <a:t>Charakleias</a:t>
            </a:r>
            <a:r>
              <a:rPr lang="en-US" sz="2000" dirty="0"/>
              <a:t>, E., &amp; Georgiadis, M. C. (2026). Modeling, simulation and optimization of integrated milk pasteurization and membrane filtration processes. </a:t>
            </a:r>
            <a:r>
              <a:rPr lang="en-US" sz="2000" i="1" dirty="0"/>
              <a:t>Food and Bioproducts Processing</a:t>
            </a:r>
            <a:r>
              <a:rPr lang="en-US" sz="2000" dirty="0"/>
              <a:t>, </a:t>
            </a:r>
            <a:r>
              <a:rPr lang="en-US" sz="2000" i="1" dirty="0"/>
              <a:t>157</a:t>
            </a:r>
            <a:r>
              <a:rPr lang="en-US" sz="2000" dirty="0"/>
              <a:t>, 583-599. </a:t>
            </a:r>
            <a:r>
              <a:rPr lang="en-US" sz="2000" dirty="0">
                <a:hlinkClick r:id="rId6"/>
              </a:rPr>
              <a:t>https://doi.org/10.1016/j.fbp.2026.04.006</a:t>
            </a:r>
            <a:endParaRPr lang="el-GR" sz="2000" dirty="0"/>
          </a:p>
        </p:txBody>
      </p:sp>
      <p:pic>
        <p:nvPicPr>
          <p:cNvPr id="10" name="Εικόνα 9">
            <a:extLst>
              <a:ext uri="{FF2B5EF4-FFF2-40B4-BE49-F238E27FC236}">
                <a16:creationId xmlns:a16="http://schemas.microsoft.com/office/drawing/2014/main" id="{5A18AAE5-8113-8B73-DADB-B56D5BB8C9A6}"/>
              </a:ext>
            </a:extLst>
          </p:cNvPr>
          <p:cNvPicPr>
            <a:picLocks noChangeAspect="1"/>
          </p:cNvPicPr>
          <p:nvPr/>
        </p:nvPicPr>
        <p:blipFill>
          <a:blip r:embed="rId7">
            <a:extLst>
              <a:ext uri="{28A0092B-C50C-407E-A947-70E740481C1C}">
                <a14:useLocalDpi xmlns:a14="http://schemas.microsoft.com/office/drawing/2010/main" val="0"/>
              </a:ext>
            </a:extLst>
          </a:blip>
          <a:srcRect l="13499" t="20800" r="12781" b="19943"/>
          <a:stretch>
            <a:fillRect/>
          </a:stretch>
        </p:blipFill>
        <p:spPr>
          <a:xfrm>
            <a:off x="105333" y="955182"/>
            <a:ext cx="8142555" cy="3681688"/>
          </a:xfrm>
          <a:prstGeom prst="rect">
            <a:avLst/>
          </a:prstGeom>
        </p:spPr>
      </p:pic>
      <p:sp>
        <p:nvSpPr>
          <p:cNvPr id="12" name="Ορθογώνιο 11">
            <a:extLst>
              <a:ext uri="{FF2B5EF4-FFF2-40B4-BE49-F238E27FC236}">
                <a16:creationId xmlns:a16="http://schemas.microsoft.com/office/drawing/2014/main" id="{00F3AD05-9C3D-C1AA-40E8-EA2A4721F926}"/>
              </a:ext>
            </a:extLst>
          </p:cNvPr>
          <p:cNvSpPr/>
          <p:nvPr/>
        </p:nvSpPr>
        <p:spPr>
          <a:xfrm>
            <a:off x="8430768" y="1873280"/>
            <a:ext cx="3511296" cy="22872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Tree>
    <p:extLst>
      <p:ext uri="{BB962C8B-B14F-4D97-AF65-F5344CB8AC3E}">
        <p14:creationId xmlns:p14="http://schemas.microsoft.com/office/powerpoint/2010/main" val="331183918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Θέμα του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996</TotalTime>
  <Words>3195</Words>
  <Application>Microsoft Office PowerPoint</Application>
  <PresentationFormat>Ευρεία οθόνη</PresentationFormat>
  <Paragraphs>418</Paragraphs>
  <Slides>22</Slides>
  <Notes>22</Notes>
  <HiddenSlides>0</HiddenSlides>
  <MMClips>0</MMClips>
  <ScaleCrop>false</ScaleCrop>
  <HeadingPairs>
    <vt:vector size="6" baseType="variant">
      <vt:variant>
        <vt:lpstr>Γραμματοσειρές που χρησιμοποιούνται</vt:lpstr>
      </vt:variant>
      <vt:variant>
        <vt:i4>4</vt:i4>
      </vt:variant>
      <vt:variant>
        <vt:lpstr>Θέμα</vt:lpstr>
      </vt:variant>
      <vt:variant>
        <vt:i4>1</vt:i4>
      </vt:variant>
      <vt:variant>
        <vt:lpstr>Τίτλοι διαφανειών</vt:lpstr>
      </vt:variant>
      <vt:variant>
        <vt:i4>22</vt:i4>
      </vt:variant>
    </vt:vector>
  </HeadingPairs>
  <TitlesOfParts>
    <vt:vector size="27" baseType="lpstr">
      <vt:lpstr>Aptos</vt:lpstr>
      <vt:lpstr>Arial</vt:lpstr>
      <vt:lpstr>Calibri</vt:lpstr>
      <vt:lpstr>Calibri Light</vt:lpstr>
      <vt:lpstr>Office Theme</vt:lpstr>
      <vt:lpstr>Μοντελοποίηση, Προσομοίωση και Βελτιστοποίηση Ολοκληρωμένων Διεργασιών Παστερίωσης Γάλακτος και Διήθησης με Μεμβράνη</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4.1.2 Μοντέλο Παστερίωσης-Αποτελέσματα Προσομοίωσης (1/2)</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Georgios Bampzelis</cp:lastModifiedBy>
  <cp:revision>975</cp:revision>
  <dcterms:created xsi:type="dcterms:W3CDTF">2025-11-16T11:27:38Z</dcterms:created>
  <dcterms:modified xsi:type="dcterms:W3CDTF">2026-07-10T19:56:24Z</dcterms:modified>
</cp:coreProperties>
</file>